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8288000" cy="10287000"/>
  <p:notesSz cx="6858000" cy="9144000"/>
  <p:embeddedFontLst>
    <p:embeddedFont>
      <p:font typeface="Calibri (MS) Bold" charset="1" panose="020F0702030404030204"/>
      <p:regular r:id="rId41"/>
    </p:embeddedFont>
    <p:embeddedFont>
      <p:font typeface="Calibri (MS)" charset="1" panose="020F0502020204030204"/>
      <p:regular r:id="rId42"/>
    </p:embeddedFont>
    <p:embeddedFont>
      <p:font typeface="Cambria Bold" charset="1" panose="02040803050406030204"/>
      <p:regular r:id="rId43"/>
    </p:embeddedFont>
    <p:embeddedFont>
      <p:font typeface="Calibri (MS) Italics" charset="1" panose="020F05020202040A0204"/>
      <p:regular r:id="rId44"/>
    </p:embeddedFont>
    <p:embeddedFont>
      <p:font typeface="HK Grotesk Medium" charset="1" panose="00000600000000000000"/>
      <p:regular r:id="rId45"/>
    </p:embeddedFont>
    <p:embeddedFont>
      <p:font typeface="Consolas" charset="1" panose="020B0609020204030204"/>
      <p:regular r:id="rId46"/>
    </p:embeddedFont>
    <p:embeddedFont>
      <p:font typeface="Consolas Bold" charset="1" panose="020B0709020204030204"/>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2.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sp>
        <p:nvSpPr>
          <p:cNvPr name="Freeform 2" id="2"/>
          <p:cNvSpPr/>
          <p:nvPr/>
        </p:nvSpPr>
        <p:spPr>
          <a:xfrm flipH="false" flipV="false" rot="0">
            <a:off x="0" y="-1814"/>
            <a:ext cx="18284776" cy="10288814"/>
          </a:xfrm>
          <a:custGeom>
            <a:avLst/>
            <a:gdLst/>
            <a:ahLst/>
            <a:cxnLst/>
            <a:rect r="r" b="b" t="t" l="l"/>
            <a:pathLst>
              <a:path h="10288814" w="18284776">
                <a:moveTo>
                  <a:pt x="0" y="0"/>
                </a:moveTo>
                <a:lnTo>
                  <a:pt x="18284776" y="0"/>
                </a:lnTo>
                <a:lnTo>
                  <a:pt x="18284776" y="10288814"/>
                </a:lnTo>
                <a:lnTo>
                  <a:pt x="0" y="10288814"/>
                </a:lnTo>
                <a:lnTo>
                  <a:pt x="0" y="0"/>
                </a:lnTo>
                <a:close/>
              </a:path>
            </a:pathLst>
          </a:custGeom>
          <a:blipFill>
            <a:blip r:embed="rId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CONTEXT &amp; VISION</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1</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Aymen Sabiri — Product Owner</a:t>
              </a:r>
            </a:p>
          </p:txBody>
        </p:sp>
      </p:grpSp>
      <p:grpSp>
        <p:nvGrpSpPr>
          <p:cNvPr name="Group 11" id="11"/>
          <p:cNvGrpSpPr/>
          <p:nvPr/>
        </p:nvGrpSpPr>
        <p:grpSpPr>
          <a:xfrm rot="0">
            <a:off x="822960" y="1069848"/>
            <a:ext cx="16596360" cy="1303020"/>
            <a:chOff x="0" y="0"/>
            <a:chExt cx="22128480" cy="1737360"/>
          </a:xfrm>
        </p:grpSpPr>
        <p:sp>
          <p:nvSpPr>
            <p:cNvPr name="Freeform 12" id="12"/>
            <p:cNvSpPr/>
            <p:nvPr/>
          </p:nvSpPr>
          <p:spPr>
            <a:xfrm flipH="false" flipV="false" rot="0">
              <a:off x="0" y="0"/>
              <a:ext cx="22128480" cy="1737360"/>
            </a:xfrm>
            <a:custGeom>
              <a:avLst/>
              <a:gdLst/>
              <a:ahLst/>
              <a:cxnLst/>
              <a:rect r="r" b="b" t="t" l="l"/>
              <a:pathLst>
                <a:path h="1737360" w="22128480">
                  <a:moveTo>
                    <a:pt x="0" y="0"/>
                  </a:moveTo>
                  <a:lnTo>
                    <a:pt x="22128480" y="0"/>
                  </a:lnTo>
                  <a:lnTo>
                    <a:pt x="22128480" y="1737360"/>
                  </a:lnTo>
                  <a:lnTo>
                    <a:pt x="0" y="1737360"/>
                  </a:lnTo>
                  <a:close/>
                </a:path>
              </a:pathLst>
            </a:custGeom>
            <a:blipFill>
              <a:blip r:embed="rId2">
                <a:alphaModFix amt="0"/>
              </a:blip>
              <a:stretch>
                <a:fillRect l="0" t="-198177" r="0" b="-198177"/>
              </a:stretch>
            </a:blipFill>
          </p:spPr>
        </p:sp>
        <p:sp>
          <p:nvSpPr>
            <p:cNvPr name="TextBox 13" id="13"/>
            <p:cNvSpPr txBox="true"/>
            <p:nvPr/>
          </p:nvSpPr>
          <p:spPr>
            <a:xfrm>
              <a:off x="0" y="-9525"/>
              <a:ext cx="22128480" cy="1746885"/>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The MLSecOps Imperative</a:t>
              </a:r>
            </a:p>
          </p:txBody>
        </p:sp>
      </p:grpSp>
      <p:grpSp>
        <p:nvGrpSpPr>
          <p:cNvPr name="Group 14" id="14"/>
          <p:cNvGrpSpPr/>
          <p:nvPr/>
        </p:nvGrpSpPr>
        <p:grpSpPr>
          <a:xfrm rot="0">
            <a:off x="822960" y="2400300"/>
            <a:ext cx="10424160" cy="960120"/>
            <a:chOff x="0" y="0"/>
            <a:chExt cx="13898880" cy="1280160"/>
          </a:xfrm>
        </p:grpSpPr>
        <p:sp>
          <p:nvSpPr>
            <p:cNvPr name="Freeform 15" id="15"/>
            <p:cNvSpPr/>
            <p:nvPr/>
          </p:nvSpPr>
          <p:spPr>
            <a:xfrm flipH="false" flipV="false" rot="0">
              <a:off x="0" y="0"/>
              <a:ext cx="13898880" cy="1280160"/>
            </a:xfrm>
            <a:custGeom>
              <a:avLst/>
              <a:gdLst/>
              <a:ahLst/>
              <a:cxnLst/>
              <a:rect r="r" b="b" t="t" l="l"/>
              <a:pathLst>
                <a:path h="1280160" w="13898880">
                  <a:moveTo>
                    <a:pt x="0" y="0"/>
                  </a:moveTo>
                  <a:lnTo>
                    <a:pt x="13898880" y="0"/>
                  </a:lnTo>
                  <a:lnTo>
                    <a:pt x="13898880" y="1280160"/>
                  </a:lnTo>
                  <a:lnTo>
                    <a:pt x="0" y="1280160"/>
                  </a:lnTo>
                  <a:close/>
                </a:path>
              </a:pathLst>
            </a:custGeom>
            <a:blipFill>
              <a:blip r:embed="rId2">
                <a:alphaModFix amt="0"/>
              </a:blip>
              <a:stretch>
                <a:fillRect l="0" t="-161551" r="0" b="-161551"/>
              </a:stretch>
            </a:blipFill>
          </p:spPr>
        </p:sp>
        <p:sp>
          <p:nvSpPr>
            <p:cNvPr name="TextBox 16" id="16"/>
            <p:cNvSpPr txBox="true"/>
            <p:nvPr/>
          </p:nvSpPr>
          <p:spPr>
            <a:xfrm>
              <a:off x="0" y="-47625"/>
              <a:ext cx="13898880" cy="1327785"/>
            </a:xfrm>
            <a:prstGeom prst="rect">
              <a:avLst/>
            </a:prstGeom>
          </p:spPr>
          <p:txBody>
            <a:bodyPr anchor="ctr" rtlCol="false" tIns="0" lIns="0" bIns="0" rIns="0"/>
            <a:lstStyle/>
            <a:p>
              <a:pPr algn="l">
                <a:lnSpc>
                  <a:spcPts val="2520"/>
                </a:lnSpc>
              </a:pPr>
              <a:r>
                <a:rPr lang="en-US" sz="2100" i="true">
                  <a:solidFill>
                    <a:srgbClr val="9FB0C9"/>
                  </a:solidFill>
                  <a:latin typeface="Calibri (MS) Italics"/>
                  <a:ea typeface="Calibri (MS) Italics"/>
                  <a:cs typeface="Calibri (MS) Italics"/>
                  <a:sym typeface="Calibri (MS) Italics"/>
                </a:rPr>
                <a:t>Les modèles de ML en p</a:t>
              </a:r>
              <a:r>
                <a:rPr lang="en-US" sz="2100" i="true">
                  <a:solidFill>
                    <a:srgbClr val="9FB0C9"/>
                  </a:solidFill>
                  <a:latin typeface="Calibri (MS) Italics"/>
                  <a:ea typeface="Calibri (MS) Italics"/>
                  <a:cs typeface="Calibri (MS) Italics"/>
                  <a:sym typeface="Calibri (MS) Italics"/>
                </a:rPr>
                <a:t>roduction peuvent échouer silencieusement — et en cybersécurité, ce silence constitue un avantage pour l’attaquant.</a:t>
              </a:r>
            </a:p>
          </p:txBody>
        </p:sp>
      </p:grpSp>
      <p:grpSp>
        <p:nvGrpSpPr>
          <p:cNvPr name="Group 17" id="17"/>
          <p:cNvGrpSpPr/>
          <p:nvPr/>
        </p:nvGrpSpPr>
        <p:grpSpPr>
          <a:xfrm rot="0">
            <a:off x="822960" y="3566160"/>
            <a:ext cx="754380" cy="754380"/>
            <a:chOff x="0" y="0"/>
            <a:chExt cx="1005840" cy="1005840"/>
          </a:xfrm>
        </p:grpSpPr>
        <p:sp>
          <p:nvSpPr>
            <p:cNvPr name="Freeform 18" id="18"/>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FF4B5C"/>
            </a:solidFill>
          </p:spPr>
        </p:sp>
      </p:grpSp>
      <p:grpSp>
        <p:nvGrpSpPr>
          <p:cNvPr name="Group 19" id="19"/>
          <p:cNvGrpSpPr/>
          <p:nvPr/>
        </p:nvGrpSpPr>
        <p:grpSpPr>
          <a:xfrm rot="0">
            <a:off x="822960" y="3552444"/>
            <a:ext cx="754380" cy="754380"/>
            <a:chOff x="0" y="0"/>
            <a:chExt cx="1005840" cy="1005840"/>
          </a:xfrm>
        </p:grpSpPr>
        <p:sp>
          <p:nvSpPr>
            <p:cNvPr name="Freeform 20" id="20"/>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21" id="21"/>
            <p:cNvSpPr txBox="true"/>
            <p:nvPr/>
          </p:nvSpPr>
          <p:spPr>
            <a:xfrm>
              <a:off x="0" y="-38100"/>
              <a:ext cx="1005840" cy="1043940"/>
            </a:xfrm>
            <a:prstGeom prst="rect">
              <a:avLst/>
            </a:prstGeom>
          </p:spPr>
          <p:txBody>
            <a:bodyPr anchor="ctr" rtlCol="false" tIns="0" lIns="0" bIns="0" rIns="0"/>
            <a:lstStyle/>
            <a:p>
              <a:pPr algn="ctr">
                <a:lnSpc>
                  <a:spcPts val="2574"/>
                </a:lnSpc>
              </a:pPr>
              <a:r>
                <a:rPr lang="en-US" sz="2145" b="true">
                  <a:solidFill>
                    <a:srgbClr val="0A1428"/>
                  </a:solidFill>
                  <a:latin typeface="Calibri (MS) Bold"/>
                  <a:ea typeface="Calibri (MS) Bold"/>
                  <a:cs typeface="Calibri (MS) Bold"/>
                  <a:sym typeface="Calibri (MS) Bold"/>
                </a:rPr>
                <a:t>⚠</a:t>
              </a:r>
            </a:p>
          </p:txBody>
        </p:sp>
      </p:grpSp>
      <p:grpSp>
        <p:nvGrpSpPr>
          <p:cNvPr name="Group 22" id="22"/>
          <p:cNvGrpSpPr/>
          <p:nvPr/>
        </p:nvGrpSpPr>
        <p:grpSpPr>
          <a:xfrm rot="0">
            <a:off x="1851660" y="3538728"/>
            <a:ext cx="9052560" cy="480060"/>
            <a:chOff x="0" y="0"/>
            <a:chExt cx="12070080" cy="640080"/>
          </a:xfrm>
        </p:grpSpPr>
        <p:sp>
          <p:nvSpPr>
            <p:cNvPr name="Freeform 23" id="23"/>
            <p:cNvSpPr/>
            <p:nvPr/>
          </p:nvSpPr>
          <p:spPr>
            <a:xfrm flipH="false" flipV="false" rot="0">
              <a:off x="0" y="0"/>
              <a:ext cx="12070080" cy="640080"/>
            </a:xfrm>
            <a:custGeom>
              <a:avLst/>
              <a:gdLst/>
              <a:ahLst/>
              <a:cxnLst/>
              <a:rect r="r" b="b" t="t" l="l"/>
              <a:pathLst>
                <a:path h="640080" w="12070080">
                  <a:moveTo>
                    <a:pt x="0" y="0"/>
                  </a:moveTo>
                  <a:lnTo>
                    <a:pt x="12070080" y="0"/>
                  </a:lnTo>
                  <a:lnTo>
                    <a:pt x="12070080" y="640080"/>
                  </a:lnTo>
                  <a:lnTo>
                    <a:pt x="0" y="640080"/>
                  </a:lnTo>
                  <a:close/>
                </a:path>
              </a:pathLst>
            </a:custGeom>
            <a:blipFill>
              <a:blip r:embed="rId2">
                <a:alphaModFix amt="0"/>
              </a:blip>
              <a:stretch>
                <a:fillRect l="0" t="-317432" r="0" b="-317432"/>
              </a:stretch>
            </a:blipFill>
          </p:spPr>
        </p:sp>
        <p:sp>
          <p:nvSpPr>
            <p:cNvPr name="TextBox 24" id="24"/>
            <p:cNvSpPr txBox="true"/>
            <p:nvPr/>
          </p:nvSpPr>
          <p:spPr>
            <a:xfrm>
              <a:off x="0" y="-47625"/>
              <a:ext cx="12070080" cy="687705"/>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Data Drift</a:t>
              </a:r>
            </a:p>
          </p:txBody>
        </p:sp>
      </p:grpSp>
      <p:grpSp>
        <p:nvGrpSpPr>
          <p:cNvPr name="Group 25" id="25"/>
          <p:cNvGrpSpPr/>
          <p:nvPr/>
        </p:nvGrpSpPr>
        <p:grpSpPr>
          <a:xfrm rot="0">
            <a:off x="1851660" y="4005072"/>
            <a:ext cx="9052560" cy="754380"/>
            <a:chOff x="0" y="0"/>
            <a:chExt cx="12070080" cy="1005840"/>
          </a:xfrm>
        </p:grpSpPr>
        <p:sp>
          <p:nvSpPr>
            <p:cNvPr name="Freeform 26" id="26"/>
            <p:cNvSpPr/>
            <p:nvPr/>
          </p:nvSpPr>
          <p:spPr>
            <a:xfrm flipH="false" flipV="false" rot="0">
              <a:off x="0" y="0"/>
              <a:ext cx="12070080" cy="1005840"/>
            </a:xfrm>
            <a:custGeom>
              <a:avLst/>
              <a:gdLst/>
              <a:ahLst/>
              <a:cxnLst/>
              <a:rect r="r" b="b" t="t" l="l"/>
              <a:pathLst>
                <a:path h="1005840" w="12070080">
                  <a:moveTo>
                    <a:pt x="0" y="0"/>
                  </a:moveTo>
                  <a:lnTo>
                    <a:pt x="12070080" y="0"/>
                  </a:lnTo>
                  <a:lnTo>
                    <a:pt x="12070080" y="1005840"/>
                  </a:lnTo>
                  <a:lnTo>
                    <a:pt x="0" y="1005840"/>
                  </a:lnTo>
                  <a:close/>
                </a:path>
              </a:pathLst>
            </a:custGeom>
            <a:blipFill>
              <a:blip r:embed="rId2">
                <a:alphaModFix amt="0"/>
              </a:blip>
              <a:stretch>
                <a:fillRect l="0" t="-183820" r="0" b="-183820"/>
              </a:stretch>
            </a:blipFill>
          </p:spPr>
        </p:sp>
        <p:sp>
          <p:nvSpPr>
            <p:cNvPr name="TextBox 27" id="27"/>
            <p:cNvSpPr txBox="true"/>
            <p:nvPr/>
          </p:nvSpPr>
          <p:spPr>
            <a:xfrm>
              <a:off x="0" y="-38100"/>
              <a:ext cx="12070080" cy="1043940"/>
            </a:xfrm>
            <a:prstGeom prst="rect">
              <a:avLst/>
            </a:prstGeom>
          </p:spPr>
          <p:txBody>
            <a:bodyPr anchor="ctr" rtlCol="false" tIns="0" lIns="0" bIns="0" rIns="0"/>
            <a:lstStyle/>
            <a:p>
              <a:pPr algn="l">
                <a:lnSpc>
                  <a:spcPts val="2070"/>
                </a:lnSpc>
              </a:pPr>
              <a:r>
                <a:rPr lang="en-US" sz="1725">
                  <a:solidFill>
                    <a:srgbClr val="9FB0C9"/>
                  </a:solidFill>
                  <a:latin typeface="Calibri (MS)"/>
                  <a:ea typeface="Calibri (MS)"/>
                  <a:cs typeface="Calibri (MS)"/>
                  <a:sym typeface="Calibri (MS)"/>
                </a:rPr>
                <a:t>E</a:t>
              </a:r>
              <a:r>
                <a:rPr lang="en-US" sz="1725">
                  <a:solidFill>
                    <a:srgbClr val="9FB0C9"/>
                  </a:solidFill>
                  <a:latin typeface="Calibri (MS)"/>
                  <a:ea typeface="Calibri (MS)"/>
                  <a:cs typeface="Calibri (MS)"/>
                  <a:sym typeface="Calibri (MS)"/>
                </a:rPr>
                <a:t>n production, les données d’entrée peuvent changer discrètement, ce qui réduit progressivement la précision du modèle.</a:t>
              </a:r>
            </a:p>
          </p:txBody>
        </p:sp>
      </p:grpSp>
      <p:grpSp>
        <p:nvGrpSpPr>
          <p:cNvPr name="Group 28" id="28"/>
          <p:cNvGrpSpPr/>
          <p:nvPr/>
        </p:nvGrpSpPr>
        <p:grpSpPr>
          <a:xfrm rot="0">
            <a:off x="822960" y="5006340"/>
            <a:ext cx="754380" cy="754380"/>
            <a:chOff x="0" y="0"/>
            <a:chExt cx="1005840" cy="1005840"/>
          </a:xfrm>
        </p:grpSpPr>
        <p:sp>
          <p:nvSpPr>
            <p:cNvPr name="Freeform 29" id="29"/>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FFB020"/>
            </a:solidFill>
          </p:spPr>
        </p:sp>
      </p:grpSp>
      <p:grpSp>
        <p:nvGrpSpPr>
          <p:cNvPr name="Group 30" id="30"/>
          <p:cNvGrpSpPr/>
          <p:nvPr/>
        </p:nvGrpSpPr>
        <p:grpSpPr>
          <a:xfrm rot="0">
            <a:off x="822960" y="4992624"/>
            <a:ext cx="754380" cy="754380"/>
            <a:chOff x="0" y="0"/>
            <a:chExt cx="1005840" cy="1005840"/>
          </a:xfrm>
        </p:grpSpPr>
        <p:sp>
          <p:nvSpPr>
            <p:cNvPr name="Freeform 31" id="31"/>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32" id="32"/>
            <p:cNvSpPr txBox="true"/>
            <p:nvPr/>
          </p:nvSpPr>
          <p:spPr>
            <a:xfrm>
              <a:off x="0" y="-38100"/>
              <a:ext cx="1005840" cy="1043940"/>
            </a:xfrm>
            <a:prstGeom prst="rect">
              <a:avLst/>
            </a:prstGeom>
          </p:spPr>
          <p:txBody>
            <a:bodyPr anchor="ctr" rtlCol="false" tIns="0" lIns="0" bIns="0" rIns="0"/>
            <a:lstStyle/>
            <a:p>
              <a:pPr algn="ctr">
                <a:lnSpc>
                  <a:spcPts val="2574"/>
                </a:lnSpc>
              </a:pPr>
              <a:r>
                <a:rPr lang="en-US" sz="2145" b="true">
                  <a:solidFill>
                    <a:srgbClr val="0A1428"/>
                  </a:solidFill>
                  <a:latin typeface="Calibri (MS) Bold"/>
                  <a:ea typeface="Calibri (MS) Bold"/>
                  <a:cs typeface="Calibri (MS) Bold"/>
                  <a:sym typeface="Calibri (MS) Bold"/>
                </a:rPr>
                <a:t>⌀</a:t>
              </a:r>
            </a:p>
          </p:txBody>
        </p:sp>
      </p:grpSp>
      <p:grpSp>
        <p:nvGrpSpPr>
          <p:cNvPr name="Group 33" id="33"/>
          <p:cNvGrpSpPr/>
          <p:nvPr/>
        </p:nvGrpSpPr>
        <p:grpSpPr>
          <a:xfrm rot="0">
            <a:off x="1851660" y="4978908"/>
            <a:ext cx="9052560" cy="480060"/>
            <a:chOff x="0" y="0"/>
            <a:chExt cx="12070080" cy="640080"/>
          </a:xfrm>
        </p:grpSpPr>
        <p:sp>
          <p:nvSpPr>
            <p:cNvPr name="Freeform 34" id="34"/>
            <p:cNvSpPr/>
            <p:nvPr/>
          </p:nvSpPr>
          <p:spPr>
            <a:xfrm flipH="false" flipV="false" rot="0">
              <a:off x="0" y="0"/>
              <a:ext cx="12070080" cy="640080"/>
            </a:xfrm>
            <a:custGeom>
              <a:avLst/>
              <a:gdLst/>
              <a:ahLst/>
              <a:cxnLst/>
              <a:rect r="r" b="b" t="t" l="l"/>
              <a:pathLst>
                <a:path h="640080" w="12070080">
                  <a:moveTo>
                    <a:pt x="0" y="0"/>
                  </a:moveTo>
                  <a:lnTo>
                    <a:pt x="12070080" y="0"/>
                  </a:lnTo>
                  <a:lnTo>
                    <a:pt x="12070080" y="640080"/>
                  </a:lnTo>
                  <a:lnTo>
                    <a:pt x="0" y="640080"/>
                  </a:lnTo>
                  <a:close/>
                </a:path>
              </a:pathLst>
            </a:custGeom>
            <a:blipFill>
              <a:blip r:embed="rId2">
                <a:alphaModFix amt="0"/>
              </a:blip>
              <a:stretch>
                <a:fillRect l="0" t="-317432" r="0" b="-317432"/>
              </a:stretch>
            </a:blipFill>
          </p:spPr>
        </p:sp>
        <p:sp>
          <p:nvSpPr>
            <p:cNvPr name="TextBox 35" id="35"/>
            <p:cNvSpPr txBox="true"/>
            <p:nvPr/>
          </p:nvSpPr>
          <p:spPr>
            <a:xfrm>
              <a:off x="0" y="-47625"/>
              <a:ext cx="12070080" cy="687705"/>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Data Leakage</a:t>
              </a:r>
            </a:p>
          </p:txBody>
        </p:sp>
      </p:grpSp>
      <p:grpSp>
        <p:nvGrpSpPr>
          <p:cNvPr name="Group 36" id="36"/>
          <p:cNvGrpSpPr/>
          <p:nvPr/>
        </p:nvGrpSpPr>
        <p:grpSpPr>
          <a:xfrm rot="0">
            <a:off x="1851660" y="5445252"/>
            <a:ext cx="9052560" cy="754380"/>
            <a:chOff x="0" y="0"/>
            <a:chExt cx="12070080" cy="1005840"/>
          </a:xfrm>
        </p:grpSpPr>
        <p:sp>
          <p:nvSpPr>
            <p:cNvPr name="Freeform 37" id="37"/>
            <p:cNvSpPr/>
            <p:nvPr/>
          </p:nvSpPr>
          <p:spPr>
            <a:xfrm flipH="false" flipV="false" rot="0">
              <a:off x="0" y="0"/>
              <a:ext cx="12070080" cy="1005840"/>
            </a:xfrm>
            <a:custGeom>
              <a:avLst/>
              <a:gdLst/>
              <a:ahLst/>
              <a:cxnLst/>
              <a:rect r="r" b="b" t="t" l="l"/>
              <a:pathLst>
                <a:path h="1005840" w="12070080">
                  <a:moveTo>
                    <a:pt x="0" y="0"/>
                  </a:moveTo>
                  <a:lnTo>
                    <a:pt x="12070080" y="0"/>
                  </a:lnTo>
                  <a:lnTo>
                    <a:pt x="12070080" y="1005840"/>
                  </a:lnTo>
                  <a:lnTo>
                    <a:pt x="0" y="1005840"/>
                  </a:lnTo>
                  <a:close/>
                </a:path>
              </a:pathLst>
            </a:custGeom>
            <a:blipFill>
              <a:blip r:embed="rId2">
                <a:alphaModFix amt="0"/>
              </a:blip>
              <a:stretch>
                <a:fillRect l="0" t="-183820" r="0" b="-183820"/>
              </a:stretch>
            </a:blipFill>
          </p:spPr>
        </p:sp>
        <p:sp>
          <p:nvSpPr>
            <p:cNvPr name="TextBox 38" id="38"/>
            <p:cNvSpPr txBox="true"/>
            <p:nvPr/>
          </p:nvSpPr>
          <p:spPr>
            <a:xfrm>
              <a:off x="0" y="-38100"/>
              <a:ext cx="12070080" cy="1043940"/>
            </a:xfrm>
            <a:prstGeom prst="rect">
              <a:avLst/>
            </a:prstGeom>
          </p:spPr>
          <p:txBody>
            <a:bodyPr anchor="ctr" rtlCol="false" tIns="0" lIns="0" bIns="0" rIns="0"/>
            <a:lstStyle/>
            <a:p>
              <a:pPr algn="l">
                <a:lnSpc>
                  <a:spcPts val="2070"/>
                </a:lnSpc>
              </a:pPr>
              <a:r>
                <a:rPr lang="en-US" sz="1725">
                  <a:solidFill>
                    <a:srgbClr val="9FB0C9"/>
                  </a:solidFill>
                  <a:latin typeface="Calibri (MS)"/>
                  <a:ea typeface="Calibri (MS)"/>
                  <a:cs typeface="Calibri (MS)"/>
                  <a:sym typeface="Calibri (MS)"/>
                </a:rPr>
                <a:t>Des données s</a:t>
              </a:r>
              <a:r>
                <a:rPr lang="en-US" sz="1725">
                  <a:solidFill>
                    <a:srgbClr val="9FB0C9"/>
                  </a:solidFill>
                  <a:latin typeface="Calibri (MS)"/>
                  <a:ea typeface="Calibri (MS)"/>
                  <a:cs typeface="Calibri (MS)"/>
                  <a:sym typeface="Calibri (MS)"/>
                </a:rPr>
                <a:t>ensibles ou identifiantes peuvent être utilisées pendant l’entraînement, ce qui peut donner l’impression que le modèle est plus performant qu’il ne l’est réellement.</a:t>
              </a:r>
            </a:p>
          </p:txBody>
        </p:sp>
      </p:grpSp>
      <p:grpSp>
        <p:nvGrpSpPr>
          <p:cNvPr name="Group 39" id="39"/>
          <p:cNvGrpSpPr/>
          <p:nvPr/>
        </p:nvGrpSpPr>
        <p:grpSpPr>
          <a:xfrm rot="0">
            <a:off x="822960" y="6446520"/>
            <a:ext cx="754380" cy="754380"/>
            <a:chOff x="0" y="0"/>
            <a:chExt cx="1005840" cy="1005840"/>
          </a:xfrm>
        </p:grpSpPr>
        <p:sp>
          <p:nvSpPr>
            <p:cNvPr name="Freeform 40" id="40"/>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4C7CFF"/>
            </a:solidFill>
          </p:spPr>
        </p:sp>
      </p:grpSp>
      <p:grpSp>
        <p:nvGrpSpPr>
          <p:cNvPr name="Group 41" id="41"/>
          <p:cNvGrpSpPr/>
          <p:nvPr/>
        </p:nvGrpSpPr>
        <p:grpSpPr>
          <a:xfrm rot="0">
            <a:off x="822960" y="6432804"/>
            <a:ext cx="754380" cy="754380"/>
            <a:chOff x="0" y="0"/>
            <a:chExt cx="1005840" cy="1005840"/>
          </a:xfrm>
        </p:grpSpPr>
        <p:sp>
          <p:nvSpPr>
            <p:cNvPr name="Freeform 42" id="42"/>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43" id="43"/>
            <p:cNvSpPr txBox="true"/>
            <p:nvPr/>
          </p:nvSpPr>
          <p:spPr>
            <a:xfrm>
              <a:off x="0" y="-38100"/>
              <a:ext cx="1005840" cy="1043940"/>
            </a:xfrm>
            <a:prstGeom prst="rect">
              <a:avLst/>
            </a:prstGeom>
          </p:spPr>
          <p:txBody>
            <a:bodyPr anchor="ctr" rtlCol="false" tIns="0" lIns="0" bIns="0" rIns="0"/>
            <a:lstStyle/>
            <a:p>
              <a:pPr algn="ctr">
                <a:lnSpc>
                  <a:spcPts val="2574"/>
                </a:lnSpc>
              </a:pPr>
              <a:r>
                <a:rPr lang="en-US" sz="2145" b="true">
                  <a:solidFill>
                    <a:srgbClr val="0A1428"/>
                  </a:solidFill>
                  <a:latin typeface="Calibri (MS) Bold"/>
                  <a:ea typeface="Calibri (MS) Bold"/>
                  <a:cs typeface="Calibri (MS) Bold"/>
                  <a:sym typeface="Calibri (MS) Bold"/>
                </a:rPr>
                <a:t>◎</a:t>
              </a:r>
            </a:p>
          </p:txBody>
        </p:sp>
      </p:grpSp>
      <p:grpSp>
        <p:nvGrpSpPr>
          <p:cNvPr name="Group 44" id="44"/>
          <p:cNvGrpSpPr/>
          <p:nvPr/>
        </p:nvGrpSpPr>
        <p:grpSpPr>
          <a:xfrm rot="0">
            <a:off x="1851660" y="6419088"/>
            <a:ext cx="9052560" cy="480060"/>
            <a:chOff x="0" y="0"/>
            <a:chExt cx="12070080" cy="640080"/>
          </a:xfrm>
        </p:grpSpPr>
        <p:sp>
          <p:nvSpPr>
            <p:cNvPr name="Freeform 45" id="45"/>
            <p:cNvSpPr/>
            <p:nvPr/>
          </p:nvSpPr>
          <p:spPr>
            <a:xfrm flipH="false" flipV="false" rot="0">
              <a:off x="0" y="0"/>
              <a:ext cx="12070080" cy="640080"/>
            </a:xfrm>
            <a:custGeom>
              <a:avLst/>
              <a:gdLst/>
              <a:ahLst/>
              <a:cxnLst/>
              <a:rect r="r" b="b" t="t" l="l"/>
              <a:pathLst>
                <a:path h="640080" w="12070080">
                  <a:moveTo>
                    <a:pt x="0" y="0"/>
                  </a:moveTo>
                  <a:lnTo>
                    <a:pt x="12070080" y="0"/>
                  </a:lnTo>
                  <a:lnTo>
                    <a:pt x="12070080" y="640080"/>
                  </a:lnTo>
                  <a:lnTo>
                    <a:pt x="0" y="640080"/>
                  </a:lnTo>
                  <a:close/>
                </a:path>
              </a:pathLst>
            </a:custGeom>
            <a:blipFill>
              <a:blip r:embed="rId2">
                <a:alphaModFix amt="0"/>
              </a:blip>
              <a:stretch>
                <a:fillRect l="0" t="-317432" r="0" b="-317432"/>
              </a:stretch>
            </a:blipFill>
          </p:spPr>
        </p:sp>
        <p:sp>
          <p:nvSpPr>
            <p:cNvPr name="TextBox 46" id="46"/>
            <p:cNvSpPr txBox="true"/>
            <p:nvPr/>
          </p:nvSpPr>
          <p:spPr>
            <a:xfrm>
              <a:off x="0" y="-47625"/>
              <a:ext cx="12070080" cy="687705"/>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Unmonitored Infra</a:t>
              </a:r>
            </a:p>
          </p:txBody>
        </p:sp>
      </p:grpSp>
      <p:grpSp>
        <p:nvGrpSpPr>
          <p:cNvPr name="Group 47" id="47"/>
          <p:cNvGrpSpPr/>
          <p:nvPr/>
        </p:nvGrpSpPr>
        <p:grpSpPr>
          <a:xfrm rot="0">
            <a:off x="1851660" y="6885432"/>
            <a:ext cx="9052560" cy="754380"/>
            <a:chOff x="0" y="0"/>
            <a:chExt cx="12070080" cy="1005840"/>
          </a:xfrm>
        </p:grpSpPr>
        <p:sp>
          <p:nvSpPr>
            <p:cNvPr name="Freeform 48" id="48"/>
            <p:cNvSpPr/>
            <p:nvPr/>
          </p:nvSpPr>
          <p:spPr>
            <a:xfrm flipH="false" flipV="false" rot="0">
              <a:off x="0" y="0"/>
              <a:ext cx="12070080" cy="1005840"/>
            </a:xfrm>
            <a:custGeom>
              <a:avLst/>
              <a:gdLst/>
              <a:ahLst/>
              <a:cxnLst/>
              <a:rect r="r" b="b" t="t" l="l"/>
              <a:pathLst>
                <a:path h="1005840" w="12070080">
                  <a:moveTo>
                    <a:pt x="0" y="0"/>
                  </a:moveTo>
                  <a:lnTo>
                    <a:pt x="12070080" y="0"/>
                  </a:lnTo>
                  <a:lnTo>
                    <a:pt x="12070080" y="1005840"/>
                  </a:lnTo>
                  <a:lnTo>
                    <a:pt x="0" y="1005840"/>
                  </a:lnTo>
                  <a:close/>
                </a:path>
              </a:pathLst>
            </a:custGeom>
            <a:blipFill>
              <a:blip r:embed="rId2">
                <a:alphaModFix amt="0"/>
              </a:blip>
              <a:stretch>
                <a:fillRect l="0" t="-183820" r="0" b="-183820"/>
              </a:stretch>
            </a:blipFill>
          </p:spPr>
        </p:sp>
        <p:sp>
          <p:nvSpPr>
            <p:cNvPr name="TextBox 49" id="49"/>
            <p:cNvSpPr txBox="true"/>
            <p:nvPr/>
          </p:nvSpPr>
          <p:spPr>
            <a:xfrm>
              <a:off x="0" y="-38100"/>
              <a:ext cx="12070080" cy="1043940"/>
            </a:xfrm>
            <a:prstGeom prst="rect">
              <a:avLst/>
            </a:prstGeom>
          </p:spPr>
          <p:txBody>
            <a:bodyPr anchor="ctr" rtlCol="false" tIns="0" lIns="0" bIns="0" rIns="0"/>
            <a:lstStyle/>
            <a:p>
              <a:pPr algn="l">
                <a:lnSpc>
                  <a:spcPts val="2070"/>
                </a:lnSpc>
              </a:pPr>
              <a:r>
                <a:rPr lang="en-US" sz="1725">
                  <a:solidFill>
                    <a:srgbClr val="9FB0C9"/>
                  </a:solidFill>
                  <a:latin typeface="Calibri (MS)"/>
                  <a:ea typeface="Calibri (MS)"/>
                  <a:cs typeface="Calibri (MS)"/>
                  <a:sym typeface="Calibri (MS)"/>
                </a:rPr>
                <a:t>Sans</a:t>
              </a:r>
              <a:r>
                <a:rPr lang="en-US" sz="1725">
                  <a:solidFill>
                    <a:srgbClr val="9FB0C9"/>
                  </a:solidFill>
                  <a:latin typeface="Calibri (MS)"/>
                  <a:ea typeface="Calibri (MS)"/>
                  <a:cs typeface="Calibri (MS)"/>
                  <a:sym typeface="Calibri (MS)"/>
                </a:rPr>
                <a:t> surveillance, il est difficile de détecter qu’un pipeline ou un modèle a été compromis.</a:t>
              </a:r>
            </a:p>
          </p:txBody>
        </p:sp>
      </p:grpSp>
      <p:grpSp>
        <p:nvGrpSpPr>
          <p:cNvPr name="Group 50" id="50"/>
          <p:cNvGrpSpPr/>
          <p:nvPr/>
        </p:nvGrpSpPr>
        <p:grpSpPr>
          <a:xfrm rot="0">
            <a:off x="11717655" y="2390775"/>
            <a:ext cx="5779770" cy="6739890"/>
            <a:chOff x="0" y="0"/>
            <a:chExt cx="7706360" cy="8986520"/>
          </a:xfrm>
        </p:grpSpPr>
        <p:sp>
          <p:nvSpPr>
            <p:cNvPr name="Freeform 51" id="51"/>
            <p:cNvSpPr/>
            <p:nvPr/>
          </p:nvSpPr>
          <p:spPr>
            <a:xfrm flipH="false" flipV="false" rot="0">
              <a:off x="0" y="0"/>
              <a:ext cx="7706360" cy="8986520"/>
            </a:xfrm>
            <a:custGeom>
              <a:avLst/>
              <a:gdLst/>
              <a:ahLst/>
              <a:cxnLst/>
              <a:rect r="r" b="b" t="t" l="l"/>
              <a:pathLst>
                <a:path h="8986520" w="7706360">
                  <a:moveTo>
                    <a:pt x="0" y="146812"/>
                  </a:moveTo>
                  <a:cubicBezTo>
                    <a:pt x="0" y="65786"/>
                    <a:pt x="65786" y="0"/>
                    <a:pt x="146812" y="0"/>
                  </a:cubicBezTo>
                  <a:lnTo>
                    <a:pt x="7559548" y="0"/>
                  </a:lnTo>
                  <a:cubicBezTo>
                    <a:pt x="7640574" y="0"/>
                    <a:pt x="7706360" y="65786"/>
                    <a:pt x="7706360" y="146812"/>
                  </a:cubicBezTo>
                  <a:lnTo>
                    <a:pt x="7706360" y="8839708"/>
                  </a:lnTo>
                  <a:cubicBezTo>
                    <a:pt x="7706360" y="8920734"/>
                    <a:pt x="7640574" y="8986520"/>
                    <a:pt x="7559548" y="8986520"/>
                  </a:cubicBezTo>
                  <a:lnTo>
                    <a:pt x="146812" y="8986520"/>
                  </a:lnTo>
                  <a:cubicBezTo>
                    <a:pt x="65786" y="8986520"/>
                    <a:pt x="0" y="8920734"/>
                    <a:pt x="0" y="8839708"/>
                  </a:cubicBezTo>
                  <a:close/>
                </a:path>
              </a:pathLst>
            </a:custGeom>
            <a:solidFill>
              <a:srgbClr val="13294A"/>
            </a:solidFill>
            <a:ln w="19050" cap="sq">
              <a:solidFill>
                <a:srgbClr val="1E3358"/>
              </a:solidFill>
              <a:prstDash val="solid"/>
              <a:miter/>
            </a:ln>
          </p:spPr>
        </p:sp>
      </p:grpSp>
      <p:grpSp>
        <p:nvGrpSpPr>
          <p:cNvPr name="Group 52" id="52"/>
          <p:cNvGrpSpPr/>
          <p:nvPr/>
        </p:nvGrpSpPr>
        <p:grpSpPr>
          <a:xfrm rot="0">
            <a:off x="12138660" y="2743200"/>
            <a:ext cx="4937760" cy="548640"/>
            <a:chOff x="0" y="0"/>
            <a:chExt cx="6583680" cy="731520"/>
          </a:xfrm>
        </p:grpSpPr>
        <p:sp>
          <p:nvSpPr>
            <p:cNvPr name="Freeform 53" id="53"/>
            <p:cNvSpPr/>
            <p:nvPr/>
          </p:nvSpPr>
          <p:spPr>
            <a:xfrm flipH="false" flipV="false" rot="0">
              <a:off x="0" y="0"/>
              <a:ext cx="6583680" cy="731520"/>
            </a:xfrm>
            <a:custGeom>
              <a:avLst/>
              <a:gdLst/>
              <a:ahLst/>
              <a:cxnLst/>
              <a:rect r="r" b="b" t="t" l="l"/>
              <a:pathLst>
                <a:path h="731520" w="6583680">
                  <a:moveTo>
                    <a:pt x="0" y="0"/>
                  </a:moveTo>
                  <a:lnTo>
                    <a:pt x="6583680" y="0"/>
                  </a:lnTo>
                  <a:lnTo>
                    <a:pt x="6583680" y="731520"/>
                  </a:lnTo>
                  <a:lnTo>
                    <a:pt x="0" y="731520"/>
                  </a:lnTo>
                  <a:close/>
                </a:path>
              </a:pathLst>
            </a:custGeom>
            <a:blipFill>
              <a:blip r:embed="rId2">
                <a:alphaModFix amt="0"/>
              </a:blip>
              <a:stretch>
                <a:fillRect l="0" t="-125365" r="0" b="-125365"/>
              </a:stretch>
            </a:blipFill>
          </p:spPr>
        </p:sp>
        <p:sp>
          <p:nvSpPr>
            <p:cNvPr name="TextBox 54" id="54"/>
            <p:cNvSpPr txBox="true"/>
            <p:nvPr/>
          </p:nvSpPr>
          <p:spPr>
            <a:xfrm>
              <a:off x="0" y="-38100"/>
              <a:ext cx="6583680" cy="769620"/>
            </a:xfrm>
            <a:prstGeom prst="rect">
              <a:avLst/>
            </a:prstGeom>
          </p:spPr>
          <p:txBody>
            <a:bodyPr anchor="ctr" rtlCol="false" tIns="0" lIns="0" bIns="0" rIns="0"/>
            <a:lstStyle/>
            <a:p>
              <a:pPr algn="l">
                <a:lnSpc>
                  <a:spcPts val="2160"/>
                </a:lnSpc>
              </a:pPr>
              <a:r>
                <a:rPr lang="en-US" sz="1800">
                  <a:solidFill>
                    <a:srgbClr val="9FB0C9"/>
                  </a:solidFill>
                  <a:latin typeface="Calibri (MS)"/>
                  <a:ea typeface="Calibri (MS)"/>
                  <a:cs typeface="Calibri (MS)"/>
                  <a:sym typeface="Calibri (MS)"/>
                </a:rPr>
                <a:t>MLSecOps =</a:t>
              </a:r>
            </a:p>
          </p:txBody>
        </p:sp>
      </p:grpSp>
      <p:grpSp>
        <p:nvGrpSpPr>
          <p:cNvPr name="Group 55" id="55"/>
          <p:cNvGrpSpPr/>
          <p:nvPr/>
        </p:nvGrpSpPr>
        <p:grpSpPr>
          <a:xfrm rot="0">
            <a:off x="12148186" y="2777490"/>
            <a:ext cx="4937760" cy="480060"/>
            <a:chOff x="0" y="0"/>
            <a:chExt cx="6583680" cy="640080"/>
          </a:xfrm>
        </p:grpSpPr>
        <p:sp>
          <p:nvSpPr>
            <p:cNvPr name="Freeform 56" id="56"/>
            <p:cNvSpPr/>
            <p:nvPr/>
          </p:nvSpPr>
          <p:spPr>
            <a:xfrm flipH="false" flipV="false" rot="0">
              <a:off x="0" y="0"/>
              <a:ext cx="6583680" cy="640080"/>
            </a:xfrm>
            <a:custGeom>
              <a:avLst/>
              <a:gdLst/>
              <a:ahLst/>
              <a:cxnLst/>
              <a:rect r="r" b="b" t="t" l="l"/>
              <a:pathLst>
                <a:path h="640080" w="6583680">
                  <a:moveTo>
                    <a:pt x="0" y="0"/>
                  </a:moveTo>
                  <a:lnTo>
                    <a:pt x="6583680" y="0"/>
                  </a:lnTo>
                  <a:lnTo>
                    <a:pt x="6583680" y="640080"/>
                  </a:lnTo>
                  <a:lnTo>
                    <a:pt x="0" y="640080"/>
                  </a:lnTo>
                  <a:close/>
                </a:path>
              </a:pathLst>
            </a:custGeom>
            <a:blipFill>
              <a:blip r:embed="rId2">
                <a:alphaModFix amt="0"/>
              </a:blip>
              <a:stretch>
                <a:fillRect l="0" t="-150417" r="0" b="-150417"/>
              </a:stretch>
            </a:blipFill>
          </p:spPr>
        </p:sp>
        <p:sp>
          <p:nvSpPr>
            <p:cNvPr name="TextBox 57" id="57"/>
            <p:cNvSpPr txBox="true"/>
            <p:nvPr/>
          </p:nvSpPr>
          <p:spPr>
            <a:xfrm>
              <a:off x="0" y="-57150"/>
              <a:ext cx="6583680" cy="69723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DataOps</a:t>
              </a:r>
            </a:p>
          </p:txBody>
        </p:sp>
      </p:grpSp>
      <p:grpSp>
        <p:nvGrpSpPr>
          <p:cNvPr name="Group 58" id="58"/>
          <p:cNvGrpSpPr/>
          <p:nvPr/>
        </p:nvGrpSpPr>
        <p:grpSpPr>
          <a:xfrm rot="0">
            <a:off x="12148186" y="3301365"/>
            <a:ext cx="4937760" cy="548640"/>
            <a:chOff x="0" y="0"/>
            <a:chExt cx="6583680" cy="731520"/>
          </a:xfrm>
        </p:grpSpPr>
        <p:sp>
          <p:nvSpPr>
            <p:cNvPr name="Freeform 59" id="59"/>
            <p:cNvSpPr/>
            <p:nvPr/>
          </p:nvSpPr>
          <p:spPr>
            <a:xfrm flipH="false" flipV="false" rot="0">
              <a:off x="0" y="0"/>
              <a:ext cx="6583680" cy="731520"/>
            </a:xfrm>
            <a:custGeom>
              <a:avLst/>
              <a:gdLst/>
              <a:ahLst/>
              <a:cxnLst/>
              <a:rect r="r" b="b" t="t" l="l"/>
              <a:pathLst>
                <a:path h="731520" w="6583680">
                  <a:moveTo>
                    <a:pt x="0" y="0"/>
                  </a:moveTo>
                  <a:lnTo>
                    <a:pt x="6583680" y="0"/>
                  </a:lnTo>
                  <a:lnTo>
                    <a:pt x="6583680" y="731520"/>
                  </a:lnTo>
                  <a:lnTo>
                    <a:pt x="0" y="731520"/>
                  </a:lnTo>
                  <a:close/>
                </a:path>
              </a:pathLst>
            </a:custGeom>
            <a:blipFill>
              <a:blip r:embed="rId2">
                <a:alphaModFix amt="0"/>
              </a:blip>
              <a:stretch>
                <a:fillRect l="0" t="-125365" r="0" b="-125365"/>
              </a:stretch>
            </a:blipFill>
          </p:spPr>
        </p:sp>
        <p:sp>
          <p:nvSpPr>
            <p:cNvPr name="TextBox 60" id="60"/>
            <p:cNvSpPr txBox="true"/>
            <p:nvPr/>
          </p:nvSpPr>
          <p:spPr>
            <a:xfrm>
              <a:off x="0" y="-19050"/>
              <a:ext cx="6583680" cy="750570"/>
            </a:xfrm>
            <a:prstGeom prst="rect">
              <a:avLst/>
            </a:prstGeom>
          </p:spPr>
          <p:txBody>
            <a:bodyPr anchor="ctr" rtlCol="false" tIns="0" lIns="0" bIns="0" rIns="0"/>
            <a:lstStyle/>
            <a:p>
              <a:pPr algn="ctr">
                <a:lnSpc>
                  <a:spcPts val="1889"/>
                </a:lnSpc>
              </a:pPr>
              <a:r>
                <a:rPr lang="en-US" sz="1575">
                  <a:solidFill>
                    <a:srgbClr val="9FB0C9"/>
                  </a:solidFill>
                  <a:latin typeface="Calibri (MS)"/>
                  <a:ea typeface="Calibri (MS)"/>
                  <a:cs typeface="Calibri (MS)"/>
                  <a:sym typeface="Calibri (MS)"/>
                </a:rPr>
                <a:t>Des pipelines de données fiables et gouvernés</a:t>
              </a:r>
            </a:p>
          </p:txBody>
        </p:sp>
      </p:grpSp>
      <p:grpSp>
        <p:nvGrpSpPr>
          <p:cNvPr name="Group 61" id="61"/>
          <p:cNvGrpSpPr/>
          <p:nvPr/>
        </p:nvGrpSpPr>
        <p:grpSpPr>
          <a:xfrm rot="0">
            <a:off x="12148186" y="3859530"/>
            <a:ext cx="4937760" cy="480060"/>
            <a:chOff x="0" y="0"/>
            <a:chExt cx="6583680" cy="640080"/>
          </a:xfrm>
        </p:grpSpPr>
        <p:sp>
          <p:nvSpPr>
            <p:cNvPr name="Freeform 62" id="62"/>
            <p:cNvSpPr/>
            <p:nvPr/>
          </p:nvSpPr>
          <p:spPr>
            <a:xfrm flipH="false" flipV="false" rot="0">
              <a:off x="0" y="0"/>
              <a:ext cx="6583680" cy="640080"/>
            </a:xfrm>
            <a:custGeom>
              <a:avLst/>
              <a:gdLst/>
              <a:ahLst/>
              <a:cxnLst/>
              <a:rect r="r" b="b" t="t" l="l"/>
              <a:pathLst>
                <a:path h="640080" w="6583680">
                  <a:moveTo>
                    <a:pt x="0" y="0"/>
                  </a:moveTo>
                  <a:lnTo>
                    <a:pt x="6583680" y="0"/>
                  </a:lnTo>
                  <a:lnTo>
                    <a:pt x="6583680" y="640080"/>
                  </a:lnTo>
                  <a:lnTo>
                    <a:pt x="0" y="640080"/>
                  </a:lnTo>
                  <a:close/>
                </a:path>
              </a:pathLst>
            </a:custGeom>
            <a:blipFill>
              <a:blip r:embed="rId2">
                <a:alphaModFix amt="0"/>
              </a:blip>
              <a:stretch>
                <a:fillRect l="0" t="-150417" r="0" b="-150417"/>
              </a:stretch>
            </a:blipFill>
          </p:spPr>
        </p:sp>
        <p:sp>
          <p:nvSpPr>
            <p:cNvPr name="TextBox 63" id="63"/>
            <p:cNvSpPr txBox="true"/>
            <p:nvPr/>
          </p:nvSpPr>
          <p:spPr>
            <a:xfrm>
              <a:off x="0" y="-19050"/>
              <a:ext cx="6583680" cy="659130"/>
            </a:xfrm>
            <a:prstGeom prst="rect">
              <a:avLst/>
            </a:prstGeom>
          </p:spPr>
          <p:txBody>
            <a:bodyPr anchor="ctr" rtlCol="false" tIns="0" lIns="0" bIns="0" rIns="0"/>
            <a:lstStyle/>
            <a:p>
              <a:pPr algn="ctr">
                <a:lnSpc>
                  <a:spcPts val="3240"/>
                </a:lnSpc>
              </a:pPr>
              <a:r>
                <a:rPr lang="en-US" sz="2700" b="true">
                  <a:solidFill>
                    <a:srgbClr val="00E5C7"/>
                  </a:solidFill>
                  <a:latin typeface="Cambria Bold"/>
                  <a:ea typeface="Cambria Bold"/>
                  <a:cs typeface="Cambria Bold"/>
                  <a:sym typeface="Cambria Bold"/>
                </a:rPr>
                <a:t>+</a:t>
              </a:r>
            </a:p>
          </p:txBody>
        </p:sp>
      </p:grpSp>
      <p:grpSp>
        <p:nvGrpSpPr>
          <p:cNvPr name="Group 64" id="64"/>
          <p:cNvGrpSpPr/>
          <p:nvPr/>
        </p:nvGrpSpPr>
        <p:grpSpPr>
          <a:xfrm rot="0">
            <a:off x="12148186" y="4441888"/>
            <a:ext cx="4937760" cy="480060"/>
            <a:chOff x="0" y="0"/>
            <a:chExt cx="6583680" cy="640080"/>
          </a:xfrm>
        </p:grpSpPr>
        <p:sp>
          <p:nvSpPr>
            <p:cNvPr name="Freeform 65" id="65"/>
            <p:cNvSpPr/>
            <p:nvPr/>
          </p:nvSpPr>
          <p:spPr>
            <a:xfrm flipH="false" flipV="false" rot="0">
              <a:off x="0" y="0"/>
              <a:ext cx="6583680" cy="640080"/>
            </a:xfrm>
            <a:custGeom>
              <a:avLst/>
              <a:gdLst/>
              <a:ahLst/>
              <a:cxnLst/>
              <a:rect r="r" b="b" t="t" l="l"/>
              <a:pathLst>
                <a:path h="640080" w="6583680">
                  <a:moveTo>
                    <a:pt x="0" y="0"/>
                  </a:moveTo>
                  <a:lnTo>
                    <a:pt x="6583680" y="0"/>
                  </a:lnTo>
                  <a:lnTo>
                    <a:pt x="6583680" y="640080"/>
                  </a:lnTo>
                  <a:lnTo>
                    <a:pt x="0" y="640080"/>
                  </a:lnTo>
                  <a:close/>
                </a:path>
              </a:pathLst>
            </a:custGeom>
            <a:blipFill>
              <a:blip r:embed="rId2">
                <a:alphaModFix amt="0"/>
              </a:blip>
              <a:stretch>
                <a:fillRect l="0" t="-150417" r="0" b="-150417"/>
              </a:stretch>
            </a:blipFill>
          </p:spPr>
        </p:sp>
        <p:sp>
          <p:nvSpPr>
            <p:cNvPr name="TextBox 66" id="66"/>
            <p:cNvSpPr txBox="true"/>
            <p:nvPr/>
          </p:nvSpPr>
          <p:spPr>
            <a:xfrm>
              <a:off x="0" y="-57150"/>
              <a:ext cx="6583680" cy="69723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MLOps</a:t>
              </a:r>
            </a:p>
          </p:txBody>
        </p:sp>
      </p:grpSp>
      <p:grpSp>
        <p:nvGrpSpPr>
          <p:cNvPr name="Group 67" id="67"/>
          <p:cNvGrpSpPr/>
          <p:nvPr/>
        </p:nvGrpSpPr>
        <p:grpSpPr>
          <a:xfrm rot="0">
            <a:off x="12138660" y="5095494"/>
            <a:ext cx="4937760" cy="548640"/>
            <a:chOff x="0" y="0"/>
            <a:chExt cx="6583680" cy="731520"/>
          </a:xfrm>
        </p:grpSpPr>
        <p:sp>
          <p:nvSpPr>
            <p:cNvPr name="Freeform 68" id="68"/>
            <p:cNvSpPr/>
            <p:nvPr/>
          </p:nvSpPr>
          <p:spPr>
            <a:xfrm flipH="false" flipV="false" rot="0">
              <a:off x="0" y="0"/>
              <a:ext cx="6583680" cy="731520"/>
            </a:xfrm>
            <a:custGeom>
              <a:avLst/>
              <a:gdLst/>
              <a:ahLst/>
              <a:cxnLst/>
              <a:rect r="r" b="b" t="t" l="l"/>
              <a:pathLst>
                <a:path h="731520" w="6583680">
                  <a:moveTo>
                    <a:pt x="0" y="0"/>
                  </a:moveTo>
                  <a:lnTo>
                    <a:pt x="6583680" y="0"/>
                  </a:lnTo>
                  <a:lnTo>
                    <a:pt x="6583680" y="731520"/>
                  </a:lnTo>
                  <a:lnTo>
                    <a:pt x="0" y="731520"/>
                  </a:lnTo>
                  <a:close/>
                </a:path>
              </a:pathLst>
            </a:custGeom>
            <a:blipFill>
              <a:blip r:embed="rId2">
                <a:alphaModFix amt="0"/>
              </a:blip>
              <a:stretch>
                <a:fillRect l="0" t="-125365" r="0" b="-125365"/>
              </a:stretch>
            </a:blipFill>
          </p:spPr>
        </p:sp>
        <p:sp>
          <p:nvSpPr>
            <p:cNvPr name="TextBox 69" id="69"/>
            <p:cNvSpPr txBox="true"/>
            <p:nvPr/>
          </p:nvSpPr>
          <p:spPr>
            <a:xfrm>
              <a:off x="0" y="-19050"/>
              <a:ext cx="6583680" cy="750570"/>
            </a:xfrm>
            <a:prstGeom prst="rect">
              <a:avLst/>
            </a:prstGeom>
          </p:spPr>
          <p:txBody>
            <a:bodyPr anchor="ctr" rtlCol="false" tIns="0" lIns="0" bIns="0" rIns="0"/>
            <a:lstStyle/>
            <a:p>
              <a:pPr algn="ctr">
                <a:lnSpc>
                  <a:spcPts val="1889"/>
                </a:lnSpc>
              </a:pPr>
              <a:r>
                <a:rPr lang="en-US" sz="1575">
                  <a:solidFill>
                    <a:srgbClr val="9FB0C9"/>
                  </a:solidFill>
                  <a:latin typeface="Calibri (MS)"/>
                  <a:ea typeface="Calibri (MS)"/>
                  <a:cs typeface="Calibri (MS)"/>
                  <a:sym typeface="Calibri (MS)"/>
                </a:rPr>
                <a:t>Un entraînement et un déploiement reproductibles</a:t>
              </a:r>
            </a:p>
          </p:txBody>
        </p:sp>
      </p:grpSp>
      <p:grpSp>
        <p:nvGrpSpPr>
          <p:cNvPr name="Group 70" id="70"/>
          <p:cNvGrpSpPr/>
          <p:nvPr/>
        </p:nvGrpSpPr>
        <p:grpSpPr>
          <a:xfrm rot="0">
            <a:off x="12111228" y="5615654"/>
            <a:ext cx="4937760" cy="480060"/>
            <a:chOff x="0" y="0"/>
            <a:chExt cx="6583680" cy="640080"/>
          </a:xfrm>
        </p:grpSpPr>
        <p:sp>
          <p:nvSpPr>
            <p:cNvPr name="Freeform 71" id="71"/>
            <p:cNvSpPr/>
            <p:nvPr/>
          </p:nvSpPr>
          <p:spPr>
            <a:xfrm flipH="false" flipV="false" rot="0">
              <a:off x="0" y="0"/>
              <a:ext cx="6583680" cy="640080"/>
            </a:xfrm>
            <a:custGeom>
              <a:avLst/>
              <a:gdLst/>
              <a:ahLst/>
              <a:cxnLst/>
              <a:rect r="r" b="b" t="t" l="l"/>
              <a:pathLst>
                <a:path h="640080" w="6583680">
                  <a:moveTo>
                    <a:pt x="0" y="0"/>
                  </a:moveTo>
                  <a:lnTo>
                    <a:pt x="6583680" y="0"/>
                  </a:lnTo>
                  <a:lnTo>
                    <a:pt x="6583680" y="640080"/>
                  </a:lnTo>
                  <a:lnTo>
                    <a:pt x="0" y="640080"/>
                  </a:lnTo>
                  <a:close/>
                </a:path>
              </a:pathLst>
            </a:custGeom>
            <a:blipFill>
              <a:blip r:embed="rId2">
                <a:alphaModFix amt="0"/>
              </a:blip>
              <a:stretch>
                <a:fillRect l="0" t="-150417" r="0" b="-150417"/>
              </a:stretch>
            </a:blipFill>
          </p:spPr>
        </p:sp>
        <p:sp>
          <p:nvSpPr>
            <p:cNvPr name="TextBox 72" id="72"/>
            <p:cNvSpPr txBox="true"/>
            <p:nvPr/>
          </p:nvSpPr>
          <p:spPr>
            <a:xfrm>
              <a:off x="0" y="-19050"/>
              <a:ext cx="6583680" cy="659130"/>
            </a:xfrm>
            <a:prstGeom prst="rect">
              <a:avLst/>
            </a:prstGeom>
          </p:spPr>
          <p:txBody>
            <a:bodyPr anchor="ctr" rtlCol="false" tIns="0" lIns="0" bIns="0" rIns="0"/>
            <a:lstStyle/>
            <a:p>
              <a:pPr algn="ctr">
                <a:lnSpc>
                  <a:spcPts val="3240"/>
                </a:lnSpc>
              </a:pPr>
              <a:r>
                <a:rPr lang="en-US" sz="2700" b="true">
                  <a:solidFill>
                    <a:srgbClr val="00E5C7"/>
                  </a:solidFill>
                  <a:latin typeface="Cambria Bold"/>
                  <a:ea typeface="Cambria Bold"/>
                  <a:cs typeface="Cambria Bold"/>
                  <a:sym typeface="Cambria Bold"/>
                </a:rPr>
                <a:t>+</a:t>
              </a:r>
            </a:p>
          </p:txBody>
        </p:sp>
      </p:grpSp>
      <p:grpSp>
        <p:nvGrpSpPr>
          <p:cNvPr name="Group 73" id="73"/>
          <p:cNvGrpSpPr/>
          <p:nvPr/>
        </p:nvGrpSpPr>
        <p:grpSpPr>
          <a:xfrm rot="0">
            <a:off x="12148186" y="6267164"/>
            <a:ext cx="4937760" cy="480060"/>
            <a:chOff x="0" y="0"/>
            <a:chExt cx="6583680" cy="640080"/>
          </a:xfrm>
        </p:grpSpPr>
        <p:sp>
          <p:nvSpPr>
            <p:cNvPr name="Freeform 74" id="74"/>
            <p:cNvSpPr/>
            <p:nvPr/>
          </p:nvSpPr>
          <p:spPr>
            <a:xfrm flipH="false" flipV="false" rot="0">
              <a:off x="0" y="0"/>
              <a:ext cx="6583680" cy="640080"/>
            </a:xfrm>
            <a:custGeom>
              <a:avLst/>
              <a:gdLst/>
              <a:ahLst/>
              <a:cxnLst/>
              <a:rect r="r" b="b" t="t" l="l"/>
              <a:pathLst>
                <a:path h="640080" w="6583680">
                  <a:moveTo>
                    <a:pt x="0" y="0"/>
                  </a:moveTo>
                  <a:lnTo>
                    <a:pt x="6583680" y="0"/>
                  </a:lnTo>
                  <a:lnTo>
                    <a:pt x="6583680" y="640080"/>
                  </a:lnTo>
                  <a:lnTo>
                    <a:pt x="0" y="640080"/>
                  </a:lnTo>
                  <a:close/>
                </a:path>
              </a:pathLst>
            </a:custGeom>
            <a:blipFill>
              <a:blip r:embed="rId2">
                <a:alphaModFix amt="0"/>
              </a:blip>
              <a:stretch>
                <a:fillRect l="0" t="-150417" r="0" b="-150417"/>
              </a:stretch>
            </a:blipFill>
          </p:spPr>
        </p:sp>
        <p:sp>
          <p:nvSpPr>
            <p:cNvPr name="TextBox 75" id="75"/>
            <p:cNvSpPr txBox="true"/>
            <p:nvPr/>
          </p:nvSpPr>
          <p:spPr>
            <a:xfrm>
              <a:off x="0" y="-57150"/>
              <a:ext cx="6583680" cy="69723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SecOps</a:t>
              </a:r>
            </a:p>
          </p:txBody>
        </p:sp>
      </p:grpSp>
      <p:grpSp>
        <p:nvGrpSpPr>
          <p:cNvPr name="Group 76" id="76"/>
          <p:cNvGrpSpPr/>
          <p:nvPr/>
        </p:nvGrpSpPr>
        <p:grpSpPr>
          <a:xfrm rot="0">
            <a:off x="12148186" y="6851999"/>
            <a:ext cx="4937760" cy="548640"/>
            <a:chOff x="0" y="0"/>
            <a:chExt cx="6583680" cy="731520"/>
          </a:xfrm>
        </p:grpSpPr>
        <p:sp>
          <p:nvSpPr>
            <p:cNvPr name="Freeform 77" id="77"/>
            <p:cNvSpPr/>
            <p:nvPr/>
          </p:nvSpPr>
          <p:spPr>
            <a:xfrm flipH="false" flipV="false" rot="0">
              <a:off x="0" y="0"/>
              <a:ext cx="6583680" cy="731520"/>
            </a:xfrm>
            <a:custGeom>
              <a:avLst/>
              <a:gdLst/>
              <a:ahLst/>
              <a:cxnLst/>
              <a:rect r="r" b="b" t="t" l="l"/>
              <a:pathLst>
                <a:path h="731520" w="6583680">
                  <a:moveTo>
                    <a:pt x="0" y="0"/>
                  </a:moveTo>
                  <a:lnTo>
                    <a:pt x="6583680" y="0"/>
                  </a:lnTo>
                  <a:lnTo>
                    <a:pt x="6583680" y="731520"/>
                  </a:lnTo>
                  <a:lnTo>
                    <a:pt x="0" y="731520"/>
                  </a:lnTo>
                  <a:close/>
                </a:path>
              </a:pathLst>
            </a:custGeom>
            <a:blipFill>
              <a:blip r:embed="rId2">
                <a:alphaModFix amt="0"/>
              </a:blip>
              <a:stretch>
                <a:fillRect l="0" t="-125365" r="0" b="-125365"/>
              </a:stretch>
            </a:blipFill>
          </p:spPr>
        </p:sp>
        <p:sp>
          <p:nvSpPr>
            <p:cNvPr name="TextBox 78" id="78"/>
            <p:cNvSpPr txBox="true"/>
            <p:nvPr/>
          </p:nvSpPr>
          <p:spPr>
            <a:xfrm>
              <a:off x="0" y="-19050"/>
              <a:ext cx="6583680" cy="750570"/>
            </a:xfrm>
            <a:prstGeom prst="rect">
              <a:avLst/>
            </a:prstGeom>
          </p:spPr>
          <p:txBody>
            <a:bodyPr anchor="ctr" rtlCol="false" tIns="0" lIns="0" bIns="0" rIns="0"/>
            <a:lstStyle/>
            <a:p>
              <a:pPr algn="ctr">
                <a:lnSpc>
                  <a:spcPts val="1889"/>
                </a:lnSpc>
              </a:pPr>
              <a:r>
                <a:rPr lang="en-US" sz="1575">
                  <a:solidFill>
                    <a:srgbClr val="9FB0C9"/>
                  </a:solidFill>
                  <a:latin typeface="Calibri (MS)"/>
                  <a:ea typeface="Calibri (MS)"/>
                  <a:cs typeface="Calibri (MS)"/>
                  <a:sym typeface="Calibri (MS)"/>
                </a:rPr>
                <a:t>Des contrôles de sécurité de bout en bout</a:t>
              </a:r>
            </a:p>
          </p:txBody>
        </p:sp>
      </p:grpSp>
      <p:sp>
        <p:nvSpPr>
          <p:cNvPr name="AutoShape 79" id="79"/>
          <p:cNvSpPr/>
          <p:nvPr/>
        </p:nvSpPr>
        <p:spPr>
          <a:xfrm rot="13200">
            <a:off x="12129116" y="8019097"/>
            <a:ext cx="4956848" cy="0"/>
          </a:xfrm>
          <a:prstGeom prst="line">
            <a:avLst/>
          </a:prstGeom>
          <a:ln cap="rnd" w="9525">
            <a:solidFill>
              <a:srgbClr val="1E3358"/>
            </a:solidFill>
            <a:prstDash val="solid"/>
            <a:headEnd type="none" len="sm" w="sm"/>
            <a:tailEnd type="none" len="sm" w="sm"/>
          </a:ln>
        </p:spPr>
      </p:sp>
      <p:grpSp>
        <p:nvGrpSpPr>
          <p:cNvPr name="Group 80" id="80"/>
          <p:cNvGrpSpPr/>
          <p:nvPr/>
        </p:nvGrpSpPr>
        <p:grpSpPr>
          <a:xfrm rot="0">
            <a:off x="12148186" y="7595664"/>
            <a:ext cx="4937760" cy="1920240"/>
            <a:chOff x="0" y="0"/>
            <a:chExt cx="6583680" cy="2560320"/>
          </a:xfrm>
        </p:grpSpPr>
        <p:sp>
          <p:nvSpPr>
            <p:cNvPr name="Freeform 81" id="81"/>
            <p:cNvSpPr/>
            <p:nvPr/>
          </p:nvSpPr>
          <p:spPr>
            <a:xfrm flipH="false" flipV="false" rot="0">
              <a:off x="0" y="0"/>
              <a:ext cx="6583680" cy="2560320"/>
            </a:xfrm>
            <a:custGeom>
              <a:avLst/>
              <a:gdLst/>
              <a:ahLst/>
              <a:cxnLst/>
              <a:rect r="r" b="b" t="t" l="l"/>
              <a:pathLst>
                <a:path h="2560320" w="6583680">
                  <a:moveTo>
                    <a:pt x="0" y="0"/>
                  </a:moveTo>
                  <a:lnTo>
                    <a:pt x="6583680" y="0"/>
                  </a:lnTo>
                  <a:lnTo>
                    <a:pt x="6583680" y="2560320"/>
                  </a:lnTo>
                  <a:lnTo>
                    <a:pt x="0" y="2560320"/>
                  </a:lnTo>
                  <a:close/>
                </a:path>
              </a:pathLst>
            </a:custGeom>
            <a:blipFill>
              <a:blip r:embed="rId2">
                <a:alphaModFix amt="0"/>
              </a:blip>
              <a:stretch>
                <a:fillRect l="0" t="-104" r="0" b="-104"/>
              </a:stretch>
            </a:blipFill>
          </p:spPr>
        </p:sp>
        <p:sp>
          <p:nvSpPr>
            <p:cNvPr name="TextBox 82" id="82"/>
            <p:cNvSpPr txBox="true"/>
            <p:nvPr/>
          </p:nvSpPr>
          <p:spPr>
            <a:xfrm>
              <a:off x="0" y="-19050"/>
              <a:ext cx="6583680" cy="2579370"/>
            </a:xfrm>
            <a:prstGeom prst="rect">
              <a:avLst/>
            </a:prstGeom>
          </p:spPr>
          <p:txBody>
            <a:bodyPr anchor="ctr" rtlCol="false" tIns="0" lIns="0" bIns="0" rIns="0"/>
            <a:lstStyle/>
            <a:p>
              <a:pPr algn="ctr">
                <a:lnSpc>
                  <a:spcPts val="1889"/>
                </a:lnSpc>
              </a:pPr>
              <a:r>
                <a:rPr lang="en-US" sz="1575" i="true">
                  <a:solidFill>
                    <a:srgbClr val="00E5C7"/>
                  </a:solidFill>
                  <a:latin typeface="Calibri (MS) Italics"/>
                  <a:ea typeface="Calibri (MS) Italics"/>
                  <a:cs typeface="Calibri (MS) Italics"/>
                  <a:sym typeface="Calibri (MS) Italics"/>
                </a:rPr>
                <a:t>Des contrôles de sécurité, des analyses automatisées, la validation des données d’entrée et le principe du moindre privilège sont intégrés à chaque étape du pipeline.</a:t>
              </a:r>
            </a:p>
          </p:txBody>
        </p:sp>
      </p:grpSp>
      <p:grpSp>
        <p:nvGrpSpPr>
          <p:cNvPr name="Group 83" id="83"/>
          <p:cNvGrpSpPr/>
          <p:nvPr/>
        </p:nvGrpSpPr>
        <p:grpSpPr>
          <a:xfrm rot="0">
            <a:off x="685800" y="9710928"/>
            <a:ext cx="10972800" cy="411480"/>
            <a:chOff x="0" y="0"/>
            <a:chExt cx="14630400" cy="548640"/>
          </a:xfrm>
        </p:grpSpPr>
        <p:sp>
          <p:nvSpPr>
            <p:cNvPr name="Freeform 84" id="8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85" id="85"/>
            <p:cNvSpPr txBox="true"/>
            <p:nvPr/>
          </p:nvSpPr>
          <p:spPr>
            <a:xfrm>
              <a:off x="0" y="-28575"/>
              <a:ext cx="14630400" cy="577215"/>
            </a:xfrm>
            <a:prstGeom prst="rect">
              <a:avLst/>
            </a:prstGeom>
          </p:spPr>
          <p:txBody>
            <a:bodyPr anchor="ctr" rtlCol="false" tIns="0" lIns="0" bIns="0" rIns="0"/>
            <a:lstStyle/>
            <a:p>
              <a:pPr algn="l">
                <a:lnSpc>
                  <a:spcPts val="1620"/>
                </a:lnSpc>
              </a:pPr>
              <a:r>
                <a:rPr lang="en-US" sz="1350" spc="149">
                  <a:solidFill>
                    <a:srgbClr val="6E84A6"/>
                  </a:solidFill>
                  <a:latin typeface="Calibri (MS)"/>
                  <a:ea typeface="Calibri (MS)"/>
                  <a:cs typeface="Calibri (MS)"/>
                  <a:sym typeface="Calibri (MS)"/>
                </a:rPr>
                <a:t>MLSECOPS PLATFORM · CONTEXT &amp; PROBLEM FRAMING</a:t>
              </a:r>
            </a:p>
          </p:txBody>
        </p:sp>
      </p:grpSp>
      <p:grpSp>
        <p:nvGrpSpPr>
          <p:cNvPr name="Group 86" id="86"/>
          <p:cNvGrpSpPr/>
          <p:nvPr/>
        </p:nvGrpSpPr>
        <p:grpSpPr>
          <a:xfrm rot="0">
            <a:off x="16500348" y="9710928"/>
            <a:ext cx="1097280" cy="411480"/>
            <a:chOff x="0" y="0"/>
            <a:chExt cx="1463040" cy="548640"/>
          </a:xfrm>
        </p:grpSpPr>
        <p:sp>
          <p:nvSpPr>
            <p:cNvPr name="Freeform 87" id="87"/>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88" id="88"/>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02 / 32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CONTEXT &amp; VISION</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1</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Aymen Sabiri — Product Owner</a:t>
              </a:r>
            </a:p>
          </p:txBody>
        </p:sp>
      </p:grpSp>
      <p:grpSp>
        <p:nvGrpSpPr>
          <p:cNvPr name="Group 11" id="11"/>
          <p:cNvGrpSpPr/>
          <p:nvPr/>
        </p:nvGrpSpPr>
        <p:grpSpPr>
          <a:xfrm rot="0">
            <a:off x="822960" y="1069848"/>
            <a:ext cx="16596360" cy="1303020"/>
            <a:chOff x="0" y="0"/>
            <a:chExt cx="22128480" cy="1737360"/>
          </a:xfrm>
        </p:grpSpPr>
        <p:sp>
          <p:nvSpPr>
            <p:cNvPr name="Freeform 12" id="12"/>
            <p:cNvSpPr/>
            <p:nvPr/>
          </p:nvSpPr>
          <p:spPr>
            <a:xfrm flipH="false" flipV="false" rot="0">
              <a:off x="0" y="0"/>
              <a:ext cx="22128480" cy="1737360"/>
            </a:xfrm>
            <a:custGeom>
              <a:avLst/>
              <a:gdLst/>
              <a:ahLst/>
              <a:cxnLst/>
              <a:rect r="r" b="b" t="t" l="l"/>
              <a:pathLst>
                <a:path h="1737360" w="22128480">
                  <a:moveTo>
                    <a:pt x="0" y="0"/>
                  </a:moveTo>
                  <a:lnTo>
                    <a:pt x="22128480" y="0"/>
                  </a:lnTo>
                  <a:lnTo>
                    <a:pt x="22128480" y="1737360"/>
                  </a:lnTo>
                  <a:lnTo>
                    <a:pt x="0" y="1737360"/>
                  </a:lnTo>
                  <a:close/>
                </a:path>
              </a:pathLst>
            </a:custGeom>
            <a:blipFill>
              <a:blip r:embed="rId2">
                <a:alphaModFix amt="0"/>
              </a:blip>
              <a:stretch>
                <a:fillRect l="0" t="-198177" r="0" b="-198177"/>
              </a:stretch>
            </a:blipFill>
          </p:spPr>
        </p:sp>
        <p:sp>
          <p:nvSpPr>
            <p:cNvPr name="TextBox 13" id="13"/>
            <p:cNvSpPr txBox="true"/>
            <p:nvPr/>
          </p:nvSpPr>
          <p:spPr>
            <a:xfrm>
              <a:off x="0" y="-9525"/>
              <a:ext cx="22128480" cy="1746885"/>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Product Vision &amp; Data Strategy</a:t>
              </a:r>
            </a:p>
          </p:txBody>
        </p:sp>
      </p:grpSp>
      <p:grpSp>
        <p:nvGrpSpPr>
          <p:cNvPr name="Group 14" id="14"/>
          <p:cNvGrpSpPr/>
          <p:nvPr/>
        </p:nvGrpSpPr>
        <p:grpSpPr>
          <a:xfrm rot="0">
            <a:off x="813435" y="2596515"/>
            <a:ext cx="5436870" cy="3448050"/>
            <a:chOff x="0" y="0"/>
            <a:chExt cx="7249160" cy="4597400"/>
          </a:xfrm>
        </p:grpSpPr>
        <p:sp>
          <p:nvSpPr>
            <p:cNvPr name="Freeform 15" id="15"/>
            <p:cNvSpPr/>
            <p:nvPr/>
          </p:nvSpPr>
          <p:spPr>
            <a:xfrm flipH="false" flipV="false" rot="0">
              <a:off x="0" y="0"/>
              <a:ext cx="7249160" cy="4597400"/>
            </a:xfrm>
            <a:custGeom>
              <a:avLst/>
              <a:gdLst/>
              <a:ahLst/>
              <a:cxnLst/>
              <a:rect r="r" b="b" t="t" l="l"/>
              <a:pathLst>
                <a:path h="4597400" w="7249160">
                  <a:moveTo>
                    <a:pt x="0" y="147066"/>
                  </a:moveTo>
                  <a:cubicBezTo>
                    <a:pt x="0" y="65913"/>
                    <a:pt x="65913" y="0"/>
                    <a:pt x="147066" y="0"/>
                  </a:cubicBezTo>
                  <a:lnTo>
                    <a:pt x="7102094" y="0"/>
                  </a:lnTo>
                  <a:cubicBezTo>
                    <a:pt x="7183374" y="0"/>
                    <a:pt x="7249160" y="65913"/>
                    <a:pt x="7249160" y="147066"/>
                  </a:cubicBezTo>
                  <a:lnTo>
                    <a:pt x="7249160" y="4450334"/>
                  </a:lnTo>
                  <a:cubicBezTo>
                    <a:pt x="7249160" y="4531614"/>
                    <a:pt x="7183247" y="4597400"/>
                    <a:pt x="7102094" y="4597400"/>
                  </a:cubicBezTo>
                  <a:lnTo>
                    <a:pt x="147066" y="4597400"/>
                  </a:lnTo>
                  <a:cubicBezTo>
                    <a:pt x="65913" y="4597400"/>
                    <a:pt x="0" y="4531487"/>
                    <a:pt x="0" y="4450334"/>
                  </a:cubicBezTo>
                  <a:close/>
                </a:path>
              </a:pathLst>
            </a:custGeom>
            <a:solidFill>
              <a:srgbClr val="0F2038"/>
            </a:solidFill>
            <a:ln w="19050" cap="sq">
              <a:solidFill>
                <a:srgbClr val="1E3358"/>
              </a:solidFill>
              <a:prstDash val="solid"/>
              <a:miter/>
            </a:ln>
          </p:spPr>
        </p:sp>
      </p:grpSp>
      <p:grpSp>
        <p:nvGrpSpPr>
          <p:cNvPr name="Group 16" id="16"/>
          <p:cNvGrpSpPr/>
          <p:nvPr/>
        </p:nvGrpSpPr>
        <p:grpSpPr>
          <a:xfrm rot="0">
            <a:off x="1234440" y="2948940"/>
            <a:ext cx="685800" cy="685800"/>
            <a:chOff x="0" y="0"/>
            <a:chExt cx="914400" cy="914400"/>
          </a:xfrm>
        </p:grpSpPr>
        <p:sp>
          <p:nvSpPr>
            <p:cNvPr name="Freeform 17" id="17"/>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E5C7"/>
            </a:solidFill>
          </p:spPr>
        </p:sp>
      </p:grpSp>
      <p:grpSp>
        <p:nvGrpSpPr>
          <p:cNvPr name="Group 18" id="18"/>
          <p:cNvGrpSpPr/>
          <p:nvPr/>
        </p:nvGrpSpPr>
        <p:grpSpPr>
          <a:xfrm rot="0">
            <a:off x="1234440" y="2935224"/>
            <a:ext cx="685800" cy="685800"/>
            <a:chOff x="0" y="0"/>
            <a:chExt cx="914400" cy="914400"/>
          </a:xfrm>
        </p:grpSpPr>
        <p:sp>
          <p:nvSpPr>
            <p:cNvPr name="Freeform 19" id="19"/>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03" t="0" r="-78303" b="0"/>
              </a:stretch>
            </a:blipFill>
          </p:spPr>
        </p:sp>
        <p:sp>
          <p:nvSpPr>
            <p:cNvPr name="TextBox 20" id="20"/>
            <p:cNvSpPr txBox="true"/>
            <p:nvPr/>
          </p:nvSpPr>
          <p:spPr>
            <a:xfrm>
              <a:off x="0" y="-47625"/>
              <a:ext cx="914400" cy="962025"/>
            </a:xfrm>
            <a:prstGeom prst="rect">
              <a:avLst/>
            </a:prstGeom>
          </p:spPr>
          <p:txBody>
            <a:bodyPr anchor="ctr" rtlCol="false" tIns="0" lIns="0" bIns="0" rIns="0"/>
            <a:lstStyle/>
            <a:p>
              <a:pPr algn="ctr">
                <a:lnSpc>
                  <a:spcPts val="2340"/>
                </a:lnSpc>
              </a:pPr>
              <a:r>
                <a:rPr lang="en-US" sz="1950" b="true">
                  <a:solidFill>
                    <a:srgbClr val="0A1428"/>
                  </a:solidFill>
                  <a:latin typeface="Calibri (MS) Bold"/>
                  <a:ea typeface="Calibri (MS) Bold"/>
                  <a:cs typeface="Calibri (MS) Bold"/>
                  <a:sym typeface="Calibri (MS) Bold"/>
                </a:rPr>
                <a:t>1</a:t>
              </a:r>
            </a:p>
          </p:txBody>
        </p:sp>
      </p:grpSp>
      <p:grpSp>
        <p:nvGrpSpPr>
          <p:cNvPr name="Group 21" id="21"/>
          <p:cNvGrpSpPr/>
          <p:nvPr/>
        </p:nvGrpSpPr>
        <p:grpSpPr>
          <a:xfrm rot="0">
            <a:off x="1234440" y="3909060"/>
            <a:ext cx="4663440" cy="617220"/>
            <a:chOff x="0" y="0"/>
            <a:chExt cx="6217920" cy="822960"/>
          </a:xfrm>
        </p:grpSpPr>
        <p:sp>
          <p:nvSpPr>
            <p:cNvPr name="Freeform 22" id="22"/>
            <p:cNvSpPr/>
            <p:nvPr/>
          </p:nvSpPr>
          <p:spPr>
            <a:xfrm flipH="false" flipV="false" rot="0">
              <a:off x="0" y="0"/>
              <a:ext cx="6217920" cy="822960"/>
            </a:xfrm>
            <a:custGeom>
              <a:avLst/>
              <a:gdLst/>
              <a:ahLst/>
              <a:cxnLst/>
              <a:rect r="r" b="b" t="t" l="l"/>
              <a:pathLst>
                <a:path h="822960" w="6217920">
                  <a:moveTo>
                    <a:pt x="0" y="0"/>
                  </a:moveTo>
                  <a:lnTo>
                    <a:pt x="6217920" y="0"/>
                  </a:lnTo>
                  <a:lnTo>
                    <a:pt x="6217920" y="822960"/>
                  </a:lnTo>
                  <a:lnTo>
                    <a:pt x="0" y="822960"/>
                  </a:lnTo>
                  <a:close/>
                </a:path>
              </a:pathLst>
            </a:custGeom>
            <a:blipFill>
              <a:blip r:embed="rId2">
                <a:alphaModFix amt="0"/>
              </a:blip>
              <a:stretch>
                <a:fillRect l="0" t="-97220" r="0" b="-97220"/>
              </a:stretch>
            </a:blipFill>
          </p:spPr>
        </p:sp>
        <p:sp>
          <p:nvSpPr>
            <p:cNvPr name="TextBox 23" id="23"/>
            <p:cNvSpPr txBox="true"/>
            <p:nvPr/>
          </p:nvSpPr>
          <p:spPr>
            <a:xfrm>
              <a:off x="0" y="-47625"/>
              <a:ext cx="6217920" cy="870585"/>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Product Requirements</a:t>
              </a:r>
            </a:p>
          </p:txBody>
        </p:sp>
      </p:grpSp>
      <p:grpSp>
        <p:nvGrpSpPr>
          <p:cNvPr name="Group 24" id="24"/>
          <p:cNvGrpSpPr/>
          <p:nvPr/>
        </p:nvGrpSpPr>
        <p:grpSpPr>
          <a:xfrm rot="0">
            <a:off x="1234440" y="4526280"/>
            <a:ext cx="4663440" cy="1371600"/>
            <a:chOff x="0" y="0"/>
            <a:chExt cx="6217920" cy="1828800"/>
          </a:xfrm>
        </p:grpSpPr>
        <p:sp>
          <p:nvSpPr>
            <p:cNvPr name="Freeform 25" id="25"/>
            <p:cNvSpPr/>
            <p:nvPr/>
          </p:nvSpPr>
          <p:spPr>
            <a:xfrm flipH="false" flipV="false" rot="0">
              <a:off x="0" y="0"/>
              <a:ext cx="6217920" cy="1828800"/>
            </a:xfrm>
            <a:custGeom>
              <a:avLst/>
              <a:gdLst/>
              <a:ahLst/>
              <a:cxnLst/>
              <a:rect r="r" b="b" t="t" l="l"/>
              <a:pathLst>
                <a:path h="1828800" w="6217920">
                  <a:moveTo>
                    <a:pt x="0" y="0"/>
                  </a:moveTo>
                  <a:lnTo>
                    <a:pt x="6217920" y="0"/>
                  </a:lnTo>
                  <a:lnTo>
                    <a:pt x="6217920" y="1828800"/>
                  </a:lnTo>
                  <a:lnTo>
                    <a:pt x="0" y="1828800"/>
                  </a:lnTo>
                  <a:close/>
                </a:path>
              </a:pathLst>
            </a:custGeom>
            <a:blipFill>
              <a:blip r:embed="rId2">
                <a:alphaModFix amt="0"/>
              </a:blip>
              <a:stretch>
                <a:fillRect l="0" t="-16249" r="0" b="-16249"/>
              </a:stretch>
            </a:blipFill>
          </p:spPr>
        </p:sp>
        <p:sp>
          <p:nvSpPr>
            <p:cNvPr name="TextBox 26" id="26"/>
            <p:cNvSpPr txBox="true"/>
            <p:nvPr/>
          </p:nvSpPr>
          <p:spPr>
            <a:xfrm>
              <a:off x="0" y="-28575"/>
              <a:ext cx="6217920" cy="185737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L</a:t>
              </a:r>
              <a:r>
                <a:rPr lang="en-US" sz="1650">
                  <a:solidFill>
                    <a:srgbClr val="9FB0C9"/>
                  </a:solidFill>
                  <a:latin typeface="Calibri (MS)"/>
                  <a:ea typeface="Calibri (MS)"/>
                  <a:cs typeface="Calibri (MS)"/>
                  <a:sym typeface="Calibri (MS)"/>
                </a:rPr>
                <a:t>es KPI et les objectifs métier sont définis dès le début pour guider chaque sprint du projet d’analyse en temps réel du trafic réseau.</a:t>
              </a:r>
            </a:p>
          </p:txBody>
        </p:sp>
      </p:grpSp>
      <p:grpSp>
        <p:nvGrpSpPr>
          <p:cNvPr name="Group 27" id="27"/>
          <p:cNvGrpSpPr/>
          <p:nvPr/>
        </p:nvGrpSpPr>
        <p:grpSpPr>
          <a:xfrm rot="0">
            <a:off x="6505575" y="2596515"/>
            <a:ext cx="5436870" cy="3448050"/>
            <a:chOff x="0" y="0"/>
            <a:chExt cx="7249160" cy="4597400"/>
          </a:xfrm>
        </p:grpSpPr>
        <p:sp>
          <p:nvSpPr>
            <p:cNvPr name="Freeform 28" id="28"/>
            <p:cNvSpPr/>
            <p:nvPr/>
          </p:nvSpPr>
          <p:spPr>
            <a:xfrm flipH="false" flipV="false" rot="0">
              <a:off x="0" y="0"/>
              <a:ext cx="7249160" cy="4597400"/>
            </a:xfrm>
            <a:custGeom>
              <a:avLst/>
              <a:gdLst/>
              <a:ahLst/>
              <a:cxnLst/>
              <a:rect r="r" b="b" t="t" l="l"/>
              <a:pathLst>
                <a:path h="4597400" w="7249160">
                  <a:moveTo>
                    <a:pt x="0" y="147066"/>
                  </a:moveTo>
                  <a:cubicBezTo>
                    <a:pt x="0" y="65913"/>
                    <a:pt x="65913" y="0"/>
                    <a:pt x="147066" y="0"/>
                  </a:cubicBezTo>
                  <a:lnTo>
                    <a:pt x="7102094" y="0"/>
                  </a:lnTo>
                  <a:cubicBezTo>
                    <a:pt x="7183374" y="0"/>
                    <a:pt x="7249160" y="65913"/>
                    <a:pt x="7249160" y="147066"/>
                  </a:cubicBezTo>
                  <a:lnTo>
                    <a:pt x="7249160" y="4450334"/>
                  </a:lnTo>
                  <a:cubicBezTo>
                    <a:pt x="7249160" y="4531614"/>
                    <a:pt x="7183247" y="4597400"/>
                    <a:pt x="7102094" y="4597400"/>
                  </a:cubicBezTo>
                  <a:lnTo>
                    <a:pt x="147066" y="4597400"/>
                  </a:lnTo>
                  <a:cubicBezTo>
                    <a:pt x="65913" y="4597400"/>
                    <a:pt x="0" y="4531487"/>
                    <a:pt x="0" y="4450334"/>
                  </a:cubicBezTo>
                  <a:close/>
                </a:path>
              </a:pathLst>
            </a:custGeom>
            <a:solidFill>
              <a:srgbClr val="0F2038"/>
            </a:solidFill>
            <a:ln w="19050" cap="sq">
              <a:solidFill>
                <a:srgbClr val="1E3358"/>
              </a:solidFill>
              <a:prstDash val="solid"/>
              <a:miter/>
            </a:ln>
          </p:spPr>
        </p:sp>
      </p:grpSp>
      <p:grpSp>
        <p:nvGrpSpPr>
          <p:cNvPr name="Group 29" id="29"/>
          <p:cNvGrpSpPr/>
          <p:nvPr/>
        </p:nvGrpSpPr>
        <p:grpSpPr>
          <a:xfrm rot="0">
            <a:off x="6926580" y="294894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E5C7"/>
            </a:solidFill>
          </p:spPr>
        </p:sp>
      </p:grpSp>
      <p:grpSp>
        <p:nvGrpSpPr>
          <p:cNvPr name="Group 31" id="31"/>
          <p:cNvGrpSpPr/>
          <p:nvPr/>
        </p:nvGrpSpPr>
        <p:grpSpPr>
          <a:xfrm rot="0">
            <a:off x="6926580" y="2935224"/>
            <a:ext cx="685800" cy="685800"/>
            <a:chOff x="0" y="0"/>
            <a:chExt cx="914400" cy="914400"/>
          </a:xfrm>
        </p:grpSpPr>
        <p:sp>
          <p:nvSpPr>
            <p:cNvPr name="Freeform 32" id="3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03" t="0" r="-78303" b="0"/>
              </a:stretch>
            </a:blipFill>
          </p:spPr>
        </p:sp>
        <p:sp>
          <p:nvSpPr>
            <p:cNvPr name="TextBox 33" id="33"/>
            <p:cNvSpPr txBox="true"/>
            <p:nvPr/>
          </p:nvSpPr>
          <p:spPr>
            <a:xfrm>
              <a:off x="0" y="-47625"/>
              <a:ext cx="914400" cy="962025"/>
            </a:xfrm>
            <a:prstGeom prst="rect">
              <a:avLst/>
            </a:prstGeom>
          </p:spPr>
          <p:txBody>
            <a:bodyPr anchor="ctr" rtlCol="false" tIns="0" lIns="0" bIns="0" rIns="0"/>
            <a:lstStyle/>
            <a:p>
              <a:pPr algn="ctr">
                <a:lnSpc>
                  <a:spcPts val="2340"/>
                </a:lnSpc>
              </a:pPr>
              <a:r>
                <a:rPr lang="en-US" sz="1950" b="true">
                  <a:solidFill>
                    <a:srgbClr val="0A1428"/>
                  </a:solidFill>
                  <a:latin typeface="Calibri (MS) Bold"/>
                  <a:ea typeface="Calibri (MS) Bold"/>
                  <a:cs typeface="Calibri (MS) Bold"/>
                  <a:sym typeface="Calibri (MS) Bold"/>
                </a:rPr>
                <a:t>2</a:t>
              </a:r>
            </a:p>
          </p:txBody>
        </p:sp>
      </p:grpSp>
      <p:grpSp>
        <p:nvGrpSpPr>
          <p:cNvPr name="Group 34" id="34"/>
          <p:cNvGrpSpPr/>
          <p:nvPr/>
        </p:nvGrpSpPr>
        <p:grpSpPr>
          <a:xfrm rot="0">
            <a:off x="6926580" y="3909060"/>
            <a:ext cx="4663440" cy="617220"/>
            <a:chOff x="0" y="0"/>
            <a:chExt cx="6217920" cy="822960"/>
          </a:xfrm>
        </p:grpSpPr>
        <p:sp>
          <p:nvSpPr>
            <p:cNvPr name="Freeform 35" id="35"/>
            <p:cNvSpPr/>
            <p:nvPr/>
          </p:nvSpPr>
          <p:spPr>
            <a:xfrm flipH="false" flipV="false" rot="0">
              <a:off x="0" y="0"/>
              <a:ext cx="6217920" cy="822960"/>
            </a:xfrm>
            <a:custGeom>
              <a:avLst/>
              <a:gdLst/>
              <a:ahLst/>
              <a:cxnLst/>
              <a:rect r="r" b="b" t="t" l="l"/>
              <a:pathLst>
                <a:path h="822960" w="6217920">
                  <a:moveTo>
                    <a:pt x="0" y="0"/>
                  </a:moveTo>
                  <a:lnTo>
                    <a:pt x="6217920" y="0"/>
                  </a:lnTo>
                  <a:lnTo>
                    <a:pt x="6217920" y="822960"/>
                  </a:lnTo>
                  <a:lnTo>
                    <a:pt x="0" y="822960"/>
                  </a:lnTo>
                  <a:close/>
                </a:path>
              </a:pathLst>
            </a:custGeom>
            <a:blipFill>
              <a:blip r:embed="rId2">
                <a:alphaModFix amt="0"/>
              </a:blip>
              <a:stretch>
                <a:fillRect l="0" t="-97220" r="0" b="-97220"/>
              </a:stretch>
            </a:blipFill>
          </p:spPr>
        </p:sp>
        <p:sp>
          <p:nvSpPr>
            <p:cNvPr name="TextBox 36" id="36"/>
            <p:cNvSpPr txBox="true"/>
            <p:nvPr/>
          </p:nvSpPr>
          <p:spPr>
            <a:xfrm>
              <a:off x="0" y="-47625"/>
              <a:ext cx="6217920" cy="870585"/>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Data Strategy</a:t>
              </a:r>
            </a:p>
          </p:txBody>
        </p:sp>
      </p:grpSp>
      <p:grpSp>
        <p:nvGrpSpPr>
          <p:cNvPr name="Group 37" id="37"/>
          <p:cNvGrpSpPr/>
          <p:nvPr/>
        </p:nvGrpSpPr>
        <p:grpSpPr>
          <a:xfrm rot="0">
            <a:off x="6716078" y="4526280"/>
            <a:ext cx="5015865" cy="1371600"/>
            <a:chOff x="0" y="0"/>
            <a:chExt cx="6687820" cy="1828800"/>
          </a:xfrm>
        </p:grpSpPr>
        <p:sp>
          <p:nvSpPr>
            <p:cNvPr name="Freeform 38" id="38"/>
            <p:cNvSpPr/>
            <p:nvPr/>
          </p:nvSpPr>
          <p:spPr>
            <a:xfrm flipH="false" flipV="false" rot="0">
              <a:off x="0" y="0"/>
              <a:ext cx="6687820" cy="1828800"/>
            </a:xfrm>
            <a:custGeom>
              <a:avLst/>
              <a:gdLst/>
              <a:ahLst/>
              <a:cxnLst/>
              <a:rect r="r" b="b" t="t" l="l"/>
              <a:pathLst>
                <a:path h="1828800" w="6687820">
                  <a:moveTo>
                    <a:pt x="0" y="0"/>
                  </a:moveTo>
                  <a:lnTo>
                    <a:pt x="6687820" y="0"/>
                  </a:lnTo>
                  <a:lnTo>
                    <a:pt x="6687820" y="1828800"/>
                  </a:lnTo>
                  <a:lnTo>
                    <a:pt x="0" y="1828800"/>
                  </a:lnTo>
                  <a:close/>
                </a:path>
              </a:pathLst>
            </a:custGeom>
            <a:blipFill>
              <a:blip r:embed="rId2">
                <a:alphaModFix amt="0"/>
              </a:blip>
              <a:stretch>
                <a:fillRect l="0" t="-16249" r="7026" b="-16249"/>
              </a:stretch>
            </a:blipFill>
          </p:spPr>
        </p:sp>
        <p:sp>
          <p:nvSpPr>
            <p:cNvPr name="TextBox 39" id="39"/>
            <p:cNvSpPr txBox="true"/>
            <p:nvPr/>
          </p:nvSpPr>
          <p:spPr>
            <a:xfrm>
              <a:off x="0" y="-28575"/>
              <a:ext cx="6687820" cy="185737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Gestio</a:t>
              </a:r>
              <a:r>
                <a:rPr lang="en-US" sz="1650">
                  <a:solidFill>
                    <a:srgbClr val="9FB0C9"/>
                  </a:solidFill>
                  <a:latin typeface="Calibri (MS)"/>
                  <a:ea typeface="Calibri (MS)"/>
                  <a:cs typeface="Calibri (MS)"/>
                  <a:sym typeface="Calibri (MS)"/>
                </a:rPr>
                <a:t>n de données de télémétrie réseau à grande échelle (CICIDS2017), tout en tenant compte des exigences de gouvernance et des contraintes réglementaires.</a:t>
              </a:r>
            </a:p>
          </p:txBody>
        </p:sp>
      </p:grpSp>
      <p:grpSp>
        <p:nvGrpSpPr>
          <p:cNvPr name="Group 40" id="40"/>
          <p:cNvGrpSpPr/>
          <p:nvPr/>
        </p:nvGrpSpPr>
        <p:grpSpPr>
          <a:xfrm rot="0">
            <a:off x="12197715" y="2596515"/>
            <a:ext cx="5436870" cy="3448050"/>
            <a:chOff x="0" y="0"/>
            <a:chExt cx="7249160" cy="4597400"/>
          </a:xfrm>
        </p:grpSpPr>
        <p:sp>
          <p:nvSpPr>
            <p:cNvPr name="Freeform 41" id="41"/>
            <p:cNvSpPr/>
            <p:nvPr/>
          </p:nvSpPr>
          <p:spPr>
            <a:xfrm flipH="false" flipV="false" rot="0">
              <a:off x="0" y="0"/>
              <a:ext cx="7249160" cy="4597400"/>
            </a:xfrm>
            <a:custGeom>
              <a:avLst/>
              <a:gdLst/>
              <a:ahLst/>
              <a:cxnLst/>
              <a:rect r="r" b="b" t="t" l="l"/>
              <a:pathLst>
                <a:path h="4597400" w="7249160">
                  <a:moveTo>
                    <a:pt x="0" y="147066"/>
                  </a:moveTo>
                  <a:cubicBezTo>
                    <a:pt x="0" y="65913"/>
                    <a:pt x="65913" y="0"/>
                    <a:pt x="147066" y="0"/>
                  </a:cubicBezTo>
                  <a:lnTo>
                    <a:pt x="7102094" y="0"/>
                  </a:lnTo>
                  <a:cubicBezTo>
                    <a:pt x="7183374" y="0"/>
                    <a:pt x="7249160" y="65913"/>
                    <a:pt x="7249160" y="147066"/>
                  </a:cubicBezTo>
                  <a:lnTo>
                    <a:pt x="7249160" y="4450334"/>
                  </a:lnTo>
                  <a:cubicBezTo>
                    <a:pt x="7249160" y="4531614"/>
                    <a:pt x="7183247" y="4597400"/>
                    <a:pt x="7102094" y="4597400"/>
                  </a:cubicBezTo>
                  <a:lnTo>
                    <a:pt x="147066" y="4597400"/>
                  </a:lnTo>
                  <a:cubicBezTo>
                    <a:pt x="65913" y="4597400"/>
                    <a:pt x="0" y="4531487"/>
                    <a:pt x="0" y="4450334"/>
                  </a:cubicBezTo>
                  <a:close/>
                </a:path>
              </a:pathLst>
            </a:custGeom>
            <a:solidFill>
              <a:srgbClr val="0F2038"/>
            </a:solidFill>
            <a:ln w="19050" cap="sq">
              <a:solidFill>
                <a:srgbClr val="1E3358"/>
              </a:solidFill>
              <a:prstDash val="solid"/>
              <a:miter/>
            </a:ln>
          </p:spPr>
        </p:sp>
      </p:grpSp>
      <p:grpSp>
        <p:nvGrpSpPr>
          <p:cNvPr name="Group 42" id="42"/>
          <p:cNvGrpSpPr/>
          <p:nvPr/>
        </p:nvGrpSpPr>
        <p:grpSpPr>
          <a:xfrm rot="0">
            <a:off x="12618720" y="2948940"/>
            <a:ext cx="685800" cy="685800"/>
            <a:chOff x="0" y="0"/>
            <a:chExt cx="914400" cy="914400"/>
          </a:xfrm>
        </p:grpSpPr>
        <p:sp>
          <p:nvSpPr>
            <p:cNvPr name="Freeform 43" id="4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E5C7"/>
            </a:solidFill>
          </p:spPr>
        </p:sp>
      </p:grpSp>
      <p:grpSp>
        <p:nvGrpSpPr>
          <p:cNvPr name="Group 44" id="44"/>
          <p:cNvGrpSpPr/>
          <p:nvPr/>
        </p:nvGrpSpPr>
        <p:grpSpPr>
          <a:xfrm rot="0">
            <a:off x="12618720" y="2935224"/>
            <a:ext cx="685800" cy="685800"/>
            <a:chOff x="0" y="0"/>
            <a:chExt cx="914400" cy="914400"/>
          </a:xfrm>
        </p:grpSpPr>
        <p:sp>
          <p:nvSpPr>
            <p:cNvPr name="Freeform 45" id="45"/>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03" t="0" r="-78303" b="0"/>
              </a:stretch>
            </a:blipFill>
          </p:spPr>
        </p:sp>
        <p:sp>
          <p:nvSpPr>
            <p:cNvPr name="TextBox 46" id="46"/>
            <p:cNvSpPr txBox="true"/>
            <p:nvPr/>
          </p:nvSpPr>
          <p:spPr>
            <a:xfrm>
              <a:off x="0" y="-47625"/>
              <a:ext cx="914400" cy="962025"/>
            </a:xfrm>
            <a:prstGeom prst="rect">
              <a:avLst/>
            </a:prstGeom>
          </p:spPr>
          <p:txBody>
            <a:bodyPr anchor="ctr" rtlCol="false" tIns="0" lIns="0" bIns="0" rIns="0"/>
            <a:lstStyle/>
            <a:p>
              <a:pPr algn="ctr">
                <a:lnSpc>
                  <a:spcPts val="2340"/>
                </a:lnSpc>
              </a:pPr>
              <a:r>
                <a:rPr lang="en-US" sz="1950" b="true">
                  <a:solidFill>
                    <a:srgbClr val="0A1428"/>
                  </a:solidFill>
                  <a:latin typeface="Calibri (MS) Bold"/>
                  <a:ea typeface="Calibri (MS) Bold"/>
                  <a:cs typeface="Calibri (MS) Bold"/>
                  <a:sym typeface="Calibri (MS) Bold"/>
                </a:rPr>
                <a:t>3</a:t>
              </a:r>
            </a:p>
          </p:txBody>
        </p:sp>
      </p:grpSp>
      <p:grpSp>
        <p:nvGrpSpPr>
          <p:cNvPr name="Group 47" id="47"/>
          <p:cNvGrpSpPr/>
          <p:nvPr/>
        </p:nvGrpSpPr>
        <p:grpSpPr>
          <a:xfrm rot="0">
            <a:off x="12618720" y="3909060"/>
            <a:ext cx="4663440" cy="617220"/>
            <a:chOff x="0" y="0"/>
            <a:chExt cx="6217920" cy="822960"/>
          </a:xfrm>
        </p:grpSpPr>
        <p:sp>
          <p:nvSpPr>
            <p:cNvPr name="Freeform 48" id="48"/>
            <p:cNvSpPr/>
            <p:nvPr/>
          </p:nvSpPr>
          <p:spPr>
            <a:xfrm flipH="false" flipV="false" rot="0">
              <a:off x="0" y="0"/>
              <a:ext cx="6217920" cy="822960"/>
            </a:xfrm>
            <a:custGeom>
              <a:avLst/>
              <a:gdLst/>
              <a:ahLst/>
              <a:cxnLst/>
              <a:rect r="r" b="b" t="t" l="l"/>
              <a:pathLst>
                <a:path h="822960" w="6217920">
                  <a:moveTo>
                    <a:pt x="0" y="0"/>
                  </a:moveTo>
                  <a:lnTo>
                    <a:pt x="6217920" y="0"/>
                  </a:lnTo>
                  <a:lnTo>
                    <a:pt x="6217920" y="822960"/>
                  </a:lnTo>
                  <a:lnTo>
                    <a:pt x="0" y="822960"/>
                  </a:lnTo>
                  <a:close/>
                </a:path>
              </a:pathLst>
            </a:custGeom>
            <a:blipFill>
              <a:blip r:embed="rId2">
                <a:alphaModFix amt="0"/>
              </a:blip>
              <a:stretch>
                <a:fillRect l="0" t="-97220" r="0" b="-97220"/>
              </a:stretch>
            </a:blipFill>
          </p:spPr>
        </p:sp>
        <p:sp>
          <p:nvSpPr>
            <p:cNvPr name="TextBox 49" id="49"/>
            <p:cNvSpPr txBox="true"/>
            <p:nvPr/>
          </p:nvSpPr>
          <p:spPr>
            <a:xfrm>
              <a:off x="0" y="-47625"/>
              <a:ext cx="6217920" cy="870585"/>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Data Source</a:t>
              </a:r>
            </a:p>
          </p:txBody>
        </p:sp>
      </p:grpSp>
      <p:grpSp>
        <p:nvGrpSpPr>
          <p:cNvPr name="Group 50" id="50"/>
          <p:cNvGrpSpPr/>
          <p:nvPr/>
        </p:nvGrpSpPr>
        <p:grpSpPr>
          <a:xfrm rot="0">
            <a:off x="12618720" y="4526280"/>
            <a:ext cx="4663440" cy="1371600"/>
            <a:chOff x="0" y="0"/>
            <a:chExt cx="6217920" cy="1828800"/>
          </a:xfrm>
        </p:grpSpPr>
        <p:sp>
          <p:nvSpPr>
            <p:cNvPr name="Freeform 51" id="51"/>
            <p:cNvSpPr/>
            <p:nvPr/>
          </p:nvSpPr>
          <p:spPr>
            <a:xfrm flipH="false" flipV="false" rot="0">
              <a:off x="0" y="0"/>
              <a:ext cx="6217920" cy="1828800"/>
            </a:xfrm>
            <a:custGeom>
              <a:avLst/>
              <a:gdLst/>
              <a:ahLst/>
              <a:cxnLst/>
              <a:rect r="r" b="b" t="t" l="l"/>
              <a:pathLst>
                <a:path h="1828800" w="6217920">
                  <a:moveTo>
                    <a:pt x="0" y="0"/>
                  </a:moveTo>
                  <a:lnTo>
                    <a:pt x="6217920" y="0"/>
                  </a:lnTo>
                  <a:lnTo>
                    <a:pt x="6217920" y="1828800"/>
                  </a:lnTo>
                  <a:lnTo>
                    <a:pt x="0" y="1828800"/>
                  </a:lnTo>
                  <a:close/>
                </a:path>
              </a:pathLst>
            </a:custGeom>
            <a:blipFill>
              <a:blip r:embed="rId2">
                <a:alphaModFix amt="0"/>
              </a:blip>
              <a:stretch>
                <a:fillRect l="0" t="-16249" r="0" b="-16249"/>
              </a:stretch>
            </a:blipFill>
          </p:spPr>
        </p:sp>
        <p:sp>
          <p:nvSpPr>
            <p:cNvPr name="TextBox 52" id="52"/>
            <p:cNvSpPr txBox="true"/>
            <p:nvPr/>
          </p:nvSpPr>
          <p:spPr>
            <a:xfrm>
              <a:off x="0" y="-28575"/>
              <a:ext cx="6217920" cy="185737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 +</a:t>
              </a:r>
              <a:r>
                <a:rPr lang="en-US" sz="1650">
                  <a:solidFill>
                    <a:srgbClr val="9FB0C9"/>
                  </a:solidFill>
                  <a:latin typeface="Calibri (MS)"/>
                  <a:ea typeface="Calibri (MS)"/>
                  <a:cs typeface="Calibri (MS)"/>
                  <a:sym typeface="Calibri (MS)"/>
                </a:rPr>
                <a:t>2,8 M d’enregistrements de flux réseau étiquetés sur 5 jours de trafic simulé, comprenant du trafic normal et 14 scénarios d’attaque réalistes.</a:t>
              </a:r>
            </a:p>
          </p:txBody>
        </p:sp>
      </p:grpSp>
      <p:grpSp>
        <p:nvGrpSpPr>
          <p:cNvPr name="Group 53" id="53"/>
          <p:cNvGrpSpPr/>
          <p:nvPr/>
        </p:nvGrpSpPr>
        <p:grpSpPr>
          <a:xfrm rot="0">
            <a:off x="813435" y="6299835"/>
            <a:ext cx="16615410" cy="2830830"/>
            <a:chOff x="0" y="0"/>
            <a:chExt cx="22153880" cy="3774440"/>
          </a:xfrm>
        </p:grpSpPr>
        <p:sp>
          <p:nvSpPr>
            <p:cNvPr name="Freeform 54" id="54"/>
            <p:cNvSpPr/>
            <p:nvPr/>
          </p:nvSpPr>
          <p:spPr>
            <a:xfrm flipH="false" flipV="false" rot="0">
              <a:off x="0" y="0"/>
              <a:ext cx="22153880" cy="3774440"/>
            </a:xfrm>
            <a:custGeom>
              <a:avLst/>
              <a:gdLst/>
              <a:ahLst/>
              <a:cxnLst/>
              <a:rect r="r" b="b" t="t" l="l"/>
              <a:pathLst>
                <a:path h="3774440" w="22153880">
                  <a:moveTo>
                    <a:pt x="0" y="147320"/>
                  </a:moveTo>
                  <a:cubicBezTo>
                    <a:pt x="0" y="65913"/>
                    <a:pt x="65913" y="0"/>
                    <a:pt x="147320" y="0"/>
                  </a:cubicBezTo>
                  <a:lnTo>
                    <a:pt x="22006561" y="0"/>
                  </a:lnTo>
                  <a:cubicBezTo>
                    <a:pt x="22087841" y="0"/>
                    <a:pt x="22153880" y="65913"/>
                    <a:pt x="22153880" y="147320"/>
                  </a:cubicBezTo>
                  <a:lnTo>
                    <a:pt x="22153880" y="3627120"/>
                  </a:lnTo>
                  <a:cubicBezTo>
                    <a:pt x="22153880" y="3708400"/>
                    <a:pt x="22087968" y="3774440"/>
                    <a:pt x="22006561" y="3774440"/>
                  </a:cubicBezTo>
                  <a:lnTo>
                    <a:pt x="147320" y="3774440"/>
                  </a:lnTo>
                  <a:cubicBezTo>
                    <a:pt x="66040" y="3774440"/>
                    <a:pt x="0" y="3708527"/>
                    <a:pt x="0" y="3627120"/>
                  </a:cubicBezTo>
                  <a:close/>
                </a:path>
              </a:pathLst>
            </a:custGeom>
            <a:solidFill>
              <a:srgbClr val="13294A"/>
            </a:solidFill>
            <a:ln w="19050" cap="sq">
              <a:solidFill>
                <a:srgbClr val="1E3358"/>
              </a:solidFill>
              <a:prstDash val="solid"/>
              <a:miter/>
            </a:ln>
          </p:spPr>
        </p:sp>
      </p:grpSp>
      <p:grpSp>
        <p:nvGrpSpPr>
          <p:cNvPr name="Group 55" id="55"/>
          <p:cNvGrpSpPr/>
          <p:nvPr/>
        </p:nvGrpSpPr>
        <p:grpSpPr>
          <a:xfrm rot="0">
            <a:off x="1234440" y="6556248"/>
            <a:ext cx="8229600" cy="411480"/>
            <a:chOff x="0" y="0"/>
            <a:chExt cx="10972800" cy="548640"/>
          </a:xfrm>
        </p:grpSpPr>
        <p:sp>
          <p:nvSpPr>
            <p:cNvPr name="Freeform 56" id="56"/>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57" id="57"/>
            <p:cNvSpPr txBox="true"/>
            <p:nvPr/>
          </p:nvSpPr>
          <p:spPr>
            <a:xfrm>
              <a:off x="0" y="-19050"/>
              <a:ext cx="10972800" cy="567690"/>
            </a:xfrm>
            <a:prstGeom prst="rect">
              <a:avLst/>
            </a:prstGeom>
          </p:spPr>
          <p:txBody>
            <a:bodyPr anchor="ctr" rtlCol="false" tIns="0" lIns="0" bIns="0" rIns="0"/>
            <a:lstStyle/>
            <a:p>
              <a:pPr algn="l">
                <a:lnSpc>
                  <a:spcPts val="1889"/>
                </a:lnSpc>
              </a:pPr>
              <a:r>
                <a:rPr lang="en-US" b="true" sz="1575" spc="224">
                  <a:solidFill>
                    <a:srgbClr val="00E5C7"/>
                  </a:solidFill>
                  <a:latin typeface="Calibri (MS) Bold"/>
                  <a:ea typeface="Calibri (MS) Bold"/>
                  <a:cs typeface="Calibri (MS) Bold"/>
                  <a:sym typeface="Calibri (MS) Bold"/>
                </a:rPr>
                <a:t>PROJECT OBJECTIVES SNAPSHOT</a:t>
              </a:r>
            </a:p>
          </p:txBody>
        </p:sp>
      </p:grpSp>
      <p:grpSp>
        <p:nvGrpSpPr>
          <p:cNvPr name="Group 58" id="58"/>
          <p:cNvGrpSpPr/>
          <p:nvPr/>
        </p:nvGrpSpPr>
        <p:grpSpPr>
          <a:xfrm rot="0">
            <a:off x="1234440" y="7063740"/>
            <a:ext cx="3840480" cy="1028700"/>
            <a:chOff x="0" y="0"/>
            <a:chExt cx="5120640" cy="1371600"/>
          </a:xfrm>
        </p:grpSpPr>
        <p:sp>
          <p:nvSpPr>
            <p:cNvPr name="Freeform 59" id="59"/>
            <p:cNvSpPr/>
            <p:nvPr/>
          </p:nvSpPr>
          <p:spPr>
            <a:xfrm flipH="false" flipV="false" rot="0">
              <a:off x="0" y="0"/>
              <a:ext cx="5120640" cy="1371600"/>
            </a:xfrm>
            <a:custGeom>
              <a:avLst/>
              <a:gdLst/>
              <a:ahLst/>
              <a:cxnLst/>
              <a:rect r="r" b="b" t="t" l="l"/>
              <a:pathLst>
                <a:path h="1371600" w="5120640">
                  <a:moveTo>
                    <a:pt x="0" y="0"/>
                  </a:moveTo>
                  <a:lnTo>
                    <a:pt x="5120640" y="0"/>
                  </a:lnTo>
                  <a:lnTo>
                    <a:pt x="5120640" y="1371600"/>
                  </a:lnTo>
                  <a:lnTo>
                    <a:pt x="0" y="1371600"/>
                  </a:lnTo>
                  <a:close/>
                </a:path>
              </a:pathLst>
            </a:custGeom>
            <a:blipFill>
              <a:blip r:embed="rId2">
                <a:alphaModFix amt="0"/>
              </a:blip>
              <a:stretch>
                <a:fillRect l="0" t="-22744" r="0" b="-22744"/>
              </a:stretch>
            </a:blipFill>
          </p:spPr>
        </p:sp>
        <p:sp>
          <p:nvSpPr>
            <p:cNvPr name="TextBox 60" id="60"/>
            <p:cNvSpPr txBox="true"/>
            <p:nvPr/>
          </p:nvSpPr>
          <p:spPr>
            <a:xfrm>
              <a:off x="0" y="-9525"/>
              <a:ext cx="5120640" cy="1381125"/>
            </a:xfrm>
            <a:prstGeom prst="rect">
              <a:avLst/>
            </a:prstGeom>
          </p:spPr>
          <p:txBody>
            <a:bodyPr anchor="ctr" rtlCol="false" tIns="0" lIns="0" bIns="0" rIns="0"/>
            <a:lstStyle/>
            <a:p>
              <a:pPr algn="l">
                <a:lnSpc>
                  <a:spcPts val="7200"/>
                </a:lnSpc>
              </a:pPr>
              <a:r>
                <a:rPr lang="en-US" sz="6000" b="true">
                  <a:solidFill>
                    <a:srgbClr val="4C7CFF"/>
                  </a:solidFill>
                  <a:latin typeface="Cambria Bold"/>
                  <a:ea typeface="Cambria Bold"/>
                  <a:cs typeface="Cambria Bold"/>
                  <a:sym typeface="Cambria Bold"/>
                </a:rPr>
                <a:t>10</a:t>
              </a:r>
            </a:p>
          </p:txBody>
        </p:sp>
      </p:grpSp>
      <p:grpSp>
        <p:nvGrpSpPr>
          <p:cNvPr name="Group 61" id="61"/>
          <p:cNvGrpSpPr/>
          <p:nvPr/>
        </p:nvGrpSpPr>
        <p:grpSpPr>
          <a:xfrm rot="0">
            <a:off x="1234440" y="8051292"/>
            <a:ext cx="3840480" cy="685800"/>
            <a:chOff x="0" y="0"/>
            <a:chExt cx="5120640" cy="914400"/>
          </a:xfrm>
        </p:grpSpPr>
        <p:sp>
          <p:nvSpPr>
            <p:cNvPr name="Freeform 62" id="62"/>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2">
                <a:alphaModFix amt="0"/>
              </a:blip>
              <a:stretch>
                <a:fillRect l="0" t="-59116" r="0" b="-59116"/>
              </a:stretch>
            </a:blipFill>
          </p:spPr>
        </p:sp>
        <p:sp>
          <p:nvSpPr>
            <p:cNvPr name="TextBox 63" id="63"/>
            <p:cNvSpPr txBox="true"/>
            <p:nvPr/>
          </p:nvSpPr>
          <p:spPr>
            <a:xfrm>
              <a:off x="0" y="-19050"/>
              <a:ext cx="5120640" cy="933450"/>
            </a:xfrm>
            <a:prstGeom prst="rect">
              <a:avLst/>
            </a:prstGeom>
          </p:spPr>
          <p:txBody>
            <a:bodyPr anchor="ctr" rtlCol="false" tIns="0" lIns="0" bIns="0" rIns="0"/>
            <a:lstStyle/>
            <a:p>
              <a:pPr algn="l">
                <a:lnSpc>
                  <a:spcPts val="1889"/>
                </a:lnSpc>
              </a:pPr>
              <a:r>
                <a:rPr lang="en-US" sz="1575" spc="150">
                  <a:solidFill>
                    <a:srgbClr val="9FB0C9"/>
                  </a:solidFill>
                  <a:latin typeface="Calibri (MS)"/>
                  <a:ea typeface="Calibri (MS)"/>
                  <a:cs typeface="Calibri (MS)"/>
                  <a:sym typeface="Calibri (MS)"/>
                </a:rPr>
                <a:t>CORE OBJECTIVES DEFINED</a:t>
              </a:r>
            </a:p>
          </p:txBody>
        </p:sp>
      </p:grpSp>
      <p:grpSp>
        <p:nvGrpSpPr>
          <p:cNvPr name="Group 64" id="64"/>
          <p:cNvGrpSpPr/>
          <p:nvPr/>
        </p:nvGrpSpPr>
        <p:grpSpPr>
          <a:xfrm rot="0">
            <a:off x="5349240" y="7063740"/>
            <a:ext cx="3840480" cy="1028700"/>
            <a:chOff x="0" y="0"/>
            <a:chExt cx="5120640" cy="1371600"/>
          </a:xfrm>
        </p:grpSpPr>
        <p:sp>
          <p:nvSpPr>
            <p:cNvPr name="Freeform 65" id="65"/>
            <p:cNvSpPr/>
            <p:nvPr/>
          </p:nvSpPr>
          <p:spPr>
            <a:xfrm flipH="false" flipV="false" rot="0">
              <a:off x="0" y="0"/>
              <a:ext cx="5120640" cy="1371600"/>
            </a:xfrm>
            <a:custGeom>
              <a:avLst/>
              <a:gdLst/>
              <a:ahLst/>
              <a:cxnLst/>
              <a:rect r="r" b="b" t="t" l="l"/>
              <a:pathLst>
                <a:path h="1371600" w="5120640">
                  <a:moveTo>
                    <a:pt x="0" y="0"/>
                  </a:moveTo>
                  <a:lnTo>
                    <a:pt x="5120640" y="0"/>
                  </a:lnTo>
                  <a:lnTo>
                    <a:pt x="5120640" y="1371600"/>
                  </a:lnTo>
                  <a:lnTo>
                    <a:pt x="0" y="1371600"/>
                  </a:lnTo>
                  <a:close/>
                </a:path>
              </a:pathLst>
            </a:custGeom>
            <a:blipFill>
              <a:blip r:embed="rId2">
                <a:alphaModFix amt="0"/>
              </a:blip>
              <a:stretch>
                <a:fillRect l="0" t="-22744" r="0" b="-22744"/>
              </a:stretch>
            </a:blipFill>
          </p:spPr>
        </p:sp>
        <p:sp>
          <p:nvSpPr>
            <p:cNvPr name="TextBox 66" id="66"/>
            <p:cNvSpPr txBox="true"/>
            <p:nvPr/>
          </p:nvSpPr>
          <p:spPr>
            <a:xfrm>
              <a:off x="0" y="-9525"/>
              <a:ext cx="5120640" cy="1381125"/>
            </a:xfrm>
            <a:prstGeom prst="rect">
              <a:avLst/>
            </a:prstGeom>
          </p:spPr>
          <p:txBody>
            <a:bodyPr anchor="ctr" rtlCol="false" tIns="0" lIns="0" bIns="0" rIns="0"/>
            <a:lstStyle/>
            <a:p>
              <a:pPr algn="l">
                <a:lnSpc>
                  <a:spcPts val="7200"/>
                </a:lnSpc>
              </a:pPr>
              <a:r>
                <a:rPr lang="en-US" sz="6000" b="true">
                  <a:solidFill>
                    <a:srgbClr val="4C7CFF"/>
                  </a:solidFill>
                  <a:latin typeface="Cambria Bold"/>
                  <a:ea typeface="Cambria Bold"/>
                  <a:cs typeface="Cambria Bold"/>
                  <a:sym typeface="Cambria Bold"/>
                </a:rPr>
                <a:t>79 → 33</a:t>
              </a:r>
            </a:p>
          </p:txBody>
        </p:sp>
      </p:grpSp>
      <p:grpSp>
        <p:nvGrpSpPr>
          <p:cNvPr name="Group 67" id="67"/>
          <p:cNvGrpSpPr/>
          <p:nvPr/>
        </p:nvGrpSpPr>
        <p:grpSpPr>
          <a:xfrm rot="0">
            <a:off x="5349240" y="8051292"/>
            <a:ext cx="3840480" cy="685800"/>
            <a:chOff x="0" y="0"/>
            <a:chExt cx="5120640" cy="914400"/>
          </a:xfrm>
        </p:grpSpPr>
        <p:sp>
          <p:nvSpPr>
            <p:cNvPr name="Freeform 68" id="68"/>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2">
                <a:alphaModFix amt="0"/>
              </a:blip>
              <a:stretch>
                <a:fillRect l="0" t="-59116" r="0" b="-59116"/>
              </a:stretch>
            </a:blipFill>
          </p:spPr>
        </p:sp>
        <p:sp>
          <p:nvSpPr>
            <p:cNvPr name="TextBox 69" id="69"/>
            <p:cNvSpPr txBox="true"/>
            <p:nvPr/>
          </p:nvSpPr>
          <p:spPr>
            <a:xfrm>
              <a:off x="0" y="-19050"/>
              <a:ext cx="5120640" cy="933450"/>
            </a:xfrm>
            <a:prstGeom prst="rect">
              <a:avLst/>
            </a:prstGeom>
          </p:spPr>
          <p:txBody>
            <a:bodyPr anchor="ctr" rtlCol="false" tIns="0" lIns="0" bIns="0" rIns="0"/>
            <a:lstStyle/>
            <a:p>
              <a:pPr algn="l">
                <a:lnSpc>
                  <a:spcPts val="1889"/>
                </a:lnSpc>
              </a:pPr>
              <a:r>
                <a:rPr lang="en-US" sz="1575" spc="150">
                  <a:solidFill>
                    <a:srgbClr val="9FB0C9"/>
                  </a:solidFill>
                  <a:latin typeface="Calibri (MS)"/>
                  <a:ea typeface="Calibri (MS)"/>
                  <a:cs typeface="Calibri (MS)"/>
                  <a:sym typeface="Calibri (MS)"/>
                </a:rPr>
                <a:t>RAW TO MODEL FEATURES</a:t>
              </a:r>
            </a:p>
          </p:txBody>
        </p:sp>
      </p:grpSp>
      <p:grpSp>
        <p:nvGrpSpPr>
          <p:cNvPr name="Group 70" id="70"/>
          <p:cNvGrpSpPr/>
          <p:nvPr/>
        </p:nvGrpSpPr>
        <p:grpSpPr>
          <a:xfrm rot="0">
            <a:off x="9464040" y="7063740"/>
            <a:ext cx="3840480" cy="1028700"/>
            <a:chOff x="0" y="0"/>
            <a:chExt cx="5120640" cy="1371600"/>
          </a:xfrm>
        </p:grpSpPr>
        <p:sp>
          <p:nvSpPr>
            <p:cNvPr name="Freeform 71" id="71"/>
            <p:cNvSpPr/>
            <p:nvPr/>
          </p:nvSpPr>
          <p:spPr>
            <a:xfrm flipH="false" flipV="false" rot="0">
              <a:off x="0" y="0"/>
              <a:ext cx="5120640" cy="1371600"/>
            </a:xfrm>
            <a:custGeom>
              <a:avLst/>
              <a:gdLst/>
              <a:ahLst/>
              <a:cxnLst/>
              <a:rect r="r" b="b" t="t" l="l"/>
              <a:pathLst>
                <a:path h="1371600" w="5120640">
                  <a:moveTo>
                    <a:pt x="0" y="0"/>
                  </a:moveTo>
                  <a:lnTo>
                    <a:pt x="5120640" y="0"/>
                  </a:lnTo>
                  <a:lnTo>
                    <a:pt x="5120640" y="1371600"/>
                  </a:lnTo>
                  <a:lnTo>
                    <a:pt x="0" y="1371600"/>
                  </a:lnTo>
                  <a:close/>
                </a:path>
              </a:pathLst>
            </a:custGeom>
            <a:blipFill>
              <a:blip r:embed="rId2">
                <a:alphaModFix amt="0"/>
              </a:blip>
              <a:stretch>
                <a:fillRect l="0" t="-22744" r="0" b="-22744"/>
              </a:stretch>
            </a:blipFill>
          </p:spPr>
        </p:sp>
        <p:sp>
          <p:nvSpPr>
            <p:cNvPr name="TextBox 72" id="72"/>
            <p:cNvSpPr txBox="true"/>
            <p:nvPr/>
          </p:nvSpPr>
          <p:spPr>
            <a:xfrm>
              <a:off x="0" y="-9525"/>
              <a:ext cx="5120640" cy="1381125"/>
            </a:xfrm>
            <a:prstGeom prst="rect">
              <a:avLst/>
            </a:prstGeom>
          </p:spPr>
          <p:txBody>
            <a:bodyPr anchor="ctr" rtlCol="false" tIns="0" lIns="0" bIns="0" rIns="0"/>
            <a:lstStyle/>
            <a:p>
              <a:pPr algn="l">
                <a:lnSpc>
                  <a:spcPts val="7200"/>
                </a:lnSpc>
              </a:pPr>
              <a:r>
                <a:rPr lang="en-US" sz="6000" b="true">
                  <a:solidFill>
                    <a:srgbClr val="4C7CFF"/>
                  </a:solidFill>
                  <a:latin typeface="Cambria Bold"/>
                  <a:ea typeface="Cambria Bold"/>
                  <a:cs typeface="Cambria Bold"/>
                  <a:sym typeface="Cambria Bold"/>
                </a:rPr>
                <a:t>8</a:t>
              </a:r>
            </a:p>
          </p:txBody>
        </p:sp>
      </p:grpSp>
      <p:grpSp>
        <p:nvGrpSpPr>
          <p:cNvPr name="Group 73" id="73"/>
          <p:cNvGrpSpPr/>
          <p:nvPr/>
        </p:nvGrpSpPr>
        <p:grpSpPr>
          <a:xfrm rot="0">
            <a:off x="9464040" y="8051292"/>
            <a:ext cx="3840480" cy="685800"/>
            <a:chOff x="0" y="0"/>
            <a:chExt cx="5120640" cy="914400"/>
          </a:xfrm>
        </p:grpSpPr>
        <p:sp>
          <p:nvSpPr>
            <p:cNvPr name="Freeform 74" id="74"/>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2">
                <a:alphaModFix amt="0"/>
              </a:blip>
              <a:stretch>
                <a:fillRect l="0" t="-59116" r="0" b="-59116"/>
              </a:stretch>
            </a:blipFill>
          </p:spPr>
        </p:sp>
        <p:sp>
          <p:nvSpPr>
            <p:cNvPr name="TextBox 75" id="75"/>
            <p:cNvSpPr txBox="true"/>
            <p:nvPr/>
          </p:nvSpPr>
          <p:spPr>
            <a:xfrm>
              <a:off x="0" y="-19050"/>
              <a:ext cx="5120640" cy="933450"/>
            </a:xfrm>
            <a:prstGeom prst="rect">
              <a:avLst/>
            </a:prstGeom>
          </p:spPr>
          <p:txBody>
            <a:bodyPr anchor="ctr" rtlCol="false" tIns="0" lIns="0" bIns="0" rIns="0"/>
            <a:lstStyle/>
            <a:p>
              <a:pPr algn="l">
                <a:lnSpc>
                  <a:spcPts val="1889"/>
                </a:lnSpc>
              </a:pPr>
              <a:r>
                <a:rPr lang="en-US" sz="1575" spc="150">
                  <a:solidFill>
                    <a:srgbClr val="9FB0C9"/>
                  </a:solidFill>
                  <a:latin typeface="Calibri (MS)"/>
                  <a:ea typeface="Calibri (MS)"/>
                  <a:cs typeface="Calibri (MS)"/>
                  <a:sym typeface="Calibri (MS)"/>
                </a:rPr>
                <a:t>CONTAINERIZED MICROSERVICES</a:t>
              </a:r>
            </a:p>
          </p:txBody>
        </p:sp>
      </p:grpSp>
      <p:grpSp>
        <p:nvGrpSpPr>
          <p:cNvPr name="Group 76" id="76"/>
          <p:cNvGrpSpPr/>
          <p:nvPr/>
        </p:nvGrpSpPr>
        <p:grpSpPr>
          <a:xfrm rot="0">
            <a:off x="13578840" y="7063740"/>
            <a:ext cx="3840480" cy="1028700"/>
            <a:chOff x="0" y="0"/>
            <a:chExt cx="5120640" cy="1371600"/>
          </a:xfrm>
        </p:grpSpPr>
        <p:sp>
          <p:nvSpPr>
            <p:cNvPr name="Freeform 77" id="77"/>
            <p:cNvSpPr/>
            <p:nvPr/>
          </p:nvSpPr>
          <p:spPr>
            <a:xfrm flipH="false" flipV="false" rot="0">
              <a:off x="0" y="0"/>
              <a:ext cx="5120640" cy="1371600"/>
            </a:xfrm>
            <a:custGeom>
              <a:avLst/>
              <a:gdLst/>
              <a:ahLst/>
              <a:cxnLst/>
              <a:rect r="r" b="b" t="t" l="l"/>
              <a:pathLst>
                <a:path h="1371600" w="5120640">
                  <a:moveTo>
                    <a:pt x="0" y="0"/>
                  </a:moveTo>
                  <a:lnTo>
                    <a:pt x="5120640" y="0"/>
                  </a:lnTo>
                  <a:lnTo>
                    <a:pt x="5120640" y="1371600"/>
                  </a:lnTo>
                  <a:lnTo>
                    <a:pt x="0" y="1371600"/>
                  </a:lnTo>
                  <a:close/>
                </a:path>
              </a:pathLst>
            </a:custGeom>
            <a:blipFill>
              <a:blip r:embed="rId2">
                <a:alphaModFix amt="0"/>
              </a:blip>
              <a:stretch>
                <a:fillRect l="0" t="-22744" r="0" b="-22744"/>
              </a:stretch>
            </a:blipFill>
          </p:spPr>
        </p:sp>
        <p:sp>
          <p:nvSpPr>
            <p:cNvPr name="TextBox 78" id="78"/>
            <p:cNvSpPr txBox="true"/>
            <p:nvPr/>
          </p:nvSpPr>
          <p:spPr>
            <a:xfrm>
              <a:off x="0" y="-9525"/>
              <a:ext cx="5120640" cy="1381125"/>
            </a:xfrm>
            <a:prstGeom prst="rect">
              <a:avLst/>
            </a:prstGeom>
          </p:spPr>
          <p:txBody>
            <a:bodyPr anchor="ctr" rtlCol="false" tIns="0" lIns="0" bIns="0" rIns="0"/>
            <a:lstStyle/>
            <a:p>
              <a:pPr algn="l">
                <a:lnSpc>
                  <a:spcPts val="7200"/>
                </a:lnSpc>
              </a:pPr>
              <a:r>
                <a:rPr lang="en-US" sz="6000" b="true">
                  <a:solidFill>
                    <a:srgbClr val="4C7CFF"/>
                  </a:solidFill>
                  <a:latin typeface="Cambria Bold"/>
                  <a:ea typeface="Cambria Bold"/>
                  <a:cs typeface="Cambria Bold"/>
                  <a:sym typeface="Cambria Bold"/>
                </a:rPr>
                <a:t>4</a:t>
              </a:r>
            </a:p>
          </p:txBody>
        </p:sp>
      </p:grpSp>
      <p:grpSp>
        <p:nvGrpSpPr>
          <p:cNvPr name="Group 79" id="79"/>
          <p:cNvGrpSpPr/>
          <p:nvPr/>
        </p:nvGrpSpPr>
        <p:grpSpPr>
          <a:xfrm rot="0">
            <a:off x="13578840" y="8051292"/>
            <a:ext cx="3840480" cy="685800"/>
            <a:chOff x="0" y="0"/>
            <a:chExt cx="5120640" cy="914400"/>
          </a:xfrm>
        </p:grpSpPr>
        <p:sp>
          <p:nvSpPr>
            <p:cNvPr name="Freeform 80" id="80"/>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2">
                <a:alphaModFix amt="0"/>
              </a:blip>
              <a:stretch>
                <a:fillRect l="0" t="-59116" r="0" b="-59116"/>
              </a:stretch>
            </a:blipFill>
          </p:spPr>
        </p:sp>
        <p:sp>
          <p:nvSpPr>
            <p:cNvPr name="TextBox 81" id="81"/>
            <p:cNvSpPr txBox="true"/>
            <p:nvPr/>
          </p:nvSpPr>
          <p:spPr>
            <a:xfrm>
              <a:off x="0" y="-19050"/>
              <a:ext cx="5120640" cy="933450"/>
            </a:xfrm>
            <a:prstGeom prst="rect">
              <a:avLst/>
            </a:prstGeom>
          </p:spPr>
          <p:txBody>
            <a:bodyPr anchor="ctr" rtlCol="false" tIns="0" lIns="0" bIns="0" rIns="0"/>
            <a:lstStyle/>
            <a:p>
              <a:pPr algn="l">
                <a:lnSpc>
                  <a:spcPts val="1889"/>
                </a:lnSpc>
              </a:pPr>
              <a:r>
                <a:rPr lang="en-US" sz="1575" spc="150">
                  <a:solidFill>
                    <a:srgbClr val="9FB0C9"/>
                  </a:solidFill>
                  <a:latin typeface="Calibri (MS)"/>
                  <a:ea typeface="Calibri (MS)"/>
                  <a:cs typeface="Calibri (MS)"/>
                  <a:sym typeface="Calibri (MS)"/>
                </a:rPr>
                <a:t>ONE-WEEK AGILE SPRINTS</a:t>
              </a:r>
            </a:p>
          </p:txBody>
        </p:sp>
      </p:grpSp>
      <p:grpSp>
        <p:nvGrpSpPr>
          <p:cNvPr name="Group 82" id="82"/>
          <p:cNvGrpSpPr/>
          <p:nvPr/>
        </p:nvGrpSpPr>
        <p:grpSpPr>
          <a:xfrm rot="0">
            <a:off x="685800" y="9710928"/>
            <a:ext cx="10972800" cy="411480"/>
            <a:chOff x="0" y="0"/>
            <a:chExt cx="14630400" cy="548640"/>
          </a:xfrm>
        </p:grpSpPr>
        <p:sp>
          <p:nvSpPr>
            <p:cNvPr name="Freeform 83" id="8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84" id="84"/>
            <p:cNvSpPr txBox="true"/>
            <p:nvPr/>
          </p:nvSpPr>
          <p:spPr>
            <a:xfrm>
              <a:off x="0" y="-28575"/>
              <a:ext cx="14630400" cy="577215"/>
            </a:xfrm>
            <a:prstGeom prst="rect">
              <a:avLst/>
            </a:prstGeom>
          </p:spPr>
          <p:txBody>
            <a:bodyPr anchor="ctr" rtlCol="false" tIns="0" lIns="0" bIns="0" rIns="0"/>
            <a:lstStyle/>
            <a:p>
              <a:pPr algn="l">
                <a:lnSpc>
                  <a:spcPts val="1620"/>
                </a:lnSpc>
              </a:pPr>
              <a:r>
                <a:rPr lang="en-US" sz="1350" spc="149">
                  <a:solidFill>
                    <a:srgbClr val="6E84A6"/>
                  </a:solidFill>
                  <a:latin typeface="Calibri (MS)"/>
                  <a:ea typeface="Calibri (MS)"/>
                  <a:cs typeface="Calibri (MS)"/>
                  <a:sym typeface="Calibri (MS)"/>
                </a:rPr>
                <a:t>MLSECOPS PLATFORM · CONTEXT &amp; PROBLEM FRAMING</a:t>
              </a:r>
            </a:p>
          </p:txBody>
        </p:sp>
      </p:grpSp>
      <p:grpSp>
        <p:nvGrpSpPr>
          <p:cNvPr name="Group 85" id="85"/>
          <p:cNvGrpSpPr/>
          <p:nvPr/>
        </p:nvGrpSpPr>
        <p:grpSpPr>
          <a:xfrm rot="0">
            <a:off x="16500348" y="9710928"/>
            <a:ext cx="1097280" cy="411480"/>
            <a:chOff x="0" y="0"/>
            <a:chExt cx="1463040" cy="548640"/>
          </a:xfrm>
        </p:grpSpPr>
        <p:sp>
          <p:nvSpPr>
            <p:cNvPr name="Freeform 86" id="86"/>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87" id="87"/>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03 / 32</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CONTEXT &amp; VISION</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1</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Aymen Sabiri — Product Owner</a:t>
              </a:r>
            </a:p>
          </p:txBody>
        </p:sp>
      </p:grpSp>
      <p:grpSp>
        <p:nvGrpSpPr>
          <p:cNvPr name="Group 11" id="11"/>
          <p:cNvGrpSpPr/>
          <p:nvPr/>
        </p:nvGrpSpPr>
        <p:grpSpPr>
          <a:xfrm rot="0">
            <a:off x="822960" y="1069848"/>
            <a:ext cx="16596360" cy="1303020"/>
            <a:chOff x="0" y="0"/>
            <a:chExt cx="22128480" cy="1737360"/>
          </a:xfrm>
        </p:grpSpPr>
        <p:sp>
          <p:nvSpPr>
            <p:cNvPr name="Freeform 12" id="12"/>
            <p:cNvSpPr/>
            <p:nvPr/>
          </p:nvSpPr>
          <p:spPr>
            <a:xfrm flipH="false" flipV="false" rot="0">
              <a:off x="0" y="0"/>
              <a:ext cx="22128480" cy="1737360"/>
            </a:xfrm>
            <a:custGeom>
              <a:avLst/>
              <a:gdLst/>
              <a:ahLst/>
              <a:cxnLst/>
              <a:rect r="r" b="b" t="t" l="l"/>
              <a:pathLst>
                <a:path h="1737360" w="22128480">
                  <a:moveTo>
                    <a:pt x="0" y="0"/>
                  </a:moveTo>
                  <a:lnTo>
                    <a:pt x="22128480" y="0"/>
                  </a:lnTo>
                  <a:lnTo>
                    <a:pt x="22128480" y="1737360"/>
                  </a:lnTo>
                  <a:lnTo>
                    <a:pt x="0" y="1737360"/>
                  </a:lnTo>
                  <a:close/>
                </a:path>
              </a:pathLst>
            </a:custGeom>
            <a:blipFill>
              <a:blip r:embed="rId2">
                <a:alphaModFix amt="0"/>
              </a:blip>
              <a:stretch>
                <a:fillRect l="0" t="-198177" r="0" b="-198177"/>
              </a:stretch>
            </a:blipFill>
          </p:spPr>
        </p:sp>
        <p:sp>
          <p:nvSpPr>
            <p:cNvPr name="TextBox 13" id="13"/>
            <p:cNvSpPr txBox="true"/>
            <p:nvPr/>
          </p:nvSpPr>
          <p:spPr>
            <a:xfrm>
              <a:off x="0" y="-9525"/>
              <a:ext cx="22128480" cy="1746885"/>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Macro-Architecture Overview</a:t>
              </a:r>
            </a:p>
          </p:txBody>
        </p:sp>
      </p:grpSp>
      <p:grpSp>
        <p:nvGrpSpPr>
          <p:cNvPr name="Group 14" id="14"/>
          <p:cNvGrpSpPr/>
          <p:nvPr/>
        </p:nvGrpSpPr>
        <p:grpSpPr>
          <a:xfrm rot="0">
            <a:off x="559689" y="3556635"/>
            <a:ext cx="2556510" cy="2762250"/>
            <a:chOff x="0" y="0"/>
            <a:chExt cx="3408680" cy="3683000"/>
          </a:xfrm>
        </p:grpSpPr>
        <p:sp>
          <p:nvSpPr>
            <p:cNvPr name="Freeform 15" id="15"/>
            <p:cNvSpPr/>
            <p:nvPr/>
          </p:nvSpPr>
          <p:spPr>
            <a:xfrm flipH="false" flipV="false" rot="0">
              <a:off x="0" y="0"/>
              <a:ext cx="3408680" cy="3683000"/>
            </a:xfrm>
            <a:custGeom>
              <a:avLst/>
              <a:gdLst/>
              <a:ahLst/>
              <a:cxnLst/>
              <a:rect r="r" b="b" t="t" l="l"/>
              <a:pathLst>
                <a:path h="3683000" w="3408680">
                  <a:moveTo>
                    <a:pt x="0" y="147447"/>
                  </a:moveTo>
                  <a:cubicBezTo>
                    <a:pt x="0" y="66040"/>
                    <a:pt x="66040" y="0"/>
                    <a:pt x="147447" y="0"/>
                  </a:cubicBezTo>
                  <a:lnTo>
                    <a:pt x="3261233" y="0"/>
                  </a:lnTo>
                  <a:cubicBezTo>
                    <a:pt x="3342640" y="0"/>
                    <a:pt x="3408680" y="66040"/>
                    <a:pt x="3408680" y="147447"/>
                  </a:cubicBezTo>
                  <a:lnTo>
                    <a:pt x="3408680" y="3535553"/>
                  </a:lnTo>
                  <a:cubicBezTo>
                    <a:pt x="3408680" y="3616960"/>
                    <a:pt x="3342640" y="3683000"/>
                    <a:pt x="3261233" y="3683000"/>
                  </a:cubicBezTo>
                  <a:lnTo>
                    <a:pt x="147447" y="3683000"/>
                  </a:lnTo>
                  <a:cubicBezTo>
                    <a:pt x="66040" y="3683000"/>
                    <a:pt x="0" y="3616960"/>
                    <a:pt x="0" y="3535553"/>
                  </a:cubicBezTo>
                  <a:close/>
                </a:path>
              </a:pathLst>
            </a:custGeom>
            <a:solidFill>
              <a:srgbClr val="0F2038"/>
            </a:solidFill>
            <a:ln w="19050" cap="sq">
              <a:solidFill>
                <a:srgbClr val="1E3358"/>
              </a:solidFill>
              <a:prstDash val="solid"/>
              <a:miter/>
            </a:ln>
          </p:spPr>
        </p:sp>
      </p:grpSp>
      <p:grpSp>
        <p:nvGrpSpPr>
          <p:cNvPr name="Group 16" id="16"/>
          <p:cNvGrpSpPr/>
          <p:nvPr/>
        </p:nvGrpSpPr>
        <p:grpSpPr>
          <a:xfrm rot="0">
            <a:off x="678942" y="3867912"/>
            <a:ext cx="2318004" cy="1028700"/>
            <a:chOff x="0" y="0"/>
            <a:chExt cx="3090672" cy="1371600"/>
          </a:xfrm>
        </p:grpSpPr>
        <p:sp>
          <p:nvSpPr>
            <p:cNvPr name="Freeform 17" id="17"/>
            <p:cNvSpPr/>
            <p:nvPr/>
          </p:nvSpPr>
          <p:spPr>
            <a:xfrm flipH="false" flipV="false" rot="0">
              <a:off x="0" y="0"/>
              <a:ext cx="3090672" cy="1371600"/>
            </a:xfrm>
            <a:custGeom>
              <a:avLst/>
              <a:gdLst/>
              <a:ahLst/>
              <a:cxnLst/>
              <a:rect r="r" b="b" t="t" l="l"/>
              <a:pathLst>
                <a:path h="1371600" w="3090672">
                  <a:moveTo>
                    <a:pt x="0" y="0"/>
                  </a:moveTo>
                  <a:lnTo>
                    <a:pt x="3090672" y="0"/>
                  </a:lnTo>
                  <a:lnTo>
                    <a:pt x="3090672" y="1371600"/>
                  </a:lnTo>
                  <a:lnTo>
                    <a:pt x="0" y="1371600"/>
                  </a:lnTo>
                  <a:close/>
                </a:path>
              </a:pathLst>
            </a:custGeom>
            <a:blipFill>
              <a:blip r:embed="rId2">
                <a:alphaModFix amt="0"/>
              </a:blip>
              <a:stretch>
                <a:fillRect l="-6939" t="0" r="-6939" b="0"/>
              </a:stretch>
            </a:blipFill>
          </p:spPr>
        </p:sp>
        <p:sp>
          <p:nvSpPr>
            <p:cNvPr name="TextBox 18" id="18"/>
            <p:cNvSpPr txBox="true"/>
            <p:nvPr/>
          </p:nvSpPr>
          <p:spPr>
            <a:xfrm>
              <a:off x="0" y="-38100"/>
              <a:ext cx="3090672" cy="1409700"/>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Streaming</a:t>
              </a:r>
            </a:p>
            <a:p>
              <a:pPr algn="ctr">
                <a:lnSpc>
                  <a:spcPts val="2250"/>
                </a:lnSpc>
              </a:pPr>
              <a:r>
                <a:rPr lang="en-US" sz="1875" b="true">
                  <a:solidFill>
                    <a:srgbClr val="FFFFFF"/>
                  </a:solidFill>
                  <a:latin typeface="Calibri (MS) Bold"/>
                  <a:ea typeface="Calibri (MS) Bold"/>
                  <a:cs typeface="Calibri (MS) Bold"/>
                  <a:sym typeface="Calibri (MS) Bold"/>
                </a:rPr>
                <a:t>Ingestion</a:t>
              </a:r>
            </a:p>
          </p:txBody>
        </p:sp>
      </p:grpSp>
      <p:grpSp>
        <p:nvGrpSpPr>
          <p:cNvPr name="Group 19" id="19"/>
          <p:cNvGrpSpPr/>
          <p:nvPr/>
        </p:nvGrpSpPr>
        <p:grpSpPr>
          <a:xfrm rot="0">
            <a:off x="678942" y="5143500"/>
            <a:ext cx="2318004" cy="960120"/>
            <a:chOff x="0" y="0"/>
            <a:chExt cx="3090672" cy="1280160"/>
          </a:xfrm>
        </p:grpSpPr>
        <p:sp>
          <p:nvSpPr>
            <p:cNvPr name="Freeform 20" id="20"/>
            <p:cNvSpPr/>
            <p:nvPr/>
          </p:nvSpPr>
          <p:spPr>
            <a:xfrm flipH="false" flipV="false" rot="0">
              <a:off x="0" y="0"/>
              <a:ext cx="3090672" cy="1280160"/>
            </a:xfrm>
            <a:custGeom>
              <a:avLst/>
              <a:gdLst/>
              <a:ahLst/>
              <a:cxnLst/>
              <a:rect r="r" b="b" t="t" l="l"/>
              <a:pathLst>
                <a:path h="1280160" w="3090672">
                  <a:moveTo>
                    <a:pt x="0" y="0"/>
                  </a:moveTo>
                  <a:lnTo>
                    <a:pt x="3090672" y="0"/>
                  </a:lnTo>
                  <a:lnTo>
                    <a:pt x="3090672" y="1280160"/>
                  </a:lnTo>
                  <a:lnTo>
                    <a:pt x="0" y="1280160"/>
                  </a:lnTo>
                  <a:close/>
                </a:path>
              </a:pathLst>
            </a:custGeom>
            <a:blipFill>
              <a:blip r:embed="rId2">
                <a:alphaModFix amt="0"/>
              </a:blip>
              <a:stretch>
                <a:fillRect l="-3143" t="0" r="-3143" b="0"/>
              </a:stretch>
            </a:blipFill>
          </p:spPr>
        </p:sp>
        <p:sp>
          <p:nvSpPr>
            <p:cNvPr name="TextBox 21" id="21"/>
            <p:cNvSpPr txBox="true"/>
            <p:nvPr/>
          </p:nvSpPr>
          <p:spPr>
            <a:xfrm>
              <a:off x="0" y="-38100"/>
              <a:ext cx="3090672" cy="1318260"/>
            </a:xfrm>
            <a:prstGeom prst="rect">
              <a:avLst/>
            </a:prstGeom>
          </p:spPr>
          <p:txBody>
            <a:bodyPr anchor="ctr" rtlCol="false" tIns="0" lIns="0" bIns="0" rIns="0"/>
            <a:lstStyle/>
            <a:p>
              <a:pPr algn="ctr">
                <a:lnSpc>
                  <a:spcPts val="1800"/>
                </a:lnSpc>
              </a:pPr>
              <a:r>
                <a:rPr lang="en-US" sz="1500">
                  <a:solidFill>
                    <a:srgbClr val="00E5C7"/>
                  </a:solidFill>
                  <a:latin typeface="Calibri (MS)"/>
                  <a:ea typeface="Calibri (MS)"/>
                  <a:cs typeface="Calibri (MS)"/>
                  <a:sym typeface="Calibri (MS)"/>
                </a:rPr>
                <a:t>Kafka /</a:t>
              </a:r>
            </a:p>
            <a:p>
              <a:pPr algn="ctr">
                <a:lnSpc>
                  <a:spcPts val="1800"/>
                </a:lnSpc>
              </a:pPr>
              <a:r>
                <a:rPr lang="en-US" sz="1500">
                  <a:solidFill>
                    <a:srgbClr val="00E5C7"/>
                  </a:solidFill>
                  <a:latin typeface="Calibri (MS)"/>
                  <a:ea typeface="Calibri (MS)"/>
                  <a:cs typeface="Calibri (MS)"/>
                  <a:sym typeface="Calibri (MS)"/>
                </a:rPr>
                <a:t>Redpanda</a:t>
              </a:r>
            </a:p>
          </p:txBody>
        </p:sp>
      </p:grpSp>
      <p:sp>
        <p:nvSpPr>
          <p:cNvPr name="AutoShape 22" id="22"/>
          <p:cNvSpPr/>
          <p:nvPr/>
        </p:nvSpPr>
        <p:spPr>
          <a:xfrm flipV="true">
            <a:off x="3119288" y="4933905"/>
            <a:ext cx="358819" cy="7710"/>
          </a:xfrm>
          <a:prstGeom prst="line">
            <a:avLst/>
          </a:prstGeom>
          <a:ln cap="rnd" w="19050">
            <a:solidFill>
              <a:srgbClr val="6E84A6"/>
            </a:solidFill>
            <a:prstDash val="solid"/>
            <a:headEnd type="none" len="sm" w="sm"/>
            <a:tailEnd type="triangle" len="med" w="lg"/>
          </a:ln>
        </p:spPr>
      </p:sp>
      <p:grpSp>
        <p:nvGrpSpPr>
          <p:cNvPr name="Group 23" id="23"/>
          <p:cNvGrpSpPr/>
          <p:nvPr/>
        </p:nvGrpSpPr>
        <p:grpSpPr>
          <a:xfrm rot="0">
            <a:off x="3481197" y="3556635"/>
            <a:ext cx="2556510" cy="2762250"/>
            <a:chOff x="0" y="0"/>
            <a:chExt cx="3408680" cy="3683000"/>
          </a:xfrm>
        </p:grpSpPr>
        <p:sp>
          <p:nvSpPr>
            <p:cNvPr name="Freeform 24" id="24"/>
            <p:cNvSpPr/>
            <p:nvPr/>
          </p:nvSpPr>
          <p:spPr>
            <a:xfrm flipH="false" flipV="false" rot="0">
              <a:off x="0" y="0"/>
              <a:ext cx="3408680" cy="3683000"/>
            </a:xfrm>
            <a:custGeom>
              <a:avLst/>
              <a:gdLst/>
              <a:ahLst/>
              <a:cxnLst/>
              <a:rect r="r" b="b" t="t" l="l"/>
              <a:pathLst>
                <a:path h="3683000" w="3408680">
                  <a:moveTo>
                    <a:pt x="0" y="147447"/>
                  </a:moveTo>
                  <a:cubicBezTo>
                    <a:pt x="0" y="66040"/>
                    <a:pt x="66040" y="0"/>
                    <a:pt x="147447" y="0"/>
                  </a:cubicBezTo>
                  <a:lnTo>
                    <a:pt x="3261233" y="0"/>
                  </a:lnTo>
                  <a:cubicBezTo>
                    <a:pt x="3342640" y="0"/>
                    <a:pt x="3408680" y="66040"/>
                    <a:pt x="3408680" y="147447"/>
                  </a:cubicBezTo>
                  <a:lnTo>
                    <a:pt x="3408680" y="3535553"/>
                  </a:lnTo>
                  <a:cubicBezTo>
                    <a:pt x="3408680" y="3616960"/>
                    <a:pt x="3342640" y="3683000"/>
                    <a:pt x="3261233" y="3683000"/>
                  </a:cubicBezTo>
                  <a:lnTo>
                    <a:pt x="147447" y="3683000"/>
                  </a:lnTo>
                  <a:cubicBezTo>
                    <a:pt x="66040" y="3683000"/>
                    <a:pt x="0" y="3616960"/>
                    <a:pt x="0" y="3535553"/>
                  </a:cubicBezTo>
                  <a:close/>
                </a:path>
              </a:pathLst>
            </a:custGeom>
            <a:solidFill>
              <a:srgbClr val="0F2038"/>
            </a:solidFill>
            <a:ln w="19050" cap="sq">
              <a:solidFill>
                <a:srgbClr val="1E3358"/>
              </a:solidFill>
              <a:prstDash val="solid"/>
              <a:miter/>
            </a:ln>
          </p:spPr>
        </p:sp>
      </p:grpSp>
      <p:grpSp>
        <p:nvGrpSpPr>
          <p:cNvPr name="Group 25" id="25"/>
          <p:cNvGrpSpPr/>
          <p:nvPr/>
        </p:nvGrpSpPr>
        <p:grpSpPr>
          <a:xfrm rot="0">
            <a:off x="3600450" y="3867912"/>
            <a:ext cx="2318004" cy="1028700"/>
            <a:chOff x="0" y="0"/>
            <a:chExt cx="3090672" cy="1371600"/>
          </a:xfrm>
        </p:grpSpPr>
        <p:sp>
          <p:nvSpPr>
            <p:cNvPr name="Freeform 26" id="26"/>
            <p:cNvSpPr/>
            <p:nvPr/>
          </p:nvSpPr>
          <p:spPr>
            <a:xfrm flipH="false" flipV="false" rot="0">
              <a:off x="0" y="0"/>
              <a:ext cx="3090672" cy="1371600"/>
            </a:xfrm>
            <a:custGeom>
              <a:avLst/>
              <a:gdLst/>
              <a:ahLst/>
              <a:cxnLst/>
              <a:rect r="r" b="b" t="t" l="l"/>
              <a:pathLst>
                <a:path h="1371600" w="3090672">
                  <a:moveTo>
                    <a:pt x="0" y="0"/>
                  </a:moveTo>
                  <a:lnTo>
                    <a:pt x="3090672" y="0"/>
                  </a:lnTo>
                  <a:lnTo>
                    <a:pt x="3090672" y="1371600"/>
                  </a:lnTo>
                  <a:lnTo>
                    <a:pt x="0" y="1371600"/>
                  </a:lnTo>
                  <a:close/>
                </a:path>
              </a:pathLst>
            </a:custGeom>
            <a:blipFill>
              <a:blip r:embed="rId2">
                <a:alphaModFix amt="0"/>
              </a:blip>
              <a:stretch>
                <a:fillRect l="-6939" t="0" r="-6939" b="0"/>
              </a:stretch>
            </a:blipFill>
          </p:spPr>
        </p:sp>
        <p:sp>
          <p:nvSpPr>
            <p:cNvPr name="TextBox 27" id="27"/>
            <p:cNvSpPr txBox="true"/>
            <p:nvPr/>
          </p:nvSpPr>
          <p:spPr>
            <a:xfrm>
              <a:off x="0" y="-38100"/>
              <a:ext cx="3090672" cy="1409700"/>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Quality</a:t>
              </a:r>
            </a:p>
            <a:p>
              <a:pPr algn="ctr">
                <a:lnSpc>
                  <a:spcPts val="2250"/>
                </a:lnSpc>
              </a:pPr>
              <a:r>
                <a:rPr lang="en-US" sz="1875" b="true">
                  <a:solidFill>
                    <a:srgbClr val="FFFFFF"/>
                  </a:solidFill>
                  <a:latin typeface="Calibri (MS) Bold"/>
                  <a:ea typeface="Calibri (MS) Bold"/>
                  <a:cs typeface="Calibri (MS) Bold"/>
                  <a:sym typeface="Calibri (MS) Bold"/>
                </a:rPr>
                <a:t>Gates</a:t>
              </a:r>
            </a:p>
          </p:txBody>
        </p:sp>
      </p:grpSp>
      <p:grpSp>
        <p:nvGrpSpPr>
          <p:cNvPr name="Group 28" id="28"/>
          <p:cNvGrpSpPr/>
          <p:nvPr/>
        </p:nvGrpSpPr>
        <p:grpSpPr>
          <a:xfrm rot="0">
            <a:off x="3600450" y="5143500"/>
            <a:ext cx="2318004" cy="960120"/>
            <a:chOff x="0" y="0"/>
            <a:chExt cx="3090672" cy="1280160"/>
          </a:xfrm>
        </p:grpSpPr>
        <p:sp>
          <p:nvSpPr>
            <p:cNvPr name="Freeform 29" id="29"/>
            <p:cNvSpPr/>
            <p:nvPr/>
          </p:nvSpPr>
          <p:spPr>
            <a:xfrm flipH="false" flipV="false" rot="0">
              <a:off x="0" y="0"/>
              <a:ext cx="3090672" cy="1280160"/>
            </a:xfrm>
            <a:custGeom>
              <a:avLst/>
              <a:gdLst/>
              <a:ahLst/>
              <a:cxnLst/>
              <a:rect r="r" b="b" t="t" l="l"/>
              <a:pathLst>
                <a:path h="1280160" w="3090672">
                  <a:moveTo>
                    <a:pt x="0" y="0"/>
                  </a:moveTo>
                  <a:lnTo>
                    <a:pt x="3090672" y="0"/>
                  </a:lnTo>
                  <a:lnTo>
                    <a:pt x="3090672" y="1280160"/>
                  </a:lnTo>
                  <a:lnTo>
                    <a:pt x="0" y="1280160"/>
                  </a:lnTo>
                  <a:close/>
                </a:path>
              </a:pathLst>
            </a:custGeom>
            <a:blipFill>
              <a:blip r:embed="rId2">
                <a:alphaModFix amt="0"/>
              </a:blip>
              <a:stretch>
                <a:fillRect l="-3143" t="0" r="-3143" b="0"/>
              </a:stretch>
            </a:blipFill>
          </p:spPr>
        </p:sp>
        <p:sp>
          <p:nvSpPr>
            <p:cNvPr name="TextBox 30" id="30"/>
            <p:cNvSpPr txBox="true"/>
            <p:nvPr/>
          </p:nvSpPr>
          <p:spPr>
            <a:xfrm>
              <a:off x="0" y="-38100"/>
              <a:ext cx="3090672" cy="1318260"/>
            </a:xfrm>
            <a:prstGeom prst="rect">
              <a:avLst/>
            </a:prstGeom>
          </p:spPr>
          <p:txBody>
            <a:bodyPr anchor="ctr" rtlCol="false" tIns="0" lIns="0" bIns="0" rIns="0"/>
            <a:lstStyle/>
            <a:p>
              <a:pPr algn="ctr">
                <a:lnSpc>
                  <a:spcPts val="1800"/>
                </a:lnSpc>
              </a:pPr>
              <a:r>
                <a:rPr lang="en-US" sz="1500">
                  <a:solidFill>
                    <a:srgbClr val="00E5C7"/>
                  </a:solidFill>
                  <a:latin typeface="Calibri (MS)"/>
                  <a:ea typeface="Calibri (MS)"/>
                  <a:cs typeface="Calibri (MS)"/>
                  <a:sym typeface="Calibri (MS)"/>
                </a:rPr>
                <a:t>831-line</a:t>
              </a:r>
            </a:p>
            <a:p>
              <a:pPr algn="ctr">
                <a:lnSpc>
                  <a:spcPts val="1800"/>
                </a:lnSpc>
              </a:pPr>
              <a:r>
                <a:rPr lang="en-US" sz="1500">
                  <a:solidFill>
                    <a:srgbClr val="00E5C7"/>
                  </a:solidFill>
                  <a:latin typeface="Calibri (MS)"/>
                  <a:ea typeface="Calibri (MS)"/>
                  <a:cs typeface="Calibri (MS)"/>
                  <a:sym typeface="Calibri (MS)"/>
                </a:rPr>
                <a:t>validator</a:t>
              </a:r>
            </a:p>
          </p:txBody>
        </p:sp>
      </p:grpSp>
      <p:sp>
        <p:nvSpPr>
          <p:cNvPr name="AutoShape 31" id="31"/>
          <p:cNvSpPr/>
          <p:nvPr/>
        </p:nvSpPr>
        <p:spPr>
          <a:xfrm flipV="true">
            <a:off x="6040755" y="4937760"/>
            <a:ext cx="358902" cy="0"/>
          </a:xfrm>
          <a:prstGeom prst="line">
            <a:avLst/>
          </a:prstGeom>
          <a:ln cap="rnd" w="19050">
            <a:solidFill>
              <a:srgbClr val="6E84A6"/>
            </a:solidFill>
            <a:prstDash val="solid"/>
            <a:headEnd type="none" len="sm" w="sm"/>
            <a:tailEnd type="triangle" len="med" w="lg"/>
          </a:ln>
        </p:spPr>
      </p:sp>
      <p:grpSp>
        <p:nvGrpSpPr>
          <p:cNvPr name="Group 32" id="32"/>
          <p:cNvGrpSpPr/>
          <p:nvPr/>
        </p:nvGrpSpPr>
        <p:grpSpPr>
          <a:xfrm rot="0">
            <a:off x="6402705" y="3556635"/>
            <a:ext cx="2556510" cy="2762250"/>
            <a:chOff x="0" y="0"/>
            <a:chExt cx="3408680" cy="3683000"/>
          </a:xfrm>
        </p:grpSpPr>
        <p:sp>
          <p:nvSpPr>
            <p:cNvPr name="Freeform 33" id="33"/>
            <p:cNvSpPr/>
            <p:nvPr/>
          </p:nvSpPr>
          <p:spPr>
            <a:xfrm flipH="false" flipV="false" rot="0">
              <a:off x="0" y="0"/>
              <a:ext cx="3408680" cy="3683000"/>
            </a:xfrm>
            <a:custGeom>
              <a:avLst/>
              <a:gdLst/>
              <a:ahLst/>
              <a:cxnLst/>
              <a:rect r="r" b="b" t="t" l="l"/>
              <a:pathLst>
                <a:path h="3683000" w="3408680">
                  <a:moveTo>
                    <a:pt x="0" y="147447"/>
                  </a:moveTo>
                  <a:cubicBezTo>
                    <a:pt x="0" y="66040"/>
                    <a:pt x="66040" y="0"/>
                    <a:pt x="147447" y="0"/>
                  </a:cubicBezTo>
                  <a:lnTo>
                    <a:pt x="3261233" y="0"/>
                  </a:lnTo>
                  <a:cubicBezTo>
                    <a:pt x="3342640" y="0"/>
                    <a:pt x="3408680" y="66040"/>
                    <a:pt x="3408680" y="147447"/>
                  </a:cubicBezTo>
                  <a:lnTo>
                    <a:pt x="3408680" y="3535553"/>
                  </a:lnTo>
                  <a:cubicBezTo>
                    <a:pt x="3408680" y="3616960"/>
                    <a:pt x="3342640" y="3683000"/>
                    <a:pt x="3261233" y="3683000"/>
                  </a:cubicBezTo>
                  <a:lnTo>
                    <a:pt x="147447" y="3683000"/>
                  </a:lnTo>
                  <a:cubicBezTo>
                    <a:pt x="66040" y="3683000"/>
                    <a:pt x="0" y="3616960"/>
                    <a:pt x="0" y="3535553"/>
                  </a:cubicBezTo>
                  <a:close/>
                </a:path>
              </a:pathLst>
            </a:custGeom>
            <a:solidFill>
              <a:srgbClr val="0F2038"/>
            </a:solidFill>
            <a:ln w="19050" cap="sq">
              <a:solidFill>
                <a:srgbClr val="1E3358"/>
              </a:solidFill>
              <a:prstDash val="solid"/>
              <a:miter/>
            </a:ln>
          </p:spPr>
        </p:sp>
      </p:grpSp>
      <p:grpSp>
        <p:nvGrpSpPr>
          <p:cNvPr name="Group 34" id="34"/>
          <p:cNvGrpSpPr/>
          <p:nvPr/>
        </p:nvGrpSpPr>
        <p:grpSpPr>
          <a:xfrm rot="0">
            <a:off x="6521958" y="3867912"/>
            <a:ext cx="2318004" cy="1028700"/>
            <a:chOff x="0" y="0"/>
            <a:chExt cx="3090672" cy="1371600"/>
          </a:xfrm>
        </p:grpSpPr>
        <p:sp>
          <p:nvSpPr>
            <p:cNvPr name="Freeform 35" id="35"/>
            <p:cNvSpPr/>
            <p:nvPr/>
          </p:nvSpPr>
          <p:spPr>
            <a:xfrm flipH="false" flipV="false" rot="0">
              <a:off x="0" y="0"/>
              <a:ext cx="3090672" cy="1371600"/>
            </a:xfrm>
            <a:custGeom>
              <a:avLst/>
              <a:gdLst/>
              <a:ahLst/>
              <a:cxnLst/>
              <a:rect r="r" b="b" t="t" l="l"/>
              <a:pathLst>
                <a:path h="1371600" w="3090672">
                  <a:moveTo>
                    <a:pt x="0" y="0"/>
                  </a:moveTo>
                  <a:lnTo>
                    <a:pt x="3090672" y="0"/>
                  </a:lnTo>
                  <a:lnTo>
                    <a:pt x="3090672" y="1371600"/>
                  </a:lnTo>
                  <a:lnTo>
                    <a:pt x="0" y="1371600"/>
                  </a:lnTo>
                  <a:close/>
                </a:path>
              </a:pathLst>
            </a:custGeom>
            <a:blipFill>
              <a:blip r:embed="rId2">
                <a:alphaModFix amt="0"/>
              </a:blip>
              <a:stretch>
                <a:fillRect l="-6939" t="0" r="-6939" b="0"/>
              </a:stretch>
            </a:blipFill>
          </p:spPr>
        </p:sp>
        <p:sp>
          <p:nvSpPr>
            <p:cNvPr name="TextBox 36" id="36"/>
            <p:cNvSpPr txBox="true"/>
            <p:nvPr/>
          </p:nvSpPr>
          <p:spPr>
            <a:xfrm>
              <a:off x="0" y="-38100"/>
              <a:ext cx="3090672" cy="1409700"/>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Feature</a:t>
              </a:r>
            </a:p>
            <a:p>
              <a:pPr algn="ctr">
                <a:lnSpc>
                  <a:spcPts val="2250"/>
                </a:lnSpc>
              </a:pPr>
              <a:r>
                <a:rPr lang="en-US" sz="1875" b="true">
                  <a:solidFill>
                    <a:srgbClr val="FFFFFF"/>
                  </a:solidFill>
                  <a:latin typeface="Calibri (MS) Bold"/>
                  <a:ea typeface="Calibri (MS) Bold"/>
                  <a:cs typeface="Calibri (MS) Bold"/>
                  <a:sym typeface="Calibri (MS) Bold"/>
                </a:rPr>
                <a:t>Processing</a:t>
              </a:r>
            </a:p>
          </p:txBody>
        </p:sp>
      </p:grpSp>
      <p:grpSp>
        <p:nvGrpSpPr>
          <p:cNvPr name="Group 37" id="37"/>
          <p:cNvGrpSpPr/>
          <p:nvPr/>
        </p:nvGrpSpPr>
        <p:grpSpPr>
          <a:xfrm rot="0">
            <a:off x="6521958" y="5143500"/>
            <a:ext cx="2318004" cy="960120"/>
            <a:chOff x="0" y="0"/>
            <a:chExt cx="3090672" cy="1280160"/>
          </a:xfrm>
        </p:grpSpPr>
        <p:sp>
          <p:nvSpPr>
            <p:cNvPr name="Freeform 38" id="38"/>
            <p:cNvSpPr/>
            <p:nvPr/>
          </p:nvSpPr>
          <p:spPr>
            <a:xfrm flipH="false" flipV="false" rot="0">
              <a:off x="0" y="0"/>
              <a:ext cx="3090672" cy="1280160"/>
            </a:xfrm>
            <a:custGeom>
              <a:avLst/>
              <a:gdLst/>
              <a:ahLst/>
              <a:cxnLst/>
              <a:rect r="r" b="b" t="t" l="l"/>
              <a:pathLst>
                <a:path h="1280160" w="3090672">
                  <a:moveTo>
                    <a:pt x="0" y="0"/>
                  </a:moveTo>
                  <a:lnTo>
                    <a:pt x="3090672" y="0"/>
                  </a:lnTo>
                  <a:lnTo>
                    <a:pt x="3090672" y="1280160"/>
                  </a:lnTo>
                  <a:lnTo>
                    <a:pt x="0" y="1280160"/>
                  </a:lnTo>
                  <a:close/>
                </a:path>
              </a:pathLst>
            </a:custGeom>
            <a:blipFill>
              <a:blip r:embed="rId2">
                <a:alphaModFix amt="0"/>
              </a:blip>
              <a:stretch>
                <a:fillRect l="-3143" t="0" r="-3143" b="0"/>
              </a:stretch>
            </a:blipFill>
          </p:spPr>
        </p:sp>
        <p:sp>
          <p:nvSpPr>
            <p:cNvPr name="TextBox 39" id="39"/>
            <p:cNvSpPr txBox="true"/>
            <p:nvPr/>
          </p:nvSpPr>
          <p:spPr>
            <a:xfrm>
              <a:off x="0" y="-38100"/>
              <a:ext cx="3090672" cy="1318260"/>
            </a:xfrm>
            <a:prstGeom prst="rect">
              <a:avLst/>
            </a:prstGeom>
          </p:spPr>
          <p:txBody>
            <a:bodyPr anchor="ctr" rtlCol="false" tIns="0" lIns="0" bIns="0" rIns="0"/>
            <a:lstStyle/>
            <a:p>
              <a:pPr algn="ctr">
                <a:lnSpc>
                  <a:spcPts val="1800"/>
                </a:lnSpc>
              </a:pPr>
              <a:r>
                <a:rPr lang="en-US" sz="1500">
                  <a:solidFill>
                    <a:srgbClr val="00E5C7"/>
                  </a:solidFill>
                  <a:latin typeface="Calibri (MS)"/>
                  <a:ea typeface="Calibri (MS)"/>
                  <a:cs typeface="Calibri (MS)"/>
                  <a:sym typeface="Calibri (MS)"/>
                </a:rPr>
                <a:t>33 curated</a:t>
              </a:r>
            </a:p>
            <a:p>
              <a:pPr algn="ctr">
                <a:lnSpc>
                  <a:spcPts val="1800"/>
                </a:lnSpc>
              </a:pPr>
              <a:r>
                <a:rPr lang="en-US" sz="1500">
                  <a:solidFill>
                    <a:srgbClr val="00E5C7"/>
                  </a:solidFill>
                  <a:latin typeface="Calibri (MS)"/>
                  <a:ea typeface="Calibri (MS)"/>
                  <a:cs typeface="Calibri (MS)"/>
                  <a:sym typeface="Calibri (MS)"/>
                </a:rPr>
                <a:t>features</a:t>
              </a:r>
            </a:p>
          </p:txBody>
        </p:sp>
      </p:grpSp>
      <p:sp>
        <p:nvSpPr>
          <p:cNvPr name="AutoShape 40" id="40"/>
          <p:cNvSpPr/>
          <p:nvPr/>
        </p:nvSpPr>
        <p:spPr>
          <a:xfrm>
            <a:off x="8962263" y="4937760"/>
            <a:ext cx="358902" cy="0"/>
          </a:xfrm>
          <a:prstGeom prst="line">
            <a:avLst/>
          </a:prstGeom>
          <a:ln cap="rnd" w="19050">
            <a:solidFill>
              <a:srgbClr val="6E84A6"/>
            </a:solidFill>
            <a:prstDash val="solid"/>
            <a:headEnd type="none" len="sm" w="sm"/>
            <a:tailEnd type="triangle" len="med" w="lg"/>
          </a:ln>
        </p:spPr>
      </p:sp>
      <p:grpSp>
        <p:nvGrpSpPr>
          <p:cNvPr name="Group 41" id="41"/>
          <p:cNvGrpSpPr/>
          <p:nvPr/>
        </p:nvGrpSpPr>
        <p:grpSpPr>
          <a:xfrm rot="0">
            <a:off x="9324213" y="3556635"/>
            <a:ext cx="2556510" cy="2762250"/>
            <a:chOff x="0" y="0"/>
            <a:chExt cx="3408680" cy="3683000"/>
          </a:xfrm>
        </p:grpSpPr>
        <p:sp>
          <p:nvSpPr>
            <p:cNvPr name="Freeform 42" id="42"/>
            <p:cNvSpPr/>
            <p:nvPr/>
          </p:nvSpPr>
          <p:spPr>
            <a:xfrm flipH="false" flipV="false" rot="0">
              <a:off x="0" y="0"/>
              <a:ext cx="3408680" cy="3683000"/>
            </a:xfrm>
            <a:custGeom>
              <a:avLst/>
              <a:gdLst/>
              <a:ahLst/>
              <a:cxnLst/>
              <a:rect r="r" b="b" t="t" l="l"/>
              <a:pathLst>
                <a:path h="3683000" w="3408680">
                  <a:moveTo>
                    <a:pt x="0" y="147447"/>
                  </a:moveTo>
                  <a:cubicBezTo>
                    <a:pt x="0" y="66040"/>
                    <a:pt x="66040" y="0"/>
                    <a:pt x="147447" y="0"/>
                  </a:cubicBezTo>
                  <a:lnTo>
                    <a:pt x="3261233" y="0"/>
                  </a:lnTo>
                  <a:cubicBezTo>
                    <a:pt x="3342640" y="0"/>
                    <a:pt x="3408680" y="66040"/>
                    <a:pt x="3408680" y="147447"/>
                  </a:cubicBezTo>
                  <a:lnTo>
                    <a:pt x="3408680" y="3535553"/>
                  </a:lnTo>
                  <a:cubicBezTo>
                    <a:pt x="3408680" y="3616960"/>
                    <a:pt x="3342640" y="3683000"/>
                    <a:pt x="3261233" y="3683000"/>
                  </a:cubicBezTo>
                  <a:lnTo>
                    <a:pt x="147447" y="3683000"/>
                  </a:lnTo>
                  <a:cubicBezTo>
                    <a:pt x="66040" y="3683000"/>
                    <a:pt x="0" y="3616960"/>
                    <a:pt x="0" y="3535553"/>
                  </a:cubicBezTo>
                  <a:close/>
                </a:path>
              </a:pathLst>
            </a:custGeom>
            <a:solidFill>
              <a:srgbClr val="12324A"/>
            </a:solidFill>
            <a:ln w="19050" cap="sq">
              <a:solidFill>
                <a:srgbClr val="00E5C7"/>
              </a:solidFill>
              <a:prstDash val="solid"/>
              <a:miter/>
            </a:ln>
          </p:spPr>
        </p:sp>
      </p:grpSp>
      <p:grpSp>
        <p:nvGrpSpPr>
          <p:cNvPr name="Group 43" id="43"/>
          <p:cNvGrpSpPr/>
          <p:nvPr/>
        </p:nvGrpSpPr>
        <p:grpSpPr>
          <a:xfrm rot="0">
            <a:off x="9443466" y="3867912"/>
            <a:ext cx="2318004" cy="1028700"/>
            <a:chOff x="0" y="0"/>
            <a:chExt cx="3090672" cy="1371600"/>
          </a:xfrm>
        </p:grpSpPr>
        <p:sp>
          <p:nvSpPr>
            <p:cNvPr name="Freeform 44" id="44"/>
            <p:cNvSpPr/>
            <p:nvPr/>
          </p:nvSpPr>
          <p:spPr>
            <a:xfrm flipH="false" flipV="false" rot="0">
              <a:off x="0" y="0"/>
              <a:ext cx="3090672" cy="1371600"/>
            </a:xfrm>
            <a:custGeom>
              <a:avLst/>
              <a:gdLst/>
              <a:ahLst/>
              <a:cxnLst/>
              <a:rect r="r" b="b" t="t" l="l"/>
              <a:pathLst>
                <a:path h="1371600" w="3090672">
                  <a:moveTo>
                    <a:pt x="0" y="0"/>
                  </a:moveTo>
                  <a:lnTo>
                    <a:pt x="3090672" y="0"/>
                  </a:lnTo>
                  <a:lnTo>
                    <a:pt x="3090672" y="1371600"/>
                  </a:lnTo>
                  <a:lnTo>
                    <a:pt x="0" y="1371600"/>
                  </a:lnTo>
                  <a:close/>
                </a:path>
              </a:pathLst>
            </a:custGeom>
            <a:blipFill>
              <a:blip r:embed="rId2">
                <a:alphaModFix amt="0"/>
              </a:blip>
              <a:stretch>
                <a:fillRect l="-6939" t="0" r="-6939" b="0"/>
              </a:stretch>
            </a:blipFill>
          </p:spPr>
        </p:sp>
        <p:sp>
          <p:nvSpPr>
            <p:cNvPr name="TextBox 45" id="45"/>
            <p:cNvSpPr txBox="true"/>
            <p:nvPr/>
          </p:nvSpPr>
          <p:spPr>
            <a:xfrm>
              <a:off x="0" y="-38100"/>
              <a:ext cx="3090672" cy="1409700"/>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ML</a:t>
              </a:r>
            </a:p>
            <a:p>
              <a:pPr algn="ctr">
                <a:lnSpc>
                  <a:spcPts val="2250"/>
                </a:lnSpc>
              </a:pPr>
              <a:r>
                <a:rPr lang="en-US" sz="1875" b="true">
                  <a:solidFill>
                    <a:srgbClr val="FFFFFF"/>
                  </a:solidFill>
                  <a:latin typeface="Calibri (MS) Bold"/>
                  <a:ea typeface="Calibri (MS) Bold"/>
                  <a:cs typeface="Calibri (MS) Bold"/>
                  <a:sym typeface="Calibri (MS) Bold"/>
                </a:rPr>
                <a:t>Inference</a:t>
              </a:r>
            </a:p>
          </p:txBody>
        </p:sp>
      </p:grpSp>
      <p:grpSp>
        <p:nvGrpSpPr>
          <p:cNvPr name="Group 46" id="46"/>
          <p:cNvGrpSpPr/>
          <p:nvPr/>
        </p:nvGrpSpPr>
        <p:grpSpPr>
          <a:xfrm rot="0">
            <a:off x="9443466" y="5143500"/>
            <a:ext cx="2318004" cy="960120"/>
            <a:chOff x="0" y="0"/>
            <a:chExt cx="3090672" cy="1280160"/>
          </a:xfrm>
        </p:grpSpPr>
        <p:sp>
          <p:nvSpPr>
            <p:cNvPr name="Freeform 47" id="47"/>
            <p:cNvSpPr/>
            <p:nvPr/>
          </p:nvSpPr>
          <p:spPr>
            <a:xfrm flipH="false" flipV="false" rot="0">
              <a:off x="0" y="0"/>
              <a:ext cx="3090672" cy="1280160"/>
            </a:xfrm>
            <a:custGeom>
              <a:avLst/>
              <a:gdLst/>
              <a:ahLst/>
              <a:cxnLst/>
              <a:rect r="r" b="b" t="t" l="l"/>
              <a:pathLst>
                <a:path h="1280160" w="3090672">
                  <a:moveTo>
                    <a:pt x="0" y="0"/>
                  </a:moveTo>
                  <a:lnTo>
                    <a:pt x="3090672" y="0"/>
                  </a:lnTo>
                  <a:lnTo>
                    <a:pt x="3090672" y="1280160"/>
                  </a:lnTo>
                  <a:lnTo>
                    <a:pt x="0" y="1280160"/>
                  </a:lnTo>
                  <a:close/>
                </a:path>
              </a:pathLst>
            </a:custGeom>
            <a:blipFill>
              <a:blip r:embed="rId2">
                <a:alphaModFix amt="0"/>
              </a:blip>
              <a:stretch>
                <a:fillRect l="-3143" t="0" r="-3143" b="0"/>
              </a:stretch>
            </a:blipFill>
          </p:spPr>
        </p:sp>
        <p:sp>
          <p:nvSpPr>
            <p:cNvPr name="TextBox 48" id="48"/>
            <p:cNvSpPr txBox="true"/>
            <p:nvPr/>
          </p:nvSpPr>
          <p:spPr>
            <a:xfrm>
              <a:off x="0" y="-38100"/>
              <a:ext cx="3090672" cy="1318260"/>
            </a:xfrm>
            <a:prstGeom prst="rect">
              <a:avLst/>
            </a:prstGeom>
          </p:spPr>
          <p:txBody>
            <a:bodyPr anchor="ctr" rtlCol="false" tIns="0" lIns="0" bIns="0" rIns="0"/>
            <a:lstStyle/>
            <a:p>
              <a:pPr algn="ctr">
                <a:lnSpc>
                  <a:spcPts val="1800"/>
                </a:lnSpc>
              </a:pPr>
              <a:r>
                <a:rPr lang="en-US" sz="1500">
                  <a:solidFill>
                    <a:srgbClr val="00E5C7"/>
                  </a:solidFill>
                  <a:latin typeface="Calibri (MS)"/>
                  <a:ea typeface="Calibri (MS)"/>
                  <a:cs typeface="Calibri (MS)"/>
                  <a:sym typeface="Calibri (MS)"/>
                </a:rPr>
                <a:t>XGBoost +</a:t>
              </a:r>
            </a:p>
            <a:p>
              <a:pPr algn="ctr">
                <a:lnSpc>
                  <a:spcPts val="1800"/>
                </a:lnSpc>
              </a:pPr>
              <a:r>
                <a:rPr lang="en-US" sz="1500">
                  <a:solidFill>
                    <a:srgbClr val="00E5C7"/>
                  </a:solidFill>
                  <a:latin typeface="Calibri (MS)"/>
                  <a:ea typeface="Calibri (MS)"/>
                  <a:cs typeface="Calibri (MS)"/>
                  <a:sym typeface="Calibri (MS)"/>
                </a:rPr>
                <a:t>MLflow</a:t>
              </a:r>
            </a:p>
          </p:txBody>
        </p:sp>
      </p:grpSp>
      <p:sp>
        <p:nvSpPr>
          <p:cNvPr name="AutoShape 49" id="49"/>
          <p:cNvSpPr/>
          <p:nvPr/>
        </p:nvSpPr>
        <p:spPr>
          <a:xfrm>
            <a:off x="11883771" y="4937760"/>
            <a:ext cx="358902" cy="0"/>
          </a:xfrm>
          <a:prstGeom prst="line">
            <a:avLst/>
          </a:prstGeom>
          <a:ln cap="rnd" w="19050">
            <a:solidFill>
              <a:srgbClr val="6E84A6"/>
            </a:solidFill>
            <a:prstDash val="solid"/>
            <a:headEnd type="none" len="sm" w="sm"/>
            <a:tailEnd type="triangle" len="med" w="lg"/>
          </a:ln>
        </p:spPr>
      </p:sp>
      <p:grpSp>
        <p:nvGrpSpPr>
          <p:cNvPr name="Group 50" id="50"/>
          <p:cNvGrpSpPr/>
          <p:nvPr/>
        </p:nvGrpSpPr>
        <p:grpSpPr>
          <a:xfrm rot="0">
            <a:off x="12245721" y="3556635"/>
            <a:ext cx="2556510" cy="2762250"/>
            <a:chOff x="0" y="0"/>
            <a:chExt cx="3408680" cy="3683000"/>
          </a:xfrm>
        </p:grpSpPr>
        <p:sp>
          <p:nvSpPr>
            <p:cNvPr name="Freeform 51" id="51"/>
            <p:cNvSpPr/>
            <p:nvPr/>
          </p:nvSpPr>
          <p:spPr>
            <a:xfrm flipH="false" flipV="false" rot="0">
              <a:off x="0" y="0"/>
              <a:ext cx="3408680" cy="3683000"/>
            </a:xfrm>
            <a:custGeom>
              <a:avLst/>
              <a:gdLst/>
              <a:ahLst/>
              <a:cxnLst/>
              <a:rect r="r" b="b" t="t" l="l"/>
              <a:pathLst>
                <a:path h="3683000" w="3408680">
                  <a:moveTo>
                    <a:pt x="0" y="147447"/>
                  </a:moveTo>
                  <a:cubicBezTo>
                    <a:pt x="0" y="66040"/>
                    <a:pt x="66040" y="0"/>
                    <a:pt x="147447" y="0"/>
                  </a:cubicBezTo>
                  <a:lnTo>
                    <a:pt x="3261233" y="0"/>
                  </a:lnTo>
                  <a:cubicBezTo>
                    <a:pt x="3342640" y="0"/>
                    <a:pt x="3408680" y="66040"/>
                    <a:pt x="3408680" y="147447"/>
                  </a:cubicBezTo>
                  <a:lnTo>
                    <a:pt x="3408680" y="3535553"/>
                  </a:lnTo>
                  <a:cubicBezTo>
                    <a:pt x="3408680" y="3616960"/>
                    <a:pt x="3342640" y="3683000"/>
                    <a:pt x="3261233" y="3683000"/>
                  </a:cubicBezTo>
                  <a:lnTo>
                    <a:pt x="147447" y="3683000"/>
                  </a:lnTo>
                  <a:cubicBezTo>
                    <a:pt x="66040" y="3683000"/>
                    <a:pt x="0" y="3616960"/>
                    <a:pt x="0" y="3535553"/>
                  </a:cubicBezTo>
                  <a:close/>
                </a:path>
              </a:pathLst>
            </a:custGeom>
            <a:solidFill>
              <a:srgbClr val="0F2038"/>
            </a:solidFill>
            <a:ln w="19050" cap="sq">
              <a:solidFill>
                <a:srgbClr val="1E3358"/>
              </a:solidFill>
              <a:prstDash val="solid"/>
              <a:miter/>
            </a:ln>
          </p:spPr>
        </p:sp>
      </p:grpSp>
      <p:grpSp>
        <p:nvGrpSpPr>
          <p:cNvPr name="Group 52" id="52"/>
          <p:cNvGrpSpPr/>
          <p:nvPr/>
        </p:nvGrpSpPr>
        <p:grpSpPr>
          <a:xfrm rot="0">
            <a:off x="12364974" y="3867912"/>
            <a:ext cx="2318004" cy="1028700"/>
            <a:chOff x="0" y="0"/>
            <a:chExt cx="3090672" cy="1371600"/>
          </a:xfrm>
        </p:grpSpPr>
        <p:sp>
          <p:nvSpPr>
            <p:cNvPr name="Freeform 53" id="53"/>
            <p:cNvSpPr/>
            <p:nvPr/>
          </p:nvSpPr>
          <p:spPr>
            <a:xfrm flipH="false" flipV="false" rot="0">
              <a:off x="0" y="0"/>
              <a:ext cx="3090672" cy="1371600"/>
            </a:xfrm>
            <a:custGeom>
              <a:avLst/>
              <a:gdLst/>
              <a:ahLst/>
              <a:cxnLst/>
              <a:rect r="r" b="b" t="t" l="l"/>
              <a:pathLst>
                <a:path h="1371600" w="3090672">
                  <a:moveTo>
                    <a:pt x="0" y="0"/>
                  </a:moveTo>
                  <a:lnTo>
                    <a:pt x="3090672" y="0"/>
                  </a:lnTo>
                  <a:lnTo>
                    <a:pt x="3090672" y="1371600"/>
                  </a:lnTo>
                  <a:lnTo>
                    <a:pt x="0" y="1371600"/>
                  </a:lnTo>
                  <a:close/>
                </a:path>
              </a:pathLst>
            </a:custGeom>
            <a:blipFill>
              <a:blip r:embed="rId2">
                <a:alphaModFix amt="0"/>
              </a:blip>
              <a:stretch>
                <a:fillRect l="-6939" t="0" r="-6939" b="0"/>
              </a:stretch>
            </a:blipFill>
          </p:spPr>
        </p:sp>
        <p:sp>
          <p:nvSpPr>
            <p:cNvPr name="TextBox 54" id="54"/>
            <p:cNvSpPr txBox="true"/>
            <p:nvPr/>
          </p:nvSpPr>
          <p:spPr>
            <a:xfrm>
              <a:off x="0" y="-38100"/>
              <a:ext cx="3090672" cy="1409700"/>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Backend /</a:t>
              </a:r>
            </a:p>
            <a:p>
              <a:pPr algn="ctr">
                <a:lnSpc>
                  <a:spcPts val="2250"/>
                </a:lnSpc>
              </a:pPr>
              <a:r>
                <a:rPr lang="en-US" sz="1875" b="true">
                  <a:solidFill>
                    <a:srgbClr val="FFFFFF"/>
                  </a:solidFill>
                  <a:latin typeface="Calibri (MS) Bold"/>
                  <a:ea typeface="Calibri (MS) Bold"/>
                  <a:cs typeface="Calibri (MS) Bold"/>
                  <a:sym typeface="Calibri (MS) Bold"/>
                </a:rPr>
                <a:t>UI</a:t>
              </a:r>
            </a:p>
          </p:txBody>
        </p:sp>
      </p:grpSp>
      <p:grpSp>
        <p:nvGrpSpPr>
          <p:cNvPr name="Group 55" id="55"/>
          <p:cNvGrpSpPr/>
          <p:nvPr/>
        </p:nvGrpSpPr>
        <p:grpSpPr>
          <a:xfrm rot="0">
            <a:off x="12364974" y="5143500"/>
            <a:ext cx="2318004" cy="960120"/>
            <a:chOff x="0" y="0"/>
            <a:chExt cx="3090672" cy="1280160"/>
          </a:xfrm>
        </p:grpSpPr>
        <p:sp>
          <p:nvSpPr>
            <p:cNvPr name="Freeform 56" id="56"/>
            <p:cNvSpPr/>
            <p:nvPr/>
          </p:nvSpPr>
          <p:spPr>
            <a:xfrm flipH="false" flipV="false" rot="0">
              <a:off x="0" y="0"/>
              <a:ext cx="3090672" cy="1280160"/>
            </a:xfrm>
            <a:custGeom>
              <a:avLst/>
              <a:gdLst/>
              <a:ahLst/>
              <a:cxnLst/>
              <a:rect r="r" b="b" t="t" l="l"/>
              <a:pathLst>
                <a:path h="1280160" w="3090672">
                  <a:moveTo>
                    <a:pt x="0" y="0"/>
                  </a:moveTo>
                  <a:lnTo>
                    <a:pt x="3090672" y="0"/>
                  </a:lnTo>
                  <a:lnTo>
                    <a:pt x="3090672" y="1280160"/>
                  </a:lnTo>
                  <a:lnTo>
                    <a:pt x="0" y="1280160"/>
                  </a:lnTo>
                  <a:close/>
                </a:path>
              </a:pathLst>
            </a:custGeom>
            <a:blipFill>
              <a:blip r:embed="rId2">
                <a:alphaModFix amt="0"/>
              </a:blip>
              <a:stretch>
                <a:fillRect l="-3143" t="0" r="-3143" b="0"/>
              </a:stretch>
            </a:blipFill>
          </p:spPr>
        </p:sp>
        <p:sp>
          <p:nvSpPr>
            <p:cNvPr name="TextBox 57" id="57"/>
            <p:cNvSpPr txBox="true"/>
            <p:nvPr/>
          </p:nvSpPr>
          <p:spPr>
            <a:xfrm>
              <a:off x="0" y="-38100"/>
              <a:ext cx="3090672" cy="1318260"/>
            </a:xfrm>
            <a:prstGeom prst="rect">
              <a:avLst/>
            </a:prstGeom>
          </p:spPr>
          <p:txBody>
            <a:bodyPr anchor="ctr" rtlCol="false" tIns="0" lIns="0" bIns="0" rIns="0"/>
            <a:lstStyle/>
            <a:p>
              <a:pPr algn="ctr">
                <a:lnSpc>
                  <a:spcPts val="1800"/>
                </a:lnSpc>
              </a:pPr>
              <a:r>
                <a:rPr lang="en-US" sz="1500">
                  <a:solidFill>
                    <a:srgbClr val="00E5C7"/>
                  </a:solidFill>
                  <a:latin typeface="Calibri (MS)"/>
                  <a:ea typeface="Calibri (MS)"/>
                  <a:cs typeface="Calibri (MS)"/>
                  <a:sym typeface="Calibri (MS)"/>
                </a:rPr>
                <a:t>FastAPI +</a:t>
              </a:r>
            </a:p>
            <a:p>
              <a:pPr algn="ctr">
                <a:lnSpc>
                  <a:spcPts val="1800"/>
                </a:lnSpc>
              </a:pPr>
              <a:r>
                <a:rPr lang="en-US" sz="1500">
                  <a:solidFill>
                    <a:srgbClr val="00E5C7"/>
                  </a:solidFill>
                  <a:latin typeface="Calibri (MS)"/>
                  <a:ea typeface="Calibri (MS)"/>
                  <a:cs typeface="Calibri (MS)"/>
                  <a:sym typeface="Calibri (MS)"/>
                </a:rPr>
                <a:t>React</a:t>
              </a:r>
            </a:p>
          </p:txBody>
        </p:sp>
      </p:grpSp>
      <p:sp>
        <p:nvSpPr>
          <p:cNvPr name="AutoShape 58" id="58"/>
          <p:cNvSpPr/>
          <p:nvPr/>
        </p:nvSpPr>
        <p:spPr>
          <a:xfrm flipV="true">
            <a:off x="14805319" y="4933967"/>
            <a:ext cx="358822" cy="7586"/>
          </a:xfrm>
          <a:prstGeom prst="line">
            <a:avLst/>
          </a:prstGeom>
          <a:ln cap="rnd" w="19050">
            <a:solidFill>
              <a:srgbClr val="6E84A6"/>
            </a:solidFill>
            <a:prstDash val="solid"/>
            <a:headEnd type="none" len="sm" w="sm"/>
            <a:tailEnd type="triangle" len="med" w="lg"/>
          </a:ln>
        </p:spPr>
      </p:sp>
      <p:grpSp>
        <p:nvGrpSpPr>
          <p:cNvPr name="Group 59" id="59"/>
          <p:cNvGrpSpPr/>
          <p:nvPr/>
        </p:nvGrpSpPr>
        <p:grpSpPr>
          <a:xfrm rot="0">
            <a:off x="15167229" y="3556635"/>
            <a:ext cx="2556510" cy="2762250"/>
            <a:chOff x="0" y="0"/>
            <a:chExt cx="3408680" cy="3683000"/>
          </a:xfrm>
        </p:grpSpPr>
        <p:sp>
          <p:nvSpPr>
            <p:cNvPr name="Freeform 60" id="60"/>
            <p:cNvSpPr/>
            <p:nvPr/>
          </p:nvSpPr>
          <p:spPr>
            <a:xfrm flipH="false" flipV="false" rot="0">
              <a:off x="0" y="0"/>
              <a:ext cx="3408680" cy="3683000"/>
            </a:xfrm>
            <a:custGeom>
              <a:avLst/>
              <a:gdLst/>
              <a:ahLst/>
              <a:cxnLst/>
              <a:rect r="r" b="b" t="t" l="l"/>
              <a:pathLst>
                <a:path h="3683000" w="3408680">
                  <a:moveTo>
                    <a:pt x="0" y="147447"/>
                  </a:moveTo>
                  <a:cubicBezTo>
                    <a:pt x="0" y="66040"/>
                    <a:pt x="66040" y="0"/>
                    <a:pt x="147447" y="0"/>
                  </a:cubicBezTo>
                  <a:lnTo>
                    <a:pt x="3261233" y="0"/>
                  </a:lnTo>
                  <a:cubicBezTo>
                    <a:pt x="3342640" y="0"/>
                    <a:pt x="3408680" y="66040"/>
                    <a:pt x="3408680" y="147447"/>
                  </a:cubicBezTo>
                  <a:lnTo>
                    <a:pt x="3408680" y="3535553"/>
                  </a:lnTo>
                  <a:cubicBezTo>
                    <a:pt x="3408680" y="3616960"/>
                    <a:pt x="3342640" y="3683000"/>
                    <a:pt x="3261233" y="3683000"/>
                  </a:cubicBezTo>
                  <a:lnTo>
                    <a:pt x="147447" y="3683000"/>
                  </a:lnTo>
                  <a:cubicBezTo>
                    <a:pt x="66040" y="3683000"/>
                    <a:pt x="0" y="3616960"/>
                    <a:pt x="0" y="3535553"/>
                  </a:cubicBezTo>
                  <a:close/>
                </a:path>
              </a:pathLst>
            </a:custGeom>
            <a:solidFill>
              <a:srgbClr val="0F2038"/>
            </a:solidFill>
            <a:ln w="19050" cap="sq">
              <a:solidFill>
                <a:srgbClr val="1E3358"/>
              </a:solidFill>
              <a:prstDash val="solid"/>
              <a:miter/>
            </a:ln>
          </p:spPr>
        </p:sp>
      </p:grpSp>
      <p:grpSp>
        <p:nvGrpSpPr>
          <p:cNvPr name="Group 61" id="61"/>
          <p:cNvGrpSpPr/>
          <p:nvPr/>
        </p:nvGrpSpPr>
        <p:grpSpPr>
          <a:xfrm rot="0">
            <a:off x="15286482" y="3867912"/>
            <a:ext cx="2318004" cy="1028700"/>
            <a:chOff x="0" y="0"/>
            <a:chExt cx="3090672" cy="1371600"/>
          </a:xfrm>
        </p:grpSpPr>
        <p:sp>
          <p:nvSpPr>
            <p:cNvPr name="Freeform 62" id="62"/>
            <p:cNvSpPr/>
            <p:nvPr/>
          </p:nvSpPr>
          <p:spPr>
            <a:xfrm flipH="false" flipV="false" rot="0">
              <a:off x="0" y="0"/>
              <a:ext cx="3090672" cy="1371600"/>
            </a:xfrm>
            <a:custGeom>
              <a:avLst/>
              <a:gdLst/>
              <a:ahLst/>
              <a:cxnLst/>
              <a:rect r="r" b="b" t="t" l="l"/>
              <a:pathLst>
                <a:path h="1371600" w="3090672">
                  <a:moveTo>
                    <a:pt x="0" y="0"/>
                  </a:moveTo>
                  <a:lnTo>
                    <a:pt x="3090672" y="0"/>
                  </a:lnTo>
                  <a:lnTo>
                    <a:pt x="3090672" y="1371600"/>
                  </a:lnTo>
                  <a:lnTo>
                    <a:pt x="0" y="1371600"/>
                  </a:lnTo>
                  <a:close/>
                </a:path>
              </a:pathLst>
            </a:custGeom>
            <a:blipFill>
              <a:blip r:embed="rId2">
                <a:alphaModFix amt="0"/>
              </a:blip>
              <a:stretch>
                <a:fillRect l="-6939" t="0" r="-6939" b="0"/>
              </a:stretch>
            </a:blipFill>
          </p:spPr>
        </p:sp>
        <p:sp>
          <p:nvSpPr>
            <p:cNvPr name="TextBox 63" id="63"/>
            <p:cNvSpPr txBox="true"/>
            <p:nvPr/>
          </p:nvSpPr>
          <p:spPr>
            <a:xfrm>
              <a:off x="0" y="-38100"/>
              <a:ext cx="3090672" cy="1409700"/>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Infra &amp;</a:t>
              </a:r>
            </a:p>
            <a:p>
              <a:pPr algn="ctr">
                <a:lnSpc>
                  <a:spcPts val="2250"/>
                </a:lnSpc>
              </a:pPr>
              <a:r>
                <a:rPr lang="en-US" sz="1875" b="true">
                  <a:solidFill>
                    <a:srgbClr val="FFFFFF"/>
                  </a:solidFill>
                  <a:latin typeface="Calibri (MS) Bold"/>
                  <a:ea typeface="Calibri (MS) Bold"/>
                  <a:cs typeface="Calibri (MS) Bold"/>
                  <a:sym typeface="Calibri (MS) Bold"/>
                </a:rPr>
                <a:t>Observability</a:t>
              </a:r>
            </a:p>
          </p:txBody>
        </p:sp>
      </p:grpSp>
      <p:grpSp>
        <p:nvGrpSpPr>
          <p:cNvPr name="Group 64" id="64"/>
          <p:cNvGrpSpPr/>
          <p:nvPr/>
        </p:nvGrpSpPr>
        <p:grpSpPr>
          <a:xfrm rot="0">
            <a:off x="15286482" y="5143500"/>
            <a:ext cx="2318004" cy="960120"/>
            <a:chOff x="0" y="0"/>
            <a:chExt cx="3090672" cy="1280160"/>
          </a:xfrm>
        </p:grpSpPr>
        <p:sp>
          <p:nvSpPr>
            <p:cNvPr name="Freeform 65" id="65"/>
            <p:cNvSpPr/>
            <p:nvPr/>
          </p:nvSpPr>
          <p:spPr>
            <a:xfrm flipH="false" flipV="false" rot="0">
              <a:off x="0" y="0"/>
              <a:ext cx="3090672" cy="1280160"/>
            </a:xfrm>
            <a:custGeom>
              <a:avLst/>
              <a:gdLst/>
              <a:ahLst/>
              <a:cxnLst/>
              <a:rect r="r" b="b" t="t" l="l"/>
              <a:pathLst>
                <a:path h="1280160" w="3090672">
                  <a:moveTo>
                    <a:pt x="0" y="0"/>
                  </a:moveTo>
                  <a:lnTo>
                    <a:pt x="3090672" y="0"/>
                  </a:lnTo>
                  <a:lnTo>
                    <a:pt x="3090672" y="1280160"/>
                  </a:lnTo>
                  <a:lnTo>
                    <a:pt x="0" y="1280160"/>
                  </a:lnTo>
                  <a:close/>
                </a:path>
              </a:pathLst>
            </a:custGeom>
            <a:blipFill>
              <a:blip r:embed="rId2">
                <a:alphaModFix amt="0"/>
              </a:blip>
              <a:stretch>
                <a:fillRect l="-3143" t="0" r="-3143" b="0"/>
              </a:stretch>
            </a:blipFill>
          </p:spPr>
        </p:sp>
        <p:sp>
          <p:nvSpPr>
            <p:cNvPr name="TextBox 66" id="66"/>
            <p:cNvSpPr txBox="true"/>
            <p:nvPr/>
          </p:nvSpPr>
          <p:spPr>
            <a:xfrm>
              <a:off x="0" y="-38100"/>
              <a:ext cx="3090672" cy="1318260"/>
            </a:xfrm>
            <a:prstGeom prst="rect">
              <a:avLst/>
            </a:prstGeom>
          </p:spPr>
          <p:txBody>
            <a:bodyPr anchor="ctr" rtlCol="false" tIns="0" lIns="0" bIns="0" rIns="0"/>
            <a:lstStyle/>
            <a:p>
              <a:pPr algn="ctr">
                <a:lnSpc>
                  <a:spcPts val="1800"/>
                </a:lnSpc>
              </a:pPr>
              <a:r>
                <a:rPr lang="en-US" sz="1500">
                  <a:solidFill>
                    <a:srgbClr val="00E5C7"/>
                  </a:solidFill>
                  <a:latin typeface="Calibri (MS)"/>
                  <a:ea typeface="Calibri (MS)"/>
                  <a:cs typeface="Calibri (MS)"/>
                  <a:sym typeface="Calibri (MS)"/>
                </a:rPr>
                <a:t>Docker +</a:t>
              </a:r>
            </a:p>
            <a:p>
              <a:pPr algn="ctr">
                <a:lnSpc>
                  <a:spcPts val="1800"/>
                </a:lnSpc>
              </a:pPr>
              <a:r>
                <a:rPr lang="en-US" sz="1500">
                  <a:solidFill>
                    <a:srgbClr val="00E5C7"/>
                  </a:solidFill>
                  <a:latin typeface="Calibri (MS)"/>
                  <a:ea typeface="Calibri (MS)"/>
                  <a:cs typeface="Calibri (MS)"/>
                  <a:sym typeface="Calibri (MS)"/>
                </a:rPr>
                <a:t>Prometheus</a:t>
              </a:r>
            </a:p>
          </p:txBody>
        </p:sp>
      </p:grpSp>
      <p:grpSp>
        <p:nvGrpSpPr>
          <p:cNvPr name="Group 67" id="67"/>
          <p:cNvGrpSpPr/>
          <p:nvPr/>
        </p:nvGrpSpPr>
        <p:grpSpPr>
          <a:xfrm rot="0">
            <a:off x="1645920" y="6995160"/>
            <a:ext cx="14950440" cy="1097280"/>
            <a:chOff x="0" y="0"/>
            <a:chExt cx="19933920" cy="1463040"/>
          </a:xfrm>
        </p:grpSpPr>
        <p:sp>
          <p:nvSpPr>
            <p:cNvPr name="Freeform 68" id="68"/>
            <p:cNvSpPr/>
            <p:nvPr/>
          </p:nvSpPr>
          <p:spPr>
            <a:xfrm flipH="false" flipV="false" rot="0">
              <a:off x="0" y="0"/>
              <a:ext cx="19933920" cy="1463040"/>
            </a:xfrm>
            <a:custGeom>
              <a:avLst/>
              <a:gdLst/>
              <a:ahLst/>
              <a:cxnLst/>
              <a:rect r="r" b="b" t="t" l="l"/>
              <a:pathLst>
                <a:path h="1463040" w="19933920">
                  <a:moveTo>
                    <a:pt x="0" y="0"/>
                  </a:moveTo>
                  <a:lnTo>
                    <a:pt x="19933920" y="0"/>
                  </a:lnTo>
                  <a:lnTo>
                    <a:pt x="19933920" y="1463040"/>
                  </a:lnTo>
                  <a:lnTo>
                    <a:pt x="0" y="1463040"/>
                  </a:lnTo>
                  <a:close/>
                </a:path>
              </a:pathLst>
            </a:custGeom>
            <a:blipFill>
              <a:blip r:embed="rId2">
                <a:alphaModFix amt="0"/>
              </a:blip>
              <a:stretch>
                <a:fillRect l="0" t="-215483" r="0" b="-215483"/>
              </a:stretch>
            </a:blipFill>
          </p:spPr>
        </p:sp>
        <p:sp>
          <p:nvSpPr>
            <p:cNvPr name="TextBox 69" id="69"/>
            <p:cNvSpPr txBox="true"/>
            <p:nvPr/>
          </p:nvSpPr>
          <p:spPr>
            <a:xfrm>
              <a:off x="0" y="-38100"/>
              <a:ext cx="19933920" cy="1501140"/>
            </a:xfrm>
            <a:prstGeom prst="rect">
              <a:avLst/>
            </a:prstGeom>
          </p:spPr>
          <p:txBody>
            <a:bodyPr anchor="ctr" rtlCol="false" tIns="0" lIns="0" bIns="0" rIns="0"/>
            <a:lstStyle/>
            <a:p>
              <a:pPr algn="ctr">
                <a:lnSpc>
                  <a:spcPts val="2250"/>
                </a:lnSpc>
              </a:pPr>
              <a:r>
                <a:rPr lang="en-US" sz="1875" i="true">
                  <a:solidFill>
                    <a:srgbClr val="9FB0C9"/>
                  </a:solidFill>
                  <a:latin typeface="Calibri (MS) Italics"/>
                  <a:ea typeface="Calibri (MS) Italics"/>
                  <a:cs typeface="Calibri (MS) Italics"/>
                  <a:sym typeface="Calibri (MS) Italics"/>
                </a:rPr>
                <a:t>End-to-end flow: les fichiers CSV bruts de CICIDS2017 sont transmis en continu, validés, transformés, évalués, exposés via une API et visualisés sur un tableau de bord en temps réel — chaque étape étant instrumentée et soumise à des contrôles de qualité.</a:t>
              </a:r>
            </a:p>
          </p:txBody>
        </p:sp>
      </p:grpSp>
      <p:grpSp>
        <p:nvGrpSpPr>
          <p:cNvPr name="Group 70" id="70"/>
          <p:cNvGrpSpPr/>
          <p:nvPr/>
        </p:nvGrpSpPr>
        <p:grpSpPr>
          <a:xfrm rot="0">
            <a:off x="3477768" y="8425815"/>
            <a:ext cx="2385060" cy="457962"/>
            <a:chOff x="0" y="0"/>
            <a:chExt cx="3180080" cy="610616"/>
          </a:xfrm>
        </p:grpSpPr>
        <p:sp>
          <p:nvSpPr>
            <p:cNvPr name="Freeform 71" id="71"/>
            <p:cNvSpPr/>
            <p:nvPr/>
          </p:nvSpPr>
          <p:spPr>
            <a:xfrm flipH="false" flipV="false" rot="0">
              <a:off x="0" y="0"/>
              <a:ext cx="3180080" cy="610616"/>
            </a:xfrm>
            <a:custGeom>
              <a:avLst/>
              <a:gdLst/>
              <a:ahLst/>
              <a:cxnLst/>
              <a:rect r="r" b="b" t="t" l="l"/>
              <a:pathLst>
                <a:path h="610616" w="3180080">
                  <a:moveTo>
                    <a:pt x="0" y="305308"/>
                  </a:moveTo>
                  <a:cubicBezTo>
                    <a:pt x="0" y="136652"/>
                    <a:pt x="136652" y="0"/>
                    <a:pt x="305308" y="0"/>
                  </a:cubicBezTo>
                  <a:lnTo>
                    <a:pt x="2874772" y="0"/>
                  </a:lnTo>
                  <a:cubicBezTo>
                    <a:pt x="3043428" y="0"/>
                    <a:pt x="3180080" y="136652"/>
                    <a:pt x="3180080" y="305308"/>
                  </a:cubicBezTo>
                  <a:cubicBezTo>
                    <a:pt x="3180080" y="473964"/>
                    <a:pt x="3043428" y="610616"/>
                    <a:pt x="2874772" y="610616"/>
                  </a:cubicBezTo>
                  <a:lnTo>
                    <a:pt x="305308" y="610616"/>
                  </a:lnTo>
                  <a:cubicBezTo>
                    <a:pt x="136652" y="610616"/>
                    <a:pt x="0" y="473964"/>
                    <a:pt x="0" y="305308"/>
                  </a:cubicBezTo>
                  <a:close/>
                </a:path>
              </a:pathLst>
            </a:custGeom>
            <a:solidFill>
              <a:srgbClr val="13294A"/>
            </a:solidFill>
            <a:ln w="19050" cap="sq">
              <a:solidFill>
                <a:srgbClr val="4C7CFF"/>
              </a:solidFill>
              <a:prstDash val="solid"/>
              <a:miter/>
            </a:ln>
          </p:spPr>
        </p:sp>
      </p:grpSp>
      <p:grpSp>
        <p:nvGrpSpPr>
          <p:cNvPr name="Group 72" id="72"/>
          <p:cNvGrpSpPr/>
          <p:nvPr/>
        </p:nvGrpSpPr>
        <p:grpSpPr>
          <a:xfrm rot="0">
            <a:off x="3487293" y="8421624"/>
            <a:ext cx="2366010" cy="466344"/>
            <a:chOff x="0" y="0"/>
            <a:chExt cx="3154680" cy="621792"/>
          </a:xfrm>
        </p:grpSpPr>
        <p:sp>
          <p:nvSpPr>
            <p:cNvPr name="Freeform 73" id="73"/>
            <p:cNvSpPr/>
            <p:nvPr/>
          </p:nvSpPr>
          <p:spPr>
            <a:xfrm flipH="false" flipV="false" rot="0">
              <a:off x="0" y="0"/>
              <a:ext cx="3154680" cy="621792"/>
            </a:xfrm>
            <a:custGeom>
              <a:avLst/>
              <a:gdLst/>
              <a:ahLst/>
              <a:cxnLst/>
              <a:rect r="r" b="b" t="t" l="l"/>
              <a:pathLst>
                <a:path h="621792" w="3154680">
                  <a:moveTo>
                    <a:pt x="0" y="0"/>
                  </a:moveTo>
                  <a:lnTo>
                    <a:pt x="3154680" y="0"/>
                  </a:lnTo>
                  <a:lnTo>
                    <a:pt x="3154680" y="621792"/>
                  </a:lnTo>
                  <a:lnTo>
                    <a:pt x="0" y="621792"/>
                  </a:lnTo>
                  <a:close/>
                </a:path>
              </a:pathLst>
            </a:custGeom>
            <a:blipFill>
              <a:blip r:embed="rId2">
                <a:alphaModFix amt="0"/>
              </a:blip>
              <a:stretch>
                <a:fillRect l="0" t="-48857" r="0" b="-48857"/>
              </a:stretch>
            </a:blipFill>
          </p:spPr>
        </p:sp>
        <p:sp>
          <p:nvSpPr>
            <p:cNvPr name="TextBox 74" id="74"/>
            <p:cNvSpPr txBox="true"/>
            <p:nvPr/>
          </p:nvSpPr>
          <p:spPr>
            <a:xfrm>
              <a:off x="0" y="-38100"/>
              <a:ext cx="3154680" cy="659892"/>
            </a:xfrm>
            <a:prstGeom prst="rect">
              <a:avLst/>
            </a:prstGeom>
          </p:spPr>
          <p:txBody>
            <a:bodyPr anchor="ctr" rtlCol="false" tIns="0" lIns="0" bIns="0" rIns="0"/>
            <a:lstStyle/>
            <a:p>
              <a:pPr algn="ctr">
                <a:lnSpc>
                  <a:spcPts val="1800"/>
                </a:lnSpc>
              </a:pPr>
              <a:r>
                <a:rPr lang="en-US" sz="1500" b="true">
                  <a:solidFill>
                    <a:srgbClr val="4C7CFF"/>
                  </a:solidFill>
                  <a:latin typeface="Calibri (MS) Bold"/>
                  <a:ea typeface="Calibri (MS) Bold"/>
                  <a:cs typeface="Calibri (MS) Bold"/>
                  <a:sym typeface="Calibri (MS) Bold"/>
                </a:rPr>
                <a:t>8 Docker services</a:t>
              </a:r>
            </a:p>
          </p:txBody>
        </p:sp>
      </p:grpSp>
      <p:grpSp>
        <p:nvGrpSpPr>
          <p:cNvPr name="Group 75" id="75"/>
          <p:cNvGrpSpPr/>
          <p:nvPr/>
        </p:nvGrpSpPr>
        <p:grpSpPr>
          <a:xfrm rot="0">
            <a:off x="6186678" y="8425815"/>
            <a:ext cx="2151888" cy="457962"/>
            <a:chOff x="0" y="0"/>
            <a:chExt cx="2869184" cy="610616"/>
          </a:xfrm>
        </p:grpSpPr>
        <p:sp>
          <p:nvSpPr>
            <p:cNvPr name="Freeform 76" id="76"/>
            <p:cNvSpPr/>
            <p:nvPr/>
          </p:nvSpPr>
          <p:spPr>
            <a:xfrm flipH="false" flipV="false" rot="0">
              <a:off x="0" y="0"/>
              <a:ext cx="2869184" cy="610616"/>
            </a:xfrm>
            <a:custGeom>
              <a:avLst/>
              <a:gdLst/>
              <a:ahLst/>
              <a:cxnLst/>
              <a:rect r="r" b="b" t="t" l="l"/>
              <a:pathLst>
                <a:path h="610616" w="2869184">
                  <a:moveTo>
                    <a:pt x="0" y="305308"/>
                  </a:moveTo>
                  <a:cubicBezTo>
                    <a:pt x="0" y="136652"/>
                    <a:pt x="136652" y="0"/>
                    <a:pt x="305308" y="0"/>
                  </a:cubicBezTo>
                  <a:lnTo>
                    <a:pt x="2563876" y="0"/>
                  </a:lnTo>
                  <a:cubicBezTo>
                    <a:pt x="2732532" y="0"/>
                    <a:pt x="2869184" y="136652"/>
                    <a:pt x="2869184" y="305308"/>
                  </a:cubicBezTo>
                  <a:cubicBezTo>
                    <a:pt x="2869184" y="473964"/>
                    <a:pt x="2732532" y="610616"/>
                    <a:pt x="2563876" y="610616"/>
                  </a:cubicBezTo>
                  <a:lnTo>
                    <a:pt x="305308" y="610616"/>
                  </a:lnTo>
                  <a:cubicBezTo>
                    <a:pt x="136652" y="610616"/>
                    <a:pt x="0" y="473964"/>
                    <a:pt x="0" y="305308"/>
                  </a:cubicBezTo>
                  <a:close/>
                </a:path>
              </a:pathLst>
            </a:custGeom>
            <a:solidFill>
              <a:srgbClr val="13294A"/>
            </a:solidFill>
            <a:ln w="19050" cap="sq">
              <a:solidFill>
                <a:srgbClr val="4C7CFF"/>
              </a:solidFill>
              <a:prstDash val="solid"/>
              <a:miter/>
            </a:ln>
          </p:spPr>
        </p:sp>
      </p:grpSp>
      <p:grpSp>
        <p:nvGrpSpPr>
          <p:cNvPr name="Group 77" id="77"/>
          <p:cNvGrpSpPr/>
          <p:nvPr/>
        </p:nvGrpSpPr>
        <p:grpSpPr>
          <a:xfrm rot="0">
            <a:off x="6196203" y="8421624"/>
            <a:ext cx="2132838" cy="466344"/>
            <a:chOff x="0" y="0"/>
            <a:chExt cx="2843784" cy="621792"/>
          </a:xfrm>
        </p:grpSpPr>
        <p:sp>
          <p:nvSpPr>
            <p:cNvPr name="Freeform 78" id="78"/>
            <p:cNvSpPr/>
            <p:nvPr/>
          </p:nvSpPr>
          <p:spPr>
            <a:xfrm flipH="false" flipV="false" rot="0">
              <a:off x="0" y="0"/>
              <a:ext cx="2843784" cy="621792"/>
            </a:xfrm>
            <a:custGeom>
              <a:avLst/>
              <a:gdLst/>
              <a:ahLst/>
              <a:cxnLst/>
              <a:rect r="r" b="b" t="t" l="l"/>
              <a:pathLst>
                <a:path h="621792" w="2843784">
                  <a:moveTo>
                    <a:pt x="0" y="0"/>
                  </a:moveTo>
                  <a:lnTo>
                    <a:pt x="2843784" y="0"/>
                  </a:lnTo>
                  <a:lnTo>
                    <a:pt x="2843784" y="621792"/>
                  </a:lnTo>
                  <a:lnTo>
                    <a:pt x="0" y="621792"/>
                  </a:lnTo>
                  <a:close/>
                </a:path>
              </a:pathLst>
            </a:custGeom>
            <a:blipFill>
              <a:blip r:embed="rId2">
                <a:alphaModFix amt="0"/>
              </a:blip>
              <a:stretch>
                <a:fillRect l="0" t="-39115" r="0" b="-39115"/>
              </a:stretch>
            </a:blipFill>
          </p:spPr>
        </p:sp>
        <p:sp>
          <p:nvSpPr>
            <p:cNvPr name="TextBox 79" id="79"/>
            <p:cNvSpPr txBox="true"/>
            <p:nvPr/>
          </p:nvSpPr>
          <p:spPr>
            <a:xfrm>
              <a:off x="0" y="-38100"/>
              <a:ext cx="2843784" cy="659892"/>
            </a:xfrm>
            <a:prstGeom prst="rect">
              <a:avLst/>
            </a:prstGeom>
          </p:spPr>
          <p:txBody>
            <a:bodyPr anchor="ctr" rtlCol="false" tIns="0" lIns="0" bIns="0" rIns="0"/>
            <a:lstStyle/>
            <a:p>
              <a:pPr algn="ctr">
                <a:lnSpc>
                  <a:spcPts val="1800"/>
                </a:lnSpc>
              </a:pPr>
              <a:r>
                <a:rPr lang="en-US" sz="1500" b="true">
                  <a:solidFill>
                    <a:srgbClr val="4C7CFF"/>
                  </a:solidFill>
                  <a:latin typeface="Calibri (MS) Bold"/>
                  <a:ea typeface="Calibri (MS) Bold"/>
                  <a:cs typeface="Calibri (MS) Bold"/>
                  <a:sym typeface="Calibri (MS) Bold"/>
                </a:rPr>
                <a:t>3 quality gates</a:t>
              </a:r>
            </a:p>
          </p:txBody>
        </p:sp>
      </p:grpSp>
      <p:grpSp>
        <p:nvGrpSpPr>
          <p:cNvPr name="Group 80" id="80"/>
          <p:cNvGrpSpPr/>
          <p:nvPr/>
        </p:nvGrpSpPr>
        <p:grpSpPr>
          <a:xfrm rot="0">
            <a:off x="8662416" y="8425815"/>
            <a:ext cx="2618232" cy="457962"/>
            <a:chOff x="0" y="0"/>
            <a:chExt cx="3490976" cy="610616"/>
          </a:xfrm>
        </p:grpSpPr>
        <p:sp>
          <p:nvSpPr>
            <p:cNvPr name="Freeform 81" id="81"/>
            <p:cNvSpPr/>
            <p:nvPr/>
          </p:nvSpPr>
          <p:spPr>
            <a:xfrm flipH="false" flipV="false" rot="0">
              <a:off x="0" y="0"/>
              <a:ext cx="3490976" cy="610616"/>
            </a:xfrm>
            <a:custGeom>
              <a:avLst/>
              <a:gdLst/>
              <a:ahLst/>
              <a:cxnLst/>
              <a:rect r="r" b="b" t="t" l="l"/>
              <a:pathLst>
                <a:path h="610616" w="3490976">
                  <a:moveTo>
                    <a:pt x="0" y="305308"/>
                  </a:moveTo>
                  <a:cubicBezTo>
                    <a:pt x="0" y="136652"/>
                    <a:pt x="136652" y="0"/>
                    <a:pt x="305308" y="0"/>
                  </a:cubicBezTo>
                  <a:lnTo>
                    <a:pt x="3185668" y="0"/>
                  </a:lnTo>
                  <a:cubicBezTo>
                    <a:pt x="3354324" y="0"/>
                    <a:pt x="3490976" y="136652"/>
                    <a:pt x="3490976" y="305308"/>
                  </a:cubicBezTo>
                  <a:cubicBezTo>
                    <a:pt x="3490976" y="473964"/>
                    <a:pt x="3354324" y="610616"/>
                    <a:pt x="3185668" y="610616"/>
                  </a:cubicBezTo>
                  <a:lnTo>
                    <a:pt x="305308" y="610616"/>
                  </a:lnTo>
                  <a:cubicBezTo>
                    <a:pt x="136652" y="610616"/>
                    <a:pt x="0" y="473964"/>
                    <a:pt x="0" y="305308"/>
                  </a:cubicBezTo>
                  <a:close/>
                </a:path>
              </a:pathLst>
            </a:custGeom>
            <a:solidFill>
              <a:srgbClr val="13294A"/>
            </a:solidFill>
            <a:ln w="19050" cap="sq">
              <a:solidFill>
                <a:srgbClr val="4C7CFF"/>
              </a:solidFill>
              <a:prstDash val="solid"/>
              <a:miter/>
            </a:ln>
          </p:spPr>
        </p:sp>
      </p:grpSp>
      <p:grpSp>
        <p:nvGrpSpPr>
          <p:cNvPr name="Group 82" id="82"/>
          <p:cNvGrpSpPr/>
          <p:nvPr/>
        </p:nvGrpSpPr>
        <p:grpSpPr>
          <a:xfrm rot="0">
            <a:off x="8671941" y="8421624"/>
            <a:ext cx="2599182" cy="466344"/>
            <a:chOff x="0" y="0"/>
            <a:chExt cx="3465576" cy="621792"/>
          </a:xfrm>
        </p:grpSpPr>
        <p:sp>
          <p:nvSpPr>
            <p:cNvPr name="Freeform 83" id="83"/>
            <p:cNvSpPr/>
            <p:nvPr/>
          </p:nvSpPr>
          <p:spPr>
            <a:xfrm flipH="false" flipV="false" rot="0">
              <a:off x="0" y="0"/>
              <a:ext cx="3465576" cy="621792"/>
            </a:xfrm>
            <a:custGeom>
              <a:avLst/>
              <a:gdLst/>
              <a:ahLst/>
              <a:cxnLst/>
              <a:rect r="r" b="b" t="t" l="l"/>
              <a:pathLst>
                <a:path h="621792" w="3465576">
                  <a:moveTo>
                    <a:pt x="0" y="0"/>
                  </a:moveTo>
                  <a:lnTo>
                    <a:pt x="3465576" y="0"/>
                  </a:lnTo>
                  <a:lnTo>
                    <a:pt x="3465576" y="621792"/>
                  </a:lnTo>
                  <a:lnTo>
                    <a:pt x="0" y="621792"/>
                  </a:lnTo>
                  <a:close/>
                </a:path>
              </a:pathLst>
            </a:custGeom>
            <a:blipFill>
              <a:blip r:embed="rId2">
                <a:alphaModFix amt="0"/>
              </a:blip>
              <a:stretch>
                <a:fillRect l="0" t="-58600" r="0" b="-58600"/>
              </a:stretch>
            </a:blipFill>
          </p:spPr>
        </p:sp>
        <p:sp>
          <p:nvSpPr>
            <p:cNvPr name="TextBox 84" id="84"/>
            <p:cNvSpPr txBox="true"/>
            <p:nvPr/>
          </p:nvSpPr>
          <p:spPr>
            <a:xfrm>
              <a:off x="0" y="-38100"/>
              <a:ext cx="3465576" cy="659892"/>
            </a:xfrm>
            <a:prstGeom prst="rect">
              <a:avLst/>
            </a:prstGeom>
          </p:spPr>
          <p:txBody>
            <a:bodyPr anchor="ctr" rtlCol="false" tIns="0" lIns="0" bIns="0" rIns="0"/>
            <a:lstStyle/>
            <a:p>
              <a:pPr algn="ctr">
                <a:lnSpc>
                  <a:spcPts val="1800"/>
                </a:lnSpc>
              </a:pPr>
              <a:r>
                <a:rPr lang="en-US" sz="1500" b="true">
                  <a:solidFill>
                    <a:srgbClr val="4C7CFF"/>
                  </a:solidFill>
                  <a:latin typeface="Calibri (MS) Bold"/>
                  <a:ea typeface="Calibri (MS) Bold"/>
                  <a:cs typeface="Calibri (MS) Bold"/>
                  <a:sym typeface="Calibri (MS) Bold"/>
                </a:rPr>
                <a:t>4 FastAPI endpoints</a:t>
              </a:r>
            </a:p>
          </p:txBody>
        </p:sp>
      </p:grpSp>
      <p:grpSp>
        <p:nvGrpSpPr>
          <p:cNvPr name="Group 85" id="85"/>
          <p:cNvGrpSpPr/>
          <p:nvPr/>
        </p:nvGrpSpPr>
        <p:grpSpPr>
          <a:xfrm rot="0">
            <a:off x="11604498" y="8425815"/>
            <a:ext cx="3201162" cy="457962"/>
            <a:chOff x="0" y="0"/>
            <a:chExt cx="4268216" cy="610616"/>
          </a:xfrm>
        </p:grpSpPr>
        <p:sp>
          <p:nvSpPr>
            <p:cNvPr name="Freeform 86" id="86"/>
            <p:cNvSpPr/>
            <p:nvPr/>
          </p:nvSpPr>
          <p:spPr>
            <a:xfrm flipH="false" flipV="false" rot="0">
              <a:off x="0" y="0"/>
              <a:ext cx="4268216" cy="610616"/>
            </a:xfrm>
            <a:custGeom>
              <a:avLst/>
              <a:gdLst/>
              <a:ahLst/>
              <a:cxnLst/>
              <a:rect r="r" b="b" t="t" l="l"/>
              <a:pathLst>
                <a:path h="610616" w="4268216">
                  <a:moveTo>
                    <a:pt x="0" y="305308"/>
                  </a:moveTo>
                  <a:cubicBezTo>
                    <a:pt x="0" y="136652"/>
                    <a:pt x="136652" y="0"/>
                    <a:pt x="305308" y="0"/>
                  </a:cubicBezTo>
                  <a:lnTo>
                    <a:pt x="3962908" y="0"/>
                  </a:lnTo>
                  <a:cubicBezTo>
                    <a:pt x="4131564" y="0"/>
                    <a:pt x="4268216" y="136652"/>
                    <a:pt x="4268216" y="305308"/>
                  </a:cubicBezTo>
                  <a:cubicBezTo>
                    <a:pt x="4268216" y="473964"/>
                    <a:pt x="4131564" y="610616"/>
                    <a:pt x="3962908" y="610616"/>
                  </a:cubicBezTo>
                  <a:lnTo>
                    <a:pt x="305308" y="610616"/>
                  </a:lnTo>
                  <a:cubicBezTo>
                    <a:pt x="136652" y="610616"/>
                    <a:pt x="0" y="473964"/>
                    <a:pt x="0" y="305308"/>
                  </a:cubicBezTo>
                  <a:close/>
                </a:path>
              </a:pathLst>
            </a:custGeom>
            <a:solidFill>
              <a:srgbClr val="13294A"/>
            </a:solidFill>
            <a:ln w="19050" cap="sq">
              <a:solidFill>
                <a:srgbClr val="4C7CFF"/>
              </a:solidFill>
              <a:prstDash val="solid"/>
              <a:miter/>
            </a:ln>
          </p:spPr>
        </p:sp>
      </p:grpSp>
      <p:grpSp>
        <p:nvGrpSpPr>
          <p:cNvPr name="Group 87" id="87"/>
          <p:cNvGrpSpPr/>
          <p:nvPr/>
        </p:nvGrpSpPr>
        <p:grpSpPr>
          <a:xfrm rot="0">
            <a:off x="11614023" y="8421624"/>
            <a:ext cx="3182112" cy="466344"/>
            <a:chOff x="0" y="0"/>
            <a:chExt cx="4242816" cy="621792"/>
          </a:xfrm>
        </p:grpSpPr>
        <p:sp>
          <p:nvSpPr>
            <p:cNvPr name="Freeform 88" id="88"/>
            <p:cNvSpPr/>
            <p:nvPr/>
          </p:nvSpPr>
          <p:spPr>
            <a:xfrm flipH="false" flipV="false" rot="0">
              <a:off x="0" y="0"/>
              <a:ext cx="4242816" cy="621792"/>
            </a:xfrm>
            <a:custGeom>
              <a:avLst/>
              <a:gdLst/>
              <a:ahLst/>
              <a:cxnLst/>
              <a:rect r="r" b="b" t="t" l="l"/>
              <a:pathLst>
                <a:path h="621792" w="4242816">
                  <a:moveTo>
                    <a:pt x="0" y="0"/>
                  </a:moveTo>
                  <a:lnTo>
                    <a:pt x="4242816" y="0"/>
                  </a:lnTo>
                  <a:lnTo>
                    <a:pt x="4242816" y="621792"/>
                  </a:lnTo>
                  <a:lnTo>
                    <a:pt x="0" y="621792"/>
                  </a:lnTo>
                  <a:close/>
                </a:path>
              </a:pathLst>
            </a:custGeom>
            <a:blipFill>
              <a:blip r:embed="rId2">
                <a:alphaModFix amt="0"/>
              </a:blip>
              <a:stretch>
                <a:fillRect l="0" t="-82956" r="0" b="-82956"/>
              </a:stretch>
            </a:blipFill>
          </p:spPr>
        </p:sp>
        <p:sp>
          <p:nvSpPr>
            <p:cNvPr name="TextBox 89" id="89"/>
            <p:cNvSpPr txBox="true"/>
            <p:nvPr/>
          </p:nvSpPr>
          <p:spPr>
            <a:xfrm>
              <a:off x="0" y="-38100"/>
              <a:ext cx="4242816" cy="659892"/>
            </a:xfrm>
            <a:prstGeom prst="rect">
              <a:avLst/>
            </a:prstGeom>
          </p:spPr>
          <p:txBody>
            <a:bodyPr anchor="ctr" rtlCol="false" tIns="0" lIns="0" bIns="0" rIns="0"/>
            <a:lstStyle/>
            <a:p>
              <a:pPr algn="ctr">
                <a:lnSpc>
                  <a:spcPts val="1800"/>
                </a:lnSpc>
              </a:pPr>
              <a:r>
                <a:rPr lang="en-US" sz="1500" b="true">
                  <a:solidFill>
                    <a:srgbClr val="4C7CFF"/>
                  </a:solidFill>
                  <a:latin typeface="Calibri (MS) Bold"/>
                  <a:ea typeface="Calibri (MS) Bold"/>
                  <a:cs typeface="Calibri (MS) Bold"/>
                  <a:sym typeface="Calibri (MS) Bold"/>
                </a:rPr>
                <a:t>Dagster-orchestrated DAG</a:t>
              </a:r>
            </a:p>
          </p:txBody>
        </p:sp>
      </p:grpSp>
      <p:grpSp>
        <p:nvGrpSpPr>
          <p:cNvPr name="Group 90" id="90"/>
          <p:cNvGrpSpPr/>
          <p:nvPr/>
        </p:nvGrpSpPr>
        <p:grpSpPr>
          <a:xfrm rot="0">
            <a:off x="685800" y="9710928"/>
            <a:ext cx="10972800" cy="411480"/>
            <a:chOff x="0" y="0"/>
            <a:chExt cx="14630400" cy="548640"/>
          </a:xfrm>
        </p:grpSpPr>
        <p:sp>
          <p:nvSpPr>
            <p:cNvPr name="Freeform 91" id="91"/>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92" id="92"/>
            <p:cNvSpPr txBox="true"/>
            <p:nvPr/>
          </p:nvSpPr>
          <p:spPr>
            <a:xfrm>
              <a:off x="0" y="-28575"/>
              <a:ext cx="14630400" cy="577215"/>
            </a:xfrm>
            <a:prstGeom prst="rect">
              <a:avLst/>
            </a:prstGeom>
          </p:spPr>
          <p:txBody>
            <a:bodyPr anchor="ctr" rtlCol="false" tIns="0" lIns="0" bIns="0" rIns="0"/>
            <a:lstStyle/>
            <a:p>
              <a:pPr algn="l">
                <a:lnSpc>
                  <a:spcPts val="1620"/>
                </a:lnSpc>
              </a:pPr>
              <a:r>
                <a:rPr lang="en-US" sz="1350" spc="149">
                  <a:solidFill>
                    <a:srgbClr val="6E84A6"/>
                  </a:solidFill>
                  <a:latin typeface="Calibri (MS)"/>
                  <a:ea typeface="Calibri (MS)"/>
                  <a:cs typeface="Calibri (MS)"/>
                  <a:sym typeface="Calibri (MS)"/>
                </a:rPr>
                <a:t>MLSECOPS PLATFORM · CONTEXT &amp; PROBLEM FRAMING</a:t>
              </a:r>
            </a:p>
          </p:txBody>
        </p:sp>
      </p:grpSp>
      <p:grpSp>
        <p:nvGrpSpPr>
          <p:cNvPr name="Group 93" id="93"/>
          <p:cNvGrpSpPr/>
          <p:nvPr/>
        </p:nvGrpSpPr>
        <p:grpSpPr>
          <a:xfrm rot="0">
            <a:off x="16500348" y="9710928"/>
            <a:ext cx="1097280" cy="411480"/>
            <a:chOff x="0" y="0"/>
            <a:chExt cx="1463040" cy="548640"/>
          </a:xfrm>
        </p:grpSpPr>
        <p:sp>
          <p:nvSpPr>
            <p:cNvPr name="Freeform 94" id="94"/>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95" id="95"/>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04 / 32</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AGILE GOVERNANCE</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2</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Oumaima El Habti — Scrum Master</a:t>
              </a:r>
            </a:p>
          </p:txBody>
        </p:sp>
      </p:grpSp>
      <p:grpSp>
        <p:nvGrpSpPr>
          <p:cNvPr name="Group 11" id="11"/>
          <p:cNvGrpSpPr/>
          <p:nvPr/>
        </p:nvGrpSpPr>
        <p:grpSpPr>
          <a:xfrm rot="0">
            <a:off x="813435" y="177201"/>
            <a:ext cx="16596360" cy="3516213"/>
            <a:chOff x="0" y="0"/>
            <a:chExt cx="22128480" cy="4688284"/>
          </a:xfrm>
        </p:grpSpPr>
        <p:sp>
          <p:nvSpPr>
            <p:cNvPr name="Freeform 12" id="12"/>
            <p:cNvSpPr/>
            <p:nvPr/>
          </p:nvSpPr>
          <p:spPr>
            <a:xfrm flipH="false" flipV="false" rot="0">
              <a:off x="0" y="0"/>
              <a:ext cx="22128480" cy="4688284"/>
            </a:xfrm>
            <a:custGeom>
              <a:avLst/>
              <a:gdLst/>
              <a:ahLst/>
              <a:cxnLst/>
              <a:rect r="r" b="b" t="t" l="l"/>
              <a:pathLst>
                <a:path h="4688284" w="22128480">
                  <a:moveTo>
                    <a:pt x="0" y="0"/>
                  </a:moveTo>
                  <a:lnTo>
                    <a:pt x="22128480" y="0"/>
                  </a:lnTo>
                  <a:lnTo>
                    <a:pt x="22128480" y="4688284"/>
                  </a:lnTo>
                  <a:lnTo>
                    <a:pt x="0" y="4688284"/>
                  </a:lnTo>
                  <a:close/>
                </a:path>
              </a:pathLst>
            </a:custGeom>
            <a:blipFill>
              <a:blip r:embed="rId2">
                <a:alphaModFix amt="0"/>
              </a:blip>
              <a:stretch>
                <a:fillRect l="0" t="-73439" r="0" b="-10497"/>
              </a:stretch>
            </a:blipFill>
          </p:spPr>
        </p:sp>
        <p:sp>
          <p:nvSpPr>
            <p:cNvPr name="TextBox 13" id="13"/>
            <p:cNvSpPr txBox="true"/>
            <p:nvPr/>
          </p:nvSpPr>
          <p:spPr>
            <a:xfrm>
              <a:off x="0" y="-9525"/>
              <a:ext cx="22128480" cy="4697809"/>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Cadre </a:t>
              </a:r>
              <a:r>
                <a:rPr lang="en-US" sz="4800" b="true">
                  <a:solidFill>
                    <a:srgbClr val="FFFFFF"/>
                  </a:solidFill>
                  <a:latin typeface="Cambria Bold"/>
                  <a:ea typeface="Cambria Bold"/>
                  <a:cs typeface="Cambria Bold"/>
                  <a:sym typeface="Cambria Bold"/>
                </a:rPr>
                <a:t>Agile &amp; Dynamique d'Équipe</a:t>
              </a:r>
            </a:p>
          </p:txBody>
        </p:sp>
      </p:grpSp>
      <p:grpSp>
        <p:nvGrpSpPr>
          <p:cNvPr name="Group 14" id="14"/>
          <p:cNvGrpSpPr/>
          <p:nvPr/>
        </p:nvGrpSpPr>
        <p:grpSpPr>
          <a:xfrm rot="0">
            <a:off x="822960" y="2400300"/>
            <a:ext cx="10149840" cy="822960"/>
            <a:chOff x="0" y="0"/>
            <a:chExt cx="13533120" cy="1097280"/>
          </a:xfrm>
        </p:grpSpPr>
        <p:sp>
          <p:nvSpPr>
            <p:cNvPr name="Freeform 15" id="15"/>
            <p:cNvSpPr/>
            <p:nvPr/>
          </p:nvSpPr>
          <p:spPr>
            <a:xfrm flipH="false" flipV="false" rot="0">
              <a:off x="0" y="0"/>
              <a:ext cx="13533120" cy="1097280"/>
            </a:xfrm>
            <a:custGeom>
              <a:avLst/>
              <a:gdLst/>
              <a:ahLst/>
              <a:cxnLst/>
              <a:rect r="r" b="b" t="t" l="l"/>
              <a:pathLst>
                <a:path h="1097280" w="13533120">
                  <a:moveTo>
                    <a:pt x="0" y="0"/>
                  </a:moveTo>
                  <a:lnTo>
                    <a:pt x="13533120" y="0"/>
                  </a:lnTo>
                  <a:lnTo>
                    <a:pt x="13533120" y="1097280"/>
                  </a:lnTo>
                  <a:lnTo>
                    <a:pt x="0" y="1097280"/>
                  </a:lnTo>
                  <a:close/>
                </a:path>
              </a:pathLst>
            </a:custGeom>
            <a:blipFill>
              <a:blip r:embed="rId2">
                <a:alphaModFix amt="0"/>
              </a:blip>
              <a:stretch>
                <a:fillRect l="0" t="-190315" r="0" b="-190315"/>
              </a:stretch>
            </a:blipFill>
          </p:spPr>
        </p:sp>
        <p:sp>
          <p:nvSpPr>
            <p:cNvPr name="TextBox 16" id="16"/>
            <p:cNvSpPr txBox="true"/>
            <p:nvPr/>
          </p:nvSpPr>
          <p:spPr>
            <a:xfrm>
              <a:off x="0" y="-47625"/>
              <a:ext cx="13533120" cy="1144905"/>
            </a:xfrm>
            <a:prstGeom prst="rect">
              <a:avLst/>
            </a:prstGeom>
          </p:spPr>
          <p:txBody>
            <a:bodyPr anchor="ctr" rtlCol="false" tIns="0" lIns="0" bIns="0" rIns="0"/>
            <a:lstStyle/>
            <a:p>
              <a:pPr algn="l">
                <a:lnSpc>
                  <a:spcPts val="2340"/>
                </a:lnSpc>
              </a:pPr>
              <a:r>
                <a:rPr lang="en-US" sz="1950" i="true">
                  <a:solidFill>
                    <a:srgbClr val="9FB0C9"/>
                  </a:solidFill>
                  <a:latin typeface="Calibri (MS) Italics"/>
                  <a:ea typeface="Calibri (MS) Italics"/>
                  <a:cs typeface="Calibri (MS) Italics"/>
                  <a:sym typeface="Calibri (MS) Italics"/>
                </a:rPr>
                <a:t>Méthodologie </a:t>
              </a:r>
              <a:r>
                <a:rPr lang="en-US" sz="1950" i="true">
                  <a:solidFill>
                    <a:srgbClr val="9FB0C9"/>
                  </a:solidFill>
                  <a:latin typeface="Calibri (MS) Italics"/>
                  <a:ea typeface="Calibri (MS) Italics"/>
                  <a:cs typeface="Calibri (MS) Italics"/>
                  <a:sym typeface="Calibri (MS) Italics"/>
                </a:rPr>
                <a:t>Scrum adaptée pour une équipe de 8 ingénieurs (DataOps, MLOps et Plateforme).</a:t>
              </a:r>
            </a:p>
          </p:txBody>
        </p:sp>
      </p:grpSp>
      <p:grpSp>
        <p:nvGrpSpPr>
          <p:cNvPr name="Group 17" id="17"/>
          <p:cNvGrpSpPr/>
          <p:nvPr/>
        </p:nvGrpSpPr>
        <p:grpSpPr>
          <a:xfrm rot="0">
            <a:off x="813435" y="3488055"/>
            <a:ext cx="3928110" cy="2899410"/>
            <a:chOff x="0" y="0"/>
            <a:chExt cx="5237480" cy="3865880"/>
          </a:xfrm>
        </p:grpSpPr>
        <p:sp>
          <p:nvSpPr>
            <p:cNvPr name="Freeform 18" id="18"/>
            <p:cNvSpPr/>
            <p:nvPr/>
          </p:nvSpPr>
          <p:spPr>
            <a:xfrm flipH="false" flipV="false" rot="0">
              <a:off x="0" y="0"/>
              <a:ext cx="5237480" cy="3865880"/>
            </a:xfrm>
            <a:custGeom>
              <a:avLst/>
              <a:gdLst/>
              <a:ahLst/>
              <a:cxnLst/>
              <a:rect r="r" b="b" t="t" l="l"/>
              <a:pathLst>
                <a:path h="3865880" w="5237480">
                  <a:moveTo>
                    <a:pt x="0" y="147320"/>
                  </a:moveTo>
                  <a:cubicBezTo>
                    <a:pt x="0" y="65913"/>
                    <a:pt x="65913" y="0"/>
                    <a:pt x="147320" y="0"/>
                  </a:cubicBezTo>
                  <a:lnTo>
                    <a:pt x="5090160" y="0"/>
                  </a:lnTo>
                  <a:cubicBezTo>
                    <a:pt x="5171567" y="0"/>
                    <a:pt x="5237480" y="65913"/>
                    <a:pt x="5237480" y="147320"/>
                  </a:cubicBezTo>
                  <a:lnTo>
                    <a:pt x="5237480" y="3718560"/>
                  </a:lnTo>
                  <a:cubicBezTo>
                    <a:pt x="5237480" y="3799967"/>
                    <a:pt x="5171567" y="3865880"/>
                    <a:pt x="5090160" y="3865880"/>
                  </a:cubicBezTo>
                  <a:lnTo>
                    <a:pt x="147320" y="3865880"/>
                  </a:lnTo>
                  <a:cubicBezTo>
                    <a:pt x="65913" y="3865880"/>
                    <a:pt x="0" y="3799967"/>
                    <a:pt x="0" y="3718560"/>
                  </a:cubicBezTo>
                  <a:close/>
                </a:path>
              </a:pathLst>
            </a:custGeom>
            <a:solidFill>
              <a:srgbClr val="0F2038"/>
            </a:solidFill>
            <a:ln w="19050" cap="sq">
              <a:solidFill>
                <a:srgbClr val="1E3358"/>
              </a:solidFill>
              <a:prstDash val="solid"/>
              <a:miter/>
            </a:ln>
          </p:spPr>
        </p:sp>
      </p:grpSp>
      <p:grpSp>
        <p:nvGrpSpPr>
          <p:cNvPr name="Group 19" id="19"/>
          <p:cNvGrpSpPr/>
          <p:nvPr/>
        </p:nvGrpSpPr>
        <p:grpSpPr>
          <a:xfrm rot="0">
            <a:off x="1165860" y="3840480"/>
            <a:ext cx="685800" cy="685800"/>
            <a:chOff x="0" y="0"/>
            <a:chExt cx="914400" cy="914400"/>
          </a:xfrm>
        </p:grpSpPr>
        <p:sp>
          <p:nvSpPr>
            <p:cNvPr name="Freeform 20" id="2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4C7CFF"/>
            </a:solidFill>
          </p:spPr>
        </p:sp>
      </p:grpSp>
      <p:grpSp>
        <p:nvGrpSpPr>
          <p:cNvPr name="Group 21" id="21"/>
          <p:cNvGrpSpPr/>
          <p:nvPr/>
        </p:nvGrpSpPr>
        <p:grpSpPr>
          <a:xfrm rot="0">
            <a:off x="1165860" y="3826764"/>
            <a:ext cx="685800" cy="685800"/>
            <a:chOff x="0" y="0"/>
            <a:chExt cx="914400" cy="914400"/>
          </a:xfrm>
        </p:grpSpPr>
        <p:sp>
          <p:nvSpPr>
            <p:cNvPr name="Freeform 22" id="2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03" t="0" r="-78303" b="0"/>
              </a:stretch>
            </a:blipFill>
          </p:spPr>
        </p:sp>
        <p:sp>
          <p:nvSpPr>
            <p:cNvPr name="TextBox 23" id="23"/>
            <p:cNvSpPr txBox="true"/>
            <p:nvPr/>
          </p:nvSpPr>
          <p:spPr>
            <a:xfrm>
              <a:off x="0" y="-47625"/>
              <a:ext cx="914400" cy="962025"/>
            </a:xfrm>
            <a:prstGeom prst="rect">
              <a:avLst/>
            </a:prstGeom>
          </p:spPr>
          <p:txBody>
            <a:bodyPr anchor="ctr" rtlCol="false" tIns="0" lIns="0" bIns="0" rIns="0"/>
            <a:lstStyle/>
            <a:p>
              <a:pPr algn="ctr">
                <a:lnSpc>
                  <a:spcPts val="2340"/>
                </a:lnSpc>
              </a:pPr>
              <a:r>
                <a:rPr lang="en-US" sz="1950" b="true">
                  <a:solidFill>
                    <a:srgbClr val="0A1428"/>
                  </a:solidFill>
                  <a:latin typeface="Calibri (MS) Bold"/>
                  <a:ea typeface="Calibri (MS) Bold"/>
                  <a:cs typeface="Calibri (MS) Bold"/>
                  <a:sym typeface="Calibri (MS) Bold"/>
                </a:rPr>
                <a:t>◷</a:t>
              </a:r>
            </a:p>
          </p:txBody>
        </p:sp>
      </p:grpSp>
      <p:grpSp>
        <p:nvGrpSpPr>
          <p:cNvPr name="Group 24" id="24"/>
          <p:cNvGrpSpPr/>
          <p:nvPr/>
        </p:nvGrpSpPr>
        <p:grpSpPr>
          <a:xfrm rot="0">
            <a:off x="1097280" y="4800600"/>
            <a:ext cx="3429000" cy="685800"/>
            <a:chOff x="0" y="0"/>
            <a:chExt cx="4572000" cy="914400"/>
          </a:xfrm>
        </p:grpSpPr>
        <p:sp>
          <p:nvSpPr>
            <p:cNvPr name="Freeform 25" id="25"/>
            <p:cNvSpPr/>
            <p:nvPr/>
          </p:nvSpPr>
          <p:spPr>
            <a:xfrm flipH="false" flipV="false" rot="0">
              <a:off x="0" y="0"/>
              <a:ext cx="4572000" cy="914400"/>
            </a:xfrm>
            <a:custGeom>
              <a:avLst/>
              <a:gdLst/>
              <a:ahLst/>
              <a:cxnLst/>
              <a:rect r="r" b="b" t="t" l="l"/>
              <a:pathLst>
                <a:path h="914400" w="4572000">
                  <a:moveTo>
                    <a:pt x="0" y="0"/>
                  </a:moveTo>
                  <a:lnTo>
                    <a:pt x="4572000" y="0"/>
                  </a:lnTo>
                  <a:lnTo>
                    <a:pt x="4572000" y="914400"/>
                  </a:lnTo>
                  <a:lnTo>
                    <a:pt x="0" y="914400"/>
                  </a:lnTo>
                  <a:close/>
                </a:path>
              </a:pathLst>
            </a:custGeom>
            <a:blipFill>
              <a:blip r:embed="rId2">
                <a:alphaModFix amt="0"/>
              </a:blip>
              <a:stretch>
                <a:fillRect l="0" t="-47425" r="0" b="-47425"/>
              </a:stretch>
            </a:blipFill>
          </p:spPr>
        </p:sp>
        <p:sp>
          <p:nvSpPr>
            <p:cNvPr name="TextBox 26" id="26"/>
            <p:cNvSpPr txBox="true"/>
            <p:nvPr/>
          </p:nvSpPr>
          <p:spPr>
            <a:xfrm>
              <a:off x="0" y="-38100"/>
              <a:ext cx="4572000" cy="952500"/>
            </a:xfrm>
            <a:prstGeom prst="rect">
              <a:avLst/>
            </a:prstGeom>
          </p:spPr>
          <p:txBody>
            <a:bodyPr anchor="ctr" rtlCol="false" tIns="0" lIns="0" bIns="0" rIns="0"/>
            <a:lstStyle/>
            <a:p>
              <a:pPr algn="l">
                <a:lnSpc>
                  <a:spcPts val="2250"/>
                </a:lnSpc>
              </a:pPr>
              <a:r>
                <a:rPr lang="en-US" sz="1875" b="true">
                  <a:solidFill>
                    <a:srgbClr val="FFFFFF"/>
                  </a:solidFill>
                  <a:latin typeface="Calibri (MS) Bold"/>
                  <a:ea typeface="Calibri (MS) Bold"/>
                  <a:cs typeface="Calibri (MS) Bold"/>
                  <a:sym typeface="Calibri (MS) Bold"/>
                </a:rPr>
                <a:t>Daily Standups</a:t>
              </a:r>
            </a:p>
          </p:txBody>
        </p:sp>
      </p:grpSp>
      <p:grpSp>
        <p:nvGrpSpPr>
          <p:cNvPr name="Group 27" id="27"/>
          <p:cNvGrpSpPr/>
          <p:nvPr/>
        </p:nvGrpSpPr>
        <p:grpSpPr>
          <a:xfrm rot="0">
            <a:off x="1097280" y="5417820"/>
            <a:ext cx="3429000" cy="822960"/>
            <a:chOff x="0" y="0"/>
            <a:chExt cx="4572000" cy="1097280"/>
          </a:xfrm>
        </p:grpSpPr>
        <p:sp>
          <p:nvSpPr>
            <p:cNvPr name="Freeform 28" id="28"/>
            <p:cNvSpPr/>
            <p:nvPr/>
          </p:nvSpPr>
          <p:spPr>
            <a:xfrm flipH="false" flipV="false" rot="0">
              <a:off x="0" y="0"/>
              <a:ext cx="4572000" cy="1097280"/>
            </a:xfrm>
            <a:custGeom>
              <a:avLst/>
              <a:gdLst/>
              <a:ahLst/>
              <a:cxnLst/>
              <a:rect r="r" b="b" t="t" l="l"/>
              <a:pathLst>
                <a:path h="1097280" w="4572000">
                  <a:moveTo>
                    <a:pt x="0" y="0"/>
                  </a:moveTo>
                  <a:lnTo>
                    <a:pt x="4572000" y="0"/>
                  </a:lnTo>
                  <a:lnTo>
                    <a:pt x="4572000" y="1097280"/>
                  </a:lnTo>
                  <a:lnTo>
                    <a:pt x="0" y="1097280"/>
                  </a:lnTo>
                  <a:close/>
                </a:path>
              </a:pathLst>
            </a:custGeom>
            <a:blipFill>
              <a:blip r:embed="rId2">
                <a:alphaModFix amt="0"/>
              </a:blip>
              <a:stretch>
                <a:fillRect l="0" t="-31187" r="0" b="-31187"/>
              </a:stretch>
            </a:blipFill>
          </p:spPr>
        </p:sp>
        <p:sp>
          <p:nvSpPr>
            <p:cNvPr name="TextBox 29" id="29"/>
            <p:cNvSpPr txBox="true"/>
            <p:nvPr/>
          </p:nvSpPr>
          <p:spPr>
            <a:xfrm>
              <a:off x="0" y="-38100"/>
              <a:ext cx="4572000" cy="113538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P</a:t>
              </a:r>
              <a:r>
                <a:rPr lang="en-US" sz="1500">
                  <a:solidFill>
                    <a:srgbClr val="9FB0C9"/>
                  </a:solidFill>
                  <a:latin typeface="Calibri (MS)"/>
                  <a:ea typeface="Calibri (MS)"/>
                  <a:cs typeface="Calibri (MS)"/>
                  <a:sym typeface="Calibri (MS)"/>
                </a:rPr>
                <a:t>oints de synchronisation rapides sur l'avancement et les blocages des 8 membres.</a:t>
              </a:r>
            </a:p>
          </p:txBody>
        </p:sp>
      </p:grpSp>
      <p:grpSp>
        <p:nvGrpSpPr>
          <p:cNvPr name="Group 30" id="30"/>
          <p:cNvGrpSpPr/>
          <p:nvPr/>
        </p:nvGrpSpPr>
        <p:grpSpPr>
          <a:xfrm rot="0">
            <a:off x="4928235" y="3488055"/>
            <a:ext cx="3928110" cy="2899410"/>
            <a:chOff x="0" y="0"/>
            <a:chExt cx="5237480" cy="3865880"/>
          </a:xfrm>
        </p:grpSpPr>
        <p:sp>
          <p:nvSpPr>
            <p:cNvPr name="Freeform 31" id="31"/>
            <p:cNvSpPr/>
            <p:nvPr/>
          </p:nvSpPr>
          <p:spPr>
            <a:xfrm flipH="false" flipV="false" rot="0">
              <a:off x="0" y="0"/>
              <a:ext cx="5237480" cy="3865880"/>
            </a:xfrm>
            <a:custGeom>
              <a:avLst/>
              <a:gdLst/>
              <a:ahLst/>
              <a:cxnLst/>
              <a:rect r="r" b="b" t="t" l="l"/>
              <a:pathLst>
                <a:path h="3865880" w="5237480">
                  <a:moveTo>
                    <a:pt x="0" y="147320"/>
                  </a:moveTo>
                  <a:cubicBezTo>
                    <a:pt x="0" y="65913"/>
                    <a:pt x="65913" y="0"/>
                    <a:pt x="147320" y="0"/>
                  </a:cubicBezTo>
                  <a:lnTo>
                    <a:pt x="5090160" y="0"/>
                  </a:lnTo>
                  <a:cubicBezTo>
                    <a:pt x="5171567" y="0"/>
                    <a:pt x="5237480" y="65913"/>
                    <a:pt x="5237480" y="147320"/>
                  </a:cubicBezTo>
                  <a:lnTo>
                    <a:pt x="5237480" y="3718560"/>
                  </a:lnTo>
                  <a:cubicBezTo>
                    <a:pt x="5237480" y="3799967"/>
                    <a:pt x="5171567" y="3865880"/>
                    <a:pt x="5090160" y="3865880"/>
                  </a:cubicBezTo>
                  <a:lnTo>
                    <a:pt x="147320" y="3865880"/>
                  </a:lnTo>
                  <a:cubicBezTo>
                    <a:pt x="65913" y="3865880"/>
                    <a:pt x="0" y="3799967"/>
                    <a:pt x="0" y="3718560"/>
                  </a:cubicBezTo>
                  <a:close/>
                </a:path>
              </a:pathLst>
            </a:custGeom>
            <a:solidFill>
              <a:srgbClr val="0F2038"/>
            </a:solidFill>
            <a:ln w="19050" cap="sq">
              <a:solidFill>
                <a:srgbClr val="1E3358"/>
              </a:solidFill>
              <a:prstDash val="solid"/>
              <a:miter/>
            </a:ln>
          </p:spPr>
        </p:sp>
      </p:grpSp>
      <p:grpSp>
        <p:nvGrpSpPr>
          <p:cNvPr name="Group 32" id="32"/>
          <p:cNvGrpSpPr/>
          <p:nvPr/>
        </p:nvGrpSpPr>
        <p:grpSpPr>
          <a:xfrm rot="0">
            <a:off x="5280660" y="3840480"/>
            <a:ext cx="685800" cy="685800"/>
            <a:chOff x="0" y="0"/>
            <a:chExt cx="914400" cy="914400"/>
          </a:xfrm>
        </p:grpSpPr>
        <p:sp>
          <p:nvSpPr>
            <p:cNvPr name="Freeform 33" id="3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4C7CFF"/>
            </a:solidFill>
          </p:spPr>
        </p:sp>
      </p:grpSp>
      <p:grpSp>
        <p:nvGrpSpPr>
          <p:cNvPr name="Group 34" id="34"/>
          <p:cNvGrpSpPr/>
          <p:nvPr/>
        </p:nvGrpSpPr>
        <p:grpSpPr>
          <a:xfrm rot="0">
            <a:off x="5280660" y="3826764"/>
            <a:ext cx="685800" cy="685800"/>
            <a:chOff x="0" y="0"/>
            <a:chExt cx="914400" cy="914400"/>
          </a:xfrm>
        </p:grpSpPr>
        <p:sp>
          <p:nvSpPr>
            <p:cNvPr name="Freeform 35" id="35"/>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03" t="0" r="-78303" b="0"/>
              </a:stretch>
            </a:blipFill>
          </p:spPr>
        </p:sp>
        <p:sp>
          <p:nvSpPr>
            <p:cNvPr name="TextBox 36" id="36"/>
            <p:cNvSpPr txBox="true"/>
            <p:nvPr/>
          </p:nvSpPr>
          <p:spPr>
            <a:xfrm>
              <a:off x="0" y="-47625"/>
              <a:ext cx="914400" cy="962025"/>
            </a:xfrm>
            <a:prstGeom prst="rect">
              <a:avLst/>
            </a:prstGeom>
          </p:spPr>
          <p:txBody>
            <a:bodyPr anchor="ctr" rtlCol="false" tIns="0" lIns="0" bIns="0" rIns="0"/>
            <a:lstStyle/>
            <a:p>
              <a:pPr algn="ctr">
                <a:lnSpc>
                  <a:spcPts val="2340"/>
                </a:lnSpc>
              </a:pPr>
              <a:r>
                <a:rPr lang="en-US" sz="1950" b="true">
                  <a:solidFill>
                    <a:srgbClr val="0A1428"/>
                  </a:solidFill>
                  <a:latin typeface="Calibri (MS) Bold"/>
                  <a:ea typeface="Calibri (MS) Bold"/>
                  <a:cs typeface="Calibri (MS) Bold"/>
                  <a:sym typeface="Calibri (MS) Bold"/>
                </a:rPr>
                <a:t>▤</a:t>
              </a:r>
            </a:p>
          </p:txBody>
        </p:sp>
      </p:grpSp>
      <p:grpSp>
        <p:nvGrpSpPr>
          <p:cNvPr name="Group 37" id="37"/>
          <p:cNvGrpSpPr/>
          <p:nvPr/>
        </p:nvGrpSpPr>
        <p:grpSpPr>
          <a:xfrm rot="0">
            <a:off x="5212080" y="4800600"/>
            <a:ext cx="3429000" cy="685800"/>
            <a:chOff x="0" y="0"/>
            <a:chExt cx="4572000" cy="914400"/>
          </a:xfrm>
        </p:grpSpPr>
        <p:sp>
          <p:nvSpPr>
            <p:cNvPr name="Freeform 38" id="38"/>
            <p:cNvSpPr/>
            <p:nvPr/>
          </p:nvSpPr>
          <p:spPr>
            <a:xfrm flipH="false" flipV="false" rot="0">
              <a:off x="0" y="0"/>
              <a:ext cx="4572000" cy="914400"/>
            </a:xfrm>
            <a:custGeom>
              <a:avLst/>
              <a:gdLst/>
              <a:ahLst/>
              <a:cxnLst/>
              <a:rect r="r" b="b" t="t" l="l"/>
              <a:pathLst>
                <a:path h="914400" w="4572000">
                  <a:moveTo>
                    <a:pt x="0" y="0"/>
                  </a:moveTo>
                  <a:lnTo>
                    <a:pt x="4572000" y="0"/>
                  </a:lnTo>
                  <a:lnTo>
                    <a:pt x="4572000" y="914400"/>
                  </a:lnTo>
                  <a:lnTo>
                    <a:pt x="0" y="914400"/>
                  </a:lnTo>
                  <a:close/>
                </a:path>
              </a:pathLst>
            </a:custGeom>
            <a:blipFill>
              <a:blip r:embed="rId2">
                <a:alphaModFix amt="0"/>
              </a:blip>
              <a:stretch>
                <a:fillRect l="0" t="-47425" r="0" b="-47425"/>
              </a:stretch>
            </a:blipFill>
          </p:spPr>
        </p:sp>
        <p:sp>
          <p:nvSpPr>
            <p:cNvPr name="TextBox 39" id="39"/>
            <p:cNvSpPr txBox="true"/>
            <p:nvPr/>
          </p:nvSpPr>
          <p:spPr>
            <a:xfrm>
              <a:off x="0" y="-38100"/>
              <a:ext cx="4572000" cy="952500"/>
            </a:xfrm>
            <a:prstGeom prst="rect">
              <a:avLst/>
            </a:prstGeom>
          </p:spPr>
          <p:txBody>
            <a:bodyPr anchor="ctr" rtlCol="false" tIns="0" lIns="0" bIns="0" rIns="0"/>
            <a:lstStyle/>
            <a:p>
              <a:pPr algn="l">
                <a:lnSpc>
                  <a:spcPts val="2250"/>
                </a:lnSpc>
              </a:pPr>
              <a:r>
                <a:rPr lang="en-US" sz="1875" b="true">
                  <a:solidFill>
                    <a:srgbClr val="FFFFFF"/>
                  </a:solidFill>
                  <a:latin typeface="Calibri (MS) Bold"/>
                  <a:ea typeface="Calibri (MS) Bold"/>
                  <a:cs typeface="Calibri (MS) Bold"/>
                  <a:sym typeface="Calibri (MS) Bold"/>
                </a:rPr>
                <a:t>Sprint Planning</a:t>
              </a:r>
            </a:p>
          </p:txBody>
        </p:sp>
      </p:grpSp>
      <p:grpSp>
        <p:nvGrpSpPr>
          <p:cNvPr name="Group 40" id="40"/>
          <p:cNvGrpSpPr/>
          <p:nvPr/>
        </p:nvGrpSpPr>
        <p:grpSpPr>
          <a:xfrm rot="0">
            <a:off x="5212080" y="5417820"/>
            <a:ext cx="3429000" cy="822960"/>
            <a:chOff x="0" y="0"/>
            <a:chExt cx="4572000" cy="1097280"/>
          </a:xfrm>
        </p:grpSpPr>
        <p:sp>
          <p:nvSpPr>
            <p:cNvPr name="Freeform 41" id="41"/>
            <p:cNvSpPr/>
            <p:nvPr/>
          </p:nvSpPr>
          <p:spPr>
            <a:xfrm flipH="false" flipV="false" rot="0">
              <a:off x="0" y="0"/>
              <a:ext cx="4572000" cy="1097280"/>
            </a:xfrm>
            <a:custGeom>
              <a:avLst/>
              <a:gdLst/>
              <a:ahLst/>
              <a:cxnLst/>
              <a:rect r="r" b="b" t="t" l="l"/>
              <a:pathLst>
                <a:path h="1097280" w="4572000">
                  <a:moveTo>
                    <a:pt x="0" y="0"/>
                  </a:moveTo>
                  <a:lnTo>
                    <a:pt x="4572000" y="0"/>
                  </a:lnTo>
                  <a:lnTo>
                    <a:pt x="4572000" y="1097280"/>
                  </a:lnTo>
                  <a:lnTo>
                    <a:pt x="0" y="1097280"/>
                  </a:lnTo>
                  <a:close/>
                </a:path>
              </a:pathLst>
            </a:custGeom>
            <a:blipFill>
              <a:blip r:embed="rId2">
                <a:alphaModFix amt="0"/>
              </a:blip>
              <a:stretch>
                <a:fillRect l="0" t="-31187" r="0" b="-31187"/>
              </a:stretch>
            </a:blipFill>
          </p:spPr>
        </p:sp>
        <p:sp>
          <p:nvSpPr>
            <p:cNvPr name="TextBox 42" id="42"/>
            <p:cNvSpPr txBox="true"/>
            <p:nvPr/>
          </p:nvSpPr>
          <p:spPr>
            <a:xfrm>
              <a:off x="0" y="-38100"/>
              <a:ext cx="4572000" cy="113538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 Définiti</a:t>
              </a:r>
              <a:r>
                <a:rPr lang="en-US" sz="1500">
                  <a:solidFill>
                    <a:srgbClr val="9FB0C9"/>
                  </a:solidFill>
                  <a:latin typeface="Calibri (MS)"/>
                  <a:ea typeface="Calibri (MS)"/>
                  <a:cs typeface="Calibri (MS)"/>
                  <a:sym typeface="Calibri (MS)"/>
                </a:rPr>
                <a:t>on du périmètre de chaque sprint selon le Product Backlog.</a:t>
              </a:r>
            </a:p>
          </p:txBody>
        </p:sp>
      </p:grpSp>
      <p:grpSp>
        <p:nvGrpSpPr>
          <p:cNvPr name="Group 43" id="43"/>
          <p:cNvGrpSpPr/>
          <p:nvPr/>
        </p:nvGrpSpPr>
        <p:grpSpPr>
          <a:xfrm rot="0">
            <a:off x="9043035" y="3488055"/>
            <a:ext cx="3928110" cy="2899410"/>
            <a:chOff x="0" y="0"/>
            <a:chExt cx="5237480" cy="3865880"/>
          </a:xfrm>
        </p:grpSpPr>
        <p:sp>
          <p:nvSpPr>
            <p:cNvPr name="Freeform 44" id="44"/>
            <p:cNvSpPr/>
            <p:nvPr/>
          </p:nvSpPr>
          <p:spPr>
            <a:xfrm flipH="false" flipV="false" rot="0">
              <a:off x="0" y="0"/>
              <a:ext cx="5237480" cy="3865880"/>
            </a:xfrm>
            <a:custGeom>
              <a:avLst/>
              <a:gdLst/>
              <a:ahLst/>
              <a:cxnLst/>
              <a:rect r="r" b="b" t="t" l="l"/>
              <a:pathLst>
                <a:path h="3865880" w="5237480">
                  <a:moveTo>
                    <a:pt x="0" y="147320"/>
                  </a:moveTo>
                  <a:cubicBezTo>
                    <a:pt x="0" y="65913"/>
                    <a:pt x="65913" y="0"/>
                    <a:pt x="147320" y="0"/>
                  </a:cubicBezTo>
                  <a:lnTo>
                    <a:pt x="5090160" y="0"/>
                  </a:lnTo>
                  <a:cubicBezTo>
                    <a:pt x="5171567" y="0"/>
                    <a:pt x="5237480" y="65913"/>
                    <a:pt x="5237480" y="147320"/>
                  </a:cubicBezTo>
                  <a:lnTo>
                    <a:pt x="5237480" y="3718560"/>
                  </a:lnTo>
                  <a:cubicBezTo>
                    <a:pt x="5237480" y="3799967"/>
                    <a:pt x="5171567" y="3865880"/>
                    <a:pt x="5090160" y="3865880"/>
                  </a:cubicBezTo>
                  <a:lnTo>
                    <a:pt x="147320" y="3865880"/>
                  </a:lnTo>
                  <a:cubicBezTo>
                    <a:pt x="65913" y="3865880"/>
                    <a:pt x="0" y="3799967"/>
                    <a:pt x="0" y="3718560"/>
                  </a:cubicBezTo>
                  <a:close/>
                </a:path>
              </a:pathLst>
            </a:custGeom>
            <a:solidFill>
              <a:srgbClr val="0F2038"/>
            </a:solidFill>
            <a:ln w="19050" cap="sq">
              <a:solidFill>
                <a:srgbClr val="1E3358"/>
              </a:solidFill>
              <a:prstDash val="solid"/>
              <a:miter/>
            </a:ln>
          </p:spPr>
        </p:sp>
      </p:grpSp>
      <p:grpSp>
        <p:nvGrpSpPr>
          <p:cNvPr name="Group 45" id="45"/>
          <p:cNvGrpSpPr/>
          <p:nvPr/>
        </p:nvGrpSpPr>
        <p:grpSpPr>
          <a:xfrm rot="0">
            <a:off x="9395460" y="3840480"/>
            <a:ext cx="685800" cy="685800"/>
            <a:chOff x="0" y="0"/>
            <a:chExt cx="914400" cy="914400"/>
          </a:xfrm>
        </p:grpSpPr>
        <p:sp>
          <p:nvSpPr>
            <p:cNvPr name="Freeform 46" id="4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4C7CFF"/>
            </a:solidFill>
          </p:spPr>
        </p:sp>
      </p:grpSp>
      <p:grpSp>
        <p:nvGrpSpPr>
          <p:cNvPr name="Group 47" id="47"/>
          <p:cNvGrpSpPr/>
          <p:nvPr/>
        </p:nvGrpSpPr>
        <p:grpSpPr>
          <a:xfrm rot="0">
            <a:off x="9395460" y="3826764"/>
            <a:ext cx="685800" cy="685800"/>
            <a:chOff x="0" y="0"/>
            <a:chExt cx="914400" cy="914400"/>
          </a:xfrm>
        </p:grpSpPr>
        <p:sp>
          <p:nvSpPr>
            <p:cNvPr name="Freeform 48" id="4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03" t="0" r="-78303" b="0"/>
              </a:stretch>
            </a:blipFill>
          </p:spPr>
        </p:sp>
        <p:sp>
          <p:nvSpPr>
            <p:cNvPr name="TextBox 49" id="49"/>
            <p:cNvSpPr txBox="true"/>
            <p:nvPr/>
          </p:nvSpPr>
          <p:spPr>
            <a:xfrm>
              <a:off x="0" y="-47625"/>
              <a:ext cx="914400" cy="962025"/>
            </a:xfrm>
            <a:prstGeom prst="rect">
              <a:avLst/>
            </a:prstGeom>
          </p:spPr>
          <p:txBody>
            <a:bodyPr anchor="ctr" rtlCol="false" tIns="0" lIns="0" bIns="0" rIns="0"/>
            <a:lstStyle/>
            <a:p>
              <a:pPr algn="ctr">
                <a:lnSpc>
                  <a:spcPts val="2340"/>
                </a:lnSpc>
              </a:pPr>
              <a:r>
                <a:rPr lang="en-US" sz="1950" b="true">
                  <a:solidFill>
                    <a:srgbClr val="0A1428"/>
                  </a:solidFill>
                  <a:latin typeface="Calibri (MS) Bold"/>
                  <a:ea typeface="Calibri (MS) Bold"/>
                  <a:cs typeface="Calibri (MS) Bold"/>
                  <a:sym typeface="Calibri (MS) Bold"/>
                </a:rPr>
                <a:t>≡</a:t>
              </a:r>
            </a:p>
          </p:txBody>
        </p:sp>
      </p:grpSp>
      <p:grpSp>
        <p:nvGrpSpPr>
          <p:cNvPr name="Group 50" id="50"/>
          <p:cNvGrpSpPr/>
          <p:nvPr/>
        </p:nvGrpSpPr>
        <p:grpSpPr>
          <a:xfrm rot="0">
            <a:off x="9326880" y="4800600"/>
            <a:ext cx="3429000" cy="685800"/>
            <a:chOff x="0" y="0"/>
            <a:chExt cx="4572000" cy="914400"/>
          </a:xfrm>
        </p:grpSpPr>
        <p:sp>
          <p:nvSpPr>
            <p:cNvPr name="Freeform 51" id="51"/>
            <p:cNvSpPr/>
            <p:nvPr/>
          </p:nvSpPr>
          <p:spPr>
            <a:xfrm flipH="false" flipV="false" rot="0">
              <a:off x="0" y="0"/>
              <a:ext cx="4572000" cy="914400"/>
            </a:xfrm>
            <a:custGeom>
              <a:avLst/>
              <a:gdLst/>
              <a:ahLst/>
              <a:cxnLst/>
              <a:rect r="r" b="b" t="t" l="l"/>
              <a:pathLst>
                <a:path h="914400" w="4572000">
                  <a:moveTo>
                    <a:pt x="0" y="0"/>
                  </a:moveTo>
                  <a:lnTo>
                    <a:pt x="4572000" y="0"/>
                  </a:lnTo>
                  <a:lnTo>
                    <a:pt x="4572000" y="914400"/>
                  </a:lnTo>
                  <a:lnTo>
                    <a:pt x="0" y="914400"/>
                  </a:lnTo>
                  <a:close/>
                </a:path>
              </a:pathLst>
            </a:custGeom>
            <a:blipFill>
              <a:blip r:embed="rId2">
                <a:alphaModFix amt="0"/>
              </a:blip>
              <a:stretch>
                <a:fillRect l="0" t="-47425" r="0" b="-47425"/>
              </a:stretch>
            </a:blipFill>
          </p:spPr>
        </p:sp>
        <p:sp>
          <p:nvSpPr>
            <p:cNvPr name="TextBox 52" id="52"/>
            <p:cNvSpPr txBox="true"/>
            <p:nvPr/>
          </p:nvSpPr>
          <p:spPr>
            <a:xfrm>
              <a:off x="0" y="-38100"/>
              <a:ext cx="4572000" cy="952500"/>
            </a:xfrm>
            <a:prstGeom prst="rect">
              <a:avLst/>
            </a:prstGeom>
          </p:spPr>
          <p:txBody>
            <a:bodyPr anchor="ctr" rtlCol="false" tIns="0" lIns="0" bIns="0" rIns="0"/>
            <a:lstStyle/>
            <a:p>
              <a:pPr algn="l">
                <a:lnSpc>
                  <a:spcPts val="2250"/>
                </a:lnSpc>
              </a:pPr>
              <a:r>
                <a:rPr lang="en-US" sz="1875" b="true">
                  <a:solidFill>
                    <a:srgbClr val="FFFFFF"/>
                  </a:solidFill>
                  <a:latin typeface="Calibri (MS) Bold"/>
                  <a:ea typeface="Calibri (MS) Bold"/>
                  <a:cs typeface="Calibri (MS) Bold"/>
                  <a:sym typeface="Calibri (MS) Bold"/>
                </a:rPr>
                <a:t>Backlog Refinement</a:t>
              </a:r>
            </a:p>
          </p:txBody>
        </p:sp>
      </p:grpSp>
      <p:grpSp>
        <p:nvGrpSpPr>
          <p:cNvPr name="Group 53" id="53"/>
          <p:cNvGrpSpPr/>
          <p:nvPr/>
        </p:nvGrpSpPr>
        <p:grpSpPr>
          <a:xfrm rot="0">
            <a:off x="9326880" y="5417820"/>
            <a:ext cx="3429000" cy="822960"/>
            <a:chOff x="0" y="0"/>
            <a:chExt cx="4572000" cy="1097280"/>
          </a:xfrm>
        </p:grpSpPr>
        <p:sp>
          <p:nvSpPr>
            <p:cNvPr name="Freeform 54" id="54"/>
            <p:cNvSpPr/>
            <p:nvPr/>
          </p:nvSpPr>
          <p:spPr>
            <a:xfrm flipH="false" flipV="false" rot="0">
              <a:off x="0" y="0"/>
              <a:ext cx="4572000" cy="1097280"/>
            </a:xfrm>
            <a:custGeom>
              <a:avLst/>
              <a:gdLst/>
              <a:ahLst/>
              <a:cxnLst/>
              <a:rect r="r" b="b" t="t" l="l"/>
              <a:pathLst>
                <a:path h="1097280" w="4572000">
                  <a:moveTo>
                    <a:pt x="0" y="0"/>
                  </a:moveTo>
                  <a:lnTo>
                    <a:pt x="4572000" y="0"/>
                  </a:lnTo>
                  <a:lnTo>
                    <a:pt x="4572000" y="1097280"/>
                  </a:lnTo>
                  <a:lnTo>
                    <a:pt x="0" y="1097280"/>
                  </a:lnTo>
                  <a:close/>
                </a:path>
              </a:pathLst>
            </a:custGeom>
            <a:blipFill>
              <a:blip r:embed="rId2">
                <a:alphaModFix amt="0"/>
              </a:blip>
              <a:stretch>
                <a:fillRect l="0" t="-31187" r="0" b="-31187"/>
              </a:stretch>
            </a:blipFill>
          </p:spPr>
        </p:sp>
        <p:sp>
          <p:nvSpPr>
            <p:cNvPr name="TextBox 55" id="55"/>
            <p:cNvSpPr txBox="true"/>
            <p:nvPr/>
          </p:nvSpPr>
          <p:spPr>
            <a:xfrm>
              <a:off x="0" y="-38100"/>
              <a:ext cx="4572000" cy="113538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Révision c</a:t>
              </a:r>
              <a:r>
                <a:rPr lang="en-US" sz="1500">
                  <a:solidFill>
                    <a:srgbClr val="9FB0C9"/>
                  </a:solidFill>
                  <a:latin typeface="Calibri (MS)"/>
                  <a:ea typeface="Calibri (MS)"/>
                  <a:cs typeface="Calibri (MS)"/>
                  <a:sym typeface="Calibri (MS)"/>
                </a:rPr>
                <a:t>ontinue pour garder les tickets clairs et réalisables.</a:t>
              </a:r>
            </a:p>
          </p:txBody>
        </p:sp>
      </p:grpSp>
      <p:grpSp>
        <p:nvGrpSpPr>
          <p:cNvPr name="Group 56" id="56"/>
          <p:cNvGrpSpPr/>
          <p:nvPr/>
        </p:nvGrpSpPr>
        <p:grpSpPr>
          <a:xfrm rot="0">
            <a:off x="13157835" y="3488055"/>
            <a:ext cx="3928110" cy="2899410"/>
            <a:chOff x="0" y="0"/>
            <a:chExt cx="5237480" cy="3865880"/>
          </a:xfrm>
        </p:grpSpPr>
        <p:sp>
          <p:nvSpPr>
            <p:cNvPr name="Freeform 57" id="57"/>
            <p:cNvSpPr/>
            <p:nvPr/>
          </p:nvSpPr>
          <p:spPr>
            <a:xfrm flipH="false" flipV="false" rot="0">
              <a:off x="0" y="0"/>
              <a:ext cx="5237480" cy="3865880"/>
            </a:xfrm>
            <a:custGeom>
              <a:avLst/>
              <a:gdLst/>
              <a:ahLst/>
              <a:cxnLst/>
              <a:rect r="r" b="b" t="t" l="l"/>
              <a:pathLst>
                <a:path h="3865880" w="5237480">
                  <a:moveTo>
                    <a:pt x="0" y="147320"/>
                  </a:moveTo>
                  <a:cubicBezTo>
                    <a:pt x="0" y="65913"/>
                    <a:pt x="65913" y="0"/>
                    <a:pt x="147320" y="0"/>
                  </a:cubicBezTo>
                  <a:lnTo>
                    <a:pt x="5090160" y="0"/>
                  </a:lnTo>
                  <a:cubicBezTo>
                    <a:pt x="5171567" y="0"/>
                    <a:pt x="5237480" y="65913"/>
                    <a:pt x="5237480" y="147320"/>
                  </a:cubicBezTo>
                  <a:lnTo>
                    <a:pt x="5237480" y="3718560"/>
                  </a:lnTo>
                  <a:cubicBezTo>
                    <a:pt x="5237480" y="3799967"/>
                    <a:pt x="5171567" y="3865880"/>
                    <a:pt x="5090160" y="3865880"/>
                  </a:cubicBezTo>
                  <a:lnTo>
                    <a:pt x="147320" y="3865880"/>
                  </a:lnTo>
                  <a:cubicBezTo>
                    <a:pt x="65913" y="3865880"/>
                    <a:pt x="0" y="3799967"/>
                    <a:pt x="0" y="3718560"/>
                  </a:cubicBezTo>
                  <a:close/>
                </a:path>
              </a:pathLst>
            </a:custGeom>
            <a:solidFill>
              <a:srgbClr val="0F2038"/>
            </a:solidFill>
            <a:ln w="19050" cap="sq">
              <a:solidFill>
                <a:srgbClr val="1E3358"/>
              </a:solidFill>
              <a:prstDash val="solid"/>
              <a:miter/>
            </a:ln>
          </p:spPr>
        </p:sp>
      </p:grpSp>
      <p:grpSp>
        <p:nvGrpSpPr>
          <p:cNvPr name="Group 58" id="58"/>
          <p:cNvGrpSpPr/>
          <p:nvPr/>
        </p:nvGrpSpPr>
        <p:grpSpPr>
          <a:xfrm rot="0">
            <a:off x="13510260" y="3840480"/>
            <a:ext cx="685800" cy="685800"/>
            <a:chOff x="0" y="0"/>
            <a:chExt cx="914400" cy="914400"/>
          </a:xfrm>
        </p:grpSpPr>
        <p:sp>
          <p:nvSpPr>
            <p:cNvPr name="Freeform 59" id="59"/>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4C7CFF"/>
            </a:solidFill>
          </p:spPr>
        </p:sp>
      </p:grpSp>
      <p:grpSp>
        <p:nvGrpSpPr>
          <p:cNvPr name="Group 60" id="60"/>
          <p:cNvGrpSpPr/>
          <p:nvPr/>
        </p:nvGrpSpPr>
        <p:grpSpPr>
          <a:xfrm rot="0">
            <a:off x="13510260" y="3826764"/>
            <a:ext cx="685800" cy="685800"/>
            <a:chOff x="0" y="0"/>
            <a:chExt cx="914400" cy="914400"/>
          </a:xfrm>
        </p:grpSpPr>
        <p:sp>
          <p:nvSpPr>
            <p:cNvPr name="Freeform 61" id="61"/>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03" t="0" r="-78303" b="0"/>
              </a:stretch>
            </a:blipFill>
          </p:spPr>
        </p:sp>
        <p:sp>
          <p:nvSpPr>
            <p:cNvPr name="TextBox 62" id="62"/>
            <p:cNvSpPr txBox="true"/>
            <p:nvPr/>
          </p:nvSpPr>
          <p:spPr>
            <a:xfrm>
              <a:off x="0" y="-47625"/>
              <a:ext cx="914400" cy="962025"/>
            </a:xfrm>
            <a:prstGeom prst="rect">
              <a:avLst/>
            </a:prstGeom>
          </p:spPr>
          <p:txBody>
            <a:bodyPr anchor="ctr" rtlCol="false" tIns="0" lIns="0" bIns="0" rIns="0"/>
            <a:lstStyle/>
            <a:p>
              <a:pPr algn="ctr">
                <a:lnSpc>
                  <a:spcPts val="2340"/>
                </a:lnSpc>
              </a:pPr>
              <a:r>
                <a:rPr lang="en-US" sz="1950" b="true">
                  <a:solidFill>
                    <a:srgbClr val="0A1428"/>
                  </a:solidFill>
                  <a:latin typeface="Calibri (MS) Bold"/>
                  <a:ea typeface="Calibri (MS) Bold"/>
                  <a:cs typeface="Calibri (MS) Bold"/>
                  <a:sym typeface="Calibri (MS) Bold"/>
                </a:rPr>
                <a:t>↻</a:t>
              </a:r>
            </a:p>
          </p:txBody>
        </p:sp>
      </p:grpSp>
      <p:grpSp>
        <p:nvGrpSpPr>
          <p:cNvPr name="Group 63" id="63"/>
          <p:cNvGrpSpPr/>
          <p:nvPr/>
        </p:nvGrpSpPr>
        <p:grpSpPr>
          <a:xfrm rot="0">
            <a:off x="13441680" y="4800600"/>
            <a:ext cx="3429000" cy="685800"/>
            <a:chOff x="0" y="0"/>
            <a:chExt cx="4572000" cy="914400"/>
          </a:xfrm>
        </p:grpSpPr>
        <p:sp>
          <p:nvSpPr>
            <p:cNvPr name="Freeform 64" id="64"/>
            <p:cNvSpPr/>
            <p:nvPr/>
          </p:nvSpPr>
          <p:spPr>
            <a:xfrm flipH="false" flipV="false" rot="0">
              <a:off x="0" y="0"/>
              <a:ext cx="4572000" cy="914400"/>
            </a:xfrm>
            <a:custGeom>
              <a:avLst/>
              <a:gdLst/>
              <a:ahLst/>
              <a:cxnLst/>
              <a:rect r="r" b="b" t="t" l="l"/>
              <a:pathLst>
                <a:path h="914400" w="4572000">
                  <a:moveTo>
                    <a:pt x="0" y="0"/>
                  </a:moveTo>
                  <a:lnTo>
                    <a:pt x="4572000" y="0"/>
                  </a:lnTo>
                  <a:lnTo>
                    <a:pt x="4572000" y="914400"/>
                  </a:lnTo>
                  <a:lnTo>
                    <a:pt x="0" y="914400"/>
                  </a:lnTo>
                  <a:close/>
                </a:path>
              </a:pathLst>
            </a:custGeom>
            <a:blipFill>
              <a:blip r:embed="rId2">
                <a:alphaModFix amt="0"/>
              </a:blip>
              <a:stretch>
                <a:fillRect l="0" t="-47425" r="0" b="-47425"/>
              </a:stretch>
            </a:blipFill>
          </p:spPr>
        </p:sp>
        <p:sp>
          <p:nvSpPr>
            <p:cNvPr name="TextBox 65" id="65"/>
            <p:cNvSpPr txBox="true"/>
            <p:nvPr/>
          </p:nvSpPr>
          <p:spPr>
            <a:xfrm>
              <a:off x="0" y="-38100"/>
              <a:ext cx="4572000" cy="952500"/>
            </a:xfrm>
            <a:prstGeom prst="rect">
              <a:avLst/>
            </a:prstGeom>
          </p:spPr>
          <p:txBody>
            <a:bodyPr anchor="ctr" rtlCol="false" tIns="0" lIns="0" bIns="0" rIns="0"/>
            <a:lstStyle/>
            <a:p>
              <a:pPr algn="l">
                <a:lnSpc>
                  <a:spcPts val="2250"/>
                </a:lnSpc>
              </a:pPr>
              <a:r>
                <a:rPr lang="en-US" sz="1875" b="true">
                  <a:solidFill>
                    <a:srgbClr val="FFFFFF"/>
                  </a:solidFill>
                  <a:latin typeface="Calibri (MS) Bold"/>
                  <a:ea typeface="Calibri (MS) Bold"/>
                  <a:cs typeface="Calibri (MS) Bold"/>
                  <a:sym typeface="Calibri (MS) Bold"/>
                </a:rPr>
                <a:t>Retrospectives</a:t>
              </a:r>
            </a:p>
          </p:txBody>
        </p:sp>
      </p:grpSp>
      <p:grpSp>
        <p:nvGrpSpPr>
          <p:cNvPr name="Group 66" id="66"/>
          <p:cNvGrpSpPr/>
          <p:nvPr/>
        </p:nvGrpSpPr>
        <p:grpSpPr>
          <a:xfrm rot="0">
            <a:off x="13441680" y="5417820"/>
            <a:ext cx="3429000" cy="822960"/>
            <a:chOff x="0" y="0"/>
            <a:chExt cx="4572000" cy="1097280"/>
          </a:xfrm>
        </p:grpSpPr>
        <p:sp>
          <p:nvSpPr>
            <p:cNvPr name="Freeform 67" id="67"/>
            <p:cNvSpPr/>
            <p:nvPr/>
          </p:nvSpPr>
          <p:spPr>
            <a:xfrm flipH="false" flipV="false" rot="0">
              <a:off x="0" y="0"/>
              <a:ext cx="4572000" cy="1097280"/>
            </a:xfrm>
            <a:custGeom>
              <a:avLst/>
              <a:gdLst/>
              <a:ahLst/>
              <a:cxnLst/>
              <a:rect r="r" b="b" t="t" l="l"/>
              <a:pathLst>
                <a:path h="1097280" w="4572000">
                  <a:moveTo>
                    <a:pt x="0" y="0"/>
                  </a:moveTo>
                  <a:lnTo>
                    <a:pt x="4572000" y="0"/>
                  </a:lnTo>
                  <a:lnTo>
                    <a:pt x="4572000" y="1097280"/>
                  </a:lnTo>
                  <a:lnTo>
                    <a:pt x="0" y="1097280"/>
                  </a:lnTo>
                  <a:close/>
                </a:path>
              </a:pathLst>
            </a:custGeom>
            <a:blipFill>
              <a:blip r:embed="rId2">
                <a:alphaModFix amt="0"/>
              </a:blip>
              <a:stretch>
                <a:fillRect l="0" t="-31187" r="0" b="-31187"/>
              </a:stretch>
            </a:blipFill>
          </p:spPr>
        </p:sp>
        <p:sp>
          <p:nvSpPr>
            <p:cNvPr name="TextBox 68" id="68"/>
            <p:cNvSpPr txBox="true"/>
            <p:nvPr/>
          </p:nvSpPr>
          <p:spPr>
            <a:xfrm>
              <a:off x="0" y="-38100"/>
              <a:ext cx="4572000" cy="113538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Bilan en fi</a:t>
              </a:r>
              <a:r>
                <a:rPr lang="en-US" sz="1500">
                  <a:solidFill>
                    <a:srgbClr val="9FB0C9"/>
                  </a:solidFill>
                  <a:latin typeface="Calibri (MS)"/>
                  <a:ea typeface="Calibri (MS)"/>
                  <a:cs typeface="Calibri (MS)"/>
                  <a:sym typeface="Calibri (MS)"/>
                </a:rPr>
                <a:t>n de sprint pour adapter nos processus et lever les blocages.</a:t>
              </a:r>
            </a:p>
          </p:txBody>
        </p:sp>
      </p:grpSp>
      <p:grpSp>
        <p:nvGrpSpPr>
          <p:cNvPr name="Group 69" id="69"/>
          <p:cNvGrpSpPr/>
          <p:nvPr/>
        </p:nvGrpSpPr>
        <p:grpSpPr>
          <a:xfrm rot="0">
            <a:off x="813435" y="6779895"/>
            <a:ext cx="16615410" cy="1525534"/>
            <a:chOff x="0" y="0"/>
            <a:chExt cx="22153880" cy="2034045"/>
          </a:xfrm>
        </p:grpSpPr>
        <p:sp>
          <p:nvSpPr>
            <p:cNvPr name="Freeform 70" id="70"/>
            <p:cNvSpPr/>
            <p:nvPr/>
          </p:nvSpPr>
          <p:spPr>
            <a:xfrm flipH="false" flipV="false" rot="0">
              <a:off x="0" y="0"/>
              <a:ext cx="22153880" cy="2034045"/>
            </a:xfrm>
            <a:custGeom>
              <a:avLst/>
              <a:gdLst/>
              <a:ahLst/>
              <a:cxnLst/>
              <a:rect r="r" b="b" t="t" l="l"/>
              <a:pathLst>
                <a:path h="2034045" w="22153880">
                  <a:moveTo>
                    <a:pt x="0" y="95686"/>
                  </a:moveTo>
                  <a:cubicBezTo>
                    <a:pt x="0" y="42857"/>
                    <a:pt x="66040" y="0"/>
                    <a:pt x="147447" y="0"/>
                  </a:cubicBezTo>
                  <a:lnTo>
                    <a:pt x="22006433" y="0"/>
                  </a:lnTo>
                  <a:cubicBezTo>
                    <a:pt x="22087841" y="0"/>
                    <a:pt x="22153880" y="42857"/>
                    <a:pt x="22153880" y="95686"/>
                  </a:cubicBezTo>
                  <a:lnTo>
                    <a:pt x="22153880" y="1938359"/>
                  </a:lnTo>
                  <a:cubicBezTo>
                    <a:pt x="22153880" y="1991188"/>
                    <a:pt x="22087841" y="2034045"/>
                    <a:pt x="22006433" y="2034045"/>
                  </a:cubicBezTo>
                  <a:lnTo>
                    <a:pt x="147447" y="2034045"/>
                  </a:lnTo>
                  <a:cubicBezTo>
                    <a:pt x="66040" y="2034045"/>
                    <a:pt x="0" y="1991188"/>
                    <a:pt x="0" y="1938359"/>
                  </a:cubicBezTo>
                  <a:close/>
                </a:path>
              </a:pathLst>
            </a:custGeom>
            <a:solidFill>
              <a:srgbClr val="13294A"/>
            </a:solidFill>
            <a:ln w="19050" cap="sq">
              <a:solidFill>
                <a:srgbClr val="1E3358"/>
              </a:solidFill>
              <a:prstDash val="solid"/>
              <a:miter/>
            </a:ln>
          </p:spPr>
        </p:sp>
      </p:grpSp>
      <p:grpSp>
        <p:nvGrpSpPr>
          <p:cNvPr name="Group 71" id="71"/>
          <p:cNvGrpSpPr/>
          <p:nvPr/>
        </p:nvGrpSpPr>
        <p:grpSpPr>
          <a:xfrm rot="0">
            <a:off x="1234440" y="6995160"/>
            <a:ext cx="10972800" cy="411480"/>
            <a:chOff x="0" y="0"/>
            <a:chExt cx="14630400" cy="548640"/>
          </a:xfrm>
        </p:grpSpPr>
        <p:sp>
          <p:nvSpPr>
            <p:cNvPr name="Freeform 72" id="72"/>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73" id="73"/>
            <p:cNvSpPr txBox="true"/>
            <p:nvPr/>
          </p:nvSpPr>
          <p:spPr>
            <a:xfrm>
              <a:off x="0" y="-19050"/>
              <a:ext cx="14630400" cy="567690"/>
            </a:xfrm>
            <a:prstGeom prst="rect">
              <a:avLst/>
            </a:prstGeom>
          </p:spPr>
          <p:txBody>
            <a:bodyPr anchor="ctr" rtlCol="false" tIns="0" lIns="0" bIns="0" rIns="0"/>
            <a:lstStyle/>
            <a:p>
              <a:pPr algn="l">
                <a:lnSpc>
                  <a:spcPts val="1889"/>
                </a:lnSpc>
              </a:pPr>
              <a:r>
                <a:rPr lang="en-US" b="true" sz="1575" spc="150">
                  <a:solidFill>
                    <a:srgbClr val="00E5C7"/>
                  </a:solidFill>
                  <a:latin typeface="Calibri (MS) Bold"/>
                  <a:ea typeface="Calibri (MS) Bold"/>
                  <a:cs typeface="Calibri (MS) Bold"/>
                  <a:sym typeface="Calibri (MS) Bold"/>
                </a:rPr>
                <a:t>TEAM STRUCTURE — 8 MEMBERS, DUAL SCRUM &amp; TECHNICAL ROLES</a:t>
              </a:r>
            </a:p>
          </p:txBody>
        </p:sp>
      </p:grpSp>
      <p:grpSp>
        <p:nvGrpSpPr>
          <p:cNvPr name="Group 74" id="74"/>
          <p:cNvGrpSpPr/>
          <p:nvPr/>
        </p:nvGrpSpPr>
        <p:grpSpPr>
          <a:xfrm rot="0">
            <a:off x="1234440" y="7200900"/>
            <a:ext cx="3840480" cy="1234440"/>
            <a:chOff x="0" y="0"/>
            <a:chExt cx="5120640" cy="1645920"/>
          </a:xfrm>
        </p:grpSpPr>
        <p:sp>
          <p:nvSpPr>
            <p:cNvPr name="Freeform 75" id="75"/>
            <p:cNvSpPr/>
            <p:nvPr/>
          </p:nvSpPr>
          <p:spPr>
            <a:xfrm flipH="false" flipV="false" rot="0">
              <a:off x="0" y="0"/>
              <a:ext cx="5120640" cy="1645920"/>
            </a:xfrm>
            <a:custGeom>
              <a:avLst/>
              <a:gdLst/>
              <a:ahLst/>
              <a:cxnLst/>
              <a:rect r="r" b="b" t="t" l="l"/>
              <a:pathLst>
                <a:path h="1645920" w="5120640">
                  <a:moveTo>
                    <a:pt x="0" y="0"/>
                  </a:moveTo>
                  <a:lnTo>
                    <a:pt x="5120640" y="0"/>
                  </a:lnTo>
                  <a:lnTo>
                    <a:pt x="5120640" y="1645920"/>
                  </a:lnTo>
                  <a:lnTo>
                    <a:pt x="0" y="1645920"/>
                  </a:lnTo>
                  <a:close/>
                </a:path>
              </a:pathLst>
            </a:custGeom>
            <a:blipFill>
              <a:blip r:embed="rId2">
                <a:alphaModFix amt="0"/>
              </a:blip>
              <a:stretch>
                <a:fillRect l="0" t="-10620" r="0" b="-10620"/>
              </a:stretch>
            </a:blipFill>
          </p:spPr>
        </p:sp>
        <p:sp>
          <p:nvSpPr>
            <p:cNvPr name="TextBox 76" id="76"/>
            <p:cNvSpPr txBox="true"/>
            <p:nvPr/>
          </p:nvSpPr>
          <p:spPr>
            <a:xfrm>
              <a:off x="0" y="-38100"/>
              <a:ext cx="5120640" cy="1684020"/>
            </a:xfrm>
            <a:prstGeom prst="rect">
              <a:avLst/>
            </a:prstGeom>
          </p:spPr>
          <p:txBody>
            <a:bodyPr anchor="ctr" rtlCol="false" tIns="0" lIns="0" bIns="0" rIns="0"/>
            <a:lstStyle/>
            <a:p>
              <a:pPr algn="l">
                <a:lnSpc>
                  <a:spcPts val="2160"/>
                </a:lnSpc>
              </a:pPr>
              <a:r>
                <a:rPr lang="en-US" sz="1800" b="true">
                  <a:solidFill>
                    <a:srgbClr val="00E5C7"/>
                  </a:solidFill>
                  <a:latin typeface="Calibri (MS) Bold"/>
                  <a:ea typeface="Calibri (MS) Bold"/>
                  <a:cs typeface="Calibri (MS) Bold"/>
                  <a:sym typeface="Calibri (MS) Bold"/>
                </a:rPr>
                <a:t>1 Product Owner</a:t>
              </a:r>
            </a:p>
          </p:txBody>
        </p:sp>
      </p:grpSp>
      <p:grpSp>
        <p:nvGrpSpPr>
          <p:cNvPr name="Group 77" id="77"/>
          <p:cNvGrpSpPr/>
          <p:nvPr/>
        </p:nvGrpSpPr>
        <p:grpSpPr>
          <a:xfrm rot="0">
            <a:off x="5280660" y="7200900"/>
            <a:ext cx="3840480" cy="1234440"/>
            <a:chOff x="0" y="0"/>
            <a:chExt cx="5120640" cy="1645920"/>
          </a:xfrm>
        </p:grpSpPr>
        <p:sp>
          <p:nvSpPr>
            <p:cNvPr name="Freeform 78" id="78"/>
            <p:cNvSpPr/>
            <p:nvPr/>
          </p:nvSpPr>
          <p:spPr>
            <a:xfrm flipH="false" flipV="false" rot="0">
              <a:off x="0" y="0"/>
              <a:ext cx="5120640" cy="1645920"/>
            </a:xfrm>
            <a:custGeom>
              <a:avLst/>
              <a:gdLst/>
              <a:ahLst/>
              <a:cxnLst/>
              <a:rect r="r" b="b" t="t" l="l"/>
              <a:pathLst>
                <a:path h="1645920" w="5120640">
                  <a:moveTo>
                    <a:pt x="0" y="0"/>
                  </a:moveTo>
                  <a:lnTo>
                    <a:pt x="5120640" y="0"/>
                  </a:lnTo>
                  <a:lnTo>
                    <a:pt x="5120640" y="1645920"/>
                  </a:lnTo>
                  <a:lnTo>
                    <a:pt x="0" y="1645920"/>
                  </a:lnTo>
                  <a:close/>
                </a:path>
              </a:pathLst>
            </a:custGeom>
            <a:blipFill>
              <a:blip r:embed="rId2">
                <a:alphaModFix amt="0"/>
              </a:blip>
              <a:stretch>
                <a:fillRect l="0" t="-10620" r="0" b="-10620"/>
              </a:stretch>
            </a:blipFill>
          </p:spPr>
        </p:sp>
        <p:sp>
          <p:nvSpPr>
            <p:cNvPr name="TextBox 79" id="79"/>
            <p:cNvSpPr txBox="true"/>
            <p:nvPr/>
          </p:nvSpPr>
          <p:spPr>
            <a:xfrm>
              <a:off x="0" y="-38100"/>
              <a:ext cx="5120640" cy="1684020"/>
            </a:xfrm>
            <a:prstGeom prst="rect">
              <a:avLst/>
            </a:prstGeom>
          </p:spPr>
          <p:txBody>
            <a:bodyPr anchor="ctr" rtlCol="false" tIns="0" lIns="0" bIns="0" rIns="0"/>
            <a:lstStyle/>
            <a:p>
              <a:pPr algn="l">
                <a:lnSpc>
                  <a:spcPts val="2160"/>
                </a:lnSpc>
              </a:pPr>
              <a:r>
                <a:rPr lang="en-US" sz="1800" b="true">
                  <a:solidFill>
                    <a:srgbClr val="00E5C7"/>
                  </a:solidFill>
                  <a:latin typeface="Calibri (MS) Bold"/>
                  <a:ea typeface="Calibri (MS) Bold"/>
                  <a:cs typeface="Calibri (MS) Bold"/>
                  <a:sym typeface="Calibri (MS) Bold"/>
                </a:rPr>
                <a:t>1 Scrum Master</a:t>
              </a:r>
            </a:p>
          </p:txBody>
        </p:sp>
      </p:grpSp>
      <p:grpSp>
        <p:nvGrpSpPr>
          <p:cNvPr name="Group 80" id="80"/>
          <p:cNvGrpSpPr/>
          <p:nvPr/>
        </p:nvGrpSpPr>
        <p:grpSpPr>
          <a:xfrm rot="0">
            <a:off x="9326880" y="7200900"/>
            <a:ext cx="3840480" cy="1234440"/>
            <a:chOff x="0" y="0"/>
            <a:chExt cx="5120640" cy="1645920"/>
          </a:xfrm>
        </p:grpSpPr>
        <p:sp>
          <p:nvSpPr>
            <p:cNvPr name="Freeform 81" id="81"/>
            <p:cNvSpPr/>
            <p:nvPr/>
          </p:nvSpPr>
          <p:spPr>
            <a:xfrm flipH="false" flipV="false" rot="0">
              <a:off x="0" y="0"/>
              <a:ext cx="5120640" cy="1645920"/>
            </a:xfrm>
            <a:custGeom>
              <a:avLst/>
              <a:gdLst/>
              <a:ahLst/>
              <a:cxnLst/>
              <a:rect r="r" b="b" t="t" l="l"/>
              <a:pathLst>
                <a:path h="1645920" w="5120640">
                  <a:moveTo>
                    <a:pt x="0" y="0"/>
                  </a:moveTo>
                  <a:lnTo>
                    <a:pt x="5120640" y="0"/>
                  </a:lnTo>
                  <a:lnTo>
                    <a:pt x="5120640" y="1645920"/>
                  </a:lnTo>
                  <a:lnTo>
                    <a:pt x="0" y="1645920"/>
                  </a:lnTo>
                  <a:close/>
                </a:path>
              </a:pathLst>
            </a:custGeom>
            <a:blipFill>
              <a:blip r:embed="rId2">
                <a:alphaModFix amt="0"/>
              </a:blip>
              <a:stretch>
                <a:fillRect l="0" t="-10620" r="0" b="-10620"/>
              </a:stretch>
            </a:blipFill>
          </p:spPr>
        </p:sp>
        <p:sp>
          <p:nvSpPr>
            <p:cNvPr name="TextBox 82" id="82"/>
            <p:cNvSpPr txBox="true"/>
            <p:nvPr/>
          </p:nvSpPr>
          <p:spPr>
            <a:xfrm>
              <a:off x="0" y="-38100"/>
              <a:ext cx="5120640" cy="1684020"/>
            </a:xfrm>
            <a:prstGeom prst="rect">
              <a:avLst/>
            </a:prstGeom>
          </p:spPr>
          <p:txBody>
            <a:bodyPr anchor="ctr" rtlCol="false" tIns="0" lIns="0" bIns="0" rIns="0"/>
            <a:lstStyle/>
            <a:p>
              <a:pPr algn="l">
                <a:lnSpc>
                  <a:spcPts val="2160"/>
                </a:lnSpc>
              </a:pPr>
              <a:r>
                <a:rPr lang="en-US" sz="1800">
                  <a:solidFill>
                    <a:srgbClr val="FFFFFF"/>
                  </a:solidFill>
                  <a:latin typeface="Calibri (MS)"/>
                  <a:ea typeface="Calibri (MS)"/>
                  <a:cs typeface="Calibri (MS)"/>
                  <a:sym typeface="Calibri (MS)"/>
                </a:rPr>
                <a:t>6 Developers</a:t>
              </a:r>
            </a:p>
          </p:txBody>
        </p:sp>
      </p:grpSp>
      <p:grpSp>
        <p:nvGrpSpPr>
          <p:cNvPr name="Group 83" id="83"/>
          <p:cNvGrpSpPr/>
          <p:nvPr/>
        </p:nvGrpSpPr>
        <p:grpSpPr>
          <a:xfrm rot="0">
            <a:off x="13373100" y="7200900"/>
            <a:ext cx="3840480" cy="1234440"/>
            <a:chOff x="0" y="0"/>
            <a:chExt cx="5120640" cy="1645920"/>
          </a:xfrm>
        </p:grpSpPr>
        <p:sp>
          <p:nvSpPr>
            <p:cNvPr name="Freeform 84" id="84"/>
            <p:cNvSpPr/>
            <p:nvPr/>
          </p:nvSpPr>
          <p:spPr>
            <a:xfrm flipH="false" flipV="false" rot="0">
              <a:off x="0" y="0"/>
              <a:ext cx="5120640" cy="1645920"/>
            </a:xfrm>
            <a:custGeom>
              <a:avLst/>
              <a:gdLst/>
              <a:ahLst/>
              <a:cxnLst/>
              <a:rect r="r" b="b" t="t" l="l"/>
              <a:pathLst>
                <a:path h="1645920" w="5120640">
                  <a:moveTo>
                    <a:pt x="0" y="0"/>
                  </a:moveTo>
                  <a:lnTo>
                    <a:pt x="5120640" y="0"/>
                  </a:lnTo>
                  <a:lnTo>
                    <a:pt x="5120640" y="1645920"/>
                  </a:lnTo>
                  <a:lnTo>
                    <a:pt x="0" y="1645920"/>
                  </a:lnTo>
                  <a:close/>
                </a:path>
              </a:pathLst>
            </a:custGeom>
            <a:blipFill>
              <a:blip r:embed="rId2">
                <a:alphaModFix amt="0"/>
              </a:blip>
              <a:stretch>
                <a:fillRect l="0" t="-10620" r="0" b="-10620"/>
              </a:stretch>
            </a:blipFill>
          </p:spPr>
        </p:sp>
        <p:sp>
          <p:nvSpPr>
            <p:cNvPr name="TextBox 85" id="85"/>
            <p:cNvSpPr txBox="true"/>
            <p:nvPr/>
          </p:nvSpPr>
          <p:spPr>
            <a:xfrm>
              <a:off x="0" y="-38100"/>
              <a:ext cx="5120640" cy="1684020"/>
            </a:xfrm>
            <a:prstGeom prst="rect">
              <a:avLst/>
            </a:prstGeom>
          </p:spPr>
          <p:txBody>
            <a:bodyPr anchor="ctr" rtlCol="false" tIns="0" lIns="0" bIns="0" rIns="0"/>
            <a:lstStyle/>
            <a:p>
              <a:pPr algn="l">
                <a:lnSpc>
                  <a:spcPts val="2160"/>
                </a:lnSpc>
              </a:pPr>
              <a:r>
                <a:rPr lang="en-US" sz="1800">
                  <a:solidFill>
                    <a:srgbClr val="FFFFFF"/>
                  </a:solidFill>
                  <a:latin typeface="Calibri (MS)"/>
                  <a:ea typeface="Calibri (MS)"/>
                  <a:cs typeface="Calibri (MS)"/>
                  <a:sym typeface="Calibri (MS)"/>
                </a:rPr>
                <a:t>4 specialized tracks: Data · QA · ML · Platform</a:t>
              </a:r>
            </a:p>
          </p:txBody>
        </p:sp>
      </p:grpSp>
      <p:grpSp>
        <p:nvGrpSpPr>
          <p:cNvPr name="Group 86" id="86"/>
          <p:cNvGrpSpPr/>
          <p:nvPr/>
        </p:nvGrpSpPr>
        <p:grpSpPr>
          <a:xfrm rot="0">
            <a:off x="685800" y="9710928"/>
            <a:ext cx="10972800" cy="411480"/>
            <a:chOff x="0" y="0"/>
            <a:chExt cx="14630400" cy="548640"/>
          </a:xfrm>
        </p:grpSpPr>
        <p:sp>
          <p:nvSpPr>
            <p:cNvPr name="Freeform 87" id="8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88" id="8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spc="149">
                  <a:solidFill>
                    <a:srgbClr val="6E84A6"/>
                  </a:solidFill>
                  <a:latin typeface="Calibri (MS)"/>
                  <a:ea typeface="Calibri (MS)"/>
                  <a:cs typeface="Calibri (MS)"/>
                  <a:sym typeface="Calibri (MS)"/>
                </a:rPr>
                <a:t>MLSECOPS PLATFORM · AGILE GOVERNANCE</a:t>
              </a:r>
            </a:p>
          </p:txBody>
        </p:sp>
      </p:grpSp>
      <p:grpSp>
        <p:nvGrpSpPr>
          <p:cNvPr name="Group 89" id="89"/>
          <p:cNvGrpSpPr/>
          <p:nvPr/>
        </p:nvGrpSpPr>
        <p:grpSpPr>
          <a:xfrm rot="0">
            <a:off x="16500348" y="9710928"/>
            <a:ext cx="1097280" cy="411480"/>
            <a:chOff x="0" y="0"/>
            <a:chExt cx="1463040" cy="548640"/>
          </a:xfrm>
        </p:grpSpPr>
        <p:sp>
          <p:nvSpPr>
            <p:cNvPr name="Freeform 90" id="90"/>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91" id="91"/>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05 / 32</a:t>
              </a:r>
            </a:p>
          </p:txBody>
        </p:sp>
      </p:grpSp>
      <p:grpSp>
        <p:nvGrpSpPr>
          <p:cNvPr name="Group 92" id="92"/>
          <p:cNvGrpSpPr/>
          <p:nvPr/>
        </p:nvGrpSpPr>
        <p:grpSpPr>
          <a:xfrm rot="0">
            <a:off x="813435" y="8435340"/>
            <a:ext cx="16596360" cy="822960"/>
            <a:chOff x="0" y="0"/>
            <a:chExt cx="22128480" cy="1097280"/>
          </a:xfrm>
        </p:grpSpPr>
        <p:sp>
          <p:nvSpPr>
            <p:cNvPr name="Freeform 93" id="93"/>
            <p:cNvSpPr/>
            <p:nvPr/>
          </p:nvSpPr>
          <p:spPr>
            <a:xfrm flipH="false" flipV="false" rot="0">
              <a:off x="0" y="0"/>
              <a:ext cx="22128480" cy="1097280"/>
            </a:xfrm>
            <a:custGeom>
              <a:avLst/>
              <a:gdLst/>
              <a:ahLst/>
              <a:cxnLst/>
              <a:rect r="r" b="b" t="t" l="l"/>
              <a:pathLst>
                <a:path h="1097280" w="22128480">
                  <a:moveTo>
                    <a:pt x="0" y="0"/>
                  </a:moveTo>
                  <a:lnTo>
                    <a:pt x="22128480" y="0"/>
                  </a:lnTo>
                  <a:lnTo>
                    <a:pt x="22128480" y="1097280"/>
                  </a:lnTo>
                  <a:lnTo>
                    <a:pt x="0" y="1097280"/>
                  </a:lnTo>
                  <a:close/>
                </a:path>
              </a:pathLst>
            </a:custGeom>
            <a:blipFill>
              <a:blip r:embed="rId2">
                <a:alphaModFix amt="0"/>
              </a:blip>
              <a:stretch>
                <a:fillRect l="0" t="-31187" r="79338" b="-31187"/>
              </a:stretch>
            </a:blipFill>
          </p:spPr>
        </p:sp>
        <p:sp>
          <p:nvSpPr>
            <p:cNvPr name="TextBox 94" id="94"/>
            <p:cNvSpPr txBox="true"/>
            <p:nvPr/>
          </p:nvSpPr>
          <p:spPr>
            <a:xfrm>
              <a:off x="0" y="-38100"/>
              <a:ext cx="22128480" cy="113538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 En tant que Scrum Master, m</a:t>
              </a:r>
              <a:r>
                <a:rPr lang="en-US" sz="1500">
                  <a:solidFill>
                    <a:srgbClr val="9FB0C9"/>
                  </a:solidFill>
                  <a:latin typeface="Calibri (MS)"/>
                  <a:ea typeface="Calibri (MS)"/>
                  <a:cs typeface="Calibri (MS)"/>
                  <a:sym typeface="Calibri (MS)"/>
                </a:rPr>
                <a:t>on rôle était d'organiser notre équipe de 8 ingénieurs. Nous avons adopté la méthode Scrum avec des mêlées quotidiennes (Daily Standups) pour suivre l'avancement, des réunions de planification pour définir les objectifs, et des rétrospectives pour améliorer notre méthode de travail en continu.</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84891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20rd</a:t>
            </a:r>
          </a:p>
        </p:txBody>
      </p:sp>
      <p:sp>
        <p:nvSpPr>
          <p:cNvPr name="TextBox 4" id="4"/>
          <p:cNvSpPr txBox="true"/>
          <p:nvPr/>
        </p:nvSpPr>
        <p:spPr>
          <a:xfrm rot="0">
            <a:off x="194035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21rd</a:t>
            </a:r>
          </a:p>
        </p:txBody>
      </p:sp>
      <p:sp>
        <p:nvSpPr>
          <p:cNvPr name="TextBox 5" id="5"/>
          <p:cNvSpPr txBox="true"/>
          <p:nvPr/>
        </p:nvSpPr>
        <p:spPr>
          <a:xfrm rot="0">
            <a:off x="203179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22rd</a:t>
            </a:r>
          </a:p>
        </p:txBody>
      </p:sp>
      <p:sp>
        <p:nvSpPr>
          <p:cNvPr name="TextBox 6" id="6"/>
          <p:cNvSpPr txBox="true"/>
          <p:nvPr/>
        </p:nvSpPr>
        <p:spPr>
          <a:xfrm rot="0">
            <a:off x="212323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23rd</a:t>
            </a:r>
          </a:p>
        </p:txBody>
      </p:sp>
      <p:sp>
        <p:nvSpPr>
          <p:cNvPr name="TextBox 7" id="7"/>
          <p:cNvSpPr txBox="true"/>
          <p:nvPr/>
        </p:nvSpPr>
        <p:spPr>
          <a:xfrm rot="0">
            <a:off x="221467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24rd</a:t>
            </a:r>
          </a:p>
        </p:txBody>
      </p:sp>
      <p:sp>
        <p:nvSpPr>
          <p:cNvPr name="TextBox 8" id="8"/>
          <p:cNvSpPr txBox="true"/>
          <p:nvPr/>
        </p:nvSpPr>
        <p:spPr>
          <a:xfrm rot="0">
            <a:off x="230611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25rd</a:t>
            </a:r>
          </a:p>
        </p:txBody>
      </p:sp>
      <p:sp>
        <p:nvSpPr>
          <p:cNvPr name="TextBox 9" id="9"/>
          <p:cNvSpPr txBox="true"/>
          <p:nvPr/>
        </p:nvSpPr>
        <p:spPr>
          <a:xfrm rot="0">
            <a:off x="239755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26rd</a:t>
            </a:r>
          </a:p>
        </p:txBody>
      </p:sp>
      <p:sp>
        <p:nvSpPr>
          <p:cNvPr name="TextBox 10" id="10"/>
          <p:cNvSpPr txBox="true"/>
          <p:nvPr/>
        </p:nvSpPr>
        <p:spPr>
          <a:xfrm rot="0">
            <a:off x="248899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27rd</a:t>
            </a:r>
          </a:p>
        </p:txBody>
      </p:sp>
      <p:sp>
        <p:nvSpPr>
          <p:cNvPr name="TextBox 11" id="11"/>
          <p:cNvSpPr txBox="true"/>
          <p:nvPr/>
        </p:nvSpPr>
        <p:spPr>
          <a:xfrm rot="0">
            <a:off x="258043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28rd</a:t>
            </a:r>
          </a:p>
        </p:txBody>
      </p:sp>
      <p:sp>
        <p:nvSpPr>
          <p:cNvPr name="TextBox 12" id="12"/>
          <p:cNvSpPr txBox="true"/>
          <p:nvPr/>
        </p:nvSpPr>
        <p:spPr>
          <a:xfrm rot="0">
            <a:off x="267187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29rd</a:t>
            </a:r>
          </a:p>
        </p:txBody>
      </p:sp>
      <p:sp>
        <p:nvSpPr>
          <p:cNvPr name="TextBox 13" id="13"/>
          <p:cNvSpPr txBox="true"/>
          <p:nvPr/>
        </p:nvSpPr>
        <p:spPr>
          <a:xfrm rot="0">
            <a:off x="276331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30rd</a:t>
            </a:r>
          </a:p>
        </p:txBody>
      </p:sp>
      <p:sp>
        <p:nvSpPr>
          <p:cNvPr name="TextBox 14" id="14"/>
          <p:cNvSpPr txBox="true"/>
          <p:nvPr/>
        </p:nvSpPr>
        <p:spPr>
          <a:xfrm rot="0">
            <a:off x="285475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31rd</a:t>
            </a:r>
          </a:p>
        </p:txBody>
      </p:sp>
      <p:sp>
        <p:nvSpPr>
          <p:cNvPr name="TextBox 15" id="15"/>
          <p:cNvSpPr txBox="true"/>
          <p:nvPr/>
        </p:nvSpPr>
        <p:spPr>
          <a:xfrm rot="0">
            <a:off x="294619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32rd</a:t>
            </a:r>
          </a:p>
        </p:txBody>
      </p:sp>
      <p:sp>
        <p:nvSpPr>
          <p:cNvPr name="TextBox 16" id="16"/>
          <p:cNvSpPr txBox="true"/>
          <p:nvPr/>
        </p:nvSpPr>
        <p:spPr>
          <a:xfrm rot="0">
            <a:off x="303763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33rd</a:t>
            </a:r>
          </a:p>
        </p:txBody>
      </p:sp>
      <p:sp>
        <p:nvSpPr>
          <p:cNvPr name="TextBox 17" id="17"/>
          <p:cNvSpPr txBox="true"/>
          <p:nvPr/>
        </p:nvSpPr>
        <p:spPr>
          <a:xfrm rot="0">
            <a:off x="312907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34rd</a:t>
            </a:r>
          </a:p>
        </p:txBody>
      </p:sp>
      <p:sp>
        <p:nvSpPr>
          <p:cNvPr name="TextBox 18" id="18"/>
          <p:cNvSpPr txBox="true"/>
          <p:nvPr/>
        </p:nvSpPr>
        <p:spPr>
          <a:xfrm rot="0">
            <a:off x="322051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35rd</a:t>
            </a:r>
          </a:p>
        </p:txBody>
      </p:sp>
      <p:sp>
        <p:nvSpPr>
          <p:cNvPr name="TextBox 19" id="19"/>
          <p:cNvSpPr txBox="true"/>
          <p:nvPr/>
        </p:nvSpPr>
        <p:spPr>
          <a:xfrm rot="0">
            <a:off x="331195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36rd</a:t>
            </a:r>
          </a:p>
        </p:txBody>
      </p:sp>
      <p:sp>
        <p:nvSpPr>
          <p:cNvPr name="TextBox 20" id="20"/>
          <p:cNvSpPr txBox="true"/>
          <p:nvPr/>
        </p:nvSpPr>
        <p:spPr>
          <a:xfrm rot="0">
            <a:off x="340339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37rd</a:t>
            </a:r>
          </a:p>
        </p:txBody>
      </p:sp>
      <p:sp>
        <p:nvSpPr>
          <p:cNvPr name="TextBox 21" id="21"/>
          <p:cNvSpPr txBox="true"/>
          <p:nvPr/>
        </p:nvSpPr>
        <p:spPr>
          <a:xfrm rot="0">
            <a:off x="349483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38rd</a:t>
            </a:r>
          </a:p>
        </p:txBody>
      </p:sp>
      <p:sp>
        <p:nvSpPr>
          <p:cNvPr name="TextBox 22" id="22"/>
          <p:cNvSpPr txBox="true"/>
          <p:nvPr/>
        </p:nvSpPr>
        <p:spPr>
          <a:xfrm rot="0">
            <a:off x="358627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39rd</a:t>
            </a:r>
          </a:p>
        </p:txBody>
      </p:sp>
      <p:sp>
        <p:nvSpPr>
          <p:cNvPr name="TextBox 23" id="23"/>
          <p:cNvSpPr txBox="true"/>
          <p:nvPr/>
        </p:nvSpPr>
        <p:spPr>
          <a:xfrm rot="0">
            <a:off x="367771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40rd</a:t>
            </a:r>
          </a:p>
        </p:txBody>
      </p:sp>
      <p:sp>
        <p:nvSpPr>
          <p:cNvPr name="TextBox 24" id="24"/>
          <p:cNvSpPr txBox="true"/>
          <p:nvPr/>
        </p:nvSpPr>
        <p:spPr>
          <a:xfrm rot="0">
            <a:off x="376915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41rd</a:t>
            </a:r>
          </a:p>
        </p:txBody>
      </p:sp>
      <p:sp>
        <p:nvSpPr>
          <p:cNvPr name="TextBox 25" id="25"/>
          <p:cNvSpPr txBox="true"/>
          <p:nvPr/>
        </p:nvSpPr>
        <p:spPr>
          <a:xfrm rot="0">
            <a:off x="386059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42rd</a:t>
            </a:r>
          </a:p>
        </p:txBody>
      </p:sp>
      <p:sp>
        <p:nvSpPr>
          <p:cNvPr name="TextBox 26" id="26"/>
          <p:cNvSpPr txBox="true"/>
          <p:nvPr/>
        </p:nvSpPr>
        <p:spPr>
          <a:xfrm rot="0">
            <a:off x="395203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43rd</a:t>
            </a:r>
          </a:p>
        </p:txBody>
      </p:sp>
      <p:sp>
        <p:nvSpPr>
          <p:cNvPr name="TextBox 27" id="27"/>
          <p:cNvSpPr txBox="true"/>
          <p:nvPr/>
        </p:nvSpPr>
        <p:spPr>
          <a:xfrm rot="0">
            <a:off x="404347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44rd</a:t>
            </a:r>
          </a:p>
        </p:txBody>
      </p:sp>
      <p:sp>
        <p:nvSpPr>
          <p:cNvPr name="TextBox 28" id="28"/>
          <p:cNvSpPr txBox="true"/>
          <p:nvPr/>
        </p:nvSpPr>
        <p:spPr>
          <a:xfrm rot="0">
            <a:off x="413491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45rd</a:t>
            </a:r>
          </a:p>
        </p:txBody>
      </p:sp>
      <p:sp>
        <p:nvSpPr>
          <p:cNvPr name="TextBox 29" id="29"/>
          <p:cNvSpPr txBox="true"/>
          <p:nvPr/>
        </p:nvSpPr>
        <p:spPr>
          <a:xfrm rot="0">
            <a:off x="422635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46rd</a:t>
            </a:r>
          </a:p>
        </p:txBody>
      </p:sp>
      <p:sp>
        <p:nvSpPr>
          <p:cNvPr name="TextBox 30" id="30"/>
          <p:cNvSpPr txBox="true"/>
          <p:nvPr/>
        </p:nvSpPr>
        <p:spPr>
          <a:xfrm rot="0">
            <a:off x="431779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47rd</a:t>
            </a:r>
          </a:p>
        </p:txBody>
      </p:sp>
      <p:sp>
        <p:nvSpPr>
          <p:cNvPr name="TextBox 31" id="31"/>
          <p:cNvSpPr txBox="true"/>
          <p:nvPr/>
        </p:nvSpPr>
        <p:spPr>
          <a:xfrm rot="0">
            <a:off x="440923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48rd</a:t>
            </a:r>
          </a:p>
        </p:txBody>
      </p:sp>
      <p:sp>
        <p:nvSpPr>
          <p:cNvPr name="TextBox 32" id="32"/>
          <p:cNvSpPr txBox="true"/>
          <p:nvPr/>
        </p:nvSpPr>
        <p:spPr>
          <a:xfrm rot="0">
            <a:off x="450067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49rd</a:t>
            </a:r>
          </a:p>
        </p:txBody>
      </p:sp>
      <p:sp>
        <p:nvSpPr>
          <p:cNvPr name="TextBox 33" id="33"/>
          <p:cNvSpPr txBox="true"/>
          <p:nvPr/>
        </p:nvSpPr>
        <p:spPr>
          <a:xfrm rot="0">
            <a:off x="459211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50rd</a:t>
            </a:r>
          </a:p>
        </p:txBody>
      </p:sp>
      <p:sp>
        <p:nvSpPr>
          <p:cNvPr name="TextBox 34" id="34"/>
          <p:cNvSpPr txBox="true"/>
          <p:nvPr/>
        </p:nvSpPr>
        <p:spPr>
          <a:xfrm rot="0">
            <a:off x="468355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51rd</a:t>
            </a:r>
          </a:p>
        </p:txBody>
      </p:sp>
      <p:sp>
        <p:nvSpPr>
          <p:cNvPr name="TextBox 35" id="35"/>
          <p:cNvSpPr txBox="true"/>
          <p:nvPr/>
        </p:nvSpPr>
        <p:spPr>
          <a:xfrm rot="0">
            <a:off x="477499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52rd</a:t>
            </a:r>
          </a:p>
        </p:txBody>
      </p:sp>
      <p:sp>
        <p:nvSpPr>
          <p:cNvPr name="TextBox 36" id="36"/>
          <p:cNvSpPr txBox="true"/>
          <p:nvPr/>
        </p:nvSpPr>
        <p:spPr>
          <a:xfrm rot="0">
            <a:off x="486643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53rd</a:t>
            </a:r>
          </a:p>
        </p:txBody>
      </p:sp>
      <p:sp>
        <p:nvSpPr>
          <p:cNvPr name="TextBox 37" id="37"/>
          <p:cNvSpPr txBox="true"/>
          <p:nvPr/>
        </p:nvSpPr>
        <p:spPr>
          <a:xfrm rot="0">
            <a:off x="49578768" y="5454523"/>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54rd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AGILE GOVERNANCE</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2</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Oumaima El Habti — Scrum Master</a:t>
              </a:r>
            </a:p>
          </p:txBody>
        </p:sp>
      </p:grpSp>
      <p:grpSp>
        <p:nvGrpSpPr>
          <p:cNvPr name="Group 11" id="11"/>
          <p:cNvGrpSpPr/>
          <p:nvPr/>
        </p:nvGrpSpPr>
        <p:grpSpPr>
          <a:xfrm rot="0">
            <a:off x="822960" y="22515"/>
            <a:ext cx="16596360" cy="3516213"/>
            <a:chOff x="0" y="0"/>
            <a:chExt cx="22128480" cy="4688284"/>
          </a:xfrm>
        </p:grpSpPr>
        <p:sp>
          <p:nvSpPr>
            <p:cNvPr name="Freeform 12" id="12"/>
            <p:cNvSpPr/>
            <p:nvPr/>
          </p:nvSpPr>
          <p:spPr>
            <a:xfrm flipH="false" flipV="false" rot="0">
              <a:off x="0" y="0"/>
              <a:ext cx="22128480" cy="4688284"/>
            </a:xfrm>
            <a:custGeom>
              <a:avLst/>
              <a:gdLst/>
              <a:ahLst/>
              <a:cxnLst/>
              <a:rect r="r" b="b" t="t" l="l"/>
              <a:pathLst>
                <a:path h="4688284" w="22128480">
                  <a:moveTo>
                    <a:pt x="0" y="0"/>
                  </a:moveTo>
                  <a:lnTo>
                    <a:pt x="22128480" y="0"/>
                  </a:lnTo>
                  <a:lnTo>
                    <a:pt x="22128480" y="4688284"/>
                  </a:lnTo>
                  <a:lnTo>
                    <a:pt x="0" y="4688284"/>
                  </a:lnTo>
                  <a:close/>
                </a:path>
              </a:pathLst>
            </a:custGeom>
            <a:blipFill>
              <a:blip r:embed="rId2">
                <a:alphaModFix amt="0"/>
              </a:blip>
              <a:stretch>
                <a:fillRect l="0" t="-73439" r="0" b="-10497"/>
              </a:stretch>
            </a:blipFill>
          </p:spPr>
        </p:sp>
        <p:sp>
          <p:nvSpPr>
            <p:cNvPr name="TextBox 13" id="13"/>
            <p:cNvSpPr txBox="true"/>
            <p:nvPr/>
          </p:nvSpPr>
          <p:spPr>
            <a:xfrm>
              <a:off x="0" y="-9525"/>
              <a:ext cx="22128480" cy="4697809"/>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 Feu</a:t>
              </a:r>
              <a:r>
                <a:rPr lang="en-US" sz="4800" b="true">
                  <a:solidFill>
                    <a:srgbClr val="FFFFFF"/>
                  </a:solidFill>
                  <a:latin typeface="Cambria Bold"/>
                  <a:ea typeface="Cambria Bold"/>
                  <a:cs typeface="Cambria Bold"/>
                  <a:sym typeface="Cambria Bold"/>
                </a:rPr>
                <a:t>ille de Route &amp; Livrables des Sprints</a:t>
              </a:r>
            </a:p>
          </p:txBody>
        </p:sp>
      </p:grpSp>
      <p:grpSp>
        <p:nvGrpSpPr>
          <p:cNvPr name="Group 14" id="14"/>
          <p:cNvGrpSpPr/>
          <p:nvPr/>
        </p:nvGrpSpPr>
        <p:grpSpPr>
          <a:xfrm rot="0">
            <a:off x="813435" y="2733675"/>
            <a:ext cx="3928110" cy="5177612"/>
            <a:chOff x="0" y="0"/>
            <a:chExt cx="5237480" cy="6903483"/>
          </a:xfrm>
        </p:grpSpPr>
        <p:sp>
          <p:nvSpPr>
            <p:cNvPr name="Freeform 15" id="15"/>
            <p:cNvSpPr/>
            <p:nvPr/>
          </p:nvSpPr>
          <p:spPr>
            <a:xfrm flipH="false" flipV="false" rot="0">
              <a:off x="0" y="0"/>
              <a:ext cx="5237480" cy="6903483"/>
            </a:xfrm>
            <a:custGeom>
              <a:avLst/>
              <a:gdLst/>
              <a:ahLst/>
              <a:cxnLst/>
              <a:rect r="r" b="b" t="t" l="l"/>
              <a:pathLst>
                <a:path h="6903483" w="5237480">
                  <a:moveTo>
                    <a:pt x="0" y="141842"/>
                  </a:moveTo>
                  <a:cubicBezTo>
                    <a:pt x="0" y="63449"/>
                    <a:pt x="65786" y="0"/>
                    <a:pt x="147066" y="0"/>
                  </a:cubicBezTo>
                  <a:lnTo>
                    <a:pt x="5090414" y="0"/>
                  </a:lnTo>
                  <a:cubicBezTo>
                    <a:pt x="5171567" y="0"/>
                    <a:pt x="5237480" y="63449"/>
                    <a:pt x="5237480" y="141842"/>
                  </a:cubicBezTo>
                  <a:lnTo>
                    <a:pt x="5237480" y="6761641"/>
                  </a:lnTo>
                  <a:cubicBezTo>
                    <a:pt x="5237480" y="6839911"/>
                    <a:pt x="5171694" y="6903483"/>
                    <a:pt x="5090414" y="6903483"/>
                  </a:cubicBezTo>
                  <a:lnTo>
                    <a:pt x="147066" y="6903483"/>
                  </a:lnTo>
                  <a:cubicBezTo>
                    <a:pt x="65786" y="6903482"/>
                    <a:pt x="0" y="6840034"/>
                    <a:pt x="0" y="6761641"/>
                  </a:cubicBezTo>
                  <a:close/>
                </a:path>
              </a:pathLst>
            </a:custGeom>
            <a:solidFill>
              <a:srgbClr val="0F2038"/>
            </a:solidFill>
            <a:ln w="19050" cap="sq">
              <a:solidFill>
                <a:srgbClr val="1E3358"/>
              </a:solidFill>
              <a:prstDash val="solid"/>
              <a:miter/>
            </a:ln>
          </p:spPr>
        </p:sp>
      </p:grpSp>
      <p:grpSp>
        <p:nvGrpSpPr>
          <p:cNvPr name="Group 16" id="16"/>
          <p:cNvGrpSpPr/>
          <p:nvPr/>
        </p:nvGrpSpPr>
        <p:grpSpPr>
          <a:xfrm rot="0">
            <a:off x="1124712" y="3086100"/>
            <a:ext cx="1165860" cy="438912"/>
            <a:chOff x="0" y="0"/>
            <a:chExt cx="1554480" cy="585216"/>
          </a:xfrm>
        </p:grpSpPr>
        <p:sp>
          <p:nvSpPr>
            <p:cNvPr name="Freeform 17" id="17"/>
            <p:cNvSpPr/>
            <p:nvPr/>
          </p:nvSpPr>
          <p:spPr>
            <a:xfrm flipH="false" flipV="false" rot="0">
              <a:off x="0" y="0"/>
              <a:ext cx="1554480" cy="585216"/>
            </a:xfrm>
            <a:custGeom>
              <a:avLst/>
              <a:gdLst/>
              <a:ahLst/>
              <a:cxnLst/>
              <a:rect r="r" b="b" t="t" l="l"/>
              <a:pathLst>
                <a:path h="585216" w="1554480">
                  <a:moveTo>
                    <a:pt x="0" y="292608"/>
                  </a:moveTo>
                  <a:cubicBezTo>
                    <a:pt x="0" y="131064"/>
                    <a:pt x="131064" y="0"/>
                    <a:pt x="292608" y="0"/>
                  </a:cubicBezTo>
                  <a:lnTo>
                    <a:pt x="1261872" y="0"/>
                  </a:lnTo>
                  <a:cubicBezTo>
                    <a:pt x="1423416" y="0"/>
                    <a:pt x="1554480" y="131064"/>
                    <a:pt x="1554480" y="292608"/>
                  </a:cubicBezTo>
                  <a:cubicBezTo>
                    <a:pt x="1554480" y="454152"/>
                    <a:pt x="1423416" y="585216"/>
                    <a:pt x="1261872" y="585216"/>
                  </a:cubicBezTo>
                  <a:lnTo>
                    <a:pt x="292608" y="585216"/>
                  </a:lnTo>
                  <a:cubicBezTo>
                    <a:pt x="131064" y="585216"/>
                    <a:pt x="0" y="454152"/>
                    <a:pt x="0" y="292608"/>
                  </a:cubicBezTo>
                  <a:close/>
                </a:path>
              </a:pathLst>
            </a:custGeom>
            <a:solidFill>
              <a:srgbClr val="00E5C7"/>
            </a:solidFill>
          </p:spPr>
        </p:sp>
      </p:grpSp>
      <p:grpSp>
        <p:nvGrpSpPr>
          <p:cNvPr name="Group 18" id="18"/>
          <p:cNvGrpSpPr/>
          <p:nvPr/>
        </p:nvGrpSpPr>
        <p:grpSpPr>
          <a:xfrm rot="0">
            <a:off x="1124712" y="3072384"/>
            <a:ext cx="1165860" cy="466344"/>
            <a:chOff x="0" y="0"/>
            <a:chExt cx="1554480" cy="621792"/>
          </a:xfrm>
        </p:grpSpPr>
        <p:sp>
          <p:nvSpPr>
            <p:cNvPr name="Freeform 19" id="19"/>
            <p:cNvSpPr/>
            <p:nvPr/>
          </p:nvSpPr>
          <p:spPr>
            <a:xfrm flipH="false" flipV="false" rot="0">
              <a:off x="0" y="0"/>
              <a:ext cx="1554480" cy="621792"/>
            </a:xfrm>
            <a:custGeom>
              <a:avLst/>
              <a:gdLst/>
              <a:ahLst/>
              <a:cxnLst/>
              <a:rect r="r" b="b" t="t" l="l"/>
              <a:pathLst>
                <a:path h="621792" w="1554480">
                  <a:moveTo>
                    <a:pt x="0" y="0"/>
                  </a:moveTo>
                  <a:lnTo>
                    <a:pt x="1554480" y="0"/>
                  </a:lnTo>
                  <a:lnTo>
                    <a:pt x="1554480" y="621792"/>
                  </a:lnTo>
                  <a:lnTo>
                    <a:pt x="0" y="621792"/>
                  </a:lnTo>
                  <a:close/>
                </a:path>
              </a:pathLst>
            </a:custGeom>
            <a:blipFill>
              <a:blip r:embed="rId2">
                <a:alphaModFix amt="0"/>
              </a:blip>
              <a:stretch>
                <a:fillRect l="-1321" t="0" r="-1321" b="0"/>
              </a:stretch>
            </a:blipFill>
          </p:spPr>
        </p:sp>
        <p:sp>
          <p:nvSpPr>
            <p:cNvPr name="TextBox 20" id="20"/>
            <p:cNvSpPr txBox="true"/>
            <p:nvPr/>
          </p:nvSpPr>
          <p:spPr>
            <a:xfrm>
              <a:off x="0" y="-28575"/>
              <a:ext cx="1554480" cy="650367"/>
            </a:xfrm>
            <a:prstGeom prst="rect">
              <a:avLst/>
            </a:prstGeom>
          </p:spPr>
          <p:txBody>
            <a:bodyPr anchor="ctr" rtlCol="false" tIns="0" lIns="0" bIns="0" rIns="0"/>
            <a:lstStyle/>
            <a:p>
              <a:pPr algn="ctr">
                <a:lnSpc>
                  <a:spcPts val="1980"/>
                </a:lnSpc>
              </a:pPr>
              <a:r>
                <a:rPr lang="en-US" sz="1650" b="true">
                  <a:solidFill>
                    <a:srgbClr val="0A1428"/>
                  </a:solidFill>
                  <a:latin typeface="Calibri (MS) Bold"/>
                  <a:ea typeface="Calibri (MS) Bold"/>
                  <a:cs typeface="Calibri (MS) Bold"/>
                  <a:sym typeface="Calibri (MS) Bold"/>
                </a:rPr>
                <a:t>Sprint 1</a:t>
              </a:r>
            </a:p>
          </p:txBody>
        </p:sp>
      </p:grpSp>
      <p:grpSp>
        <p:nvGrpSpPr>
          <p:cNvPr name="Group 21" id="21"/>
          <p:cNvGrpSpPr/>
          <p:nvPr/>
        </p:nvGrpSpPr>
        <p:grpSpPr>
          <a:xfrm rot="0">
            <a:off x="1124712" y="3675888"/>
            <a:ext cx="3305556" cy="411480"/>
            <a:chOff x="0" y="0"/>
            <a:chExt cx="4407408" cy="548640"/>
          </a:xfrm>
        </p:grpSpPr>
        <p:sp>
          <p:nvSpPr>
            <p:cNvPr name="Freeform 22" id="22"/>
            <p:cNvSpPr/>
            <p:nvPr/>
          </p:nvSpPr>
          <p:spPr>
            <a:xfrm flipH="false" flipV="false" rot="0">
              <a:off x="0" y="0"/>
              <a:ext cx="4407408" cy="548640"/>
            </a:xfrm>
            <a:custGeom>
              <a:avLst/>
              <a:gdLst/>
              <a:ahLst/>
              <a:cxnLst/>
              <a:rect r="r" b="b" t="t" l="l"/>
              <a:pathLst>
                <a:path h="548640" w="4407408">
                  <a:moveTo>
                    <a:pt x="0" y="0"/>
                  </a:moveTo>
                  <a:lnTo>
                    <a:pt x="4407408" y="0"/>
                  </a:lnTo>
                  <a:lnTo>
                    <a:pt x="4407408" y="548640"/>
                  </a:lnTo>
                  <a:lnTo>
                    <a:pt x="0" y="548640"/>
                  </a:lnTo>
                  <a:close/>
                </a:path>
              </a:pathLst>
            </a:custGeom>
            <a:blipFill>
              <a:blip r:embed="rId2">
                <a:alphaModFix amt="0"/>
              </a:blip>
              <a:stretch>
                <a:fillRect l="0" t="-106529" r="0" b="-106529"/>
              </a:stretch>
            </a:blipFill>
          </p:spPr>
        </p:sp>
        <p:sp>
          <p:nvSpPr>
            <p:cNvPr name="TextBox 23" id="23"/>
            <p:cNvSpPr txBox="true"/>
            <p:nvPr/>
          </p:nvSpPr>
          <p:spPr>
            <a:xfrm>
              <a:off x="0" y="-38100"/>
              <a:ext cx="4407408" cy="58674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5–11 Aug</a:t>
              </a:r>
            </a:p>
          </p:txBody>
        </p:sp>
      </p:grpSp>
      <p:grpSp>
        <p:nvGrpSpPr>
          <p:cNvPr name="Group 24" id="24"/>
          <p:cNvGrpSpPr/>
          <p:nvPr/>
        </p:nvGrpSpPr>
        <p:grpSpPr>
          <a:xfrm rot="0">
            <a:off x="1124712" y="4251960"/>
            <a:ext cx="3305556" cy="2194560"/>
            <a:chOff x="0" y="0"/>
            <a:chExt cx="4407408" cy="2926080"/>
          </a:xfrm>
        </p:grpSpPr>
        <p:sp>
          <p:nvSpPr>
            <p:cNvPr name="Freeform 25" id="25"/>
            <p:cNvSpPr/>
            <p:nvPr/>
          </p:nvSpPr>
          <p:spPr>
            <a:xfrm flipH="false" flipV="false" rot="0">
              <a:off x="0" y="0"/>
              <a:ext cx="4407408" cy="2926080"/>
            </a:xfrm>
            <a:custGeom>
              <a:avLst/>
              <a:gdLst/>
              <a:ahLst/>
              <a:cxnLst/>
              <a:rect r="r" b="b" t="t" l="l"/>
              <a:pathLst>
                <a:path h="2926080" w="4407408">
                  <a:moveTo>
                    <a:pt x="0" y="0"/>
                  </a:moveTo>
                  <a:lnTo>
                    <a:pt x="4407408" y="0"/>
                  </a:lnTo>
                  <a:lnTo>
                    <a:pt x="4407408" y="2926080"/>
                  </a:lnTo>
                  <a:lnTo>
                    <a:pt x="0" y="2926080"/>
                  </a:lnTo>
                  <a:close/>
                </a:path>
              </a:pathLst>
            </a:custGeom>
            <a:blipFill>
              <a:blip r:embed="rId2">
                <a:alphaModFix amt="0"/>
              </a:blip>
              <a:stretch>
                <a:fillRect l="-35180" t="0" r="-35180" b="0"/>
              </a:stretch>
            </a:blipFill>
          </p:spPr>
        </p:sp>
        <p:sp>
          <p:nvSpPr>
            <p:cNvPr name="TextBox 26" id="26"/>
            <p:cNvSpPr txBox="true"/>
            <p:nvPr/>
          </p:nvSpPr>
          <p:spPr>
            <a:xfrm>
              <a:off x="0" y="-47625"/>
              <a:ext cx="4407408" cy="2973705"/>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Cad</a:t>
              </a:r>
              <a:r>
                <a:rPr lang="en-US" sz="2100" b="true">
                  <a:solidFill>
                    <a:srgbClr val="FFFFFF"/>
                  </a:solidFill>
                  <a:latin typeface="Calibri (MS) Bold"/>
                  <a:ea typeface="Calibri (MS) Bold"/>
                  <a:cs typeface="Calibri (MS) Bold"/>
                  <a:sym typeface="Calibri (MS) Bold"/>
                </a:rPr>
                <a:t>rage &amp; Ingestion Streaming</a:t>
              </a:r>
            </a:p>
          </p:txBody>
        </p:sp>
      </p:grpSp>
      <p:sp>
        <p:nvSpPr>
          <p:cNvPr name="AutoShape 27" id="27"/>
          <p:cNvSpPr/>
          <p:nvPr/>
        </p:nvSpPr>
        <p:spPr>
          <a:xfrm rot="19680">
            <a:off x="1115158" y="7058978"/>
            <a:ext cx="3324663" cy="0"/>
          </a:xfrm>
          <a:prstGeom prst="line">
            <a:avLst/>
          </a:prstGeom>
          <a:ln cap="rnd" w="9525">
            <a:solidFill>
              <a:srgbClr val="1E3358"/>
            </a:solidFill>
            <a:prstDash val="solid"/>
            <a:headEnd type="none" len="sm" w="sm"/>
            <a:tailEnd type="none" len="sm" w="sm"/>
          </a:ln>
        </p:spPr>
      </p:sp>
      <p:grpSp>
        <p:nvGrpSpPr>
          <p:cNvPr name="Group 28" id="28"/>
          <p:cNvGrpSpPr/>
          <p:nvPr/>
        </p:nvGrpSpPr>
        <p:grpSpPr>
          <a:xfrm rot="0">
            <a:off x="1124712" y="7067718"/>
            <a:ext cx="3305556" cy="344917"/>
            <a:chOff x="0" y="0"/>
            <a:chExt cx="4407408" cy="459889"/>
          </a:xfrm>
        </p:grpSpPr>
        <p:sp>
          <p:nvSpPr>
            <p:cNvPr name="Freeform 29" id="29"/>
            <p:cNvSpPr/>
            <p:nvPr/>
          </p:nvSpPr>
          <p:spPr>
            <a:xfrm flipH="false" flipV="false" rot="0">
              <a:off x="0" y="0"/>
              <a:ext cx="4407408" cy="459889"/>
            </a:xfrm>
            <a:custGeom>
              <a:avLst/>
              <a:gdLst/>
              <a:ahLst/>
              <a:cxnLst/>
              <a:rect r="r" b="b" t="t" l="l"/>
              <a:pathLst>
                <a:path h="459889" w="4407408">
                  <a:moveTo>
                    <a:pt x="0" y="0"/>
                  </a:moveTo>
                  <a:lnTo>
                    <a:pt x="4407408" y="0"/>
                  </a:lnTo>
                  <a:lnTo>
                    <a:pt x="4407408" y="459889"/>
                  </a:lnTo>
                  <a:lnTo>
                    <a:pt x="0" y="459889"/>
                  </a:lnTo>
                  <a:close/>
                </a:path>
              </a:pathLst>
            </a:custGeom>
            <a:blipFill>
              <a:blip r:embed="rId2">
                <a:alphaModFix amt="0"/>
              </a:blip>
              <a:stretch>
                <a:fillRect l="0" t="-137029" r="0" b="-136445"/>
              </a:stretch>
            </a:blipFill>
          </p:spPr>
        </p:sp>
        <p:sp>
          <p:nvSpPr>
            <p:cNvPr name="TextBox 30" id="30"/>
            <p:cNvSpPr txBox="true"/>
            <p:nvPr/>
          </p:nvSpPr>
          <p:spPr>
            <a:xfrm>
              <a:off x="0" y="-28575"/>
              <a:ext cx="4407408" cy="488464"/>
            </a:xfrm>
            <a:prstGeom prst="rect">
              <a:avLst/>
            </a:prstGeom>
          </p:spPr>
          <p:txBody>
            <a:bodyPr anchor="ctr" rtlCol="false" tIns="0" lIns="0" bIns="0" rIns="0"/>
            <a:lstStyle/>
            <a:p>
              <a:pPr algn="l">
                <a:lnSpc>
                  <a:spcPts val="1530"/>
                </a:lnSpc>
              </a:pPr>
              <a:r>
                <a:rPr lang="en-US" sz="1275" spc="149">
                  <a:solidFill>
                    <a:srgbClr val="6E84A6"/>
                  </a:solidFill>
                  <a:latin typeface="Calibri (MS)"/>
                  <a:ea typeface="Calibri (MS)"/>
                  <a:cs typeface="Calibri (MS)"/>
                  <a:sym typeface="Calibri (MS)"/>
                </a:rPr>
                <a:t>LED BY</a:t>
              </a:r>
            </a:p>
          </p:txBody>
        </p:sp>
      </p:grpSp>
      <p:grpSp>
        <p:nvGrpSpPr>
          <p:cNvPr name="Group 31" id="31"/>
          <p:cNvGrpSpPr/>
          <p:nvPr/>
        </p:nvGrpSpPr>
        <p:grpSpPr>
          <a:xfrm rot="0">
            <a:off x="1124712" y="7370067"/>
            <a:ext cx="3305556" cy="465889"/>
            <a:chOff x="0" y="0"/>
            <a:chExt cx="4407408" cy="621186"/>
          </a:xfrm>
        </p:grpSpPr>
        <p:sp>
          <p:nvSpPr>
            <p:cNvPr name="Freeform 32" id="32"/>
            <p:cNvSpPr/>
            <p:nvPr/>
          </p:nvSpPr>
          <p:spPr>
            <a:xfrm flipH="false" flipV="false" rot="0">
              <a:off x="0" y="0"/>
              <a:ext cx="4407408" cy="621186"/>
            </a:xfrm>
            <a:custGeom>
              <a:avLst/>
              <a:gdLst/>
              <a:ahLst/>
              <a:cxnLst/>
              <a:rect r="r" b="b" t="t" l="l"/>
              <a:pathLst>
                <a:path h="621186" w="4407408">
                  <a:moveTo>
                    <a:pt x="0" y="0"/>
                  </a:moveTo>
                  <a:lnTo>
                    <a:pt x="4407408" y="0"/>
                  </a:lnTo>
                  <a:lnTo>
                    <a:pt x="4407408" y="621186"/>
                  </a:lnTo>
                  <a:lnTo>
                    <a:pt x="0" y="621186"/>
                  </a:lnTo>
                  <a:close/>
                </a:path>
              </a:pathLst>
            </a:custGeom>
            <a:blipFill>
              <a:blip r:embed="rId2">
                <a:alphaModFix amt="0"/>
              </a:blip>
              <a:stretch>
                <a:fillRect l="0" t="-86728" r="0" b="-89770"/>
              </a:stretch>
            </a:blipFill>
          </p:spPr>
        </p:sp>
        <p:sp>
          <p:nvSpPr>
            <p:cNvPr name="TextBox 33" id="33"/>
            <p:cNvSpPr txBox="true"/>
            <p:nvPr/>
          </p:nvSpPr>
          <p:spPr>
            <a:xfrm>
              <a:off x="0" y="-38100"/>
              <a:ext cx="4407408" cy="659286"/>
            </a:xfrm>
            <a:prstGeom prst="rect">
              <a:avLst/>
            </a:prstGeom>
          </p:spPr>
          <p:txBody>
            <a:bodyPr anchor="ctr" rtlCol="false" tIns="0" lIns="0" bIns="0" rIns="0"/>
            <a:lstStyle/>
            <a:p>
              <a:pPr algn="l">
                <a:lnSpc>
                  <a:spcPts val="2070"/>
                </a:lnSpc>
              </a:pPr>
              <a:r>
                <a:rPr lang="en-US" sz="1725" b="true">
                  <a:solidFill>
                    <a:srgbClr val="00E5C7"/>
                  </a:solidFill>
                  <a:latin typeface="Calibri (MS) Bold"/>
                  <a:ea typeface="Calibri (MS) Bold"/>
                  <a:cs typeface="Calibri (MS) Bold"/>
                  <a:sym typeface="Calibri (MS) Bold"/>
                </a:rPr>
                <a:t>Sabiri / Zahir</a:t>
              </a:r>
            </a:p>
          </p:txBody>
        </p:sp>
      </p:grpSp>
      <p:sp>
        <p:nvSpPr>
          <p:cNvPr name="AutoShape 34" id="34"/>
          <p:cNvSpPr/>
          <p:nvPr/>
        </p:nvSpPr>
        <p:spPr>
          <a:xfrm rot="355320">
            <a:off x="4744422" y="5408295"/>
            <a:ext cx="276939" cy="0"/>
          </a:xfrm>
          <a:prstGeom prst="line">
            <a:avLst/>
          </a:prstGeom>
          <a:ln cap="rnd" w="19050">
            <a:solidFill>
              <a:srgbClr val="6E84A6"/>
            </a:solidFill>
            <a:prstDash val="solid"/>
            <a:headEnd type="none" len="sm" w="sm"/>
            <a:tailEnd type="triangle" len="med" w="lg"/>
          </a:ln>
        </p:spPr>
      </p:sp>
      <p:grpSp>
        <p:nvGrpSpPr>
          <p:cNvPr name="Group 35" id="35"/>
          <p:cNvGrpSpPr/>
          <p:nvPr/>
        </p:nvGrpSpPr>
        <p:grpSpPr>
          <a:xfrm rot="0">
            <a:off x="5024247" y="2733675"/>
            <a:ext cx="3928110" cy="5177612"/>
            <a:chOff x="0" y="0"/>
            <a:chExt cx="5237480" cy="6903483"/>
          </a:xfrm>
        </p:grpSpPr>
        <p:sp>
          <p:nvSpPr>
            <p:cNvPr name="Freeform 36" id="36"/>
            <p:cNvSpPr/>
            <p:nvPr/>
          </p:nvSpPr>
          <p:spPr>
            <a:xfrm flipH="false" flipV="false" rot="0">
              <a:off x="0" y="0"/>
              <a:ext cx="5237480" cy="6903483"/>
            </a:xfrm>
            <a:custGeom>
              <a:avLst/>
              <a:gdLst/>
              <a:ahLst/>
              <a:cxnLst/>
              <a:rect r="r" b="b" t="t" l="l"/>
              <a:pathLst>
                <a:path h="6903483" w="5237480">
                  <a:moveTo>
                    <a:pt x="0" y="141842"/>
                  </a:moveTo>
                  <a:cubicBezTo>
                    <a:pt x="0" y="63449"/>
                    <a:pt x="65786" y="0"/>
                    <a:pt x="147066" y="0"/>
                  </a:cubicBezTo>
                  <a:lnTo>
                    <a:pt x="5090414" y="0"/>
                  </a:lnTo>
                  <a:cubicBezTo>
                    <a:pt x="5171567" y="0"/>
                    <a:pt x="5237480" y="63449"/>
                    <a:pt x="5237480" y="141842"/>
                  </a:cubicBezTo>
                  <a:lnTo>
                    <a:pt x="5237480" y="6761641"/>
                  </a:lnTo>
                  <a:cubicBezTo>
                    <a:pt x="5237480" y="6839911"/>
                    <a:pt x="5171694" y="6903483"/>
                    <a:pt x="5090414" y="6903483"/>
                  </a:cubicBezTo>
                  <a:lnTo>
                    <a:pt x="147066" y="6903483"/>
                  </a:lnTo>
                  <a:cubicBezTo>
                    <a:pt x="65786" y="6903482"/>
                    <a:pt x="0" y="6840034"/>
                    <a:pt x="0" y="6761641"/>
                  </a:cubicBezTo>
                  <a:close/>
                </a:path>
              </a:pathLst>
            </a:custGeom>
            <a:solidFill>
              <a:srgbClr val="0F2038"/>
            </a:solidFill>
            <a:ln w="19050" cap="sq">
              <a:solidFill>
                <a:srgbClr val="1E3358"/>
              </a:solidFill>
              <a:prstDash val="solid"/>
              <a:miter/>
            </a:ln>
          </p:spPr>
        </p:sp>
      </p:grpSp>
      <p:grpSp>
        <p:nvGrpSpPr>
          <p:cNvPr name="Group 37" id="37"/>
          <p:cNvGrpSpPr/>
          <p:nvPr/>
        </p:nvGrpSpPr>
        <p:grpSpPr>
          <a:xfrm rot="0">
            <a:off x="5335524" y="3086100"/>
            <a:ext cx="1165860" cy="438912"/>
            <a:chOff x="0" y="0"/>
            <a:chExt cx="1554480" cy="585216"/>
          </a:xfrm>
        </p:grpSpPr>
        <p:sp>
          <p:nvSpPr>
            <p:cNvPr name="Freeform 38" id="38"/>
            <p:cNvSpPr/>
            <p:nvPr/>
          </p:nvSpPr>
          <p:spPr>
            <a:xfrm flipH="false" flipV="false" rot="0">
              <a:off x="0" y="0"/>
              <a:ext cx="1554480" cy="585216"/>
            </a:xfrm>
            <a:custGeom>
              <a:avLst/>
              <a:gdLst/>
              <a:ahLst/>
              <a:cxnLst/>
              <a:rect r="r" b="b" t="t" l="l"/>
              <a:pathLst>
                <a:path h="585216" w="1554480">
                  <a:moveTo>
                    <a:pt x="0" y="292608"/>
                  </a:moveTo>
                  <a:cubicBezTo>
                    <a:pt x="0" y="131064"/>
                    <a:pt x="131064" y="0"/>
                    <a:pt x="292608" y="0"/>
                  </a:cubicBezTo>
                  <a:lnTo>
                    <a:pt x="1261872" y="0"/>
                  </a:lnTo>
                  <a:cubicBezTo>
                    <a:pt x="1423416" y="0"/>
                    <a:pt x="1554480" y="131064"/>
                    <a:pt x="1554480" y="292608"/>
                  </a:cubicBezTo>
                  <a:cubicBezTo>
                    <a:pt x="1554480" y="454152"/>
                    <a:pt x="1423416" y="585216"/>
                    <a:pt x="1261872" y="585216"/>
                  </a:cubicBezTo>
                  <a:lnTo>
                    <a:pt x="292608" y="585216"/>
                  </a:lnTo>
                  <a:cubicBezTo>
                    <a:pt x="131064" y="585216"/>
                    <a:pt x="0" y="454152"/>
                    <a:pt x="0" y="292608"/>
                  </a:cubicBezTo>
                  <a:close/>
                </a:path>
              </a:pathLst>
            </a:custGeom>
            <a:solidFill>
              <a:srgbClr val="4C7CFF"/>
            </a:solidFill>
          </p:spPr>
        </p:sp>
      </p:grpSp>
      <p:grpSp>
        <p:nvGrpSpPr>
          <p:cNvPr name="Group 39" id="39"/>
          <p:cNvGrpSpPr/>
          <p:nvPr/>
        </p:nvGrpSpPr>
        <p:grpSpPr>
          <a:xfrm rot="0">
            <a:off x="5335524" y="3072384"/>
            <a:ext cx="1165860" cy="466344"/>
            <a:chOff x="0" y="0"/>
            <a:chExt cx="1554480" cy="621792"/>
          </a:xfrm>
        </p:grpSpPr>
        <p:sp>
          <p:nvSpPr>
            <p:cNvPr name="Freeform 40" id="40"/>
            <p:cNvSpPr/>
            <p:nvPr/>
          </p:nvSpPr>
          <p:spPr>
            <a:xfrm flipH="false" flipV="false" rot="0">
              <a:off x="0" y="0"/>
              <a:ext cx="1554480" cy="621792"/>
            </a:xfrm>
            <a:custGeom>
              <a:avLst/>
              <a:gdLst/>
              <a:ahLst/>
              <a:cxnLst/>
              <a:rect r="r" b="b" t="t" l="l"/>
              <a:pathLst>
                <a:path h="621792" w="1554480">
                  <a:moveTo>
                    <a:pt x="0" y="0"/>
                  </a:moveTo>
                  <a:lnTo>
                    <a:pt x="1554480" y="0"/>
                  </a:lnTo>
                  <a:lnTo>
                    <a:pt x="1554480" y="621792"/>
                  </a:lnTo>
                  <a:lnTo>
                    <a:pt x="0" y="621792"/>
                  </a:lnTo>
                  <a:close/>
                </a:path>
              </a:pathLst>
            </a:custGeom>
            <a:blipFill>
              <a:blip r:embed="rId2">
                <a:alphaModFix amt="0"/>
              </a:blip>
              <a:stretch>
                <a:fillRect l="-1321" t="0" r="-1321" b="0"/>
              </a:stretch>
            </a:blipFill>
          </p:spPr>
        </p:sp>
        <p:sp>
          <p:nvSpPr>
            <p:cNvPr name="TextBox 41" id="41"/>
            <p:cNvSpPr txBox="true"/>
            <p:nvPr/>
          </p:nvSpPr>
          <p:spPr>
            <a:xfrm>
              <a:off x="0" y="-28575"/>
              <a:ext cx="1554480" cy="650367"/>
            </a:xfrm>
            <a:prstGeom prst="rect">
              <a:avLst/>
            </a:prstGeom>
          </p:spPr>
          <p:txBody>
            <a:bodyPr anchor="ctr" rtlCol="false" tIns="0" lIns="0" bIns="0" rIns="0"/>
            <a:lstStyle/>
            <a:p>
              <a:pPr algn="ctr">
                <a:lnSpc>
                  <a:spcPts val="1980"/>
                </a:lnSpc>
              </a:pPr>
              <a:r>
                <a:rPr lang="en-US" sz="1650" b="true">
                  <a:solidFill>
                    <a:srgbClr val="0A1428"/>
                  </a:solidFill>
                  <a:latin typeface="Calibri (MS) Bold"/>
                  <a:ea typeface="Calibri (MS) Bold"/>
                  <a:cs typeface="Calibri (MS) Bold"/>
                  <a:sym typeface="Calibri (MS) Bold"/>
                </a:rPr>
                <a:t>Sprint 2</a:t>
              </a:r>
            </a:p>
          </p:txBody>
        </p:sp>
      </p:grpSp>
      <p:grpSp>
        <p:nvGrpSpPr>
          <p:cNvPr name="Group 42" id="42"/>
          <p:cNvGrpSpPr/>
          <p:nvPr/>
        </p:nvGrpSpPr>
        <p:grpSpPr>
          <a:xfrm rot="0">
            <a:off x="5335524" y="3675888"/>
            <a:ext cx="3305556" cy="411480"/>
            <a:chOff x="0" y="0"/>
            <a:chExt cx="4407408" cy="548640"/>
          </a:xfrm>
        </p:grpSpPr>
        <p:sp>
          <p:nvSpPr>
            <p:cNvPr name="Freeform 43" id="43"/>
            <p:cNvSpPr/>
            <p:nvPr/>
          </p:nvSpPr>
          <p:spPr>
            <a:xfrm flipH="false" flipV="false" rot="0">
              <a:off x="0" y="0"/>
              <a:ext cx="4407408" cy="548640"/>
            </a:xfrm>
            <a:custGeom>
              <a:avLst/>
              <a:gdLst/>
              <a:ahLst/>
              <a:cxnLst/>
              <a:rect r="r" b="b" t="t" l="l"/>
              <a:pathLst>
                <a:path h="548640" w="4407408">
                  <a:moveTo>
                    <a:pt x="0" y="0"/>
                  </a:moveTo>
                  <a:lnTo>
                    <a:pt x="4407408" y="0"/>
                  </a:lnTo>
                  <a:lnTo>
                    <a:pt x="4407408" y="548640"/>
                  </a:lnTo>
                  <a:lnTo>
                    <a:pt x="0" y="548640"/>
                  </a:lnTo>
                  <a:close/>
                </a:path>
              </a:pathLst>
            </a:custGeom>
            <a:blipFill>
              <a:blip r:embed="rId2">
                <a:alphaModFix amt="0"/>
              </a:blip>
              <a:stretch>
                <a:fillRect l="0" t="-106529" r="0" b="-106529"/>
              </a:stretch>
            </a:blipFill>
          </p:spPr>
        </p:sp>
        <p:sp>
          <p:nvSpPr>
            <p:cNvPr name="TextBox 44" id="44"/>
            <p:cNvSpPr txBox="true"/>
            <p:nvPr/>
          </p:nvSpPr>
          <p:spPr>
            <a:xfrm>
              <a:off x="0" y="-38100"/>
              <a:ext cx="4407408" cy="58674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12–18 Aug</a:t>
              </a:r>
            </a:p>
          </p:txBody>
        </p:sp>
      </p:grpSp>
      <p:grpSp>
        <p:nvGrpSpPr>
          <p:cNvPr name="Group 45" id="45"/>
          <p:cNvGrpSpPr/>
          <p:nvPr/>
        </p:nvGrpSpPr>
        <p:grpSpPr>
          <a:xfrm rot="0">
            <a:off x="5335524" y="4251960"/>
            <a:ext cx="3305556" cy="2194560"/>
            <a:chOff x="0" y="0"/>
            <a:chExt cx="4407408" cy="2926080"/>
          </a:xfrm>
        </p:grpSpPr>
        <p:sp>
          <p:nvSpPr>
            <p:cNvPr name="Freeform 46" id="46"/>
            <p:cNvSpPr/>
            <p:nvPr/>
          </p:nvSpPr>
          <p:spPr>
            <a:xfrm flipH="false" flipV="false" rot="0">
              <a:off x="0" y="0"/>
              <a:ext cx="4407408" cy="2926080"/>
            </a:xfrm>
            <a:custGeom>
              <a:avLst/>
              <a:gdLst/>
              <a:ahLst/>
              <a:cxnLst/>
              <a:rect r="r" b="b" t="t" l="l"/>
              <a:pathLst>
                <a:path h="2926080" w="4407408">
                  <a:moveTo>
                    <a:pt x="0" y="0"/>
                  </a:moveTo>
                  <a:lnTo>
                    <a:pt x="4407408" y="0"/>
                  </a:lnTo>
                  <a:lnTo>
                    <a:pt x="4407408" y="2926080"/>
                  </a:lnTo>
                  <a:lnTo>
                    <a:pt x="0" y="2926080"/>
                  </a:lnTo>
                  <a:close/>
                </a:path>
              </a:pathLst>
            </a:custGeom>
            <a:blipFill>
              <a:blip r:embed="rId2">
                <a:alphaModFix amt="0"/>
              </a:blip>
              <a:stretch>
                <a:fillRect l="-35180" t="0" r="-35180" b="0"/>
              </a:stretch>
            </a:blipFill>
          </p:spPr>
        </p:sp>
        <p:sp>
          <p:nvSpPr>
            <p:cNvPr name="TextBox 47" id="47"/>
            <p:cNvSpPr txBox="true"/>
            <p:nvPr/>
          </p:nvSpPr>
          <p:spPr>
            <a:xfrm>
              <a:off x="0" y="-47625"/>
              <a:ext cx="4407408" cy="2973705"/>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Qualité des Données &amp; Orchestration</a:t>
              </a:r>
            </a:p>
          </p:txBody>
        </p:sp>
      </p:grpSp>
      <p:sp>
        <p:nvSpPr>
          <p:cNvPr name="AutoShape 48" id="48"/>
          <p:cNvSpPr/>
          <p:nvPr/>
        </p:nvSpPr>
        <p:spPr>
          <a:xfrm rot="19680">
            <a:off x="5325970" y="7058978"/>
            <a:ext cx="3324663" cy="0"/>
          </a:xfrm>
          <a:prstGeom prst="line">
            <a:avLst/>
          </a:prstGeom>
          <a:ln cap="rnd" w="9525">
            <a:solidFill>
              <a:srgbClr val="1E3358"/>
            </a:solidFill>
            <a:prstDash val="solid"/>
            <a:headEnd type="none" len="sm" w="sm"/>
            <a:tailEnd type="none" len="sm" w="sm"/>
          </a:ln>
        </p:spPr>
      </p:sp>
      <p:grpSp>
        <p:nvGrpSpPr>
          <p:cNvPr name="Group 49" id="49"/>
          <p:cNvGrpSpPr/>
          <p:nvPr/>
        </p:nvGrpSpPr>
        <p:grpSpPr>
          <a:xfrm rot="0">
            <a:off x="5335524" y="7067718"/>
            <a:ext cx="3305556" cy="344917"/>
            <a:chOff x="0" y="0"/>
            <a:chExt cx="4407408" cy="459889"/>
          </a:xfrm>
        </p:grpSpPr>
        <p:sp>
          <p:nvSpPr>
            <p:cNvPr name="Freeform 50" id="50"/>
            <p:cNvSpPr/>
            <p:nvPr/>
          </p:nvSpPr>
          <p:spPr>
            <a:xfrm flipH="false" flipV="false" rot="0">
              <a:off x="0" y="0"/>
              <a:ext cx="4407408" cy="459889"/>
            </a:xfrm>
            <a:custGeom>
              <a:avLst/>
              <a:gdLst/>
              <a:ahLst/>
              <a:cxnLst/>
              <a:rect r="r" b="b" t="t" l="l"/>
              <a:pathLst>
                <a:path h="459889" w="4407408">
                  <a:moveTo>
                    <a:pt x="0" y="0"/>
                  </a:moveTo>
                  <a:lnTo>
                    <a:pt x="4407408" y="0"/>
                  </a:lnTo>
                  <a:lnTo>
                    <a:pt x="4407408" y="459889"/>
                  </a:lnTo>
                  <a:lnTo>
                    <a:pt x="0" y="459889"/>
                  </a:lnTo>
                  <a:close/>
                </a:path>
              </a:pathLst>
            </a:custGeom>
            <a:blipFill>
              <a:blip r:embed="rId2">
                <a:alphaModFix amt="0"/>
              </a:blip>
              <a:stretch>
                <a:fillRect l="0" t="-137029" r="0" b="-136445"/>
              </a:stretch>
            </a:blipFill>
          </p:spPr>
        </p:sp>
        <p:sp>
          <p:nvSpPr>
            <p:cNvPr name="TextBox 51" id="51"/>
            <p:cNvSpPr txBox="true"/>
            <p:nvPr/>
          </p:nvSpPr>
          <p:spPr>
            <a:xfrm>
              <a:off x="0" y="-28575"/>
              <a:ext cx="4407408" cy="488464"/>
            </a:xfrm>
            <a:prstGeom prst="rect">
              <a:avLst/>
            </a:prstGeom>
          </p:spPr>
          <p:txBody>
            <a:bodyPr anchor="ctr" rtlCol="false" tIns="0" lIns="0" bIns="0" rIns="0"/>
            <a:lstStyle/>
            <a:p>
              <a:pPr algn="l">
                <a:lnSpc>
                  <a:spcPts val="1530"/>
                </a:lnSpc>
              </a:pPr>
              <a:r>
                <a:rPr lang="en-US" sz="1275" spc="149">
                  <a:solidFill>
                    <a:srgbClr val="6E84A6"/>
                  </a:solidFill>
                  <a:latin typeface="Calibri (MS)"/>
                  <a:ea typeface="Calibri (MS)"/>
                  <a:cs typeface="Calibri (MS)"/>
                  <a:sym typeface="Calibri (MS)"/>
                </a:rPr>
                <a:t>LED BY</a:t>
              </a:r>
            </a:p>
          </p:txBody>
        </p:sp>
      </p:grpSp>
      <p:grpSp>
        <p:nvGrpSpPr>
          <p:cNvPr name="Group 52" id="52"/>
          <p:cNvGrpSpPr/>
          <p:nvPr/>
        </p:nvGrpSpPr>
        <p:grpSpPr>
          <a:xfrm rot="0">
            <a:off x="5335524" y="7370067"/>
            <a:ext cx="3305556" cy="465889"/>
            <a:chOff x="0" y="0"/>
            <a:chExt cx="4407408" cy="621186"/>
          </a:xfrm>
        </p:grpSpPr>
        <p:sp>
          <p:nvSpPr>
            <p:cNvPr name="Freeform 53" id="53"/>
            <p:cNvSpPr/>
            <p:nvPr/>
          </p:nvSpPr>
          <p:spPr>
            <a:xfrm flipH="false" flipV="false" rot="0">
              <a:off x="0" y="0"/>
              <a:ext cx="4407408" cy="621186"/>
            </a:xfrm>
            <a:custGeom>
              <a:avLst/>
              <a:gdLst/>
              <a:ahLst/>
              <a:cxnLst/>
              <a:rect r="r" b="b" t="t" l="l"/>
              <a:pathLst>
                <a:path h="621186" w="4407408">
                  <a:moveTo>
                    <a:pt x="0" y="0"/>
                  </a:moveTo>
                  <a:lnTo>
                    <a:pt x="4407408" y="0"/>
                  </a:lnTo>
                  <a:lnTo>
                    <a:pt x="4407408" y="621186"/>
                  </a:lnTo>
                  <a:lnTo>
                    <a:pt x="0" y="621186"/>
                  </a:lnTo>
                  <a:close/>
                </a:path>
              </a:pathLst>
            </a:custGeom>
            <a:blipFill>
              <a:blip r:embed="rId2">
                <a:alphaModFix amt="0"/>
              </a:blip>
              <a:stretch>
                <a:fillRect l="0" t="-86728" r="0" b="-89770"/>
              </a:stretch>
            </a:blipFill>
          </p:spPr>
        </p:sp>
        <p:sp>
          <p:nvSpPr>
            <p:cNvPr name="TextBox 54" id="54"/>
            <p:cNvSpPr txBox="true"/>
            <p:nvPr/>
          </p:nvSpPr>
          <p:spPr>
            <a:xfrm>
              <a:off x="0" y="-38100"/>
              <a:ext cx="4407408" cy="659286"/>
            </a:xfrm>
            <a:prstGeom prst="rect">
              <a:avLst/>
            </a:prstGeom>
          </p:spPr>
          <p:txBody>
            <a:bodyPr anchor="ctr" rtlCol="false" tIns="0" lIns="0" bIns="0" rIns="0"/>
            <a:lstStyle/>
            <a:p>
              <a:pPr algn="l">
                <a:lnSpc>
                  <a:spcPts val="2070"/>
                </a:lnSpc>
              </a:pPr>
              <a:r>
                <a:rPr lang="en-US" sz="1725" b="true">
                  <a:solidFill>
                    <a:srgbClr val="4C7CFF"/>
                  </a:solidFill>
                  <a:latin typeface="Calibri (MS) Bold"/>
                  <a:ea typeface="Calibri (MS) Bold"/>
                  <a:cs typeface="Calibri (MS) Bold"/>
                  <a:sym typeface="Calibri (MS) Bold"/>
                </a:rPr>
                <a:t>Rbib</a:t>
              </a:r>
            </a:p>
          </p:txBody>
        </p:sp>
      </p:grpSp>
      <p:sp>
        <p:nvSpPr>
          <p:cNvPr name="AutoShape 55" id="55"/>
          <p:cNvSpPr/>
          <p:nvPr/>
        </p:nvSpPr>
        <p:spPr>
          <a:xfrm rot="355320">
            <a:off x="8955234" y="5408295"/>
            <a:ext cx="276939" cy="0"/>
          </a:xfrm>
          <a:prstGeom prst="line">
            <a:avLst/>
          </a:prstGeom>
          <a:ln cap="rnd" w="19050">
            <a:solidFill>
              <a:srgbClr val="6E84A6"/>
            </a:solidFill>
            <a:prstDash val="solid"/>
            <a:headEnd type="none" len="sm" w="sm"/>
            <a:tailEnd type="triangle" len="med" w="lg"/>
          </a:ln>
        </p:spPr>
      </p:sp>
      <p:grpSp>
        <p:nvGrpSpPr>
          <p:cNvPr name="Group 56" id="56"/>
          <p:cNvGrpSpPr/>
          <p:nvPr/>
        </p:nvGrpSpPr>
        <p:grpSpPr>
          <a:xfrm rot="0">
            <a:off x="9235059" y="2733675"/>
            <a:ext cx="3928110" cy="5177612"/>
            <a:chOff x="0" y="0"/>
            <a:chExt cx="5237480" cy="6903483"/>
          </a:xfrm>
        </p:grpSpPr>
        <p:sp>
          <p:nvSpPr>
            <p:cNvPr name="Freeform 57" id="57"/>
            <p:cNvSpPr/>
            <p:nvPr/>
          </p:nvSpPr>
          <p:spPr>
            <a:xfrm flipH="false" flipV="false" rot="0">
              <a:off x="0" y="0"/>
              <a:ext cx="5237480" cy="6903483"/>
            </a:xfrm>
            <a:custGeom>
              <a:avLst/>
              <a:gdLst/>
              <a:ahLst/>
              <a:cxnLst/>
              <a:rect r="r" b="b" t="t" l="l"/>
              <a:pathLst>
                <a:path h="6903483" w="5237480">
                  <a:moveTo>
                    <a:pt x="0" y="141842"/>
                  </a:moveTo>
                  <a:cubicBezTo>
                    <a:pt x="0" y="63449"/>
                    <a:pt x="65786" y="0"/>
                    <a:pt x="147066" y="0"/>
                  </a:cubicBezTo>
                  <a:lnTo>
                    <a:pt x="5090414" y="0"/>
                  </a:lnTo>
                  <a:cubicBezTo>
                    <a:pt x="5171567" y="0"/>
                    <a:pt x="5237480" y="63449"/>
                    <a:pt x="5237480" y="141842"/>
                  </a:cubicBezTo>
                  <a:lnTo>
                    <a:pt x="5237480" y="6761641"/>
                  </a:lnTo>
                  <a:cubicBezTo>
                    <a:pt x="5237480" y="6839911"/>
                    <a:pt x="5171694" y="6903483"/>
                    <a:pt x="5090414" y="6903483"/>
                  </a:cubicBezTo>
                  <a:lnTo>
                    <a:pt x="147066" y="6903483"/>
                  </a:lnTo>
                  <a:cubicBezTo>
                    <a:pt x="65786" y="6903482"/>
                    <a:pt x="0" y="6840034"/>
                    <a:pt x="0" y="6761641"/>
                  </a:cubicBezTo>
                  <a:close/>
                </a:path>
              </a:pathLst>
            </a:custGeom>
            <a:solidFill>
              <a:srgbClr val="0F2038"/>
            </a:solidFill>
            <a:ln w="19050" cap="sq">
              <a:solidFill>
                <a:srgbClr val="1E3358"/>
              </a:solidFill>
              <a:prstDash val="solid"/>
              <a:miter/>
            </a:ln>
          </p:spPr>
        </p:sp>
      </p:grpSp>
      <p:grpSp>
        <p:nvGrpSpPr>
          <p:cNvPr name="Group 58" id="58"/>
          <p:cNvGrpSpPr/>
          <p:nvPr/>
        </p:nvGrpSpPr>
        <p:grpSpPr>
          <a:xfrm rot="0">
            <a:off x="9546336" y="3086100"/>
            <a:ext cx="1165860" cy="438912"/>
            <a:chOff x="0" y="0"/>
            <a:chExt cx="1554480" cy="585216"/>
          </a:xfrm>
        </p:grpSpPr>
        <p:sp>
          <p:nvSpPr>
            <p:cNvPr name="Freeform 59" id="59"/>
            <p:cNvSpPr/>
            <p:nvPr/>
          </p:nvSpPr>
          <p:spPr>
            <a:xfrm flipH="false" flipV="false" rot="0">
              <a:off x="0" y="0"/>
              <a:ext cx="1554480" cy="585216"/>
            </a:xfrm>
            <a:custGeom>
              <a:avLst/>
              <a:gdLst/>
              <a:ahLst/>
              <a:cxnLst/>
              <a:rect r="r" b="b" t="t" l="l"/>
              <a:pathLst>
                <a:path h="585216" w="1554480">
                  <a:moveTo>
                    <a:pt x="0" y="292608"/>
                  </a:moveTo>
                  <a:cubicBezTo>
                    <a:pt x="0" y="131064"/>
                    <a:pt x="131064" y="0"/>
                    <a:pt x="292608" y="0"/>
                  </a:cubicBezTo>
                  <a:lnTo>
                    <a:pt x="1261872" y="0"/>
                  </a:lnTo>
                  <a:cubicBezTo>
                    <a:pt x="1423416" y="0"/>
                    <a:pt x="1554480" y="131064"/>
                    <a:pt x="1554480" y="292608"/>
                  </a:cubicBezTo>
                  <a:cubicBezTo>
                    <a:pt x="1554480" y="454152"/>
                    <a:pt x="1423416" y="585216"/>
                    <a:pt x="1261872" y="585216"/>
                  </a:cubicBezTo>
                  <a:lnTo>
                    <a:pt x="292608" y="585216"/>
                  </a:lnTo>
                  <a:cubicBezTo>
                    <a:pt x="131064" y="585216"/>
                    <a:pt x="0" y="454152"/>
                    <a:pt x="0" y="292608"/>
                  </a:cubicBezTo>
                  <a:close/>
                </a:path>
              </a:pathLst>
            </a:custGeom>
            <a:solidFill>
              <a:srgbClr val="FFB020"/>
            </a:solidFill>
          </p:spPr>
        </p:sp>
      </p:grpSp>
      <p:grpSp>
        <p:nvGrpSpPr>
          <p:cNvPr name="Group 60" id="60"/>
          <p:cNvGrpSpPr/>
          <p:nvPr/>
        </p:nvGrpSpPr>
        <p:grpSpPr>
          <a:xfrm rot="0">
            <a:off x="9546336" y="3072384"/>
            <a:ext cx="1165860" cy="466344"/>
            <a:chOff x="0" y="0"/>
            <a:chExt cx="1554480" cy="621792"/>
          </a:xfrm>
        </p:grpSpPr>
        <p:sp>
          <p:nvSpPr>
            <p:cNvPr name="Freeform 61" id="61"/>
            <p:cNvSpPr/>
            <p:nvPr/>
          </p:nvSpPr>
          <p:spPr>
            <a:xfrm flipH="false" flipV="false" rot="0">
              <a:off x="0" y="0"/>
              <a:ext cx="1554480" cy="621792"/>
            </a:xfrm>
            <a:custGeom>
              <a:avLst/>
              <a:gdLst/>
              <a:ahLst/>
              <a:cxnLst/>
              <a:rect r="r" b="b" t="t" l="l"/>
              <a:pathLst>
                <a:path h="621792" w="1554480">
                  <a:moveTo>
                    <a:pt x="0" y="0"/>
                  </a:moveTo>
                  <a:lnTo>
                    <a:pt x="1554480" y="0"/>
                  </a:lnTo>
                  <a:lnTo>
                    <a:pt x="1554480" y="621792"/>
                  </a:lnTo>
                  <a:lnTo>
                    <a:pt x="0" y="621792"/>
                  </a:lnTo>
                  <a:close/>
                </a:path>
              </a:pathLst>
            </a:custGeom>
            <a:blipFill>
              <a:blip r:embed="rId2">
                <a:alphaModFix amt="0"/>
              </a:blip>
              <a:stretch>
                <a:fillRect l="-1321" t="0" r="-1321" b="0"/>
              </a:stretch>
            </a:blipFill>
          </p:spPr>
        </p:sp>
        <p:sp>
          <p:nvSpPr>
            <p:cNvPr name="TextBox 62" id="62"/>
            <p:cNvSpPr txBox="true"/>
            <p:nvPr/>
          </p:nvSpPr>
          <p:spPr>
            <a:xfrm>
              <a:off x="0" y="-28575"/>
              <a:ext cx="1554480" cy="650367"/>
            </a:xfrm>
            <a:prstGeom prst="rect">
              <a:avLst/>
            </a:prstGeom>
          </p:spPr>
          <p:txBody>
            <a:bodyPr anchor="ctr" rtlCol="false" tIns="0" lIns="0" bIns="0" rIns="0"/>
            <a:lstStyle/>
            <a:p>
              <a:pPr algn="ctr">
                <a:lnSpc>
                  <a:spcPts val="1980"/>
                </a:lnSpc>
              </a:pPr>
              <a:r>
                <a:rPr lang="en-US" sz="1650" b="true">
                  <a:solidFill>
                    <a:srgbClr val="0A1428"/>
                  </a:solidFill>
                  <a:latin typeface="Calibri (MS) Bold"/>
                  <a:ea typeface="Calibri (MS) Bold"/>
                  <a:cs typeface="Calibri (MS) Bold"/>
                  <a:sym typeface="Calibri (MS) Bold"/>
                </a:rPr>
                <a:t>Sprint 3</a:t>
              </a:r>
            </a:p>
          </p:txBody>
        </p:sp>
      </p:grpSp>
      <p:grpSp>
        <p:nvGrpSpPr>
          <p:cNvPr name="Group 63" id="63"/>
          <p:cNvGrpSpPr/>
          <p:nvPr/>
        </p:nvGrpSpPr>
        <p:grpSpPr>
          <a:xfrm rot="0">
            <a:off x="9546336" y="3675888"/>
            <a:ext cx="3305556" cy="411480"/>
            <a:chOff x="0" y="0"/>
            <a:chExt cx="4407408" cy="548640"/>
          </a:xfrm>
        </p:grpSpPr>
        <p:sp>
          <p:nvSpPr>
            <p:cNvPr name="Freeform 64" id="64"/>
            <p:cNvSpPr/>
            <p:nvPr/>
          </p:nvSpPr>
          <p:spPr>
            <a:xfrm flipH="false" flipV="false" rot="0">
              <a:off x="0" y="0"/>
              <a:ext cx="4407408" cy="548640"/>
            </a:xfrm>
            <a:custGeom>
              <a:avLst/>
              <a:gdLst/>
              <a:ahLst/>
              <a:cxnLst/>
              <a:rect r="r" b="b" t="t" l="l"/>
              <a:pathLst>
                <a:path h="548640" w="4407408">
                  <a:moveTo>
                    <a:pt x="0" y="0"/>
                  </a:moveTo>
                  <a:lnTo>
                    <a:pt x="4407408" y="0"/>
                  </a:lnTo>
                  <a:lnTo>
                    <a:pt x="4407408" y="548640"/>
                  </a:lnTo>
                  <a:lnTo>
                    <a:pt x="0" y="548640"/>
                  </a:lnTo>
                  <a:close/>
                </a:path>
              </a:pathLst>
            </a:custGeom>
            <a:blipFill>
              <a:blip r:embed="rId2">
                <a:alphaModFix amt="0"/>
              </a:blip>
              <a:stretch>
                <a:fillRect l="0" t="-106529" r="0" b="-106529"/>
              </a:stretch>
            </a:blipFill>
          </p:spPr>
        </p:sp>
        <p:sp>
          <p:nvSpPr>
            <p:cNvPr name="TextBox 65" id="65"/>
            <p:cNvSpPr txBox="true"/>
            <p:nvPr/>
          </p:nvSpPr>
          <p:spPr>
            <a:xfrm>
              <a:off x="0" y="-38100"/>
              <a:ext cx="4407408" cy="58674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19–25 Aug</a:t>
              </a:r>
            </a:p>
          </p:txBody>
        </p:sp>
      </p:grpSp>
      <p:grpSp>
        <p:nvGrpSpPr>
          <p:cNvPr name="Group 66" id="66"/>
          <p:cNvGrpSpPr/>
          <p:nvPr/>
        </p:nvGrpSpPr>
        <p:grpSpPr>
          <a:xfrm rot="0">
            <a:off x="9546336" y="4251960"/>
            <a:ext cx="3305556" cy="2194560"/>
            <a:chOff x="0" y="0"/>
            <a:chExt cx="4407408" cy="2926080"/>
          </a:xfrm>
        </p:grpSpPr>
        <p:sp>
          <p:nvSpPr>
            <p:cNvPr name="Freeform 67" id="67"/>
            <p:cNvSpPr/>
            <p:nvPr/>
          </p:nvSpPr>
          <p:spPr>
            <a:xfrm flipH="false" flipV="false" rot="0">
              <a:off x="0" y="0"/>
              <a:ext cx="4407408" cy="2926080"/>
            </a:xfrm>
            <a:custGeom>
              <a:avLst/>
              <a:gdLst/>
              <a:ahLst/>
              <a:cxnLst/>
              <a:rect r="r" b="b" t="t" l="l"/>
              <a:pathLst>
                <a:path h="2926080" w="4407408">
                  <a:moveTo>
                    <a:pt x="0" y="0"/>
                  </a:moveTo>
                  <a:lnTo>
                    <a:pt x="4407408" y="0"/>
                  </a:lnTo>
                  <a:lnTo>
                    <a:pt x="4407408" y="2926080"/>
                  </a:lnTo>
                  <a:lnTo>
                    <a:pt x="0" y="2926080"/>
                  </a:lnTo>
                  <a:close/>
                </a:path>
              </a:pathLst>
            </a:custGeom>
            <a:blipFill>
              <a:blip r:embed="rId2">
                <a:alphaModFix amt="0"/>
              </a:blip>
              <a:stretch>
                <a:fillRect l="-35180" t="0" r="-35180" b="0"/>
              </a:stretch>
            </a:blipFill>
          </p:spPr>
        </p:sp>
        <p:sp>
          <p:nvSpPr>
            <p:cNvPr name="TextBox 68" id="68"/>
            <p:cNvSpPr txBox="true"/>
            <p:nvPr/>
          </p:nvSpPr>
          <p:spPr>
            <a:xfrm>
              <a:off x="0" y="-47625"/>
              <a:ext cx="4407408" cy="2973705"/>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Modélisation ML &amp; Expérimentation</a:t>
              </a:r>
            </a:p>
          </p:txBody>
        </p:sp>
      </p:grpSp>
      <p:sp>
        <p:nvSpPr>
          <p:cNvPr name="AutoShape 69" id="69"/>
          <p:cNvSpPr/>
          <p:nvPr/>
        </p:nvSpPr>
        <p:spPr>
          <a:xfrm rot="19680">
            <a:off x="9536782" y="7058978"/>
            <a:ext cx="3324663" cy="0"/>
          </a:xfrm>
          <a:prstGeom prst="line">
            <a:avLst/>
          </a:prstGeom>
          <a:ln cap="rnd" w="9525">
            <a:solidFill>
              <a:srgbClr val="1E3358"/>
            </a:solidFill>
            <a:prstDash val="solid"/>
            <a:headEnd type="none" len="sm" w="sm"/>
            <a:tailEnd type="none" len="sm" w="sm"/>
          </a:ln>
        </p:spPr>
      </p:sp>
      <p:grpSp>
        <p:nvGrpSpPr>
          <p:cNvPr name="Group 70" id="70"/>
          <p:cNvGrpSpPr/>
          <p:nvPr/>
        </p:nvGrpSpPr>
        <p:grpSpPr>
          <a:xfrm rot="0">
            <a:off x="9546336" y="7067718"/>
            <a:ext cx="3305556" cy="344917"/>
            <a:chOff x="0" y="0"/>
            <a:chExt cx="4407408" cy="459889"/>
          </a:xfrm>
        </p:grpSpPr>
        <p:sp>
          <p:nvSpPr>
            <p:cNvPr name="Freeform 71" id="71"/>
            <p:cNvSpPr/>
            <p:nvPr/>
          </p:nvSpPr>
          <p:spPr>
            <a:xfrm flipH="false" flipV="false" rot="0">
              <a:off x="0" y="0"/>
              <a:ext cx="4407408" cy="459889"/>
            </a:xfrm>
            <a:custGeom>
              <a:avLst/>
              <a:gdLst/>
              <a:ahLst/>
              <a:cxnLst/>
              <a:rect r="r" b="b" t="t" l="l"/>
              <a:pathLst>
                <a:path h="459889" w="4407408">
                  <a:moveTo>
                    <a:pt x="0" y="0"/>
                  </a:moveTo>
                  <a:lnTo>
                    <a:pt x="4407408" y="0"/>
                  </a:lnTo>
                  <a:lnTo>
                    <a:pt x="4407408" y="459889"/>
                  </a:lnTo>
                  <a:lnTo>
                    <a:pt x="0" y="459889"/>
                  </a:lnTo>
                  <a:close/>
                </a:path>
              </a:pathLst>
            </a:custGeom>
            <a:blipFill>
              <a:blip r:embed="rId2">
                <a:alphaModFix amt="0"/>
              </a:blip>
              <a:stretch>
                <a:fillRect l="0" t="-137029" r="0" b="-136445"/>
              </a:stretch>
            </a:blipFill>
          </p:spPr>
        </p:sp>
        <p:sp>
          <p:nvSpPr>
            <p:cNvPr name="TextBox 72" id="72"/>
            <p:cNvSpPr txBox="true"/>
            <p:nvPr/>
          </p:nvSpPr>
          <p:spPr>
            <a:xfrm>
              <a:off x="0" y="-28575"/>
              <a:ext cx="4407408" cy="488464"/>
            </a:xfrm>
            <a:prstGeom prst="rect">
              <a:avLst/>
            </a:prstGeom>
          </p:spPr>
          <p:txBody>
            <a:bodyPr anchor="ctr" rtlCol="false" tIns="0" lIns="0" bIns="0" rIns="0"/>
            <a:lstStyle/>
            <a:p>
              <a:pPr algn="l">
                <a:lnSpc>
                  <a:spcPts val="1530"/>
                </a:lnSpc>
              </a:pPr>
              <a:r>
                <a:rPr lang="en-US" sz="1275" spc="149">
                  <a:solidFill>
                    <a:srgbClr val="6E84A6"/>
                  </a:solidFill>
                  <a:latin typeface="Calibri (MS)"/>
                  <a:ea typeface="Calibri (MS)"/>
                  <a:cs typeface="Calibri (MS)"/>
                  <a:sym typeface="Calibri (MS)"/>
                </a:rPr>
                <a:t>LED BY</a:t>
              </a:r>
            </a:p>
          </p:txBody>
        </p:sp>
      </p:grpSp>
      <p:grpSp>
        <p:nvGrpSpPr>
          <p:cNvPr name="Group 73" id="73"/>
          <p:cNvGrpSpPr/>
          <p:nvPr/>
        </p:nvGrpSpPr>
        <p:grpSpPr>
          <a:xfrm rot="0">
            <a:off x="9546336" y="7370067"/>
            <a:ext cx="3305556" cy="465889"/>
            <a:chOff x="0" y="0"/>
            <a:chExt cx="4407408" cy="621186"/>
          </a:xfrm>
        </p:grpSpPr>
        <p:sp>
          <p:nvSpPr>
            <p:cNvPr name="Freeform 74" id="74"/>
            <p:cNvSpPr/>
            <p:nvPr/>
          </p:nvSpPr>
          <p:spPr>
            <a:xfrm flipH="false" flipV="false" rot="0">
              <a:off x="0" y="0"/>
              <a:ext cx="4407408" cy="621186"/>
            </a:xfrm>
            <a:custGeom>
              <a:avLst/>
              <a:gdLst/>
              <a:ahLst/>
              <a:cxnLst/>
              <a:rect r="r" b="b" t="t" l="l"/>
              <a:pathLst>
                <a:path h="621186" w="4407408">
                  <a:moveTo>
                    <a:pt x="0" y="0"/>
                  </a:moveTo>
                  <a:lnTo>
                    <a:pt x="4407408" y="0"/>
                  </a:lnTo>
                  <a:lnTo>
                    <a:pt x="4407408" y="621186"/>
                  </a:lnTo>
                  <a:lnTo>
                    <a:pt x="0" y="621186"/>
                  </a:lnTo>
                  <a:close/>
                </a:path>
              </a:pathLst>
            </a:custGeom>
            <a:blipFill>
              <a:blip r:embed="rId2">
                <a:alphaModFix amt="0"/>
              </a:blip>
              <a:stretch>
                <a:fillRect l="0" t="-86728" r="0" b="-89770"/>
              </a:stretch>
            </a:blipFill>
          </p:spPr>
        </p:sp>
        <p:sp>
          <p:nvSpPr>
            <p:cNvPr name="TextBox 75" id="75"/>
            <p:cNvSpPr txBox="true"/>
            <p:nvPr/>
          </p:nvSpPr>
          <p:spPr>
            <a:xfrm>
              <a:off x="0" y="-38100"/>
              <a:ext cx="4407408" cy="659286"/>
            </a:xfrm>
            <a:prstGeom prst="rect">
              <a:avLst/>
            </a:prstGeom>
          </p:spPr>
          <p:txBody>
            <a:bodyPr anchor="ctr" rtlCol="false" tIns="0" lIns="0" bIns="0" rIns="0"/>
            <a:lstStyle/>
            <a:p>
              <a:pPr algn="l">
                <a:lnSpc>
                  <a:spcPts val="2070"/>
                </a:lnSpc>
              </a:pPr>
              <a:r>
                <a:rPr lang="en-US" sz="1725" b="true">
                  <a:solidFill>
                    <a:srgbClr val="FFB020"/>
                  </a:solidFill>
                  <a:latin typeface="Calibri (MS) Bold"/>
                  <a:ea typeface="Calibri (MS) Bold"/>
                  <a:cs typeface="Calibri (MS) Bold"/>
                  <a:sym typeface="Calibri (MS) Bold"/>
                </a:rPr>
                <a:t>Hassani</a:t>
              </a:r>
            </a:p>
          </p:txBody>
        </p:sp>
      </p:grpSp>
      <p:sp>
        <p:nvSpPr>
          <p:cNvPr name="AutoShape 76" id="76"/>
          <p:cNvSpPr/>
          <p:nvPr/>
        </p:nvSpPr>
        <p:spPr>
          <a:xfrm rot="355320">
            <a:off x="13166046" y="5408295"/>
            <a:ext cx="276939" cy="0"/>
          </a:xfrm>
          <a:prstGeom prst="line">
            <a:avLst/>
          </a:prstGeom>
          <a:ln cap="rnd" w="19050">
            <a:solidFill>
              <a:srgbClr val="6E84A6"/>
            </a:solidFill>
            <a:prstDash val="solid"/>
            <a:headEnd type="none" len="sm" w="sm"/>
            <a:tailEnd type="triangle" len="med" w="lg"/>
          </a:ln>
        </p:spPr>
      </p:sp>
      <p:grpSp>
        <p:nvGrpSpPr>
          <p:cNvPr name="Group 77" id="77"/>
          <p:cNvGrpSpPr/>
          <p:nvPr/>
        </p:nvGrpSpPr>
        <p:grpSpPr>
          <a:xfrm rot="0">
            <a:off x="13445871" y="2733675"/>
            <a:ext cx="3928110" cy="5177612"/>
            <a:chOff x="0" y="0"/>
            <a:chExt cx="5237480" cy="6903483"/>
          </a:xfrm>
        </p:grpSpPr>
        <p:sp>
          <p:nvSpPr>
            <p:cNvPr name="Freeform 78" id="78"/>
            <p:cNvSpPr/>
            <p:nvPr/>
          </p:nvSpPr>
          <p:spPr>
            <a:xfrm flipH="false" flipV="false" rot="0">
              <a:off x="0" y="0"/>
              <a:ext cx="5237480" cy="6903483"/>
            </a:xfrm>
            <a:custGeom>
              <a:avLst/>
              <a:gdLst/>
              <a:ahLst/>
              <a:cxnLst/>
              <a:rect r="r" b="b" t="t" l="l"/>
              <a:pathLst>
                <a:path h="6903483" w="5237480">
                  <a:moveTo>
                    <a:pt x="0" y="141842"/>
                  </a:moveTo>
                  <a:cubicBezTo>
                    <a:pt x="0" y="63449"/>
                    <a:pt x="65786" y="0"/>
                    <a:pt x="147066" y="0"/>
                  </a:cubicBezTo>
                  <a:lnTo>
                    <a:pt x="5090414" y="0"/>
                  </a:lnTo>
                  <a:cubicBezTo>
                    <a:pt x="5171567" y="0"/>
                    <a:pt x="5237480" y="63449"/>
                    <a:pt x="5237480" y="141842"/>
                  </a:cubicBezTo>
                  <a:lnTo>
                    <a:pt x="5237480" y="6761641"/>
                  </a:lnTo>
                  <a:cubicBezTo>
                    <a:pt x="5237480" y="6839911"/>
                    <a:pt x="5171694" y="6903483"/>
                    <a:pt x="5090414" y="6903483"/>
                  </a:cubicBezTo>
                  <a:lnTo>
                    <a:pt x="147066" y="6903483"/>
                  </a:lnTo>
                  <a:cubicBezTo>
                    <a:pt x="65786" y="6903482"/>
                    <a:pt x="0" y="6840034"/>
                    <a:pt x="0" y="6761641"/>
                  </a:cubicBezTo>
                  <a:close/>
                </a:path>
              </a:pathLst>
            </a:custGeom>
            <a:solidFill>
              <a:srgbClr val="13294A"/>
            </a:solidFill>
            <a:ln w="19050" cap="sq">
              <a:solidFill>
                <a:srgbClr val="1E3358"/>
              </a:solidFill>
              <a:prstDash val="solid"/>
              <a:miter/>
            </a:ln>
          </p:spPr>
        </p:sp>
      </p:grpSp>
      <p:grpSp>
        <p:nvGrpSpPr>
          <p:cNvPr name="Group 79" id="79"/>
          <p:cNvGrpSpPr/>
          <p:nvPr/>
        </p:nvGrpSpPr>
        <p:grpSpPr>
          <a:xfrm rot="0">
            <a:off x="13757148" y="3086100"/>
            <a:ext cx="1165860" cy="438912"/>
            <a:chOff x="0" y="0"/>
            <a:chExt cx="1554480" cy="585216"/>
          </a:xfrm>
        </p:grpSpPr>
        <p:sp>
          <p:nvSpPr>
            <p:cNvPr name="Freeform 80" id="80"/>
            <p:cNvSpPr/>
            <p:nvPr/>
          </p:nvSpPr>
          <p:spPr>
            <a:xfrm flipH="false" flipV="false" rot="0">
              <a:off x="0" y="0"/>
              <a:ext cx="1554480" cy="585216"/>
            </a:xfrm>
            <a:custGeom>
              <a:avLst/>
              <a:gdLst/>
              <a:ahLst/>
              <a:cxnLst/>
              <a:rect r="r" b="b" t="t" l="l"/>
              <a:pathLst>
                <a:path h="585216" w="1554480">
                  <a:moveTo>
                    <a:pt x="0" y="292608"/>
                  </a:moveTo>
                  <a:cubicBezTo>
                    <a:pt x="0" y="131064"/>
                    <a:pt x="131064" y="0"/>
                    <a:pt x="292608" y="0"/>
                  </a:cubicBezTo>
                  <a:lnTo>
                    <a:pt x="1261872" y="0"/>
                  </a:lnTo>
                  <a:cubicBezTo>
                    <a:pt x="1423416" y="0"/>
                    <a:pt x="1554480" y="131064"/>
                    <a:pt x="1554480" y="292608"/>
                  </a:cubicBezTo>
                  <a:cubicBezTo>
                    <a:pt x="1554480" y="454152"/>
                    <a:pt x="1423416" y="585216"/>
                    <a:pt x="1261872" y="585216"/>
                  </a:cubicBezTo>
                  <a:lnTo>
                    <a:pt x="292608" y="585216"/>
                  </a:lnTo>
                  <a:cubicBezTo>
                    <a:pt x="131064" y="585216"/>
                    <a:pt x="0" y="454152"/>
                    <a:pt x="0" y="292608"/>
                  </a:cubicBezTo>
                  <a:close/>
                </a:path>
              </a:pathLst>
            </a:custGeom>
            <a:solidFill>
              <a:srgbClr val="FF4B5C"/>
            </a:solidFill>
          </p:spPr>
        </p:sp>
      </p:grpSp>
      <p:grpSp>
        <p:nvGrpSpPr>
          <p:cNvPr name="Group 81" id="81"/>
          <p:cNvGrpSpPr/>
          <p:nvPr/>
        </p:nvGrpSpPr>
        <p:grpSpPr>
          <a:xfrm rot="0">
            <a:off x="13757148" y="3072384"/>
            <a:ext cx="1165860" cy="466344"/>
            <a:chOff x="0" y="0"/>
            <a:chExt cx="1554480" cy="621792"/>
          </a:xfrm>
        </p:grpSpPr>
        <p:sp>
          <p:nvSpPr>
            <p:cNvPr name="Freeform 82" id="82"/>
            <p:cNvSpPr/>
            <p:nvPr/>
          </p:nvSpPr>
          <p:spPr>
            <a:xfrm flipH="false" flipV="false" rot="0">
              <a:off x="0" y="0"/>
              <a:ext cx="1554480" cy="621792"/>
            </a:xfrm>
            <a:custGeom>
              <a:avLst/>
              <a:gdLst/>
              <a:ahLst/>
              <a:cxnLst/>
              <a:rect r="r" b="b" t="t" l="l"/>
              <a:pathLst>
                <a:path h="621792" w="1554480">
                  <a:moveTo>
                    <a:pt x="0" y="0"/>
                  </a:moveTo>
                  <a:lnTo>
                    <a:pt x="1554480" y="0"/>
                  </a:lnTo>
                  <a:lnTo>
                    <a:pt x="1554480" y="621792"/>
                  </a:lnTo>
                  <a:lnTo>
                    <a:pt x="0" y="621792"/>
                  </a:lnTo>
                  <a:close/>
                </a:path>
              </a:pathLst>
            </a:custGeom>
            <a:blipFill>
              <a:blip r:embed="rId2">
                <a:alphaModFix amt="0"/>
              </a:blip>
              <a:stretch>
                <a:fillRect l="-1321" t="0" r="-1321" b="0"/>
              </a:stretch>
            </a:blipFill>
          </p:spPr>
        </p:sp>
        <p:sp>
          <p:nvSpPr>
            <p:cNvPr name="TextBox 83" id="83"/>
            <p:cNvSpPr txBox="true"/>
            <p:nvPr/>
          </p:nvSpPr>
          <p:spPr>
            <a:xfrm>
              <a:off x="0" y="-28575"/>
              <a:ext cx="1554480" cy="650367"/>
            </a:xfrm>
            <a:prstGeom prst="rect">
              <a:avLst/>
            </a:prstGeom>
          </p:spPr>
          <p:txBody>
            <a:bodyPr anchor="ctr" rtlCol="false" tIns="0" lIns="0" bIns="0" rIns="0"/>
            <a:lstStyle/>
            <a:p>
              <a:pPr algn="ctr">
                <a:lnSpc>
                  <a:spcPts val="1980"/>
                </a:lnSpc>
              </a:pPr>
              <a:r>
                <a:rPr lang="en-US" sz="1650" b="true">
                  <a:solidFill>
                    <a:srgbClr val="0A1428"/>
                  </a:solidFill>
                  <a:latin typeface="Calibri (MS) Bold"/>
                  <a:ea typeface="Calibri (MS) Bold"/>
                  <a:cs typeface="Calibri (MS) Bold"/>
                  <a:sym typeface="Calibri (MS) Bold"/>
                </a:rPr>
                <a:t>Sprint 4</a:t>
              </a:r>
            </a:p>
          </p:txBody>
        </p:sp>
      </p:grpSp>
      <p:grpSp>
        <p:nvGrpSpPr>
          <p:cNvPr name="Group 84" id="84"/>
          <p:cNvGrpSpPr/>
          <p:nvPr/>
        </p:nvGrpSpPr>
        <p:grpSpPr>
          <a:xfrm rot="0">
            <a:off x="13757148" y="3675888"/>
            <a:ext cx="3305556" cy="411480"/>
            <a:chOff x="0" y="0"/>
            <a:chExt cx="4407408" cy="548640"/>
          </a:xfrm>
        </p:grpSpPr>
        <p:sp>
          <p:nvSpPr>
            <p:cNvPr name="Freeform 85" id="85"/>
            <p:cNvSpPr/>
            <p:nvPr/>
          </p:nvSpPr>
          <p:spPr>
            <a:xfrm flipH="false" flipV="false" rot="0">
              <a:off x="0" y="0"/>
              <a:ext cx="4407408" cy="548640"/>
            </a:xfrm>
            <a:custGeom>
              <a:avLst/>
              <a:gdLst/>
              <a:ahLst/>
              <a:cxnLst/>
              <a:rect r="r" b="b" t="t" l="l"/>
              <a:pathLst>
                <a:path h="548640" w="4407408">
                  <a:moveTo>
                    <a:pt x="0" y="0"/>
                  </a:moveTo>
                  <a:lnTo>
                    <a:pt x="4407408" y="0"/>
                  </a:lnTo>
                  <a:lnTo>
                    <a:pt x="4407408" y="548640"/>
                  </a:lnTo>
                  <a:lnTo>
                    <a:pt x="0" y="548640"/>
                  </a:lnTo>
                  <a:close/>
                </a:path>
              </a:pathLst>
            </a:custGeom>
            <a:blipFill>
              <a:blip r:embed="rId2">
                <a:alphaModFix amt="0"/>
              </a:blip>
              <a:stretch>
                <a:fillRect l="0" t="-106529" r="0" b="-106529"/>
              </a:stretch>
            </a:blipFill>
          </p:spPr>
        </p:sp>
        <p:sp>
          <p:nvSpPr>
            <p:cNvPr name="TextBox 86" id="86"/>
            <p:cNvSpPr txBox="true"/>
            <p:nvPr/>
          </p:nvSpPr>
          <p:spPr>
            <a:xfrm>
              <a:off x="0" y="-38100"/>
              <a:ext cx="4407408" cy="58674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26 Aug–1 Sep</a:t>
              </a:r>
            </a:p>
          </p:txBody>
        </p:sp>
      </p:grpSp>
      <p:grpSp>
        <p:nvGrpSpPr>
          <p:cNvPr name="Group 87" id="87"/>
          <p:cNvGrpSpPr/>
          <p:nvPr/>
        </p:nvGrpSpPr>
        <p:grpSpPr>
          <a:xfrm rot="0">
            <a:off x="13757148" y="4251960"/>
            <a:ext cx="3305556" cy="2194560"/>
            <a:chOff x="0" y="0"/>
            <a:chExt cx="4407408" cy="2926080"/>
          </a:xfrm>
        </p:grpSpPr>
        <p:sp>
          <p:nvSpPr>
            <p:cNvPr name="Freeform 88" id="88"/>
            <p:cNvSpPr/>
            <p:nvPr/>
          </p:nvSpPr>
          <p:spPr>
            <a:xfrm flipH="false" flipV="false" rot="0">
              <a:off x="0" y="0"/>
              <a:ext cx="4407408" cy="2926080"/>
            </a:xfrm>
            <a:custGeom>
              <a:avLst/>
              <a:gdLst/>
              <a:ahLst/>
              <a:cxnLst/>
              <a:rect r="r" b="b" t="t" l="l"/>
              <a:pathLst>
                <a:path h="2926080" w="4407408">
                  <a:moveTo>
                    <a:pt x="0" y="0"/>
                  </a:moveTo>
                  <a:lnTo>
                    <a:pt x="4407408" y="0"/>
                  </a:lnTo>
                  <a:lnTo>
                    <a:pt x="4407408" y="2926080"/>
                  </a:lnTo>
                  <a:lnTo>
                    <a:pt x="0" y="2926080"/>
                  </a:lnTo>
                  <a:close/>
                </a:path>
              </a:pathLst>
            </a:custGeom>
            <a:blipFill>
              <a:blip r:embed="rId2">
                <a:alphaModFix amt="0"/>
              </a:blip>
              <a:stretch>
                <a:fillRect l="-35180" t="0" r="-35180" b="0"/>
              </a:stretch>
            </a:blipFill>
          </p:spPr>
        </p:sp>
        <p:sp>
          <p:nvSpPr>
            <p:cNvPr name="TextBox 89" id="89"/>
            <p:cNvSpPr txBox="true"/>
            <p:nvPr/>
          </p:nvSpPr>
          <p:spPr>
            <a:xfrm>
              <a:off x="0" y="-47625"/>
              <a:ext cx="4407408" cy="2973705"/>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API, Dashboard, CI/CD &amp; Déploiement </a:t>
              </a:r>
            </a:p>
          </p:txBody>
        </p:sp>
      </p:grpSp>
      <p:sp>
        <p:nvSpPr>
          <p:cNvPr name="AutoShape 90" id="90"/>
          <p:cNvSpPr/>
          <p:nvPr/>
        </p:nvSpPr>
        <p:spPr>
          <a:xfrm rot="19680">
            <a:off x="13747594" y="7058978"/>
            <a:ext cx="3324663" cy="0"/>
          </a:xfrm>
          <a:prstGeom prst="line">
            <a:avLst/>
          </a:prstGeom>
          <a:ln cap="rnd" w="9525">
            <a:solidFill>
              <a:srgbClr val="1E3358"/>
            </a:solidFill>
            <a:prstDash val="solid"/>
            <a:headEnd type="none" len="sm" w="sm"/>
            <a:tailEnd type="none" len="sm" w="sm"/>
          </a:ln>
        </p:spPr>
      </p:sp>
      <p:grpSp>
        <p:nvGrpSpPr>
          <p:cNvPr name="Group 91" id="91"/>
          <p:cNvGrpSpPr/>
          <p:nvPr/>
        </p:nvGrpSpPr>
        <p:grpSpPr>
          <a:xfrm rot="0">
            <a:off x="13757148" y="7067718"/>
            <a:ext cx="3305556" cy="344917"/>
            <a:chOff x="0" y="0"/>
            <a:chExt cx="4407408" cy="459889"/>
          </a:xfrm>
        </p:grpSpPr>
        <p:sp>
          <p:nvSpPr>
            <p:cNvPr name="Freeform 92" id="92"/>
            <p:cNvSpPr/>
            <p:nvPr/>
          </p:nvSpPr>
          <p:spPr>
            <a:xfrm flipH="false" flipV="false" rot="0">
              <a:off x="0" y="0"/>
              <a:ext cx="4407408" cy="459889"/>
            </a:xfrm>
            <a:custGeom>
              <a:avLst/>
              <a:gdLst/>
              <a:ahLst/>
              <a:cxnLst/>
              <a:rect r="r" b="b" t="t" l="l"/>
              <a:pathLst>
                <a:path h="459889" w="4407408">
                  <a:moveTo>
                    <a:pt x="0" y="0"/>
                  </a:moveTo>
                  <a:lnTo>
                    <a:pt x="4407408" y="0"/>
                  </a:lnTo>
                  <a:lnTo>
                    <a:pt x="4407408" y="459889"/>
                  </a:lnTo>
                  <a:lnTo>
                    <a:pt x="0" y="459889"/>
                  </a:lnTo>
                  <a:close/>
                </a:path>
              </a:pathLst>
            </a:custGeom>
            <a:blipFill>
              <a:blip r:embed="rId2">
                <a:alphaModFix amt="0"/>
              </a:blip>
              <a:stretch>
                <a:fillRect l="0" t="-137029" r="0" b="-136445"/>
              </a:stretch>
            </a:blipFill>
          </p:spPr>
        </p:sp>
        <p:sp>
          <p:nvSpPr>
            <p:cNvPr name="TextBox 93" id="93"/>
            <p:cNvSpPr txBox="true"/>
            <p:nvPr/>
          </p:nvSpPr>
          <p:spPr>
            <a:xfrm>
              <a:off x="0" y="-28575"/>
              <a:ext cx="4407408" cy="488464"/>
            </a:xfrm>
            <a:prstGeom prst="rect">
              <a:avLst/>
            </a:prstGeom>
          </p:spPr>
          <p:txBody>
            <a:bodyPr anchor="ctr" rtlCol="false" tIns="0" lIns="0" bIns="0" rIns="0"/>
            <a:lstStyle/>
            <a:p>
              <a:pPr algn="l">
                <a:lnSpc>
                  <a:spcPts val="1530"/>
                </a:lnSpc>
              </a:pPr>
              <a:r>
                <a:rPr lang="en-US" sz="1275" spc="149">
                  <a:solidFill>
                    <a:srgbClr val="6E84A6"/>
                  </a:solidFill>
                  <a:latin typeface="Calibri (MS)"/>
                  <a:ea typeface="Calibri (MS)"/>
                  <a:cs typeface="Calibri (MS)"/>
                  <a:sym typeface="Calibri (MS)"/>
                </a:rPr>
                <a:t>LED BY</a:t>
              </a:r>
            </a:p>
          </p:txBody>
        </p:sp>
      </p:grpSp>
      <p:grpSp>
        <p:nvGrpSpPr>
          <p:cNvPr name="Group 94" id="94"/>
          <p:cNvGrpSpPr/>
          <p:nvPr/>
        </p:nvGrpSpPr>
        <p:grpSpPr>
          <a:xfrm rot="0">
            <a:off x="13757148" y="7370067"/>
            <a:ext cx="3305556" cy="465889"/>
            <a:chOff x="0" y="0"/>
            <a:chExt cx="4407408" cy="621186"/>
          </a:xfrm>
        </p:grpSpPr>
        <p:sp>
          <p:nvSpPr>
            <p:cNvPr name="Freeform 95" id="95"/>
            <p:cNvSpPr/>
            <p:nvPr/>
          </p:nvSpPr>
          <p:spPr>
            <a:xfrm flipH="false" flipV="false" rot="0">
              <a:off x="0" y="0"/>
              <a:ext cx="4407408" cy="621186"/>
            </a:xfrm>
            <a:custGeom>
              <a:avLst/>
              <a:gdLst/>
              <a:ahLst/>
              <a:cxnLst/>
              <a:rect r="r" b="b" t="t" l="l"/>
              <a:pathLst>
                <a:path h="621186" w="4407408">
                  <a:moveTo>
                    <a:pt x="0" y="0"/>
                  </a:moveTo>
                  <a:lnTo>
                    <a:pt x="4407408" y="0"/>
                  </a:lnTo>
                  <a:lnTo>
                    <a:pt x="4407408" y="621186"/>
                  </a:lnTo>
                  <a:lnTo>
                    <a:pt x="0" y="621186"/>
                  </a:lnTo>
                  <a:close/>
                </a:path>
              </a:pathLst>
            </a:custGeom>
            <a:blipFill>
              <a:blip r:embed="rId2">
                <a:alphaModFix amt="0"/>
              </a:blip>
              <a:stretch>
                <a:fillRect l="0" t="-86728" r="0" b="-89770"/>
              </a:stretch>
            </a:blipFill>
          </p:spPr>
        </p:sp>
        <p:sp>
          <p:nvSpPr>
            <p:cNvPr name="TextBox 96" id="96"/>
            <p:cNvSpPr txBox="true"/>
            <p:nvPr/>
          </p:nvSpPr>
          <p:spPr>
            <a:xfrm>
              <a:off x="0" y="-38100"/>
              <a:ext cx="4407408" cy="659286"/>
            </a:xfrm>
            <a:prstGeom prst="rect">
              <a:avLst/>
            </a:prstGeom>
          </p:spPr>
          <p:txBody>
            <a:bodyPr anchor="ctr" rtlCol="false" tIns="0" lIns="0" bIns="0" rIns="0"/>
            <a:lstStyle/>
            <a:p>
              <a:pPr algn="l">
                <a:lnSpc>
                  <a:spcPts val="2070"/>
                </a:lnSpc>
              </a:pPr>
              <a:r>
                <a:rPr lang="en-US" sz="1725" b="true">
                  <a:solidFill>
                    <a:srgbClr val="FF4B5C"/>
                  </a:solidFill>
                  <a:latin typeface="Calibri (MS) Bold"/>
                  <a:ea typeface="Calibri (MS) Bold"/>
                  <a:cs typeface="Calibri (MS) Bold"/>
                  <a:sym typeface="Calibri (MS) Bold"/>
                </a:rPr>
                <a:t>Ait-Tamanait</a:t>
              </a:r>
            </a:p>
          </p:txBody>
        </p:sp>
      </p:grpSp>
      <p:grpSp>
        <p:nvGrpSpPr>
          <p:cNvPr name="Group 97" id="97"/>
          <p:cNvGrpSpPr/>
          <p:nvPr/>
        </p:nvGrpSpPr>
        <p:grpSpPr>
          <a:xfrm rot="0">
            <a:off x="685800" y="9710928"/>
            <a:ext cx="10972800" cy="411480"/>
            <a:chOff x="0" y="0"/>
            <a:chExt cx="14630400" cy="548640"/>
          </a:xfrm>
        </p:grpSpPr>
        <p:sp>
          <p:nvSpPr>
            <p:cNvPr name="Freeform 98" id="9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99" id="99"/>
            <p:cNvSpPr txBox="true"/>
            <p:nvPr/>
          </p:nvSpPr>
          <p:spPr>
            <a:xfrm>
              <a:off x="0" y="-28575"/>
              <a:ext cx="14630400" cy="577215"/>
            </a:xfrm>
            <a:prstGeom prst="rect">
              <a:avLst/>
            </a:prstGeom>
          </p:spPr>
          <p:txBody>
            <a:bodyPr anchor="ctr" rtlCol="false" tIns="0" lIns="0" bIns="0" rIns="0"/>
            <a:lstStyle/>
            <a:p>
              <a:pPr algn="l">
                <a:lnSpc>
                  <a:spcPts val="1620"/>
                </a:lnSpc>
              </a:pPr>
              <a:r>
                <a:rPr lang="en-US" sz="1350" spc="149">
                  <a:solidFill>
                    <a:srgbClr val="6E84A6"/>
                  </a:solidFill>
                  <a:latin typeface="Calibri (MS)"/>
                  <a:ea typeface="Calibri (MS)"/>
                  <a:cs typeface="Calibri (MS)"/>
                  <a:sym typeface="Calibri (MS)"/>
                </a:rPr>
                <a:t>MLSECOPS PLATFORM · AGILE GOVERNANCE</a:t>
              </a:r>
            </a:p>
          </p:txBody>
        </p:sp>
      </p:grpSp>
      <p:grpSp>
        <p:nvGrpSpPr>
          <p:cNvPr name="Group 100" id="100"/>
          <p:cNvGrpSpPr/>
          <p:nvPr/>
        </p:nvGrpSpPr>
        <p:grpSpPr>
          <a:xfrm rot="0">
            <a:off x="16500348" y="9710928"/>
            <a:ext cx="1097280" cy="411480"/>
            <a:chOff x="0" y="0"/>
            <a:chExt cx="1463040" cy="548640"/>
          </a:xfrm>
        </p:grpSpPr>
        <p:sp>
          <p:nvSpPr>
            <p:cNvPr name="Freeform 101" id="101"/>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102" id="102"/>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06 / 32</a:t>
              </a:r>
            </a:p>
          </p:txBody>
        </p:sp>
      </p:grpSp>
      <p:grpSp>
        <p:nvGrpSpPr>
          <p:cNvPr name="Group 103" id="103"/>
          <p:cNvGrpSpPr/>
          <p:nvPr/>
        </p:nvGrpSpPr>
        <p:grpSpPr>
          <a:xfrm rot="0">
            <a:off x="813435" y="8435340"/>
            <a:ext cx="16596360" cy="822960"/>
            <a:chOff x="0" y="0"/>
            <a:chExt cx="22128480" cy="1097280"/>
          </a:xfrm>
        </p:grpSpPr>
        <p:sp>
          <p:nvSpPr>
            <p:cNvPr name="Freeform 104" id="104"/>
            <p:cNvSpPr/>
            <p:nvPr/>
          </p:nvSpPr>
          <p:spPr>
            <a:xfrm flipH="false" flipV="false" rot="0">
              <a:off x="0" y="0"/>
              <a:ext cx="22128480" cy="1097280"/>
            </a:xfrm>
            <a:custGeom>
              <a:avLst/>
              <a:gdLst/>
              <a:ahLst/>
              <a:cxnLst/>
              <a:rect r="r" b="b" t="t" l="l"/>
              <a:pathLst>
                <a:path h="1097280" w="22128480">
                  <a:moveTo>
                    <a:pt x="0" y="0"/>
                  </a:moveTo>
                  <a:lnTo>
                    <a:pt x="22128480" y="0"/>
                  </a:lnTo>
                  <a:lnTo>
                    <a:pt x="22128480" y="1097280"/>
                  </a:lnTo>
                  <a:lnTo>
                    <a:pt x="0" y="1097280"/>
                  </a:lnTo>
                  <a:close/>
                </a:path>
              </a:pathLst>
            </a:custGeom>
            <a:blipFill>
              <a:blip r:embed="rId2">
                <a:alphaModFix amt="0"/>
              </a:blip>
              <a:stretch>
                <a:fillRect l="0" t="-31187" r="79338" b="-31187"/>
              </a:stretch>
            </a:blipFill>
          </p:spPr>
        </p:sp>
        <p:sp>
          <p:nvSpPr>
            <p:cNvPr name="TextBox 105" id="105"/>
            <p:cNvSpPr txBox="true"/>
            <p:nvPr/>
          </p:nvSpPr>
          <p:spPr>
            <a:xfrm>
              <a:off x="0" y="-38100"/>
              <a:ext cx="22128480" cy="113538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Nous avons structuré ce projet sur 4</a:t>
              </a:r>
              <a:r>
                <a:rPr lang="en-US" sz="1500">
                  <a:solidFill>
                    <a:srgbClr val="9FB0C9"/>
                  </a:solidFill>
                  <a:latin typeface="Calibri (MS)"/>
                  <a:ea typeface="Calibri (MS)"/>
                  <a:cs typeface="Calibri (MS)"/>
                  <a:sym typeface="Calibri (MS)"/>
                </a:rPr>
                <a:t> sprints stratégiques. Le Sprint 1 était dédié à l'ingestion des données, le Sprint 2 à la qualité et l'orchestration, le Sprint 3 à l'entraînement du modèle Machine Learning, et le Sprint 4 pour l'API, le dashboard et le déploiement final.</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AGILE GOVERNANCE</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2</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Oumaima El Habti — Scrum Master</a:t>
              </a:r>
            </a:p>
          </p:txBody>
        </p:sp>
      </p:grpSp>
      <p:grpSp>
        <p:nvGrpSpPr>
          <p:cNvPr name="Group 11" id="11"/>
          <p:cNvGrpSpPr/>
          <p:nvPr/>
        </p:nvGrpSpPr>
        <p:grpSpPr>
          <a:xfrm rot="0">
            <a:off x="822960" y="22515"/>
            <a:ext cx="16596360" cy="3516213"/>
            <a:chOff x="0" y="0"/>
            <a:chExt cx="22128480" cy="4688284"/>
          </a:xfrm>
        </p:grpSpPr>
        <p:sp>
          <p:nvSpPr>
            <p:cNvPr name="Freeform 12" id="12"/>
            <p:cNvSpPr/>
            <p:nvPr/>
          </p:nvSpPr>
          <p:spPr>
            <a:xfrm flipH="false" flipV="false" rot="0">
              <a:off x="0" y="0"/>
              <a:ext cx="22128480" cy="4688284"/>
            </a:xfrm>
            <a:custGeom>
              <a:avLst/>
              <a:gdLst/>
              <a:ahLst/>
              <a:cxnLst/>
              <a:rect r="r" b="b" t="t" l="l"/>
              <a:pathLst>
                <a:path h="4688284" w="22128480">
                  <a:moveTo>
                    <a:pt x="0" y="0"/>
                  </a:moveTo>
                  <a:lnTo>
                    <a:pt x="22128480" y="0"/>
                  </a:lnTo>
                  <a:lnTo>
                    <a:pt x="22128480" y="4688284"/>
                  </a:lnTo>
                  <a:lnTo>
                    <a:pt x="0" y="4688284"/>
                  </a:lnTo>
                  <a:close/>
                </a:path>
              </a:pathLst>
            </a:custGeom>
            <a:blipFill>
              <a:blip r:embed="rId2">
                <a:alphaModFix amt="0"/>
              </a:blip>
              <a:stretch>
                <a:fillRect l="0" t="-73439" r="0" b="-10497"/>
              </a:stretch>
            </a:blipFill>
          </p:spPr>
        </p:sp>
        <p:sp>
          <p:nvSpPr>
            <p:cNvPr name="TextBox 13" id="13"/>
            <p:cNvSpPr txBox="true"/>
            <p:nvPr/>
          </p:nvSpPr>
          <p:spPr>
            <a:xfrm>
              <a:off x="0" y="-9525"/>
              <a:ext cx="22128480" cy="4697809"/>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 Feu</a:t>
              </a:r>
              <a:r>
                <a:rPr lang="en-US" sz="4800" b="true">
                  <a:solidFill>
                    <a:srgbClr val="FFFFFF"/>
                  </a:solidFill>
                  <a:latin typeface="Cambria Bold"/>
                  <a:ea typeface="Cambria Bold"/>
                  <a:cs typeface="Cambria Bold"/>
                  <a:sym typeface="Cambria Bold"/>
                </a:rPr>
                <a:t>ille de Route &amp; Livrables des Sprints</a:t>
              </a:r>
            </a:p>
          </p:txBody>
        </p:sp>
      </p:grpSp>
      <p:grpSp>
        <p:nvGrpSpPr>
          <p:cNvPr name="Group 14" id="14"/>
          <p:cNvGrpSpPr/>
          <p:nvPr/>
        </p:nvGrpSpPr>
        <p:grpSpPr>
          <a:xfrm rot="0">
            <a:off x="685800" y="9710928"/>
            <a:ext cx="10972800" cy="411480"/>
            <a:chOff x="0" y="0"/>
            <a:chExt cx="14630400" cy="548640"/>
          </a:xfrm>
        </p:grpSpPr>
        <p:sp>
          <p:nvSpPr>
            <p:cNvPr name="Freeform 15" id="1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16" id="16"/>
            <p:cNvSpPr txBox="true"/>
            <p:nvPr/>
          </p:nvSpPr>
          <p:spPr>
            <a:xfrm>
              <a:off x="0" y="-28575"/>
              <a:ext cx="14630400" cy="577215"/>
            </a:xfrm>
            <a:prstGeom prst="rect">
              <a:avLst/>
            </a:prstGeom>
          </p:spPr>
          <p:txBody>
            <a:bodyPr anchor="ctr" rtlCol="false" tIns="0" lIns="0" bIns="0" rIns="0"/>
            <a:lstStyle/>
            <a:p>
              <a:pPr algn="l">
                <a:lnSpc>
                  <a:spcPts val="1620"/>
                </a:lnSpc>
              </a:pPr>
              <a:r>
                <a:rPr lang="en-US" sz="1350" spc="149">
                  <a:solidFill>
                    <a:srgbClr val="6E84A6"/>
                  </a:solidFill>
                  <a:latin typeface="Calibri (MS)"/>
                  <a:ea typeface="Calibri (MS)"/>
                  <a:cs typeface="Calibri (MS)"/>
                  <a:sym typeface="Calibri (MS)"/>
                </a:rPr>
                <a:t>MLSECOPS PLATFORM · AGILE GOVERNANCE</a:t>
              </a:r>
            </a:p>
          </p:txBody>
        </p:sp>
      </p:grpSp>
      <p:grpSp>
        <p:nvGrpSpPr>
          <p:cNvPr name="Group 17" id="17"/>
          <p:cNvGrpSpPr/>
          <p:nvPr/>
        </p:nvGrpSpPr>
        <p:grpSpPr>
          <a:xfrm rot="0">
            <a:off x="16500348" y="9710928"/>
            <a:ext cx="1097280" cy="411480"/>
            <a:chOff x="0" y="0"/>
            <a:chExt cx="1463040" cy="548640"/>
          </a:xfrm>
        </p:grpSpPr>
        <p:sp>
          <p:nvSpPr>
            <p:cNvPr name="Freeform 18" id="18"/>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19" id="19"/>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06 / 32</a:t>
              </a:r>
            </a:p>
          </p:txBody>
        </p:sp>
      </p:grpSp>
      <p:grpSp>
        <p:nvGrpSpPr>
          <p:cNvPr name="Group 20" id="20"/>
          <p:cNvGrpSpPr/>
          <p:nvPr/>
        </p:nvGrpSpPr>
        <p:grpSpPr>
          <a:xfrm rot="0">
            <a:off x="813435" y="8435340"/>
            <a:ext cx="16596360" cy="822960"/>
            <a:chOff x="0" y="0"/>
            <a:chExt cx="22128480" cy="1097280"/>
          </a:xfrm>
        </p:grpSpPr>
        <p:sp>
          <p:nvSpPr>
            <p:cNvPr name="Freeform 21" id="21"/>
            <p:cNvSpPr/>
            <p:nvPr/>
          </p:nvSpPr>
          <p:spPr>
            <a:xfrm flipH="false" flipV="false" rot="0">
              <a:off x="0" y="0"/>
              <a:ext cx="22128480" cy="1097280"/>
            </a:xfrm>
            <a:custGeom>
              <a:avLst/>
              <a:gdLst/>
              <a:ahLst/>
              <a:cxnLst/>
              <a:rect r="r" b="b" t="t" l="l"/>
              <a:pathLst>
                <a:path h="1097280" w="22128480">
                  <a:moveTo>
                    <a:pt x="0" y="0"/>
                  </a:moveTo>
                  <a:lnTo>
                    <a:pt x="22128480" y="0"/>
                  </a:lnTo>
                  <a:lnTo>
                    <a:pt x="22128480" y="1097280"/>
                  </a:lnTo>
                  <a:lnTo>
                    <a:pt x="0" y="1097280"/>
                  </a:lnTo>
                  <a:close/>
                </a:path>
              </a:pathLst>
            </a:custGeom>
            <a:blipFill>
              <a:blip r:embed="rId2">
                <a:alphaModFix amt="0"/>
              </a:blip>
              <a:stretch>
                <a:fillRect l="0" t="-31187" r="79338" b="-31187"/>
              </a:stretch>
            </a:blipFill>
          </p:spPr>
        </p:sp>
        <p:sp>
          <p:nvSpPr>
            <p:cNvPr name="TextBox 22" id="22"/>
            <p:cNvSpPr txBox="true"/>
            <p:nvPr/>
          </p:nvSpPr>
          <p:spPr>
            <a:xfrm>
              <a:off x="0" y="-38100"/>
              <a:ext cx="22128480" cy="113538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Nous avons structuré ce projet sur 4</a:t>
              </a:r>
              <a:r>
                <a:rPr lang="en-US" sz="1500">
                  <a:solidFill>
                    <a:srgbClr val="9FB0C9"/>
                  </a:solidFill>
                  <a:latin typeface="Calibri (MS)"/>
                  <a:ea typeface="Calibri (MS)"/>
                  <a:cs typeface="Calibri (MS)"/>
                  <a:sym typeface="Calibri (MS)"/>
                </a:rPr>
                <a:t> sprints stratégiques. Le Sprint 1 était dédié à l'ingestion des données, le Sprint 2 à la qualité et l'orchestration, le Sprint 3 à l'entraînement du modèle Machine Learning, et le Sprint 4 pour l'API, le dashboard et le déploiement final.</a:t>
              </a:r>
            </a:p>
          </p:txBody>
        </p:sp>
      </p:grpSp>
      <p:sp>
        <p:nvSpPr>
          <p:cNvPr name="Freeform 23" id="23"/>
          <p:cNvSpPr/>
          <p:nvPr/>
        </p:nvSpPr>
        <p:spPr>
          <a:xfrm flipH="false" flipV="false" rot="0">
            <a:off x="1070995" y="2433027"/>
            <a:ext cx="8936855" cy="1212103"/>
          </a:xfrm>
          <a:custGeom>
            <a:avLst/>
            <a:gdLst/>
            <a:ahLst/>
            <a:cxnLst/>
            <a:rect r="r" b="b" t="t" l="l"/>
            <a:pathLst>
              <a:path h="1212103" w="8936855">
                <a:moveTo>
                  <a:pt x="0" y="0"/>
                </a:moveTo>
                <a:lnTo>
                  <a:pt x="8936856" y="0"/>
                </a:lnTo>
                <a:lnTo>
                  <a:pt x="8936856" y="1212103"/>
                </a:lnTo>
                <a:lnTo>
                  <a:pt x="0" y="1212103"/>
                </a:lnTo>
                <a:lnTo>
                  <a:pt x="0" y="0"/>
                </a:lnTo>
                <a:close/>
              </a:path>
            </a:pathLst>
          </a:custGeom>
          <a:blipFill>
            <a:blip r:embed="rId3"/>
            <a:stretch>
              <a:fillRect l="0" t="0" r="0" b="0"/>
            </a:stretch>
          </a:blipFill>
        </p:spPr>
      </p:sp>
      <p:sp>
        <p:nvSpPr>
          <p:cNvPr name="Freeform 24" id="24"/>
          <p:cNvSpPr/>
          <p:nvPr/>
        </p:nvSpPr>
        <p:spPr>
          <a:xfrm flipH="false" flipV="false" rot="0">
            <a:off x="1028700" y="3755692"/>
            <a:ext cx="8964986" cy="1810424"/>
          </a:xfrm>
          <a:custGeom>
            <a:avLst/>
            <a:gdLst/>
            <a:ahLst/>
            <a:cxnLst/>
            <a:rect r="r" b="b" t="t" l="l"/>
            <a:pathLst>
              <a:path h="1810424" w="8964986">
                <a:moveTo>
                  <a:pt x="0" y="0"/>
                </a:moveTo>
                <a:lnTo>
                  <a:pt x="8964986" y="0"/>
                </a:lnTo>
                <a:lnTo>
                  <a:pt x="8964986" y="1810423"/>
                </a:lnTo>
                <a:lnTo>
                  <a:pt x="0" y="1810423"/>
                </a:lnTo>
                <a:lnTo>
                  <a:pt x="0" y="0"/>
                </a:lnTo>
                <a:close/>
              </a:path>
            </a:pathLst>
          </a:custGeom>
          <a:blipFill>
            <a:blip r:embed="rId4"/>
            <a:stretch>
              <a:fillRect l="0" t="0" r="0" b="0"/>
            </a:stretch>
          </a:blipFill>
        </p:spPr>
      </p:sp>
      <p:sp>
        <p:nvSpPr>
          <p:cNvPr name="Freeform 25" id="25"/>
          <p:cNvSpPr/>
          <p:nvPr/>
        </p:nvSpPr>
        <p:spPr>
          <a:xfrm flipH="false" flipV="false" rot="0">
            <a:off x="1048317" y="5777202"/>
            <a:ext cx="8959534" cy="1030055"/>
          </a:xfrm>
          <a:custGeom>
            <a:avLst/>
            <a:gdLst/>
            <a:ahLst/>
            <a:cxnLst/>
            <a:rect r="r" b="b" t="t" l="l"/>
            <a:pathLst>
              <a:path h="1030055" w="8959534">
                <a:moveTo>
                  <a:pt x="0" y="0"/>
                </a:moveTo>
                <a:lnTo>
                  <a:pt x="8959534" y="0"/>
                </a:lnTo>
                <a:lnTo>
                  <a:pt x="8959534" y="1030055"/>
                </a:lnTo>
                <a:lnTo>
                  <a:pt x="0" y="1030055"/>
                </a:lnTo>
                <a:lnTo>
                  <a:pt x="0" y="0"/>
                </a:lnTo>
                <a:close/>
              </a:path>
            </a:pathLst>
          </a:custGeom>
          <a:blipFill>
            <a:blip r:embed="rId5"/>
            <a:stretch>
              <a:fillRect l="0" t="0" r="0" b="0"/>
            </a:stretch>
          </a:blipFill>
        </p:spPr>
      </p:sp>
      <p:sp>
        <p:nvSpPr>
          <p:cNvPr name="Freeform 26" id="26"/>
          <p:cNvSpPr/>
          <p:nvPr/>
        </p:nvSpPr>
        <p:spPr>
          <a:xfrm flipH="false" flipV="false" rot="0">
            <a:off x="1045253" y="7017672"/>
            <a:ext cx="8965662" cy="1417668"/>
          </a:xfrm>
          <a:custGeom>
            <a:avLst/>
            <a:gdLst/>
            <a:ahLst/>
            <a:cxnLst/>
            <a:rect r="r" b="b" t="t" l="l"/>
            <a:pathLst>
              <a:path h="1417668" w="8965662">
                <a:moveTo>
                  <a:pt x="0" y="0"/>
                </a:moveTo>
                <a:lnTo>
                  <a:pt x="8965662" y="0"/>
                </a:lnTo>
                <a:lnTo>
                  <a:pt x="8965662" y="1417668"/>
                </a:lnTo>
                <a:lnTo>
                  <a:pt x="0" y="1417668"/>
                </a:lnTo>
                <a:lnTo>
                  <a:pt x="0" y="0"/>
                </a:lnTo>
                <a:close/>
              </a:path>
            </a:pathLst>
          </a:custGeom>
          <a:blipFill>
            <a:blip r:embed="rId6"/>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AGILE GOVERNANCE</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2</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Oumaima El Habti — Scrum Master</a:t>
              </a:r>
            </a:p>
          </p:txBody>
        </p:sp>
      </p:grpSp>
      <p:grpSp>
        <p:nvGrpSpPr>
          <p:cNvPr name="Group 11" id="11"/>
          <p:cNvGrpSpPr/>
          <p:nvPr/>
        </p:nvGrpSpPr>
        <p:grpSpPr>
          <a:xfrm rot="0">
            <a:off x="822960" y="173391"/>
            <a:ext cx="16596360" cy="3516213"/>
            <a:chOff x="0" y="0"/>
            <a:chExt cx="22128480" cy="4688284"/>
          </a:xfrm>
        </p:grpSpPr>
        <p:sp>
          <p:nvSpPr>
            <p:cNvPr name="Freeform 12" id="12"/>
            <p:cNvSpPr/>
            <p:nvPr/>
          </p:nvSpPr>
          <p:spPr>
            <a:xfrm flipH="false" flipV="false" rot="0">
              <a:off x="0" y="0"/>
              <a:ext cx="22128480" cy="4688284"/>
            </a:xfrm>
            <a:custGeom>
              <a:avLst/>
              <a:gdLst/>
              <a:ahLst/>
              <a:cxnLst/>
              <a:rect r="r" b="b" t="t" l="l"/>
              <a:pathLst>
                <a:path h="4688284" w="22128480">
                  <a:moveTo>
                    <a:pt x="0" y="0"/>
                  </a:moveTo>
                  <a:lnTo>
                    <a:pt x="22128480" y="0"/>
                  </a:lnTo>
                  <a:lnTo>
                    <a:pt x="22128480" y="4688284"/>
                  </a:lnTo>
                  <a:lnTo>
                    <a:pt x="0" y="4688284"/>
                  </a:lnTo>
                  <a:close/>
                </a:path>
              </a:pathLst>
            </a:custGeom>
            <a:blipFill>
              <a:blip r:embed="rId2">
                <a:alphaModFix amt="0"/>
              </a:blip>
              <a:stretch>
                <a:fillRect l="0" t="-73439" r="0" b="-10497"/>
              </a:stretch>
            </a:blipFill>
          </p:spPr>
        </p:sp>
        <p:sp>
          <p:nvSpPr>
            <p:cNvPr name="TextBox 13" id="13"/>
            <p:cNvSpPr txBox="true"/>
            <p:nvPr/>
          </p:nvSpPr>
          <p:spPr>
            <a:xfrm>
              <a:off x="0" y="-9525"/>
              <a:ext cx="22128480" cy="4697809"/>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G</a:t>
              </a:r>
              <a:r>
                <a:rPr lang="en-US" sz="4800" b="true">
                  <a:solidFill>
                    <a:srgbClr val="FFFFFF"/>
                  </a:solidFill>
                  <a:latin typeface="Cambria Bold"/>
                  <a:ea typeface="Cambria Bold"/>
                  <a:cs typeface="Cambria Bold"/>
                  <a:sym typeface="Cambria Bold"/>
                </a:rPr>
                <a:t>estion &amp; Suivi sur Jira</a:t>
              </a:r>
            </a:p>
          </p:txBody>
        </p:sp>
      </p:grpSp>
      <p:grpSp>
        <p:nvGrpSpPr>
          <p:cNvPr name="Group 14" id="14"/>
          <p:cNvGrpSpPr/>
          <p:nvPr/>
        </p:nvGrpSpPr>
        <p:grpSpPr>
          <a:xfrm rot="0">
            <a:off x="822960" y="2193422"/>
            <a:ext cx="9875520" cy="822960"/>
            <a:chOff x="0" y="0"/>
            <a:chExt cx="13167360" cy="1097280"/>
          </a:xfrm>
        </p:grpSpPr>
        <p:sp>
          <p:nvSpPr>
            <p:cNvPr name="Freeform 15" id="15"/>
            <p:cNvSpPr/>
            <p:nvPr/>
          </p:nvSpPr>
          <p:spPr>
            <a:xfrm flipH="false" flipV="false" rot="0">
              <a:off x="0" y="0"/>
              <a:ext cx="13167361" cy="1097280"/>
            </a:xfrm>
            <a:custGeom>
              <a:avLst/>
              <a:gdLst/>
              <a:ahLst/>
              <a:cxnLst/>
              <a:rect r="r" b="b" t="t" l="l"/>
              <a:pathLst>
                <a:path h="1097280" w="13167361">
                  <a:moveTo>
                    <a:pt x="0" y="0"/>
                  </a:moveTo>
                  <a:lnTo>
                    <a:pt x="13167361" y="0"/>
                  </a:lnTo>
                  <a:lnTo>
                    <a:pt x="13167361" y="1097280"/>
                  </a:lnTo>
                  <a:lnTo>
                    <a:pt x="0" y="1097280"/>
                  </a:lnTo>
                  <a:close/>
                </a:path>
              </a:pathLst>
            </a:custGeom>
            <a:blipFill>
              <a:blip r:embed="rId2">
                <a:alphaModFix amt="0"/>
              </a:blip>
              <a:stretch>
                <a:fillRect l="0" t="-183820" r="0" b="-183820"/>
              </a:stretch>
            </a:blipFill>
          </p:spPr>
        </p:sp>
        <p:sp>
          <p:nvSpPr>
            <p:cNvPr name="TextBox 16" id="16"/>
            <p:cNvSpPr txBox="true"/>
            <p:nvPr/>
          </p:nvSpPr>
          <p:spPr>
            <a:xfrm>
              <a:off x="0" y="-47625"/>
              <a:ext cx="13167360" cy="1144905"/>
            </a:xfrm>
            <a:prstGeom prst="rect">
              <a:avLst/>
            </a:prstGeom>
          </p:spPr>
          <p:txBody>
            <a:bodyPr anchor="ctr" rtlCol="false" tIns="0" lIns="0" bIns="0" rIns="0"/>
            <a:lstStyle/>
            <a:p>
              <a:pPr algn="l">
                <a:lnSpc>
                  <a:spcPts val="2340"/>
                </a:lnSpc>
              </a:pPr>
              <a:r>
                <a:rPr lang="en-US" sz="1950" i="true">
                  <a:solidFill>
                    <a:srgbClr val="9FB0C9"/>
                  </a:solidFill>
                  <a:latin typeface="Calibri (MS) Italics"/>
                  <a:ea typeface="Calibri (MS) Italics"/>
                  <a:cs typeface="Calibri (MS) Italics"/>
                  <a:sym typeface="Calibri (MS) Italics"/>
                </a:rPr>
                <a:t>Operational visibility across sprint velocity, burn-down, and cross-functional dependencies.</a:t>
              </a:r>
            </a:p>
          </p:txBody>
        </p:sp>
      </p:grpSp>
      <p:sp>
        <p:nvSpPr>
          <p:cNvPr name="TextBox 17" id="17"/>
          <p:cNvSpPr txBox="true"/>
          <p:nvPr/>
        </p:nvSpPr>
        <p:spPr>
          <a:xfrm rot="0">
            <a:off x="822960" y="3115393"/>
            <a:ext cx="9464040" cy="1782509"/>
          </a:xfrm>
          <a:prstGeom prst="rect">
            <a:avLst/>
          </a:prstGeom>
        </p:spPr>
        <p:txBody>
          <a:bodyPr anchor="t" rtlCol="false" tIns="0" lIns="0" bIns="0" rIns="0">
            <a:spAutoFit/>
          </a:bodyPr>
          <a:lstStyle/>
          <a:p>
            <a:pPr algn="l" marL="366474" indent="-183237" lvl="1">
              <a:lnSpc>
                <a:spcPts val="2794"/>
              </a:lnSpc>
              <a:buFont typeface="Arial"/>
              <a:buChar char="•"/>
            </a:pPr>
            <a:r>
              <a:rPr lang="en-US" sz="2025">
                <a:solidFill>
                  <a:srgbClr val="9FB0C9"/>
                </a:solidFill>
                <a:latin typeface="Calibri (MS)"/>
                <a:ea typeface="Calibri (MS)"/>
                <a:cs typeface="Calibri (MS)"/>
                <a:sym typeface="Calibri (MS)"/>
              </a:rPr>
              <a:t>Vé</a:t>
            </a:r>
            <a:r>
              <a:rPr lang="en-US" sz="2025">
                <a:solidFill>
                  <a:srgbClr val="9FB0C9"/>
                </a:solidFill>
                <a:latin typeface="Calibri (MS)"/>
                <a:ea typeface="Calibri (MS)"/>
                <a:cs typeface="Calibri (MS)"/>
                <a:sym typeface="Calibri (MS)"/>
              </a:rPr>
              <a:t>locité suivie ticket par ticket avec le préfixe MSOP-*.</a:t>
            </a:r>
          </a:p>
          <a:p>
            <a:pPr algn="l" marL="366474" indent="-183237" lvl="1">
              <a:lnSpc>
                <a:spcPts val="2794"/>
              </a:lnSpc>
              <a:buFont typeface="Arial"/>
              <a:buChar char="•"/>
            </a:pPr>
            <a:r>
              <a:rPr lang="en-US" sz="2025">
                <a:solidFill>
                  <a:srgbClr val="9FB0C9"/>
                </a:solidFill>
                <a:latin typeface="Calibri (MS)"/>
                <a:ea typeface="Calibri (MS)"/>
                <a:cs typeface="Calibri (MS)"/>
                <a:sym typeface="Calibri (MS)"/>
              </a:rPr>
              <a:t>Anticipation des risques et gestion des délais à chaque sprint d'une semaine.</a:t>
            </a:r>
          </a:p>
          <a:p>
            <a:pPr algn="l" marL="366474" indent="-183237" lvl="1">
              <a:lnSpc>
                <a:spcPts val="2794"/>
              </a:lnSpc>
              <a:buFont typeface="Arial"/>
              <a:buChar char="•"/>
            </a:pPr>
            <a:r>
              <a:rPr lang="en-US" sz="2025">
                <a:solidFill>
                  <a:srgbClr val="9FB0C9"/>
                </a:solidFill>
                <a:latin typeface="Calibri (MS)"/>
                <a:ea typeface="Calibri (MS)"/>
                <a:cs typeface="Calibri (MS)"/>
                <a:sym typeface="Calibri (MS)"/>
              </a:rPr>
              <a:t>Mécanisme de résolution des blocages signalés lors des points de synchronisation.</a:t>
            </a:r>
          </a:p>
          <a:p>
            <a:pPr algn="l" marL="366474" indent="-183237" lvl="1">
              <a:lnSpc>
                <a:spcPts val="2794"/>
              </a:lnSpc>
              <a:buFont typeface="Arial"/>
              <a:buChar char="•"/>
            </a:pPr>
            <a:r>
              <a:rPr lang="en-US" sz="2025">
                <a:solidFill>
                  <a:srgbClr val="9FB0C9"/>
                </a:solidFill>
                <a:latin typeface="Calibri (MS)"/>
                <a:ea typeface="Calibri (MS)"/>
                <a:cs typeface="Calibri (MS)"/>
                <a:sym typeface="Calibri (MS)"/>
              </a:rPr>
              <a:t>Gestion des dépendances entre les ingénieurs Data, ML et l'infrastructure.</a:t>
            </a:r>
          </a:p>
          <a:p>
            <a:pPr algn="l" marL="366474" indent="-183237" lvl="1">
              <a:lnSpc>
                <a:spcPts val="2794"/>
              </a:lnSpc>
              <a:buFont typeface="Arial"/>
              <a:buChar char="•"/>
            </a:pPr>
            <a:r>
              <a:rPr lang="en-US" sz="2025">
                <a:solidFill>
                  <a:srgbClr val="9FB0C9"/>
                </a:solidFill>
                <a:latin typeface="Calibri (MS)"/>
                <a:ea typeface="Calibri (MS)"/>
                <a:cs typeface="Calibri (MS)"/>
                <a:sym typeface="Calibri (MS)"/>
              </a:rPr>
              <a:t>Product Backlog de 30+ tickets couvrant les User Stories, Tasks et Bugs.</a:t>
            </a:r>
          </a:p>
        </p:txBody>
      </p:sp>
      <p:grpSp>
        <p:nvGrpSpPr>
          <p:cNvPr name="Group 18" id="18"/>
          <p:cNvGrpSpPr/>
          <p:nvPr/>
        </p:nvGrpSpPr>
        <p:grpSpPr>
          <a:xfrm rot="0">
            <a:off x="685800" y="9710928"/>
            <a:ext cx="10972800" cy="411480"/>
            <a:chOff x="0" y="0"/>
            <a:chExt cx="14630400" cy="548640"/>
          </a:xfrm>
        </p:grpSpPr>
        <p:sp>
          <p:nvSpPr>
            <p:cNvPr name="Freeform 19" id="19"/>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20" id="20"/>
            <p:cNvSpPr txBox="true"/>
            <p:nvPr/>
          </p:nvSpPr>
          <p:spPr>
            <a:xfrm>
              <a:off x="0" y="-28575"/>
              <a:ext cx="14630400" cy="577215"/>
            </a:xfrm>
            <a:prstGeom prst="rect">
              <a:avLst/>
            </a:prstGeom>
          </p:spPr>
          <p:txBody>
            <a:bodyPr anchor="ctr" rtlCol="false" tIns="0" lIns="0" bIns="0" rIns="0"/>
            <a:lstStyle/>
            <a:p>
              <a:pPr algn="l">
                <a:lnSpc>
                  <a:spcPts val="1620"/>
                </a:lnSpc>
              </a:pPr>
              <a:r>
                <a:rPr lang="en-US" sz="1350" spc="149">
                  <a:solidFill>
                    <a:srgbClr val="6E84A6"/>
                  </a:solidFill>
                  <a:latin typeface="Calibri (MS)"/>
                  <a:ea typeface="Calibri (MS)"/>
                  <a:cs typeface="Calibri (MS)"/>
                  <a:sym typeface="Calibri (MS)"/>
                </a:rPr>
                <a:t>MLSECOPS PLATFORM · AGILE GOVERNANCE</a:t>
              </a:r>
            </a:p>
          </p:txBody>
        </p:sp>
      </p:grpSp>
      <p:grpSp>
        <p:nvGrpSpPr>
          <p:cNvPr name="Group 21" id="21"/>
          <p:cNvGrpSpPr/>
          <p:nvPr/>
        </p:nvGrpSpPr>
        <p:grpSpPr>
          <a:xfrm rot="0">
            <a:off x="16500348" y="9710928"/>
            <a:ext cx="1097280" cy="411480"/>
            <a:chOff x="0" y="0"/>
            <a:chExt cx="1463040" cy="548640"/>
          </a:xfrm>
        </p:grpSpPr>
        <p:sp>
          <p:nvSpPr>
            <p:cNvPr name="Freeform 22" id="22"/>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23" id="23"/>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07 / 32</a:t>
              </a:r>
            </a:p>
          </p:txBody>
        </p:sp>
      </p:grpSp>
      <p:grpSp>
        <p:nvGrpSpPr>
          <p:cNvPr name="Group 24" id="24"/>
          <p:cNvGrpSpPr/>
          <p:nvPr/>
        </p:nvGrpSpPr>
        <p:grpSpPr>
          <a:xfrm rot="0">
            <a:off x="813435" y="8435340"/>
            <a:ext cx="16596360" cy="822960"/>
            <a:chOff x="0" y="0"/>
            <a:chExt cx="22128480" cy="1097280"/>
          </a:xfrm>
        </p:grpSpPr>
        <p:sp>
          <p:nvSpPr>
            <p:cNvPr name="Freeform 25" id="25"/>
            <p:cNvSpPr/>
            <p:nvPr/>
          </p:nvSpPr>
          <p:spPr>
            <a:xfrm flipH="false" flipV="false" rot="0">
              <a:off x="0" y="0"/>
              <a:ext cx="22128480" cy="1097280"/>
            </a:xfrm>
            <a:custGeom>
              <a:avLst/>
              <a:gdLst/>
              <a:ahLst/>
              <a:cxnLst/>
              <a:rect r="r" b="b" t="t" l="l"/>
              <a:pathLst>
                <a:path h="1097280" w="22128480">
                  <a:moveTo>
                    <a:pt x="0" y="0"/>
                  </a:moveTo>
                  <a:lnTo>
                    <a:pt x="22128480" y="0"/>
                  </a:lnTo>
                  <a:lnTo>
                    <a:pt x="22128480" y="1097280"/>
                  </a:lnTo>
                  <a:lnTo>
                    <a:pt x="0" y="1097280"/>
                  </a:lnTo>
                  <a:close/>
                </a:path>
              </a:pathLst>
            </a:custGeom>
            <a:blipFill>
              <a:blip r:embed="rId2">
                <a:alphaModFix amt="0"/>
              </a:blip>
              <a:stretch>
                <a:fillRect l="0" t="-31187" r="79338" b="-31187"/>
              </a:stretch>
            </a:blipFill>
          </p:spPr>
        </p:sp>
        <p:sp>
          <p:nvSpPr>
            <p:cNvPr name="TextBox 26" id="26"/>
            <p:cNvSpPr txBox="true"/>
            <p:nvPr/>
          </p:nvSpPr>
          <p:spPr>
            <a:xfrm>
              <a:off x="0" y="-38100"/>
              <a:ext cx="22128480" cy="113538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Pour gérer tout cela, nou</a:t>
              </a:r>
              <a:r>
                <a:rPr lang="en-US" sz="1500">
                  <a:solidFill>
                    <a:srgbClr val="9FB0C9"/>
                  </a:solidFill>
                  <a:latin typeface="Calibri (MS)"/>
                  <a:ea typeface="Calibri (MS)"/>
                  <a:cs typeface="Calibri (MS)"/>
                  <a:sym typeface="Calibri (MS)"/>
                </a:rPr>
                <a:t>s avons utilisé Jira avec un backlog de plus de 30 tickets. Comme vous pouvez le voir sur ce tableau de notre Sprint 4, cet outil nous a permis de gérer efficacement les dépendances entre les développeurs Data, ML et Plateforme, et d'identifier rapidement les blocages.</a:t>
              </a:r>
            </a:p>
          </p:txBody>
        </p:sp>
      </p:grpSp>
      <p:sp>
        <p:nvSpPr>
          <p:cNvPr name="Freeform 27" id="27"/>
          <p:cNvSpPr/>
          <p:nvPr/>
        </p:nvSpPr>
        <p:spPr>
          <a:xfrm flipH="false" flipV="false" rot="0">
            <a:off x="1977751" y="5235323"/>
            <a:ext cx="11543695" cy="3069602"/>
          </a:xfrm>
          <a:custGeom>
            <a:avLst/>
            <a:gdLst/>
            <a:ahLst/>
            <a:cxnLst/>
            <a:rect r="r" b="b" t="t" l="l"/>
            <a:pathLst>
              <a:path h="3069602" w="11543695">
                <a:moveTo>
                  <a:pt x="0" y="0"/>
                </a:moveTo>
                <a:lnTo>
                  <a:pt x="11543695" y="0"/>
                </a:lnTo>
                <a:lnTo>
                  <a:pt x="11543695" y="3069601"/>
                </a:lnTo>
                <a:lnTo>
                  <a:pt x="0" y="3069601"/>
                </a:lnTo>
                <a:lnTo>
                  <a:pt x="0" y="0"/>
                </a:lnTo>
                <a:close/>
              </a:path>
            </a:pathLst>
          </a:custGeom>
          <a:blipFill>
            <a:blip r:embed="rId3"/>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AGILE GOVERNANCE</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2</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Oumaima El Habti — Scrum Master</a:t>
              </a:r>
            </a:p>
          </p:txBody>
        </p:sp>
      </p:grpSp>
      <p:grpSp>
        <p:nvGrpSpPr>
          <p:cNvPr name="Group 11" id="11"/>
          <p:cNvGrpSpPr/>
          <p:nvPr/>
        </p:nvGrpSpPr>
        <p:grpSpPr>
          <a:xfrm rot="0">
            <a:off x="813435" y="187107"/>
            <a:ext cx="16596360" cy="3516213"/>
            <a:chOff x="0" y="0"/>
            <a:chExt cx="22128480" cy="4688284"/>
          </a:xfrm>
        </p:grpSpPr>
        <p:sp>
          <p:nvSpPr>
            <p:cNvPr name="Freeform 12" id="12"/>
            <p:cNvSpPr/>
            <p:nvPr/>
          </p:nvSpPr>
          <p:spPr>
            <a:xfrm flipH="false" flipV="false" rot="0">
              <a:off x="0" y="0"/>
              <a:ext cx="22128480" cy="4688284"/>
            </a:xfrm>
            <a:custGeom>
              <a:avLst/>
              <a:gdLst/>
              <a:ahLst/>
              <a:cxnLst/>
              <a:rect r="r" b="b" t="t" l="l"/>
              <a:pathLst>
                <a:path h="4688284" w="22128480">
                  <a:moveTo>
                    <a:pt x="0" y="0"/>
                  </a:moveTo>
                  <a:lnTo>
                    <a:pt x="22128480" y="0"/>
                  </a:lnTo>
                  <a:lnTo>
                    <a:pt x="22128480" y="4688284"/>
                  </a:lnTo>
                  <a:lnTo>
                    <a:pt x="0" y="4688284"/>
                  </a:lnTo>
                  <a:close/>
                </a:path>
              </a:pathLst>
            </a:custGeom>
            <a:blipFill>
              <a:blip r:embed="rId2">
                <a:alphaModFix amt="0"/>
              </a:blip>
              <a:stretch>
                <a:fillRect l="0" t="-73439" r="0" b="-10497"/>
              </a:stretch>
            </a:blipFill>
          </p:spPr>
        </p:sp>
        <p:sp>
          <p:nvSpPr>
            <p:cNvPr name="TextBox 13" id="13"/>
            <p:cNvSpPr txBox="true"/>
            <p:nvPr/>
          </p:nvSpPr>
          <p:spPr>
            <a:xfrm>
              <a:off x="0" y="-9525"/>
              <a:ext cx="22128480" cy="4697809"/>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Portes de Qualité des Processus et Flux de Travail </a:t>
              </a:r>
            </a:p>
          </p:txBody>
        </p:sp>
      </p:grpSp>
      <p:grpSp>
        <p:nvGrpSpPr>
          <p:cNvPr name="Group 14" id="14"/>
          <p:cNvGrpSpPr/>
          <p:nvPr/>
        </p:nvGrpSpPr>
        <p:grpSpPr>
          <a:xfrm rot="0">
            <a:off x="813435" y="2733675"/>
            <a:ext cx="5436870" cy="2967990"/>
            <a:chOff x="0" y="0"/>
            <a:chExt cx="7249160" cy="3957320"/>
          </a:xfrm>
        </p:grpSpPr>
        <p:sp>
          <p:nvSpPr>
            <p:cNvPr name="Freeform 15" id="15"/>
            <p:cNvSpPr/>
            <p:nvPr/>
          </p:nvSpPr>
          <p:spPr>
            <a:xfrm flipH="false" flipV="false" rot="0">
              <a:off x="0" y="0"/>
              <a:ext cx="7249161" cy="3957320"/>
            </a:xfrm>
            <a:custGeom>
              <a:avLst/>
              <a:gdLst/>
              <a:ahLst/>
              <a:cxnLst/>
              <a:rect r="r" b="b" t="t" l="l"/>
              <a:pathLst>
                <a:path h="3957320" w="7249161">
                  <a:moveTo>
                    <a:pt x="0" y="147193"/>
                  </a:moveTo>
                  <a:cubicBezTo>
                    <a:pt x="0" y="65913"/>
                    <a:pt x="65913" y="0"/>
                    <a:pt x="147193" y="0"/>
                  </a:cubicBezTo>
                  <a:lnTo>
                    <a:pt x="7101967" y="0"/>
                  </a:lnTo>
                  <a:cubicBezTo>
                    <a:pt x="7183248" y="0"/>
                    <a:pt x="7249161" y="65913"/>
                    <a:pt x="7249161" y="147193"/>
                  </a:cubicBezTo>
                  <a:lnTo>
                    <a:pt x="7249161" y="3810127"/>
                  </a:lnTo>
                  <a:cubicBezTo>
                    <a:pt x="7249161" y="3891407"/>
                    <a:pt x="7183248" y="3957320"/>
                    <a:pt x="7101967" y="3957320"/>
                  </a:cubicBezTo>
                  <a:lnTo>
                    <a:pt x="147193" y="3957320"/>
                  </a:lnTo>
                  <a:cubicBezTo>
                    <a:pt x="65913" y="3957320"/>
                    <a:pt x="0" y="3891407"/>
                    <a:pt x="0" y="3810127"/>
                  </a:cubicBezTo>
                  <a:close/>
                </a:path>
              </a:pathLst>
            </a:custGeom>
            <a:solidFill>
              <a:srgbClr val="0F2038"/>
            </a:solidFill>
            <a:ln w="19050" cap="sq">
              <a:solidFill>
                <a:srgbClr val="1E3358"/>
              </a:solidFill>
              <a:prstDash val="solid"/>
              <a:miter/>
            </a:ln>
          </p:spPr>
        </p:sp>
      </p:grpSp>
      <p:grpSp>
        <p:nvGrpSpPr>
          <p:cNvPr name="Group 16" id="16"/>
          <p:cNvGrpSpPr/>
          <p:nvPr/>
        </p:nvGrpSpPr>
        <p:grpSpPr>
          <a:xfrm rot="0">
            <a:off x="1165860" y="3429000"/>
            <a:ext cx="4800600" cy="548640"/>
            <a:chOff x="0" y="0"/>
            <a:chExt cx="6400800" cy="731520"/>
          </a:xfrm>
        </p:grpSpPr>
        <p:sp>
          <p:nvSpPr>
            <p:cNvPr name="Freeform 17" id="17"/>
            <p:cNvSpPr/>
            <p:nvPr/>
          </p:nvSpPr>
          <p:spPr>
            <a:xfrm flipH="false" flipV="false" rot="0">
              <a:off x="0" y="0"/>
              <a:ext cx="6400800" cy="731520"/>
            </a:xfrm>
            <a:custGeom>
              <a:avLst/>
              <a:gdLst/>
              <a:ahLst/>
              <a:cxnLst/>
              <a:rect r="r" b="b" t="t" l="l"/>
              <a:pathLst>
                <a:path h="731520" w="6400800">
                  <a:moveTo>
                    <a:pt x="0" y="0"/>
                  </a:moveTo>
                  <a:lnTo>
                    <a:pt x="6400800" y="0"/>
                  </a:lnTo>
                  <a:lnTo>
                    <a:pt x="6400800" y="731520"/>
                  </a:lnTo>
                  <a:lnTo>
                    <a:pt x="0" y="731520"/>
                  </a:lnTo>
                  <a:close/>
                </a:path>
              </a:pathLst>
            </a:custGeom>
            <a:blipFill>
              <a:blip r:embed="rId2">
                <a:alphaModFix amt="0"/>
              </a:blip>
              <a:stretch>
                <a:fillRect l="0" t="-120494" r="0" b="-120494"/>
              </a:stretch>
            </a:blipFill>
          </p:spPr>
        </p:sp>
        <p:sp>
          <p:nvSpPr>
            <p:cNvPr name="TextBox 18" id="18"/>
            <p:cNvSpPr txBox="true"/>
            <p:nvPr/>
          </p:nvSpPr>
          <p:spPr>
            <a:xfrm>
              <a:off x="0" y="-38100"/>
              <a:ext cx="6400800" cy="76962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Code</a:t>
              </a:r>
            </a:p>
          </p:txBody>
        </p:sp>
      </p:grpSp>
      <p:grpSp>
        <p:nvGrpSpPr>
          <p:cNvPr name="Group 19" id="19"/>
          <p:cNvGrpSpPr/>
          <p:nvPr/>
        </p:nvGrpSpPr>
        <p:grpSpPr>
          <a:xfrm rot="0">
            <a:off x="1165860" y="4046220"/>
            <a:ext cx="4800600" cy="1371600"/>
            <a:chOff x="0" y="0"/>
            <a:chExt cx="6400800" cy="1828800"/>
          </a:xfrm>
        </p:grpSpPr>
        <p:sp>
          <p:nvSpPr>
            <p:cNvPr name="Freeform 20" id="20"/>
            <p:cNvSpPr/>
            <p:nvPr/>
          </p:nvSpPr>
          <p:spPr>
            <a:xfrm flipH="false" flipV="false" rot="0">
              <a:off x="0" y="0"/>
              <a:ext cx="6400800" cy="1828800"/>
            </a:xfrm>
            <a:custGeom>
              <a:avLst/>
              <a:gdLst/>
              <a:ahLst/>
              <a:cxnLst/>
              <a:rect r="r" b="b" t="t" l="l"/>
              <a:pathLst>
                <a:path h="1828800" w="6400800">
                  <a:moveTo>
                    <a:pt x="0" y="0"/>
                  </a:moveTo>
                  <a:lnTo>
                    <a:pt x="6400800" y="0"/>
                  </a:lnTo>
                  <a:lnTo>
                    <a:pt x="6400800" y="1828800"/>
                  </a:lnTo>
                  <a:lnTo>
                    <a:pt x="0" y="1828800"/>
                  </a:lnTo>
                  <a:close/>
                </a:path>
              </a:pathLst>
            </a:custGeom>
            <a:blipFill>
              <a:blip r:embed="rId2">
                <a:alphaModFix amt="0"/>
              </a:blip>
              <a:stretch>
                <a:fillRect l="0" t="-18197" r="0" b="-18197"/>
              </a:stretch>
            </a:blipFill>
          </p:spPr>
        </p:sp>
        <p:sp>
          <p:nvSpPr>
            <p:cNvPr name="TextBox 21" id="21"/>
            <p:cNvSpPr txBox="true"/>
            <p:nvPr/>
          </p:nvSpPr>
          <p:spPr>
            <a:xfrm>
              <a:off x="0" y="-28575"/>
              <a:ext cx="6400800" cy="185737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R</a:t>
              </a:r>
              <a:r>
                <a:rPr lang="en-US" sz="1650">
                  <a:solidFill>
                    <a:srgbClr val="9FB0C9"/>
                  </a:solidFill>
                  <a:latin typeface="Calibri (MS)"/>
                  <a:ea typeface="Calibri (MS)"/>
                  <a:cs typeface="Calibri (MS)"/>
                  <a:sym typeface="Calibri (MS)"/>
                </a:rPr>
                <a:t>evue par les pairs, hooks pre-commit, linting flake8 avant la fusion. </a:t>
              </a:r>
            </a:p>
          </p:txBody>
        </p:sp>
      </p:grpSp>
      <p:grpSp>
        <p:nvGrpSpPr>
          <p:cNvPr name="Group 22" id="22"/>
          <p:cNvGrpSpPr/>
          <p:nvPr/>
        </p:nvGrpSpPr>
        <p:grpSpPr>
          <a:xfrm rot="0">
            <a:off x="6505575" y="2733675"/>
            <a:ext cx="5436870" cy="2967990"/>
            <a:chOff x="0" y="0"/>
            <a:chExt cx="7249160" cy="3957320"/>
          </a:xfrm>
        </p:grpSpPr>
        <p:sp>
          <p:nvSpPr>
            <p:cNvPr name="Freeform 23" id="23"/>
            <p:cNvSpPr/>
            <p:nvPr/>
          </p:nvSpPr>
          <p:spPr>
            <a:xfrm flipH="false" flipV="false" rot="0">
              <a:off x="0" y="0"/>
              <a:ext cx="7249161" cy="3957320"/>
            </a:xfrm>
            <a:custGeom>
              <a:avLst/>
              <a:gdLst/>
              <a:ahLst/>
              <a:cxnLst/>
              <a:rect r="r" b="b" t="t" l="l"/>
              <a:pathLst>
                <a:path h="3957320" w="7249161">
                  <a:moveTo>
                    <a:pt x="0" y="147193"/>
                  </a:moveTo>
                  <a:cubicBezTo>
                    <a:pt x="0" y="65913"/>
                    <a:pt x="65913" y="0"/>
                    <a:pt x="147193" y="0"/>
                  </a:cubicBezTo>
                  <a:lnTo>
                    <a:pt x="7101967" y="0"/>
                  </a:lnTo>
                  <a:cubicBezTo>
                    <a:pt x="7183248" y="0"/>
                    <a:pt x="7249161" y="65913"/>
                    <a:pt x="7249161" y="147193"/>
                  </a:cubicBezTo>
                  <a:lnTo>
                    <a:pt x="7249161" y="3810127"/>
                  </a:lnTo>
                  <a:cubicBezTo>
                    <a:pt x="7249161" y="3891407"/>
                    <a:pt x="7183248" y="3957320"/>
                    <a:pt x="7101967" y="3957320"/>
                  </a:cubicBezTo>
                  <a:lnTo>
                    <a:pt x="147193" y="3957320"/>
                  </a:lnTo>
                  <a:cubicBezTo>
                    <a:pt x="65913" y="3957320"/>
                    <a:pt x="0" y="3891407"/>
                    <a:pt x="0" y="3810127"/>
                  </a:cubicBezTo>
                  <a:close/>
                </a:path>
              </a:pathLst>
            </a:custGeom>
            <a:solidFill>
              <a:srgbClr val="0F2038"/>
            </a:solidFill>
            <a:ln w="19050" cap="sq">
              <a:solidFill>
                <a:srgbClr val="1E3358"/>
              </a:solidFill>
              <a:prstDash val="solid"/>
              <a:miter/>
            </a:ln>
          </p:spPr>
        </p:sp>
      </p:grpSp>
      <p:grpSp>
        <p:nvGrpSpPr>
          <p:cNvPr name="Group 24" id="24"/>
          <p:cNvGrpSpPr/>
          <p:nvPr/>
        </p:nvGrpSpPr>
        <p:grpSpPr>
          <a:xfrm rot="0">
            <a:off x="6858000" y="3429000"/>
            <a:ext cx="4800600" cy="548640"/>
            <a:chOff x="0" y="0"/>
            <a:chExt cx="6400800" cy="731520"/>
          </a:xfrm>
        </p:grpSpPr>
        <p:sp>
          <p:nvSpPr>
            <p:cNvPr name="Freeform 25" id="25"/>
            <p:cNvSpPr/>
            <p:nvPr/>
          </p:nvSpPr>
          <p:spPr>
            <a:xfrm flipH="false" flipV="false" rot="0">
              <a:off x="0" y="0"/>
              <a:ext cx="6400800" cy="731520"/>
            </a:xfrm>
            <a:custGeom>
              <a:avLst/>
              <a:gdLst/>
              <a:ahLst/>
              <a:cxnLst/>
              <a:rect r="r" b="b" t="t" l="l"/>
              <a:pathLst>
                <a:path h="731520" w="6400800">
                  <a:moveTo>
                    <a:pt x="0" y="0"/>
                  </a:moveTo>
                  <a:lnTo>
                    <a:pt x="6400800" y="0"/>
                  </a:lnTo>
                  <a:lnTo>
                    <a:pt x="6400800" y="731520"/>
                  </a:lnTo>
                  <a:lnTo>
                    <a:pt x="0" y="731520"/>
                  </a:lnTo>
                  <a:close/>
                </a:path>
              </a:pathLst>
            </a:custGeom>
            <a:blipFill>
              <a:blip r:embed="rId2">
                <a:alphaModFix amt="0"/>
              </a:blip>
              <a:stretch>
                <a:fillRect l="0" t="-120494" r="0" b="-120494"/>
              </a:stretch>
            </a:blipFill>
          </p:spPr>
        </p:sp>
        <p:sp>
          <p:nvSpPr>
            <p:cNvPr name="TextBox 26" id="26"/>
            <p:cNvSpPr txBox="true"/>
            <p:nvPr/>
          </p:nvSpPr>
          <p:spPr>
            <a:xfrm>
              <a:off x="0" y="-38100"/>
              <a:ext cx="6400800" cy="76962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Data Pipelines</a:t>
              </a:r>
            </a:p>
          </p:txBody>
        </p:sp>
      </p:grpSp>
      <p:grpSp>
        <p:nvGrpSpPr>
          <p:cNvPr name="Group 27" id="27"/>
          <p:cNvGrpSpPr/>
          <p:nvPr/>
        </p:nvGrpSpPr>
        <p:grpSpPr>
          <a:xfrm rot="0">
            <a:off x="6858000" y="4046220"/>
            <a:ext cx="4800600" cy="1371600"/>
            <a:chOff x="0" y="0"/>
            <a:chExt cx="6400800" cy="1828800"/>
          </a:xfrm>
        </p:grpSpPr>
        <p:sp>
          <p:nvSpPr>
            <p:cNvPr name="Freeform 28" id="28"/>
            <p:cNvSpPr/>
            <p:nvPr/>
          </p:nvSpPr>
          <p:spPr>
            <a:xfrm flipH="false" flipV="false" rot="0">
              <a:off x="0" y="0"/>
              <a:ext cx="6400800" cy="1828800"/>
            </a:xfrm>
            <a:custGeom>
              <a:avLst/>
              <a:gdLst/>
              <a:ahLst/>
              <a:cxnLst/>
              <a:rect r="r" b="b" t="t" l="l"/>
              <a:pathLst>
                <a:path h="1828800" w="6400800">
                  <a:moveTo>
                    <a:pt x="0" y="0"/>
                  </a:moveTo>
                  <a:lnTo>
                    <a:pt x="6400800" y="0"/>
                  </a:lnTo>
                  <a:lnTo>
                    <a:pt x="6400800" y="1828800"/>
                  </a:lnTo>
                  <a:lnTo>
                    <a:pt x="0" y="1828800"/>
                  </a:lnTo>
                  <a:close/>
                </a:path>
              </a:pathLst>
            </a:custGeom>
            <a:blipFill>
              <a:blip r:embed="rId2">
                <a:alphaModFix amt="0"/>
              </a:blip>
              <a:stretch>
                <a:fillRect l="0" t="-18197" r="0" b="-18197"/>
              </a:stretch>
            </a:blipFill>
          </p:spPr>
        </p:sp>
        <p:sp>
          <p:nvSpPr>
            <p:cNvPr name="TextBox 29" id="29"/>
            <p:cNvSpPr txBox="true"/>
            <p:nvPr/>
          </p:nvSpPr>
          <p:spPr>
            <a:xfrm>
              <a:off x="0" y="-28575"/>
              <a:ext cx="6400800" cy="185737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L</a:t>
              </a:r>
              <a:r>
                <a:rPr lang="en-US" sz="1650">
                  <a:solidFill>
                    <a:srgbClr val="9FB0C9"/>
                  </a:solidFill>
                  <a:latin typeface="Calibri (MS)"/>
                  <a:ea typeface="Calibri (MS)"/>
                  <a:cs typeface="Calibri (MS)"/>
                  <a:sym typeface="Calibri (MS)"/>
                </a:rPr>
                <a:t>a validation en trois étapes doit être réussie avant que les données ne circulent en aval. </a:t>
              </a:r>
            </a:p>
          </p:txBody>
        </p:sp>
      </p:grpSp>
      <p:grpSp>
        <p:nvGrpSpPr>
          <p:cNvPr name="Group 30" id="30"/>
          <p:cNvGrpSpPr/>
          <p:nvPr/>
        </p:nvGrpSpPr>
        <p:grpSpPr>
          <a:xfrm rot="0">
            <a:off x="12197715" y="2733675"/>
            <a:ext cx="5436870" cy="2967990"/>
            <a:chOff x="0" y="0"/>
            <a:chExt cx="7249160" cy="3957320"/>
          </a:xfrm>
        </p:grpSpPr>
        <p:sp>
          <p:nvSpPr>
            <p:cNvPr name="Freeform 31" id="31"/>
            <p:cNvSpPr/>
            <p:nvPr/>
          </p:nvSpPr>
          <p:spPr>
            <a:xfrm flipH="false" flipV="false" rot="0">
              <a:off x="0" y="0"/>
              <a:ext cx="7249161" cy="3957320"/>
            </a:xfrm>
            <a:custGeom>
              <a:avLst/>
              <a:gdLst/>
              <a:ahLst/>
              <a:cxnLst/>
              <a:rect r="r" b="b" t="t" l="l"/>
              <a:pathLst>
                <a:path h="3957320" w="7249161">
                  <a:moveTo>
                    <a:pt x="0" y="147193"/>
                  </a:moveTo>
                  <a:cubicBezTo>
                    <a:pt x="0" y="65913"/>
                    <a:pt x="65913" y="0"/>
                    <a:pt x="147193" y="0"/>
                  </a:cubicBezTo>
                  <a:lnTo>
                    <a:pt x="7101967" y="0"/>
                  </a:lnTo>
                  <a:cubicBezTo>
                    <a:pt x="7183248" y="0"/>
                    <a:pt x="7249161" y="65913"/>
                    <a:pt x="7249161" y="147193"/>
                  </a:cubicBezTo>
                  <a:lnTo>
                    <a:pt x="7249161" y="3810127"/>
                  </a:lnTo>
                  <a:cubicBezTo>
                    <a:pt x="7249161" y="3891407"/>
                    <a:pt x="7183248" y="3957320"/>
                    <a:pt x="7101967" y="3957320"/>
                  </a:cubicBezTo>
                  <a:lnTo>
                    <a:pt x="147193" y="3957320"/>
                  </a:lnTo>
                  <a:cubicBezTo>
                    <a:pt x="65913" y="3957320"/>
                    <a:pt x="0" y="3891407"/>
                    <a:pt x="0" y="3810127"/>
                  </a:cubicBezTo>
                  <a:close/>
                </a:path>
              </a:pathLst>
            </a:custGeom>
            <a:solidFill>
              <a:srgbClr val="0F2038"/>
            </a:solidFill>
            <a:ln w="19050" cap="sq">
              <a:solidFill>
                <a:srgbClr val="1E3358"/>
              </a:solidFill>
              <a:prstDash val="solid"/>
              <a:miter/>
            </a:ln>
          </p:spPr>
        </p:sp>
      </p:grpSp>
      <p:grpSp>
        <p:nvGrpSpPr>
          <p:cNvPr name="Group 32" id="32"/>
          <p:cNvGrpSpPr/>
          <p:nvPr/>
        </p:nvGrpSpPr>
        <p:grpSpPr>
          <a:xfrm rot="0">
            <a:off x="12550140" y="3429000"/>
            <a:ext cx="4800600" cy="548640"/>
            <a:chOff x="0" y="0"/>
            <a:chExt cx="6400800" cy="731520"/>
          </a:xfrm>
        </p:grpSpPr>
        <p:sp>
          <p:nvSpPr>
            <p:cNvPr name="Freeform 33" id="33"/>
            <p:cNvSpPr/>
            <p:nvPr/>
          </p:nvSpPr>
          <p:spPr>
            <a:xfrm flipH="false" flipV="false" rot="0">
              <a:off x="0" y="0"/>
              <a:ext cx="6400800" cy="731520"/>
            </a:xfrm>
            <a:custGeom>
              <a:avLst/>
              <a:gdLst/>
              <a:ahLst/>
              <a:cxnLst/>
              <a:rect r="r" b="b" t="t" l="l"/>
              <a:pathLst>
                <a:path h="731520" w="6400800">
                  <a:moveTo>
                    <a:pt x="0" y="0"/>
                  </a:moveTo>
                  <a:lnTo>
                    <a:pt x="6400800" y="0"/>
                  </a:lnTo>
                  <a:lnTo>
                    <a:pt x="6400800" y="731520"/>
                  </a:lnTo>
                  <a:lnTo>
                    <a:pt x="0" y="731520"/>
                  </a:lnTo>
                  <a:close/>
                </a:path>
              </a:pathLst>
            </a:custGeom>
            <a:blipFill>
              <a:blip r:embed="rId2">
                <a:alphaModFix amt="0"/>
              </a:blip>
              <a:stretch>
                <a:fillRect l="0" t="-120494" r="0" b="-120494"/>
              </a:stretch>
            </a:blipFill>
          </p:spPr>
        </p:sp>
        <p:sp>
          <p:nvSpPr>
            <p:cNvPr name="TextBox 34" id="34"/>
            <p:cNvSpPr txBox="true"/>
            <p:nvPr/>
          </p:nvSpPr>
          <p:spPr>
            <a:xfrm>
              <a:off x="0" y="-38100"/>
              <a:ext cx="6400800" cy="76962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Model Artifacts</a:t>
              </a:r>
            </a:p>
          </p:txBody>
        </p:sp>
      </p:grpSp>
      <p:grpSp>
        <p:nvGrpSpPr>
          <p:cNvPr name="Group 35" id="35"/>
          <p:cNvGrpSpPr/>
          <p:nvPr/>
        </p:nvGrpSpPr>
        <p:grpSpPr>
          <a:xfrm rot="0">
            <a:off x="12550140" y="4046220"/>
            <a:ext cx="4800600" cy="1371600"/>
            <a:chOff x="0" y="0"/>
            <a:chExt cx="6400800" cy="1828800"/>
          </a:xfrm>
        </p:grpSpPr>
        <p:sp>
          <p:nvSpPr>
            <p:cNvPr name="Freeform 36" id="36"/>
            <p:cNvSpPr/>
            <p:nvPr/>
          </p:nvSpPr>
          <p:spPr>
            <a:xfrm flipH="false" flipV="false" rot="0">
              <a:off x="0" y="0"/>
              <a:ext cx="6400800" cy="1828800"/>
            </a:xfrm>
            <a:custGeom>
              <a:avLst/>
              <a:gdLst/>
              <a:ahLst/>
              <a:cxnLst/>
              <a:rect r="r" b="b" t="t" l="l"/>
              <a:pathLst>
                <a:path h="1828800" w="6400800">
                  <a:moveTo>
                    <a:pt x="0" y="0"/>
                  </a:moveTo>
                  <a:lnTo>
                    <a:pt x="6400800" y="0"/>
                  </a:lnTo>
                  <a:lnTo>
                    <a:pt x="6400800" y="1828800"/>
                  </a:lnTo>
                  <a:lnTo>
                    <a:pt x="0" y="1828800"/>
                  </a:lnTo>
                  <a:close/>
                </a:path>
              </a:pathLst>
            </a:custGeom>
            <a:blipFill>
              <a:blip r:embed="rId2">
                <a:alphaModFix amt="0"/>
              </a:blip>
              <a:stretch>
                <a:fillRect l="0" t="-18197" r="0" b="-18197"/>
              </a:stretch>
            </a:blipFill>
          </p:spPr>
        </p:sp>
        <p:sp>
          <p:nvSpPr>
            <p:cNvPr name="TextBox 37" id="37"/>
            <p:cNvSpPr txBox="true"/>
            <p:nvPr/>
          </p:nvSpPr>
          <p:spPr>
            <a:xfrm>
              <a:off x="0" y="-28575"/>
              <a:ext cx="6400800" cy="185737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Exécutions suivies par </a:t>
              </a:r>
              <a:r>
                <a:rPr lang="en-US" sz="1650">
                  <a:solidFill>
                    <a:srgbClr val="9FB0C9"/>
                  </a:solidFill>
                  <a:latin typeface="Calibri (MS)"/>
                  <a:ea typeface="Calibri (MS)"/>
                  <a:cs typeface="Calibri (MS)"/>
                  <a:sym typeface="Calibri (MS)"/>
                </a:rPr>
                <a:t>MLflow avec des métriques reproductibles avant la promotion. </a:t>
              </a:r>
            </a:p>
          </p:txBody>
        </p:sp>
      </p:grpSp>
      <p:grpSp>
        <p:nvGrpSpPr>
          <p:cNvPr name="Group 38" id="38"/>
          <p:cNvGrpSpPr/>
          <p:nvPr/>
        </p:nvGrpSpPr>
        <p:grpSpPr>
          <a:xfrm rot="0">
            <a:off x="813435" y="6025515"/>
            <a:ext cx="16615410" cy="2151860"/>
            <a:chOff x="0" y="0"/>
            <a:chExt cx="22153880" cy="2869146"/>
          </a:xfrm>
        </p:grpSpPr>
        <p:sp>
          <p:nvSpPr>
            <p:cNvPr name="Freeform 39" id="39"/>
            <p:cNvSpPr/>
            <p:nvPr/>
          </p:nvSpPr>
          <p:spPr>
            <a:xfrm flipH="false" flipV="false" rot="0">
              <a:off x="0" y="0"/>
              <a:ext cx="22153880" cy="2869146"/>
            </a:xfrm>
            <a:custGeom>
              <a:avLst/>
              <a:gdLst/>
              <a:ahLst/>
              <a:cxnLst/>
              <a:rect r="r" b="b" t="t" l="l"/>
              <a:pathLst>
                <a:path h="2869146" w="22153880">
                  <a:moveTo>
                    <a:pt x="0" y="102004"/>
                  </a:moveTo>
                  <a:cubicBezTo>
                    <a:pt x="0" y="45678"/>
                    <a:pt x="65913" y="0"/>
                    <a:pt x="147193" y="0"/>
                  </a:cubicBezTo>
                  <a:lnTo>
                    <a:pt x="22006688" y="0"/>
                  </a:lnTo>
                  <a:cubicBezTo>
                    <a:pt x="22087968" y="0"/>
                    <a:pt x="22153880" y="45678"/>
                    <a:pt x="22153880" y="102004"/>
                  </a:cubicBezTo>
                  <a:lnTo>
                    <a:pt x="22153880" y="2767142"/>
                  </a:lnTo>
                  <a:cubicBezTo>
                    <a:pt x="22153880" y="2823469"/>
                    <a:pt x="22087968" y="2869146"/>
                    <a:pt x="22006688" y="2869146"/>
                  </a:cubicBezTo>
                  <a:lnTo>
                    <a:pt x="147193" y="2869146"/>
                  </a:lnTo>
                  <a:cubicBezTo>
                    <a:pt x="65913" y="2869146"/>
                    <a:pt x="0" y="2823469"/>
                    <a:pt x="0" y="2767142"/>
                  </a:cubicBezTo>
                  <a:close/>
                </a:path>
              </a:pathLst>
            </a:custGeom>
            <a:solidFill>
              <a:srgbClr val="13294A"/>
            </a:solidFill>
            <a:ln w="19050" cap="sq">
              <a:solidFill>
                <a:srgbClr val="1E3358"/>
              </a:solidFill>
              <a:prstDash val="solid"/>
              <a:miter/>
            </a:ln>
          </p:spPr>
        </p:sp>
      </p:grpSp>
      <p:grpSp>
        <p:nvGrpSpPr>
          <p:cNvPr name="Group 40" id="40"/>
          <p:cNvGrpSpPr/>
          <p:nvPr/>
        </p:nvGrpSpPr>
        <p:grpSpPr>
          <a:xfrm rot="0">
            <a:off x="1234440" y="6309360"/>
            <a:ext cx="12344400" cy="411480"/>
            <a:chOff x="0" y="0"/>
            <a:chExt cx="16459200" cy="548640"/>
          </a:xfrm>
        </p:grpSpPr>
        <p:sp>
          <p:nvSpPr>
            <p:cNvPr name="Freeform 41" id="41"/>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2">
                <a:alphaModFix amt="0"/>
              </a:blip>
              <a:stretch>
                <a:fillRect l="0" t="-534551" r="0" b="-534551"/>
              </a:stretch>
            </a:blipFill>
          </p:spPr>
        </p:sp>
        <p:sp>
          <p:nvSpPr>
            <p:cNvPr name="TextBox 42" id="42"/>
            <p:cNvSpPr txBox="true"/>
            <p:nvPr/>
          </p:nvSpPr>
          <p:spPr>
            <a:xfrm>
              <a:off x="0" y="-19050"/>
              <a:ext cx="16459200" cy="567690"/>
            </a:xfrm>
            <a:prstGeom prst="rect">
              <a:avLst/>
            </a:prstGeom>
          </p:spPr>
          <p:txBody>
            <a:bodyPr anchor="ctr" rtlCol="false" tIns="0" lIns="0" bIns="0" rIns="0"/>
            <a:lstStyle/>
            <a:p>
              <a:pPr algn="l">
                <a:lnSpc>
                  <a:spcPts val="1889"/>
                </a:lnSpc>
              </a:pPr>
              <a:r>
                <a:rPr lang="en-US" b="true" sz="1575" spc="150">
                  <a:solidFill>
                    <a:srgbClr val="00E5C7"/>
                  </a:solidFill>
                  <a:latin typeface="Calibri (MS) Bold"/>
                  <a:ea typeface="Calibri (MS) Bold"/>
                  <a:cs typeface="Calibri (MS) Bold"/>
                  <a:sym typeface="Calibri (MS) Bold"/>
                </a:rPr>
                <a:t>C</a:t>
              </a:r>
              <a:r>
                <a:rPr lang="en-US" b="true" sz="1575" spc="150">
                  <a:solidFill>
                    <a:srgbClr val="00E5C7"/>
                  </a:solidFill>
                  <a:latin typeface="Calibri (MS) Bold"/>
                  <a:ea typeface="Calibri (MS) Bold"/>
                  <a:cs typeface="Calibri (MS) Bold"/>
                  <a:sym typeface="Calibri (MS) Bold"/>
                </a:rPr>
                <a:t>OMMENT L'AGILE A IMPOSÉ LA QUALITÉ TECHNIQUE AVANT LA PRODUCTION </a:t>
              </a:r>
            </a:p>
          </p:txBody>
        </p:sp>
      </p:grpSp>
      <p:sp>
        <p:nvSpPr>
          <p:cNvPr name="TextBox 43" id="43"/>
          <p:cNvSpPr txBox="true"/>
          <p:nvPr/>
        </p:nvSpPr>
        <p:spPr>
          <a:xfrm rot="0">
            <a:off x="1234440" y="6791325"/>
            <a:ext cx="15636240" cy="995363"/>
          </a:xfrm>
          <a:prstGeom prst="rect">
            <a:avLst/>
          </a:prstGeom>
        </p:spPr>
        <p:txBody>
          <a:bodyPr anchor="t" rtlCol="false" tIns="0" lIns="0" bIns="0" rIns="0">
            <a:spAutoFit/>
          </a:bodyPr>
          <a:lstStyle/>
          <a:p>
            <a:pPr algn="l" marL="339328" indent="-169664" lvl="1">
              <a:lnSpc>
                <a:spcPts val="2587"/>
              </a:lnSpc>
              <a:buFont typeface="Arial"/>
              <a:buChar char="•"/>
            </a:pPr>
            <a:r>
              <a:rPr lang="en-US" sz="1875">
                <a:solidFill>
                  <a:srgbClr val="9FB0C9"/>
                </a:solidFill>
                <a:latin typeface="Calibri (MS)"/>
                <a:ea typeface="Calibri (MS)"/>
                <a:cs typeface="Calibri (MS)"/>
                <a:sym typeface="Calibri (MS)"/>
              </a:rPr>
              <a:t>Chaqu</a:t>
            </a:r>
            <a:r>
              <a:rPr lang="en-US" sz="1875">
                <a:solidFill>
                  <a:srgbClr val="9FB0C9"/>
                </a:solidFill>
                <a:latin typeface="Calibri (MS)"/>
                <a:ea typeface="Calibri (MS)"/>
                <a:cs typeface="Calibri (MS)"/>
                <a:sym typeface="Calibri (MS)"/>
              </a:rPr>
              <a:t>e User Story possédait une "Definition of Done" explicite, validée en fin de sprint.</a:t>
            </a:r>
          </a:p>
          <a:p>
            <a:pPr algn="l" marL="339328" indent="-169664" lvl="1">
              <a:lnSpc>
                <a:spcPts val="2587"/>
              </a:lnSpc>
              <a:buFont typeface="Arial"/>
              <a:buChar char="•"/>
            </a:pPr>
            <a:r>
              <a:rPr lang="en-US" sz="1875">
                <a:solidFill>
                  <a:srgbClr val="9FB0C9"/>
                </a:solidFill>
                <a:latin typeface="Calibri (MS)"/>
                <a:ea typeface="Calibri (MS)"/>
                <a:cs typeface="Calibri (MS)"/>
                <a:sym typeface="Calibri (MS)"/>
              </a:rPr>
              <a:t>Les dépendances transverses (Data ➔ ML ➔ API ➔ UI) étaient visibles en temps réel sur le tableau Jira.</a:t>
            </a:r>
          </a:p>
          <a:p>
            <a:pPr algn="l" marL="339328" indent="-169664" lvl="1">
              <a:lnSpc>
                <a:spcPts val="2587"/>
              </a:lnSpc>
              <a:buFont typeface="Arial"/>
              <a:buChar char="•"/>
            </a:pPr>
            <a:r>
              <a:rPr lang="en-US" sz="1875">
                <a:solidFill>
                  <a:srgbClr val="9FB0C9"/>
                </a:solidFill>
                <a:latin typeface="Calibri (MS)"/>
                <a:ea typeface="Calibri (MS)"/>
                <a:cs typeface="Calibri (MS)"/>
                <a:sym typeface="Calibri (MS)"/>
              </a:rPr>
              <a:t>Les portes de qualité étaient non-négociables : un échec de validation bloquait le passage d'un ticket en "Done".</a:t>
            </a:r>
          </a:p>
        </p:txBody>
      </p:sp>
      <p:grpSp>
        <p:nvGrpSpPr>
          <p:cNvPr name="Group 44" id="44"/>
          <p:cNvGrpSpPr/>
          <p:nvPr/>
        </p:nvGrpSpPr>
        <p:grpSpPr>
          <a:xfrm rot="0">
            <a:off x="685800" y="9710928"/>
            <a:ext cx="10972800" cy="411480"/>
            <a:chOff x="0" y="0"/>
            <a:chExt cx="14630400" cy="548640"/>
          </a:xfrm>
        </p:grpSpPr>
        <p:sp>
          <p:nvSpPr>
            <p:cNvPr name="Freeform 45" id="4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46" id="46"/>
            <p:cNvSpPr txBox="true"/>
            <p:nvPr/>
          </p:nvSpPr>
          <p:spPr>
            <a:xfrm>
              <a:off x="0" y="-28575"/>
              <a:ext cx="14630400" cy="577215"/>
            </a:xfrm>
            <a:prstGeom prst="rect">
              <a:avLst/>
            </a:prstGeom>
          </p:spPr>
          <p:txBody>
            <a:bodyPr anchor="ctr" rtlCol="false" tIns="0" lIns="0" bIns="0" rIns="0"/>
            <a:lstStyle/>
            <a:p>
              <a:pPr algn="l">
                <a:lnSpc>
                  <a:spcPts val="1620"/>
                </a:lnSpc>
              </a:pPr>
              <a:r>
                <a:rPr lang="en-US" sz="1350" spc="149">
                  <a:solidFill>
                    <a:srgbClr val="6E84A6"/>
                  </a:solidFill>
                  <a:latin typeface="Calibri (MS)"/>
                  <a:ea typeface="Calibri (MS)"/>
                  <a:cs typeface="Calibri (MS)"/>
                  <a:sym typeface="Calibri (MS)"/>
                </a:rPr>
                <a:t>MLSECOPS PLATFORM · AGILE GOVERNANCE</a:t>
              </a:r>
            </a:p>
          </p:txBody>
        </p:sp>
      </p:grpSp>
      <p:grpSp>
        <p:nvGrpSpPr>
          <p:cNvPr name="Group 47" id="47"/>
          <p:cNvGrpSpPr/>
          <p:nvPr/>
        </p:nvGrpSpPr>
        <p:grpSpPr>
          <a:xfrm rot="0">
            <a:off x="16500348" y="9710928"/>
            <a:ext cx="1097280" cy="411480"/>
            <a:chOff x="0" y="0"/>
            <a:chExt cx="1463040" cy="548640"/>
          </a:xfrm>
        </p:grpSpPr>
        <p:sp>
          <p:nvSpPr>
            <p:cNvPr name="Freeform 48" id="48"/>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49" id="49"/>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08 / 32</a:t>
              </a:r>
            </a:p>
          </p:txBody>
        </p:sp>
      </p:grpSp>
      <p:grpSp>
        <p:nvGrpSpPr>
          <p:cNvPr name="Group 50" id="50"/>
          <p:cNvGrpSpPr/>
          <p:nvPr/>
        </p:nvGrpSpPr>
        <p:grpSpPr>
          <a:xfrm rot="0">
            <a:off x="813435" y="8435340"/>
            <a:ext cx="16596360" cy="822960"/>
            <a:chOff x="0" y="0"/>
            <a:chExt cx="22128480" cy="1097280"/>
          </a:xfrm>
        </p:grpSpPr>
        <p:sp>
          <p:nvSpPr>
            <p:cNvPr name="Freeform 51" id="51"/>
            <p:cNvSpPr/>
            <p:nvPr/>
          </p:nvSpPr>
          <p:spPr>
            <a:xfrm flipH="false" flipV="false" rot="0">
              <a:off x="0" y="0"/>
              <a:ext cx="22128480" cy="1097280"/>
            </a:xfrm>
            <a:custGeom>
              <a:avLst/>
              <a:gdLst/>
              <a:ahLst/>
              <a:cxnLst/>
              <a:rect r="r" b="b" t="t" l="l"/>
              <a:pathLst>
                <a:path h="1097280" w="22128480">
                  <a:moveTo>
                    <a:pt x="0" y="0"/>
                  </a:moveTo>
                  <a:lnTo>
                    <a:pt x="22128480" y="0"/>
                  </a:lnTo>
                  <a:lnTo>
                    <a:pt x="22128480" y="1097280"/>
                  </a:lnTo>
                  <a:lnTo>
                    <a:pt x="0" y="1097280"/>
                  </a:lnTo>
                  <a:close/>
                </a:path>
              </a:pathLst>
            </a:custGeom>
            <a:blipFill>
              <a:blip r:embed="rId2">
                <a:alphaModFix amt="0"/>
              </a:blip>
              <a:stretch>
                <a:fillRect l="0" t="-31187" r="79338" b="-31187"/>
              </a:stretch>
            </a:blipFill>
          </p:spPr>
        </p:sp>
        <p:sp>
          <p:nvSpPr>
            <p:cNvPr name="TextBox 52" id="52"/>
            <p:cNvSpPr txBox="true"/>
            <p:nvPr/>
          </p:nvSpPr>
          <p:spPr>
            <a:xfrm>
              <a:off x="0" y="-38100"/>
              <a:ext cx="22128480" cy="113538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Enfin, l'Agilité nou</a:t>
              </a:r>
              <a:r>
                <a:rPr lang="en-US" sz="1500">
                  <a:solidFill>
                    <a:srgbClr val="9FB0C9"/>
                  </a:solidFill>
                  <a:latin typeface="Calibri (MS)"/>
                  <a:ea typeface="Calibri (MS)"/>
                  <a:cs typeface="Calibri (MS)"/>
                  <a:sym typeface="Calibri (MS)"/>
                </a:rPr>
                <a:t>s a permis de garantir la qualité technique du projet. Chaque tâche avait une 'Definition of Done' très stricte. Que ce soit pour le code, les données ou le modèle ML, aucun ticket ne passait dans la colonne 'Done' sans avoir réussi toutes les validations et les tests.</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862572" y="985918"/>
            <a:ext cx="12255682" cy="2540423"/>
          </a:xfrm>
          <a:custGeom>
            <a:avLst/>
            <a:gdLst/>
            <a:ahLst/>
            <a:cxnLst/>
            <a:rect r="r" b="b" t="t" l="l"/>
            <a:pathLst>
              <a:path h="2540423" w="12255682">
                <a:moveTo>
                  <a:pt x="0" y="0"/>
                </a:moveTo>
                <a:lnTo>
                  <a:pt x="12255681" y="0"/>
                </a:lnTo>
                <a:lnTo>
                  <a:pt x="12255681" y="2540424"/>
                </a:lnTo>
                <a:lnTo>
                  <a:pt x="0" y="2540424"/>
                </a:lnTo>
                <a:lnTo>
                  <a:pt x="0" y="0"/>
                </a:lnTo>
                <a:close/>
              </a:path>
            </a:pathLst>
          </a:custGeom>
          <a:blipFill>
            <a:blip r:embed="rId3"/>
            <a:stretch>
              <a:fillRect l="0" t="0" r="0" b="0"/>
            </a:stretch>
          </a:blipFill>
        </p:spPr>
      </p:sp>
      <p:sp>
        <p:nvSpPr>
          <p:cNvPr name="TextBox 4" id="4"/>
          <p:cNvSpPr txBox="true"/>
          <p:nvPr/>
        </p:nvSpPr>
        <p:spPr>
          <a:xfrm rot="0">
            <a:off x="16960267" y="4730306"/>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20rd</a:t>
            </a:r>
          </a:p>
        </p:txBody>
      </p:sp>
      <p:sp>
        <p:nvSpPr>
          <p:cNvPr name="TextBox 5" id="5"/>
          <p:cNvSpPr txBox="true"/>
          <p:nvPr/>
        </p:nvSpPr>
        <p:spPr>
          <a:xfrm rot="0">
            <a:off x="17874667" y="4730306"/>
            <a:ext cx="182880" cy="232538"/>
          </a:xfrm>
          <a:prstGeom prst="rect">
            <a:avLst/>
          </a:prstGeom>
        </p:spPr>
        <p:txBody>
          <a:bodyPr anchor="t" rtlCol="false" tIns="0" lIns="0" bIns="0" rIns="0">
            <a:spAutoFit/>
          </a:bodyPr>
          <a:lstStyle/>
          <a:p>
            <a:pPr algn="ctr">
              <a:lnSpc>
                <a:spcPts val="964"/>
              </a:lnSpc>
            </a:pPr>
            <a:r>
              <a:rPr lang="en-US" sz="688" b="true">
                <a:solidFill>
                  <a:srgbClr val="FFFFFF"/>
                </a:solidFill>
                <a:latin typeface="HK Grotesk Medium"/>
                <a:ea typeface="HK Grotesk Medium"/>
                <a:cs typeface="HK Grotesk Medium"/>
                <a:sym typeface="HK Grotesk Medium"/>
              </a:rPr>
              <a:t>21rd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STREAMING &amp; INGESTION</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3</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Soumia Zahir — Data Engineer</a:t>
              </a:r>
            </a:p>
          </p:txBody>
        </p:sp>
      </p:grpSp>
      <p:grpSp>
        <p:nvGrpSpPr>
          <p:cNvPr name="Group 11" id="11"/>
          <p:cNvGrpSpPr/>
          <p:nvPr/>
        </p:nvGrpSpPr>
        <p:grpSpPr>
          <a:xfrm rot="0">
            <a:off x="822960" y="-462707"/>
            <a:ext cx="16596360" cy="6411813"/>
            <a:chOff x="0" y="0"/>
            <a:chExt cx="22128480" cy="8549084"/>
          </a:xfrm>
        </p:grpSpPr>
        <p:sp>
          <p:nvSpPr>
            <p:cNvPr name="Freeform 12" id="12"/>
            <p:cNvSpPr/>
            <p:nvPr/>
          </p:nvSpPr>
          <p:spPr>
            <a:xfrm flipH="false" flipV="false" rot="0">
              <a:off x="0" y="0"/>
              <a:ext cx="22128480" cy="8549084"/>
            </a:xfrm>
            <a:custGeom>
              <a:avLst/>
              <a:gdLst/>
              <a:ahLst/>
              <a:cxnLst/>
              <a:rect r="r" b="b" t="t" l="l"/>
              <a:pathLst>
                <a:path h="8549084" w="22128480">
                  <a:moveTo>
                    <a:pt x="0" y="0"/>
                  </a:moveTo>
                  <a:lnTo>
                    <a:pt x="22128480" y="0"/>
                  </a:lnTo>
                  <a:lnTo>
                    <a:pt x="22128480" y="8549084"/>
                  </a:lnTo>
                  <a:lnTo>
                    <a:pt x="0" y="8549084"/>
                  </a:lnTo>
                  <a:close/>
                </a:path>
              </a:pathLst>
            </a:custGeom>
            <a:blipFill>
              <a:blip r:embed="rId2">
                <a:alphaModFix amt="0"/>
              </a:blip>
              <a:stretch>
                <a:fillRect l="0" t="-40274" r="0" b="39403"/>
              </a:stretch>
            </a:blipFill>
          </p:spPr>
        </p:sp>
        <p:sp>
          <p:nvSpPr>
            <p:cNvPr name="TextBox 13" id="13"/>
            <p:cNvSpPr txBox="true"/>
            <p:nvPr/>
          </p:nvSpPr>
          <p:spPr>
            <a:xfrm>
              <a:off x="0" y="-9525"/>
              <a:ext cx="22128480" cy="8558609"/>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Archit</a:t>
              </a:r>
              <a:r>
                <a:rPr lang="en-US" sz="4800" b="true">
                  <a:solidFill>
                    <a:srgbClr val="FFFFFF"/>
                  </a:solidFill>
                  <a:latin typeface="Cambria Bold"/>
                  <a:ea typeface="Cambria Bold"/>
                  <a:cs typeface="Cambria Bold"/>
                  <a:sym typeface="Cambria Bold"/>
                </a:rPr>
                <a:t>ecture de pipeline d'ingestion</a:t>
              </a:r>
            </a:p>
            <a:p>
              <a:pPr algn="l">
                <a:lnSpc>
                  <a:spcPts val="5759"/>
                </a:lnSpc>
              </a:pPr>
            </a:p>
            <a:p>
              <a:pPr algn="l">
                <a:lnSpc>
                  <a:spcPts val="5759"/>
                </a:lnSpc>
              </a:pPr>
            </a:p>
            <a:p>
              <a:pPr algn="l">
                <a:lnSpc>
                  <a:spcPts val="5759"/>
                </a:lnSpc>
              </a:pPr>
            </a:p>
            <a:p>
              <a:pPr algn="l">
                <a:lnSpc>
                  <a:spcPts val="5759"/>
                </a:lnSpc>
              </a:pPr>
            </a:p>
          </p:txBody>
        </p:sp>
      </p:grpSp>
      <p:grpSp>
        <p:nvGrpSpPr>
          <p:cNvPr name="Group 14" id="14"/>
          <p:cNvGrpSpPr/>
          <p:nvPr/>
        </p:nvGrpSpPr>
        <p:grpSpPr>
          <a:xfrm rot="0">
            <a:off x="1028700" y="1813560"/>
            <a:ext cx="16184880" cy="685800"/>
            <a:chOff x="0" y="0"/>
            <a:chExt cx="21579840" cy="914400"/>
          </a:xfrm>
        </p:grpSpPr>
        <p:sp>
          <p:nvSpPr>
            <p:cNvPr name="Freeform 15" id="15"/>
            <p:cNvSpPr/>
            <p:nvPr/>
          </p:nvSpPr>
          <p:spPr>
            <a:xfrm flipH="false" flipV="false" rot="0">
              <a:off x="0" y="0"/>
              <a:ext cx="21579839" cy="914400"/>
            </a:xfrm>
            <a:custGeom>
              <a:avLst/>
              <a:gdLst/>
              <a:ahLst/>
              <a:cxnLst/>
              <a:rect r="r" b="b" t="t" l="l"/>
              <a:pathLst>
                <a:path h="914400" w="21579839">
                  <a:moveTo>
                    <a:pt x="0" y="0"/>
                  </a:moveTo>
                  <a:lnTo>
                    <a:pt x="21579839" y="0"/>
                  </a:lnTo>
                  <a:lnTo>
                    <a:pt x="21579839" y="914400"/>
                  </a:lnTo>
                  <a:lnTo>
                    <a:pt x="0" y="914400"/>
                  </a:lnTo>
                  <a:close/>
                </a:path>
              </a:pathLst>
            </a:custGeom>
            <a:blipFill>
              <a:blip r:embed="rId2">
                <a:alphaModFix amt="0"/>
              </a:blip>
              <a:stretch>
                <a:fillRect l="0" t="-409846" r="0" b="-409846"/>
              </a:stretch>
            </a:blipFill>
          </p:spPr>
        </p:sp>
        <p:sp>
          <p:nvSpPr>
            <p:cNvPr name="TextBox 16" id="16"/>
            <p:cNvSpPr txBox="true"/>
            <p:nvPr/>
          </p:nvSpPr>
          <p:spPr>
            <a:xfrm>
              <a:off x="0" y="-47625"/>
              <a:ext cx="21579840" cy="962025"/>
            </a:xfrm>
            <a:prstGeom prst="rect">
              <a:avLst/>
            </a:prstGeom>
          </p:spPr>
          <p:txBody>
            <a:bodyPr anchor="ctr" rtlCol="false" tIns="0" lIns="0" bIns="0" rIns="0"/>
            <a:lstStyle/>
            <a:p>
              <a:pPr algn="l">
                <a:lnSpc>
                  <a:spcPts val="2340"/>
                </a:lnSpc>
              </a:pPr>
              <a:r>
                <a:rPr lang="en-US" sz="1950" i="true">
                  <a:solidFill>
                    <a:srgbClr val="9FB0C9"/>
                  </a:solidFill>
                  <a:latin typeface="Calibri (MS) Italics"/>
                  <a:ea typeface="Calibri (MS) Italics"/>
                  <a:cs typeface="Calibri (MS) Italics"/>
                  <a:sym typeface="Calibri (MS) Italics"/>
                </a:rPr>
                <a:t>L'ingestion en s</a:t>
              </a:r>
              <a:r>
                <a:rPr lang="en-US" sz="1950" i="true">
                  <a:solidFill>
                    <a:srgbClr val="9FB0C9"/>
                  </a:solidFill>
                  <a:latin typeface="Calibri (MS) Italics"/>
                  <a:ea typeface="Calibri (MS) Italics"/>
                  <a:cs typeface="Calibri (MS) Italics"/>
                  <a:sym typeface="Calibri (MS) Italics"/>
                </a:rPr>
                <a:t>treaming est préférable au traitement par lots pour les journaux de cybersécurité : les anomalies doivent être détectées en temps réel.</a:t>
              </a:r>
            </a:p>
          </p:txBody>
        </p:sp>
      </p:grpSp>
      <p:grpSp>
        <p:nvGrpSpPr>
          <p:cNvPr name="Group 17" id="17"/>
          <p:cNvGrpSpPr/>
          <p:nvPr/>
        </p:nvGrpSpPr>
        <p:grpSpPr>
          <a:xfrm rot="0">
            <a:off x="1224915" y="3556635"/>
            <a:ext cx="3448050" cy="2076450"/>
            <a:chOff x="0" y="0"/>
            <a:chExt cx="4597400" cy="2768600"/>
          </a:xfrm>
        </p:grpSpPr>
        <p:sp>
          <p:nvSpPr>
            <p:cNvPr name="Freeform 18" id="18"/>
            <p:cNvSpPr/>
            <p:nvPr/>
          </p:nvSpPr>
          <p:spPr>
            <a:xfrm flipH="false" flipV="false" rot="0">
              <a:off x="0" y="0"/>
              <a:ext cx="4597400" cy="2768600"/>
            </a:xfrm>
            <a:custGeom>
              <a:avLst/>
              <a:gdLst/>
              <a:ahLst/>
              <a:cxnLst/>
              <a:rect r="r" b="b" t="t" l="l"/>
              <a:pathLst>
                <a:path h="2768600" w="4597400">
                  <a:moveTo>
                    <a:pt x="0" y="147701"/>
                  </a:moveTo>
                  <a:cubicBezTo>
                    <a:pt x="0" y="66167"/>
                    <a:pt x="66167" y="0"/>
                    <a:pt x="147701" y="0"/>
                  </a:cubicBezTo>
                  <a:lnTo>
                    <a:pt x="4449699" y="0"/>
                  </a:lnTo>
                  <a:cubicBezTo>
                    <a:pt x="4531233" y="0"/>
                    <a:pt x="4597400" y="66167"/>
                    <a:pt x="4597400" y="147701"/>
                  </a:cubicBezTo>
                  <a:lnTo>
                    <a:pt x="4597400" y="2620899"/>
                  </a:lnTo>
                  <a:cubicBezTo>
                    <a:pt x="4597400" y="2702433"/>
                    <a:pt x="4531233" y="2768600"/>
                    <a:pt x="4449699" y="2768600"/>
                  </a:cubicBezTo>
                  <a:lnTo>
                    <a:pt x="147701" y="2768600"/>
                  </a:lnTo>
                  <a:cubicBezTo>
                    <a:pt x="66167" y="2768600"/>
                    <a:pt x="0" y="2702433"/>
                    <a:pt x="0" y="2620899"/>
                  </a:cubicBezTo>
                  <a:close/>
                </a:path>
              </a:pathLst>
            </a:custGeom>
            <a:solidFill>
              <a:srgbClr val="0F2038"/>
            </a:solidFill>
            <a:ln w="19050" cap="sq">
              <a:solidFill>
                <a:srgbClr val="1E3358"/>
              </a:solidFill>
              <a:prstDash val="solid"/>
              <a:miter/>
            </a:ln>
          </p:spPr>
        </p:sp>
      </p:grpSp>
      <p:grpSp>
        <p:nvGrpSpPr>
          <p:cNvPr name="Group 19" id="19"/>
          <p:cNvGrpSpPr/>
          <p:nvPr/>
        </p:nvGrpSpPr>
        <p:grpSpPr>
          <a:xfrm rot="0">
            <a:off x="1371600" y="4114800"/>
            <a:ext cx="3154680" cy="960120"/>
            <a:chOff x="0" y="0"/>
            <a:chExt cx="4206240" cy="1280160"/>
          </a:xfrm>
        </p:grpSpPr>
        <p:sp>
          <p:nvSpPr>
            <p:cNvPr name="Freeform 20" id="20"/>
            <p:cNvSpPr/>
            <p:nvPr/>
          </p:nvSpPr>
          <p:spPr>
            <a:xfrm flipH="false" flipV="false" rot="0">
              <a:off x="0" y="0"/>
              <a:ext cx="4206240" cy="1280160"/>
            </a:xfrm>
            <a:custGeom>
              <a:avLst/>
              <a:gdLst/>
              <a:ahLst/>
              <a:cxnLst/>
              <a:rect r="r" b="b" t="t" l="l"/>
              <a:pathLst>
                <a:path h="1280160" w="4206240">
                  <a:moveTo>
                    <a:pt x="0" y="0"/>
                  </a:moveTo>
                  <a:lnTo>
                    <a:pt x="4206240" y="0"/>
                  </a:lnTo>
                  <a:lnTo>
                    <a:pt x="4206240" y="1280160"/>
                  </a:lnTo>
                  <a:lnTo>
                    <a:pt x="0" y="1280160"/>
                  </a:lnTo>
                  <a:close/>
                </a:path>
              </a:pathLst>
            </a:custGeom>
            <a:blipFill>
              <a:blip r:embed="rId2">
                <a:alphaModFix amt="0"/>
              </a:blip>
              <a:stretch>
                <a:fillRect l="0" t="-14022" r="0" b="-14022"/>
              </a:stretch>
            </a:blipFill>
          </p:spPr>
        </p:sp>
        <p:sp>
          <p:nvSpPr>
            <p:cNvPr name="TextBox 21" id="21"/>
            <p:cNvSpPr txBox="true"/>
            <p:nvPr/>
          </p:nvSpPr>
          <p:spPr>
            <a:xfrm>
              <a:off x="0" y="-47625"/>
              <a:ext cx="4206240" cy="132778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CICIDS2017</a:t>
              </a:r>
            </a:p>
            <a:p>
              <a:pPr algn="ctr">
                <a:lnSpc>
                  <a:spcPts val="2520"/>
                </a:lnSpc>
              </a:pPr>
              <a:r>
                <a:rPr lang="en-US" sz="2100" b="true">
                  <a:solidFill>
                    <a:srgbClr val="FFFFFF"/>
                  </a:solidFill>
                  <a:latin typeface="Calibri (MS) Bold"/>
                  <a:ea typeface="Calibri (MS) Bold"/>
                  <a:cs typeface="Calibri (MS) Bold"/>
                  <a:sym typeface="Calibri (MS) Bold"/>
                </a:rPr>
                <a:t>CSV Files</a:t>
              </a:r>
            </a:p>
          </p:txBody>
        </p:sp>
      </p:grpSp>
      <p:sp>
        <p:nvSpPr>
          <p:cNvPr name="AutoShape 22" id="22"/>
          <p:cNvSpPr/>
          <p:nvPr/>
        </p:nvSpPr>
        <p:spPr>
          <a:xfrm rot="127619">
            <a:off x="4690034" y="4585335"/>
            <a:ext cx="769772" cy="0"/>
          </a:xfrm>
          <a:prstGeom prst="line">
            <a:avLst/>
          </a:prstGeom>
          <a:ln cap="rnd" w="19050">
            <a:solidFill>
              <a:srgbClr val="00E5C7"/>
            </a:solidFill>
            <a:prstDash val="solid"/>
            <a:headEnd type="none" len="sm" w="sm"/>
            <a:tailEnd type="triangle" len="med" w="lg"/>
          </a:ln>
        </p:spPr>
      </p:sp>
      <p:grpSp>
        <p:nvGrpSpPr>
          <p:cNvPr name="Group 23" id="23"/>
          <p:cNvGrpSpPr/>
          <p:nvPr/>
        </p:nvGrpSpPr>
        <p:grpSpPr>
          <a:xfrm rot="0">
            <a:off x="5476875" y="3556635"/>
            <a:ext cx="3448050" cy="2076450"/>
            <a:chOff x="0" y="0"/>
            <a:chExt cx="4597400" cy="2768600"/>
          </a:xfrm>
        </p:grpSpPr>
        <p:sp>
          <p:nvSpPr>
            <p:cNvPr name="Freeform 24" id="24"/>
            <p:cNvSpPr/>
            <p:nvPr/>
          </p:nvSpPr>
          <p:spPr>
            <a:xfrm flipH="false" flipV="false" rot="0">
              <a:off x="0" y="0"/>
              <a:ext cx="4597400" cy="2768600"/>
            </a:xfrm>
            <a:custGeom>
              <a:avLst/>
              <a:gdLst/>
              <a:ahLst/>
              <a:cxnLst/>
              <a:rect r="r" b="b" t="t" l="l"/>
              <a:pathLst>
                <a:path h="2768600" w="4597400">
                  <a:moveTo>
                    <a:pt x="0" y="147701"/>
                  </a:moveTo>
                  <a:cubicBezTo>
                    <a:pt x="0" y="66167"/>
                    <a:pt x="66167" y="0"/>
                    <a:pt x="147701" y="0"/>
                  </a:cubicBezTo>
                  <a:lnTo>
                    <a:pt x="4449699" y="0"/>
                  </a:lnTo>
                  <a:cubicBezTo>
                    <a:pt x="4531233" y="0"/>
                    <a:pt x="4597400" y="66167"/>
                    <a:pt x="4597400" y="147701"/>
                  </a:cubicBezTo>
                  <a:lnTo>
                    <a:pt x="4597400" y="2620899"/>
                  </a:lnTo>
                  <a:cubicBezTo>
                    <a:pt x="4597400" y="2702433"/>
                    <a:pt x="4531233" y="2768600"/>
                    <a:pt x="4449699" y="2768600"/>
                  </a:cubicBezTo>
                  <a:lnTo>
                    <a:pt x="147701" y="2768600"/>
                  </a:lnTo>
                  <a:cubicBezTo>
                    <a:pt x="66167" y="2768600"/>
                    <a:pt x="0" y="2702433"/>
                    <a:pt x="0" y="2620899"/>
                  </a:cubicBezTo>
                  <a:close/>
                </a:path>
              </a:pathLst>
            </a:custGeom>
            <a:solidFill>
              <a:srgbClr val="12324A"/>
            </a:solidFill>
            <a:ln w="19050" cap="sq">
              <a:solidFill>
                <a:srgbClr val="1E3358"/>
              </a:solidFill>
              <a:prstDash val="solid"/>
              <a:miter/>
            </a:ln>
          </p:spPr>
        </p:sp>
      </p:grpSp>
      <p:grpSp>
        <p:nvGrpSpPr>
          <p:cNvPr name="Group 25" id="25"/>
          <p:cNvGrpSpPr/>
          <p:nvPr/>
        </p:nvGrpSpPr>
        <p:grpSpPr>
          <a:xfrm rot="0">
            <a:off x="5623560" y="4114800"/>
            <a:ext cx="3154680" cy="960120"/>
            <a:chOff x="0" y="0"/>
            <a:chExt cx="4206240" cy="1280160"/>
          </a:xfrm>
        </p:grpSpPr>
        <p:sp>
          <p:nvSpPr>
            <p:cNvPr name="Freeform 26" id="26"/>
            <p:cNvSpPr/>
            <p:nvPr/>
          </p:nvSpPr>
          <p:spPr>
            <a:xfrm flipH="false" flipV="false" rot="0">
              <a:off x="0" y="0"/>
              <a:ext cx="4206240" cy="1280160"/>
            </a:xfrm>
            <a:custGeom>
              <a:avLst/>
              <a:gdLst/>
              <a:ahLst/>
              <a:cxnLst/>
              <a:rect r="r" b="b" t="t" l="l"/>
              <a:pathLst>
                <a:path h="1280160" w="4206240">
                  <a:moveTo>
                    <a:pt x="0" y="0"/>
                  </a:moveTo>
                  <a:lnTo>
                    <a:pt x="4206240" y="0"/>
                  </a:lnTo>
                  <a:lnTo>
                    <a:pt x="4206240" y="1280160"/>
                  </a:lnTo>
                  <a:lnTo>
                    <a:pt x="0" y="1280160"/>
                  </a:lnTo>
                  <a:close/>
                </a:path>
              </a:pathLst>
            </a:custGeom>
            <a:blipFill>
              <a:blip r:embed="rId2">
                <a:alphaModFix amt="0"/>
              </a:blip>
              <a:stretch>
                <a:fillRect l="0" t="-14022" r="0" b="-14022"/>
              </a:stretch>
            </a:blipFill>
          </p:spPr>
        </p:sp>
        <p:sp>
          <p:nvSpPr>
            <p:cNvPr name="TextBox 27" id="27"/>
            <p:cNvSpPr txBox="true"/>
            <p:nvPr/>
          </p:nvSpPr>
          <p:spPr>
            <a:xfrm>
              <a:off x="0" y="-47625"/>
              <a:ext cx="4206240" cy="132778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Kafka</a:t>
              </a:r>
            </a:p>
            <a:p>
              <a:pPr algn="ctr">
                <a:lnSpc>
                  <a:spcPts val="2520"/>
                </a:lnSpc>
              </a:pPr>
              <a:r>
                <a:rPr lang="en-US" sz="2100" b="true">
                  <a:solidFill>
                    <a:srgbClr val="FFFFFF"/>
                  </a:solidFill>
                  <a:latin typeface="Calibri (MS) Bold"/>
                  <a:ea typeface="Calibri (MS) Bold"/>
                  <a:cs typeface="Calibri (MS) Bold"/>
                  <a:sym typeface="Calibri (MS) Bold"/>
                </a:rPr>
                <a:t>Producer</a:t>
              </a:r>
            </a:p>
          </p:txBody>
        </p:sp>
      </p:grpSp>
      <p:sp>
        <p:nvSpPr>
          <p:cNvPr name="AutoShape 28" id="28"/>
          <p:cNvSpPr/>
          <p:nvPr/>
        </p:nvSpPr>
        <p:spPr>
          <a:xfrm rot="127619">
            <a:off x="8941994" y="4585335"/>
            <a:ext cx="769772" cy="0"/>
          </a:xfrm>
          <a:prstGeom prst="line">
            <a:avLst/>
          </a:prstGeom>
          <a:ln cap="rnd" w="19050">
            <a:solidFill>
              <a:srgbClr val="00E5C7"/>
            </a:solidFill>
            <a:prstDash val="solid"/>
            <a:headEnd type="none" len="sm" w="sm"/>
            <a:tailEnd type="triangle" len="med" w="lg"/>
          </a:ln>
        </p:spPr>
      </p:sp>
      <p:grpSp>
        <p:nvGrpSpPr>
          <p:cNvPr name="Group 29" id="29"/>
          <p:cNvGrpSpPr/>
          <p:nvPr/>
        </p:nvGrpSpPr>
        <p:grpSpPr>
          <a:xfrm rot="0">
            <a:off x="9728835" y="3556635"/>
            <a:ext cx="3448050" cy="2076450"/>
            <a:chOff x="0" y="0"/>
            <a:chExt cx="4597400" cy="2768600"/>
          </a:xfrm>
        </p:grpSpPr>
        <p:sp>
          <p:nvSpPr>
            <p:cNvPr name="Freeform 30" id="30"/>
            <p:cNvSpPr/>
            <p:nvPr/>
          </p:nvSpPr>
          <p:spPr>
            <a:xfrm flipH="false" flipV="false" rot="0">
              <a:off x="0" y="0"/>
              <a:ext cx="4597400" cy="2768600"/>
            </a:xfrm>
            <a:custGeom>
              <a:avLst/>
              <a:gdLst/>
              <a:ahLst/>
              <a:cxnLst/>
              <a:rect r="r" b="b" t="t" l="l"/>
              <a:pathLst>
                <a:path h="2768600" w="4597400">
                  <a:moveTo>
                    <a:pt x="0" y="147701"/>
                  </a:moveTo>
                  <a:cubicBezTo>
                    <a:pt x="0" y="66167"/>
                    <a:pt x="66167" y="0"/>
                    <a:pt x="147701" y="0"/>
                  </a:cubicBezTo>
                  <a:lnTo>
                    <a:pt x="4449699" y="0"/>
                  </a:lnTo>
                  <a:cubicBezTo>
                    <a:pt x="4531233" y="0"/>
                    <a:pt x="4597400" y="66167"/>
                    <a:pt x="4597400" y="147701"/>
                  </a:cubicBezTo>
                  <a:lnTo>
                    <a:pt x="4597400" y="2620899"/>
                  </a:lnTo>
                  <a:cubicBezTo>
                    <a:pt x="4597400" y="2702433"/>
                    <a:pt x="4531233" y="2768600"/>
                    <a:pt x="4449699" y="2768600"/>
                  </a:cubicBezTo>
                  <a:lnTo>
                    <a:pt x="147701" y="2768600"/>
                  </a:lnTo>
                  <a:cubicBezTo>
                    <a:pt x="66167" y="2768600"/>
                    <a:pt x="0" y="2702433"/>
                    <a:pt x="0" y="2620899"/>
                  </a:cubicBezTo>
                  <a:close/>
                </a:path>
              </a:pathLst>
            </a:custGeom>
            <a:solidFill>
              <a:srgbClr val="12324A"/>
            </a:solidFill>
            <a:ln w="19050" cap="sq">
              <a:solidFill>
                <a:srgbClr val="00E5C7"/>
              </a:solidFill>
              <a:prstDash val="solid"/>
              <a:miter/>
            </a:ln>
          </p:spPr>
        </p:sp>
      </p:grpSp>
      <p:grpSp>
        <p:nvGrpSpPr>
          <p:cNvPr name="Group 31" id="31"/>
          <p:cNvGrpSpPr/>
          <p:nvPr/>
        </p:nvGrpSpPr>
        <p:grpSpPr>
          <a:xfrm rot="0">
            <a:off x="9875520" y="4114800"/>
            <a:ext cx="3154680" cy="960120"/>
            <a:chOff x="0" y="0"/>
            <a:chExt cx="4206240" cy="1280160"/>
          </a:xfrm>
        </p:grpSpPr>
        <p:sp>
          <p:nvSpPr>
            <p:cNvPr name="Freeform 32" id="32"/>
            <p:cNvSpPr/>
            <p:nvPr/>
          </p:nvSpPr>
          <p:spPr>
            <a:xfrm flipH="false" flipV="false" rot="0">
              <a:off x="0" y="0"/>
              <a:ext cx="4206240" cy="1280160"/>
            </a:xfrm>
            <a:custGeom>
              <a:avLst/>
              <a:gdLst/>
              <a:ahLst/>
              <a:cxnLst/>
              <a:rect r="r" b="b" t="t" l="l"/>
              <a:pathLst>
                <a:path h="1280160" w="4206240">
                  <a:moveTo>
                    <a:pt x="0" y="0"/>
                  </a:moveTo>
                  <a:lnTo>
                    <a:pt x="4206240" y="0"/>
                  </a:lnTo>
                  <a:lnTo>
                    <a:pt x="4206240" y="1280160"/>
                  </a:lnTo>
                  <a:lnTo>
                    <a:pt x="0" y="1280160"/>
                  </a:lnTo>
                  <a:close/>
                </a:path>
              </a:pathLst>
            </a:custGeom>
            <a:blipFill>
              <a:blip r:embed="rId2">
                <a:alphaModFix amt="0"/>
              </a:blip>
              <a:stretch>
                <a:fillRect l="0" t="-14022" r="0" b="-14022"/>
              </a:stretch>
            </a:blipFill>
          </p:spPr>
        </p:sp>
        <p:sp>
          <p:nvSpPr>
            <p:cNvPr name="TextBox 33" id="33"/>
            <p:cNvSpPr txBox="true"/>
            <p:nvPr/>
          </p:nvSpPr>
          <p:spPr>
            <a:xfrm>
              <a:off x="0" y="-47625"/>
              <a:ext cx="4206240" cy="132778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Redpanda</a:t>
              </a:r>
            </a:p>
            <a:p>
              <a:pPr algn="ctr">
                <a:lnSpc>
                  <a:spcPts val="2520"/>
                </a:lnSpc>
              </a:pPr>
              <a:r>
                <a:rPr lang="en-US" sz="2100" b="true">
                  <a:solidFill>
                    <a:srgbClr val="FFFFFF"/>
                  </a:solidFill>
                  <a:latin typeface="Calibri (MS) Bold"/>
                  <a:ea typeface="Calibri (MS) Bold"/>
                  <a:cs typeface="Calibri (MS) Bold"/>
                  <a:sym typeface="Calibri (MS) Bold"/>
                </a:rPr>
                <a:t>Broker</a:t>
              </a:r>
            </a:p>
          </p:txBody>
        </p:sp>
      </p:grpSp>
      <p:sp>
        <p:nvSpPr>
          <p:cNvPr name="AutoShape 34" id="34"/>
          <p:cNvSpPr/>
          <p:nvPr/>
        </p:nvSpPr>
        <p:spPr>
          <a:xfrm rot="127619">
            <a:off x="13193954" y="4585335"/>
            <a:ext cx="769772" cy="0"/>
          </a:xfrm>
          <a:prstGeom prst="line">
            <a:avLst/>
          </a:prstGeom>
          <a:ln cap="rnd" w="19050">
            <a:solidFill>
              <a:srgbClr val="00E5C7"/>
            </a:solidFill>
            <a:prstDash val="solid"/>
            <a:headEnd type="none" len="sm" w="sm"/>
            <a:tailEnd type="triangle" len="med" w="lg"/>
          </a:ln>
        </p:spPr>
      </p:sp>
      <p:grpSp>
        <p:nvGrpSpPr>
          <p:cNvPr name="Group 35" id="35"/>
          <p:cNvGrpSpPr/>
          <p:nvPr/>
        </p:nvGrpSpPr>
        <p:grpSpPr>
          <a:xfrm rot="0">
            <a:off x="13980795" y="3556635"/>
            <a:ext cx="3448050" cy="2076450"/>
            <a:chOff x="0" y="0"/>
            <a:chExt cx="4597400" cy="2768600"/>
          </a:xfrm>
        </p:grpSpPr>
        <p:sp>
          <p:nvSpPr>
            <p:cNvPr name="Freeform 36" id="36"/>
            <p:cNvSpPr/>
            <p:nvPr/>
          </p:nvSpPr>
          <p:spPr>
            <a:xfrm flipH="false" flipV="false" rot="0">
              <a:off x="0" y="0"/>
              <a:ext cx="4597400" cy="2768600"/>
            </a:xfrm>
            <a:custGeom>
              <a:avLst/>
              <a:gdLst/>
              <a:ahLst/>
              <a:cxnLst/>
              <a:rect r="r" b="b" t="t" l="l"/>
              <a:pathLst>
                <a:path h="2768600" w="4597400">
                  <a:moveTo>
                    <a:pt x="0" y="147701"/>
                  </a:moveTo>
                  <a:cubicBezTo>
                    <a:pt x="0" y="66167"/>
                    <a:pt x="66167" y="0"/>
                    <a:pt x="147701" y="0"/>
                  </a:cubicBezTo>
                  <a:lnTo>
                    <a:pt x="4449699" y="0"/>
                  </a:lnTo>
                  <a:cubicBezTo>
                    <a:pt x="4531233" y="0"/>
                    <a:pt x="4597400" y="66167"/>
                    <a:pt x="4597400" y="147701"/>
                  </a:cubicBezTo>
                  <a:lnTo>
                    <a:pt x="4597400" y="2620899"/>
                  </a:lnTo>
                  <a:cubicBezTo>
                    <a:pt x="4597400" y="2702433"/>
                    <a:pt x="4531233" y="2768600"/>
                    <a:pt x="4449699" y="2768600"/>
                  </a:cubicBezTo>
                  <a:lnTo>
                    <a:pt x="147701" y="2768600"/>
                  </a:lnTo>
                  <a:cubicBezTo>
                    <a:pt x="66167" y="2768600"/>
                    <a:pt x="0" y="2702433"/>
                    <a:pt x="0" y="2620899"/>
                  </a:cubicBezTo>
                  <a:close/>
                </a:path>
              </a:pathLst>
            </a:custGeom>
            <a:solidFill>
              <a:srgbClr val="0F2038"/>
            </a:solidFill>
            <a:ln w="19050" cap="sq">
              <a:solidFill>
                <a:srgbClr val="1E3358"/>
              </a:solidFill>
              <a:prstDash val="solid"/>
              <a:miter/>
            </a:ln>
          </p:spPr>
        </p:sp>
      </p:grpSp>
      <p:grpSp>
        <p:nvGrpSpPr>
          <p:cNvPr name="Group 37" id="37"/>
          <p:cNvGrpSpPr/>
          <p:nvPr/>
        </p:nvGrpSpPr>
        <p:grpSpPr>
          <a:xfrm rot="0">
            <a:off x="14127480" y="4114800"/>
            <a:ext cx="3154680" cy="960120"/>
            <a:chOff x="0" y="0"/>
            <a:chExt cx="4206240" cy="1280160"/>
          </a:xfrm>
        </p:grpSpPr>
        <p:sp>
          <p:nvSpPr>
            <p:cNvPr name="Freeform 38" id="38"/>
            <p:cNvSpPr/>
            <p:nvPr/>
          </p:nvSpPr>
          <p:spPr>
            <a:xfrm flipH="false" flipV="false" rot="0">
              <a:off x="0" y="0"/>
              <a:ext cx="4206240" cy="1280160"/>
            </a:xfrm>
            <a:custGeom>
              <a:avLst/>
              <a:gdLst/>
              <a:ahLst/>
              <a:cxnLst/>
              <a:rect r="r" b="b" t="t" l="l"/>
              <a:pathLst>
                <a:path h="1280160" w="4206240">
                  <a:moveTo>
                    <a:pt x="0" y="0"/>
                  </a:moveTo>
                  <a:lnTo>
                    <a:pt x="4206240" y="0"/>
                  </a:lnTo>
                  <a:lnTo>
                    <a:pt x="4206240" y="1280160"/>
                  </a:lnTo>
                  <a:lnTo>
                    <a:pt x="0" y="1280160"/>
                  </a:lnTo>
                  <a:close/>
                </a:path>
              </a:pathLst>
            </a:custGeom>
            <a:blipFill>
              <a:blip r:embed="rId2">
                <a:alphaModFix amt="0"/>
              </a:blip>
              <a:stretch>
                <a:fillRect l="0" t="-14022" r="0" b="-14022"/>
              </a:stretch>
            </a:blipFill>
          </p:spPr>
        </p:sp>
        <p:sp>
          <p:nvSpPr>
            <p:cNvPr name="TextBox 39" id="39"/>
            <p:cNvSpPr txBox="true"/>
            <p:nvPr/>
          </p:nvSpPr>
          <p:spPr>
            <a:xfrm>
              <a:off x="0" y="-47625"/>
              <a:ext cx="4206240" cy="132778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Consumer</a:t>
              </a:r>
            </a:p>
            <a:p>
              <a:pPr algn="ctr">
                <a:lnSpc>
                  <a:spcPts val="2520"/>
                </a:lnSpc>
              </a:pPr>
              <a:r>
                <a:rPr lang="en-US" sz="2100" b="true">
                  <a:solidFill>
                    <a:srgbClr val="FFFFFF"/>
                  </a:solidFill>
                  <a:latin typeface="Calibri (MS) Bold"/>
                  <a:ea typeface="Calibri (MS) Bold"/>
                  <a:cs typeface="Calibri (MS) Bold"/>
                  <a:sym typeface="Calibri (MS) Bold"/>
                </a:rPr>
                <a:t>Groups</a:t>
              </a:r>
            </a:p>
          </p:txBody>
        </p:sp>
      </p:grpSp>
      <p:grpSp>
        <p:nvGrpSpPr>
          <p:cNvPr name="Group 40" id="40"/>
          <p:cNvGrpSpPr/>
          <p:nvPr/>
        </p:nvGrpSpPr>
        <p:grpSpPr>
          <a:xfrm rot="0">
            <a:off x="8983980" y="5692140"/>
            <a:ext cx="2743200" cy="411480"/>
            <a:chOff x="0" y="0"/>
            <a:chExt cx="3657600" cy="548640"/>
          </a:xfrm>
        </p:grpSpPr>
        <p:sp>
          <p:nvSpPr>
            <p:cNvPr name="Freeform 41" id="41"/>
            <p:cNvSpPr/>
            <p:nvPr/>
          </p:nvSpPr>
          <p:spPr>
            <a:xfrm flipH="false" flipV="false" rot="0">
              <a:off x="0" y="0"/>
              <a:ext cx="3657600" cy="548640"/>
            </a:xfrm>
            <a:custGeom>
              <a:avLst/>
              <a:gdLst/>
              <a:ahLst/>
              <a:cxnLst/>
              <a:rect r="r" b="b" t="t" l="l"/>
              <a:pathLst>
                <a:path h="548640" w="3657600">
                  <a:moveTo>
                    <a:pt x="0" y="0"/>
                  </a:moveTo>
                  <a:lnTo>
                    <a:pt x="3657600" y="0"/>
                  </a:lnTo>
                  <a:lnTo>
                    <a:pt x="3657600" y="548640"/>
                  </a:lnTo>
                  <a:lnTo>
                    <a:pt x="0" y="548640"/>
                  </a:lnTo>
                  <a:close/>
                </a:path>
              </a:pathLst>
            </a:custGeom>
            <a:blipFill>
              <a:blip r:embed="rId2">
                <a:alphaModFix amt="0"/>
              </a:blip>
              <a:stretch>
                <a:fillRect l="0" t="-79900" r="0" b="-79900"/>
              </a:stretch>
            </a:blipFill>
          </p:spPr>
        </p:sp>
        <p:sp>
          <p:nvSpPr>
            <p:cNvPr name="TextBox 42" id="42"/>
            <p:cNvSpPr txBox="true"/>
            <p:nvPr/>
          </p:nvSpPr>
          <p:spPr>
            <a:xfrm>
              <a:off x="0" y="-38100"/>
              <a:ext cx="3657600" cy="586740"/>
            </a:xfrm>
            <a:prstGeom prst="rect">
              <a:avLst/>
            </a:prstGeom>
          </p:spPr>
          <p:txBody>
            <a:bodyPr anchor="ctr" rtlCol="false" tIns="0" lIns="0" bIns="0" rIns="0"/>
            <a:lstStyle/>
            <a:p>
              <a:pPr algn="l">
                <a:lnSpc>
                  <a:spcPts val="1800"/>
                </a:lnSpc>
              </a:pPr>
              <a:r>
                <a:rPr lang="en-US" sz="1500" i="true">
                  <a:solidFill>
                    <a:srgbClr val="00E5C7"/>
                  </a:solidFill>
                  <a:latin typeface="Calibri (MS) Italics"/>
                  <a:ea typeface="Calibri (MS) Italics"/>
                  <a:cs typeface="Calibri (MS) Italics"/>
                  <a:sym typeface="Calibri (MS) Italics"/>
                </a:rPr>
                <a:t>raw-logs topic</a:t>
              </a:r>
            </a:p>
          </p:txBody>
        </p:sp>
      </p:grpSp>
      <p:grpSp>
        <p:nvGrpSpPr>
          <p:cNvPr name="Group 43" id="43"/>
          <p:cNvGrpSpPr/>
          <p:nvPr/>
        </p:nvGrpSpPr>
        <p:grpSpPr>
          <a:xfrm rot="0">
            <a:off x="822960" y="6309360"/>
            <a:ext cx="548640" cy="548640"/>
            <a:chOff x="0" y="0"/>
            <a:chExt cx="731520" cy="731520"/>
          </a:xfrm>
        </p:grpSpPr>
        <p:sp>
          <p:nvSpPr>
            <p:cNvPr name="Freeform 44" id="44"/>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0E5C7"/>
            </a:solidFill>
          </p:spPr>
        </p:sp>
      </p:grpSp>
      <p:grpSp>
        <p:nvGrpSpPr>
          <p:cNvPr name="Group 45" id="45"/>
          <p:cNvGrpSpPr/>
          <p:nvPr/>
        </p:nvGrpSpPr>
        <p:grpSpPr>
          <a:xfrm rot="0">
            <a:off x="822960" y="6295644"/>
            <a:ext cx="548640" cy="548640"/>
            <a:chOff x="0" y="0"/>
            <a:chExt cx="731520" cy="731520"/>
          </a:xfrm>
        </p:grpSpPr>
        <p:sp>
          <p:nvSpPr>
            <p:cNvPr name="Freeform 46" id="46"/>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2">
                <a:alphaModFix amt="0"/>
              </a:blip>
              <a:stretch>
                <a:fillRect l="-78303" t="0" r="-78303" b="0"/>
              </a:stretch>
            </a:blipFill>
          </p:spPr>
        </p:sp>
        <p:sp>
          <p:nvSpPr>
            <p:cNvPr name="TextBox 47" id="47"/>
            <p:cNvSpPr txBox="true"/>
            <p:nvPr/>
          </p:nvSpPr>
          <p:spPr>
            <a:xfrm>
              <a:off x="0" y="-19050"/>
              <a:ext cx="731520" cy="750570"/>
            </a:xfrm>
            <a:prstGeom prst="rect">
              <a:avLst/>
            </a:prstGeom>
          </p:spPr>
          <p:txBody>
            <a:bodyPr anchor="ctr" rtlCol="false" tIns="0" lIns="0" bIns="0" rIns="0"/>
            <a:lstStyle/>
            <a:p>
              <a:pPr algn="ctr">
                <a:lnSpc>
                  <a:spcPts val="1872"/>
                </a:lnSpc>
              </a:pPr>
              <a:r>
                <a:rPr lang="en-US" sz="1560" b="true">
                  <a:solidFill>
                    <a:srgbClr val="0A1428"/>
                  </a:solidFill>
                  <a:latin typeface="Calibri (MS) Bold"/>
                  <a:ea typeface="Calibri (MS) Bold"/>
                  <a:cs typeface="Calibri (MS) Bold"/>
                  <a:sym typeface="Calibri (MS) Bold"/>
                </a:rPr>
                <a:t>✓</a:t>
              </a:r>
            </a:p>
          </p:txBody>
        </p:sp>
      </p:grpSp>
      <p:grpSp>
        <p:nvGrpSpPr>
          <p:cNvPr name="Group 48" id="48"/>
          <p:cNvGrpSpPr/>
          <p:nvPr/>
        </p:nvGrpSpPr>
        <p:grpSpPr>
          <a:xfrm rot="0">
            <a:off x="1577340" y="6240780"/>
            <a:ext cx="7406640" cy="480060"/>
            <a:chOff x="0" y="0"/>
            <a:chExt cx="9875520" cy="640080"/>
          </a:xfrm>
        </p:grpSpPr>
        <p:sp>
          <p:nvSpPr>
            <p:cNvPr name="Freeform 49" id="49"/>
            <p:cNvSpPr/>
            <p:nvPr/>
          </p:nvSpPr>
          <p:spPr>
            <a:xfrm flipH="false" flipV="false" rot="0">
              <a:off x="0" y="0"/>
              <a:ext cx="9875520" cy="640080"/>
            </a:xfrm>
            <a:custGeom>
              <a:avLst/>
              <a:gdLst/>
              <a:ahLst/>
              <a:cxnLst/>
              <a:rect r="r" b="b" t="t" l="l"/>
              <a:pathLst>
                <a:path h="640080" w="9875520">
                  <a:moveTo>
                    <a:pt x="0" y="0"/>
                  </a:moveTo>
                  <a:lnTo>
                    <a:pt x="9875520" y="0"/>
                  </a:lnTo>
                  <a:lnTo>
                    <a:pt x="9875520" y="640080"/>
                  </a:lnTo>
                  <a:lnTo>
                    <a:pt x="0" y="640080"/>
                  </a:lnTo>
                  <a:close/>
                </a:path>
              </a:pathLst>
            </a:custGeom>
            <a:blipFill>
              <a:blip r:embed="rId2">
                <a:alphaModFix amt="0"/>
              </a:blip>
              <a:stretch>
                <a:fillRect l="0" t="-250626" r="0" b="-250626"/>
              </a:stretch>
            </a:blipFill>
          </p:spPr>
        </p:sp>
        <p:sp>
          <p:nvSpPr>
            <p:cNvPr name="TextBox 50" id="50"/>
            <p:cNvSpPr txBox="true"/>
            <p:nvPr/>
          </p:nvSpPr>
          <p:spPr>
            <a:xfrm>
              <a:off x="0" y="-38100"/>
              <a:ext cx="9875520" cy="678180"/>
            </a:xfrm>
            <a:prstGeom prst="rect">
              <a:avLst/>
            </a:prstGeom>
          </p:spPr>
          <p:txBody>
            <a:bodyPr anchor="ctr" rtlCol="false" tIns="0" lIns="0" bIns="0" rIns="0"/>
            <a:lstStyle/>
            <a:p>
              <a:pPr algn="l">
                <a:lnSpc>
                  <a:spcPts val="2250"/>
                </a:lnSpc>
              </a:pPr>
              <a:r>
                <a:rPr lang="en-US" sz="1875" b="true">
                  <a:solidFill>
                    <a:srgbClr val="FFFFFF"/>
                  </a:solidFill>
                  <a:latin typeface="Calibri (MS) Bold"/>
                  <a:ea typeface="Calibri (MS) Bold"/>
                  <a:cs typeface="Calibri (MS) Bold"/>
                  <a:sym typeface="Calibri (MS) Bold"/>
                </a:rPr>
                <a:t>Réessayer avec un délai exponentiel </a:t>
              </a:r>
            </a:p>
          </p:txBody>
        </p:sp>
      </p:grpSp>
      <p:grpSp>
        <p:nvGrpSpPr>
          <p:cNvPr name="Group 51" id="51"/>
          <p:cNvGrpSpPr/>
          <p:nvPr/>
        </p:nvGrpSpPr>
        <p:grpSpPr>
          <a:xfrm rot="0">
            <a:off x="1577340" y="6693408"/>
            <a:ext cx="7406640" cy="822960"/>
            <a:chOff x="0" y="0"/>
            <a:chExt cx="9875520" cy="1097280"/>
          </a:xfrm>
        </p:grpSpPr>
        <p:sp>
          <p:nvSpPr>
            <p:cNvPr name="Freeform 52" id="52"/>
            <p:cNvSpPr/>
            <p:nvPr/>
          </p:nvSpPr>
          <p:spPr>
            <a:xfrm flipH="false" flipV="false" rot="0">
              <a:off x="0" y="0"/>
              <a:ext cx="9875520" cy="1097280"/>
            </a:xfrm>
            <a:custGeom>
              <a:avLst/>
              <a:gdLst/>
              <a:ahLst/>
              <a:cxnLst/>
              <a:rect r="r" b="b" t="t" l="l"/>
              <a:pathLst>
                <a:path h="1097280" w="9875520">
                  <a:moveTo>
                    <a:pt x="0" y="0"/>
                  </a:moveTo>
                  <a:lnTo>
                    <a:pt x="9875520" y="0"/>
                  </a:lnTo>
                  <a:lnTo>
                    <a:pt x="9875520" y="1097280"/>
                  </a:lnTo>
                  <a:lnTo>
                    <a:pt x="0" y="1097280"/>
                  </a:lnTo>
                  <a:close/>
                </a:path>
              </a:pathLst>
            </a:custGeom>
            <a:blipFill>
              <a:blip r:embed="rId2">
                <a:alphaModFix amt="0"/>
              </a:blip>
              <a:stretch>
                <a:fillRect l="0" t="-125365" r="0" b="-125365"/>
              </a:stretch>
            </a:blipFill>
          </p:spPr>
        </p:sp>
        <p:sp>
          <p:nvSpPr>
            <p:cNvPr name="TextBox 53" id="53"/>
            <p:cNvSpPr txBox="true"/>
            <p:nvPr/>
          </p:nvSpPr>
          <p:spPr>
            <a:xfrm>
              <a:off x="0" y="-19050"/>
              <a:ext cx="9875520" cy="1116330"/>
            </a:xfrm>
            <a:prstGeom prst="rect">
              <a:avLst/>
            </a:prstGeom>
          </p:spPr>
          <p:txBody>
            <a:bodyPr anchor="ctr" rtlCol="false" tIns="0" lIns="0" bIns="0" rIns="0"/>
            <a:lstStyle/>
            <a:p>
              <a:pPr algn="l">
                <a:lnSpc>
                  <a:spcPts val="1889"/>
                </a:lnSpc>
              </a:pPr>
              <a:r>
                <a:rPr lang="en-US" sz="1575">
                  <a:solidFill>
                    <a:srgbClr val="9FB0C9"/>
                  </a:solidFill>
                  <a:latin typeface="Calibri (MS)"/>
                  <a:ea typeface="Calibri (MS)"/>
                  <a:cs typeface="Calibri (MS)"/>
                  <a:sym typeface="Calibri (MS)"/>
                </a:rPr>
                <a:t>5 tentatives de reconnexion, délai exponentiel (1–16s) — résilient à l'ordre de démarrage des conteneurs. </a:t>
              </a:r>
            </a:p>
          </p:txBody>
        </p:sp>
      </p:grpSp>
      <p:grpSp>
        <p:nvGrpSpPr>
          <p:cNvPr name="Group 54" id="54"/>
          <p:cNvGrpSpPr/>
          <p:nvPr/>
        </p:nvGrpSpPr>
        <p:grpSpPr>
          <a:xfrm rot="0">
            <a:off x="9258300" y="6309360"/>
            <a:ext cx="548640" cy="548640"/>
            <a:chOff x="0" y="0"/>
            <a:chExt cx="731520" cy="731520"/>
          </a:xfrm>
        </p:grpSpPr>
        <p:sp>
          <p:nvSpPr>
            <p:cNvPr name="Freeform 55" id="55"/>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0E5C7"/>
            </a:solidFill>
          </p:spPr>
        </p:sp>
      </p:grpSp>
      <p:grpSp>
        <p:nvGrpSpPr>
          <p:cNvPr name="Group 56" id="56"/>
          <p:cNvGrpSpPr/>
          <p:nvPr/>
        </p:nvGrpSpPr>
        <p:grpSpPr>
          <a:xfrm rot="0">
            <a:off x="9258300" y="6295644"/>
            <a:ext cx="548640" cy="548640"/>
            <a:chOff x="0" y="0"/>
            <a:chExt cx="731520" cy="731520"/>
          </a:xfrm>
        </p:grpSpPr>
        <p:sp>
          <p:nvSpPr>
            <p:cNvPr name="Freeform 57" id="57"/>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2">
                <a:alphaModFix amt="0"/>
              </a:blip>
              <a:stretch>
                <a:fillRect l="-78303" t="0" r="-78303" b="0"/>
              </a:stretch>
            </a:blipFill>
          </p:spPr>
        </p:sp>
        <p:sp>
          <p:nvSpPr>
            <p:cNvPr name="TextBox 58" id="58"/>
            <p:cNvSpPr txBox="true"/>
            <p:nvPr/>
          </p:nvSpPr>
          <p:spPr>
            <a:xfrm>
              <a:off x="0" y="-19050"/>
              <a:ext cx="731520" cy="750570"/>
            </a:xfrm>
            <a:prstGeom prst="rect">
              <a:avLst/>
            </a:prstGeom>
          </p:spPr>
          <p:txBody>
            <a:bodyPr anchor="ctr" rtlCol="false" tIns="0" lIns="0" bIns="0" rIns="0"/>
            <a:lstStyle/>
            <a:p>
              <a:pPr algn="ctr">
                <a:lnSpc>
                  <a:spcPts val="1872"/>
                </a:lnSpc>
              </a:pPr>
              <a:r>
                <a:rPr lang="en-US" sz="1560" b="true">
                  <a:solidFill>
                    <a:srgbClr val="0A1428"/>
                  </a:solidFill>
                  <a:latin typeface="Calibri (MS) Bold"/>
                  <a:ea typeface="Calibri (MS) Bold"/>
                  <a:cs typeface="Calibri (MS) Bold"/>
                  <a:sym typeface="Calibri (MS) Bold"/>
                </a:rPr>
                <a:t>✓</a:t>
              </a:r>
            </a:p>
          </p:txBody>
        </p:sp>
      </p:grpSp>
      <p:grpSp>
        <p:nvGrpSpPr>
          <p:cNvPr name="Group 59" id="59"/>
          <p:cNvGrpSpPr/>
          <p:nvPr/>
        </p:nvGrpSpPr>
        <p:grpSpPr>
          <a:xfrm rot="0">
            <a:off x="10012680" y="6240780"/>
            <a:ext cx="7406640" cy="480060"/>
            <a:chOff x="0" y="0"/>
            <a:chExt cx="9875520" cy="640080"/>
          </a:xfrm>
        </p:grpSpPr>
        <p:sp>
          <p:nvSpPr>
            <p:cNvPr name="Freeform 60" id="60"/>
            <p:cNvSpPr/>
            <p:nvPr/>
          </p:nvSpPr>
          <p:spPr>
            <a:xfrm flipH="false" flipV="false" rot="0">
              <a:off x="0" y="0"/>
              <a:ext cx="9875520" cy="640080"/>
            </a:xfrm>
            <a:custGeom>
              <a:avLst/>
              <a:gdLst/>
              <a:ahLst/>
              <a:cxnLst/>
              <a:rect r="r" b="b" t="t" l="l"/>
              <a:pathLst>
                <a:path h="640080" w="9875520">
                  <a:moveTo>
                    <a:pt x="0" y="0"/>
                  </a:moveTo>
                  <a:lnTo>
                    <a:pt x="9875520" y="0"/>
                  </a:lnTo>
                  <a:lnTo>
                    <a:pt x="9875520" y="640080"/>
                  </a:lnTo>
                  <a:lnTo>
                    <a:pt x="0" y="640080"/>
                  </a:lnTo>
                  <a:close/>
                </a:path>
              </a:pathLst>
            </a:custGeom>
            <a:blipFill>
              <a:blip r:embed="rId2">
                <a:alphaModFix amt="0"/>
              </a:blip>
              <a:stretch>
                <a:fillRect l="0" t="-250626" r="0" b="-250626"/>
              </a:stretch>
            </a:blipFill>
          </p:spPr>
        </p:sp>
        <p:sp>
          <p:nvSpPr>
            <p:cNvPr name="TextBox 61" id="61"/>
            <p:cNvSpPr txBox="true"/>
            <p:nvPr/>
          </p:nvSpPr>
          <p:spPr>
            <a:xfrm>
              <a:off x="0" y="-38100"/>
              <a:ext cx="9875520" cy="678180"/>
            </a:xfrm>
            <a:prstGeom prst="rect">
              <a:avLst/>
            </a:prstGeom>
          </p:spPr>
          <p:txBody>
            <a:bodyPr anchor="ctr" rtlCol="false" tIns="0" lIns="0" bIns="0" rIns="0"/>
            <a:lstStyle/>
            <a:p>
              <a:pPr algn="l">
                <a:lnSpc>
                  <a:spcPts val="2250"/>
                </a:lnSpc>
              </a:pPr>
              <a:r>
                <a:rPr lang="en-US" sz="1875" b="true">
                  <a:solidFill>
                    <a:srgbClr val="FFFFFF"/>
                  </a:solidFill>
                  <a:latin typeface="Calibri (MS) Bold"/>
                  <a:ea typeface="Calibri (MS) Bold"/>
                  <a:cs typeface="Calibri (MS) Bold"/>
                  <a:sym typeface="Calibri (MS) Bold"/>
                </a:rPr>
                <a:t>Gzip compression</a:t>
              </a:r>
            </a:p>
          </p:txBody>
        </p:sp>
      </p:grpSp>
      <p:grpSp>
        <p:nvGrpSpPr>
          <p:cNvPr name="Group 62" id="62"/>
          <p:cNvGrpSpPr/>
          <p:nvPr/>
        </p:nvGrpSpPr>
        <p:grpSpPr>
          <a:xfrm rot="0">
            <a:off x="10012680" y="6693408"/>
            <a:ext cx="7406640" cy="822960"/>
            <a:chOff x="0" y="0"/>
            <a:chExt cx="9875520" cy="1097280"/>
          </a:xfrm>
        </p:grpSpPr>
        <p:sp>
          <p:nvSpPr>
            <p:cNvPr name="Freeform 63" id="63"/>
            <p:cNvSpPr/>
            <p:nvPr/>
          </p:nvSpPr>
          <p:spPr>
            <a:xfrm flipH="false" flipV="false" rot="0">
              <a:off x="0" y="0"/>
              <a:ext cx="9875520" cy="1097280"/>
            </a:xfrm>
            <a:custGeom>
              <a:avLst/>
              <a:gdLst/>
              <a:ahLst/>
              <a:cxnLst/>
              <a:rect r="r" b="b" t="t" l="l"/>
              <a:pathLst>
                <a:path h="1097280" w="9875520">
                  <a:moveTo>
                    <a:pt x="0" y="0"/>
                  </a:moveTo>
                  <a:lnTo>
                    <a:pt x="9875520" y="0"/>
                  </a:lnTo>
                  <a:lnTo>
                    <a:pt x="9875520" y="1097280"/>
                  </a:lnTo>
                  <a:lnTo>
                    <a:pt x="0" y="1097280"/>
                  </a:lnTo>
                  <a:close/>
                </a:path>
              </a:pathLst>
            </a:custGeom>
            <a:blipFill>
              <a:blip r:embed="rId2">
                <a:alphaModFix amt="0"/>
              </a:blip>
              <a:stretch>
                <a:fillRect l="0" t="-125365" r="0" b="-125365"/>
              </a:stretch>
            </a:blipFill>
          </p:spPr>
        </p:sp>
        <p:sp>
          <p:nvSpPr>
            <p:cNvPr name="TextBox 64" id="64"/>
            <p:cNvSpPr txBox="true"/>
            <p:nvPr/>
          </p:nvSpPr>
          <p:spPr>
            <a:xfrm>
              <a:off x="0" y="-19050"/>
              <a:ext cx="9875520" cy="1116330"/>
            </a:xfrm>
            <a:prstGeom prst="rect">
              <a:avLst/>
            </a:prstGeom>
          </p:spPr>
          <p:txBody>
            <a:bodyPr anchor="ctr" rtlCol="false" tIns="0" lIns="0" bIns="0" rIns="0"/>
            <a:lstStyle/>
            <a:p>
              <a:pPr algn="l">
                <a:lnSpc>
                  <a:spcPts val="1889"/>
                </a:lnSpc>
              </a:pPr>
              <a:r>
                <a:rPr lang="en-US" sz="1575">
                  <a:solidFill>
                    <a:srgbClr val="9FB0C9"/>
                  </a:solidFill>
                  <a:latin typeface="Calibri (MS)"/>
                  <a:ea typeface="Calibri (MS)"/>
                  <a:cs typeface="Calibri (MS)"/>
                  <a:sym typeface="Calibri (MS)"/>
                </a:rPr>
                <a:t>Réduction de la bande passante de </a:t>
              </a:r>
              <a:r>
                <a:rPr lang="en-US" sz="1575">
                  <a:solidFill>
                    <a:srgbClr val="9FB0C9"/>
                  </a:solidFill>
                  <a:latin typeface="Calibri (MS)"/>
                  <a:ea typeface="Calibri (MS)"/>
                  <a:cs typeface="Calibri (MS)"/>
                  <a:sym typeface="Calibri (MS)"/>
                </a:rPr>
                <a:t>60 à 80 % sur les charges utiles JSON à l'échelle de plusieurs millions d'enregistrements.</a:t>
              </a:r>
            </a:p>
          </p:txBody>
        </p:sp>
      </p:grpSp>
      <p:grpSp>
        <p:nvGrpSpPr>
          <p:cNvPr name="Group 65" id="65"/>
          <p:cNvGrpSpPr/>
          <p:nvPr/>
        </p:nvGrpSpPr>
        <p:grpSpPr>
          <a:xfrm rot="0">
            <a:off x="822960" y="7886700"/>
            <a:ext cx="548640" cy="548640"/>
            <a:chOff x="0" y="0"/>
            <a:chExt cx="731520" cy="731520"/>
          </a:xfrm>
        </p:grpSpPr>
        <p:sp>
          <p:nvSpPr>
            <p:cNvPr name="Freeform 66" id="66"/>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0E5C7"/>
            </a:solidFill>
          </p:spPr>
        </p:sp>
      </p:grpSp>
      <p:grpSp>
        <p:nvGrpSpPr>
          <p:cNvPr name="Group 67" id="67"/>
          <p:cNvGrpSpPr/>
          <p:nvPr/>
        </p:nvGrpSpPr>
        <p:grpSpPr>
          <a:xfrm rot="0">
            <a:off x="822960" y="7872984"/>
            <a:ext cx="548640" cy="548640"/>
            <a:chOff x="0" y="0"/>
            <a:chExt cx="731520" cy="731520"/>
          </a:xfrm>
        </p:grpSpPr>
        <p:sp>
          <p:nvSpPr>
            <p:cNvPr name="Freeform 68" id="68"/>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2">
                <a:alphaModFix amt="0"/>
              </a:blip>
              <a:stretch>
                <a:fillRect l="-78303" t="0" r="-78303" b="0"/>
              </a:stretch>
            </a:blipFill>
          </p:spPr>
        </p:sp>
        <p:sp>
          <p:nvSpPr>
            <p:cNvPr name="TextBox 69" id="69"/>
            <p:cNvSpPr txBox="true"/>
            <p:nvPr/>
          </p:nvSpPr>
          <p:spPr>
            <a:xfrm>
              <a:off x="0" y="-19050"/>
              <a:ext cx="731520" cy="750570"/>
            </a:xfrm>
            <a:prstGeom prst="rect">
              <a:avLst/>
            </a:prstGeom>
          </p:spPr>
          <p:txBody>
            <a:bodyPr anchor="ctr" rtlCol="false" tIns="0" lIns="0" bIns="0" rIns="0"/>
            <a:lstStyle/>
            <a:p>
              <a:pPr algn="ctr">
                <a:lnSpc>
                  <a:spcPts val="1872"/>
                </a:lnSpc>
              </a:pPr>
              <a:r>
                <a:rPr lang="en-US" sz="1560" b="true">
                  <a:solidFill>
                    <a:srgbClr val="0A1428"/>
                  </a:solidFill>
                  <a:latin typeface="Calibri (MS) Bold"/>
                  <a:ea typeface="Calibri (MS) Bold"/>
                  <a:cs typeface="Calibri (MS) Bold"/>
                  <a:sym typeface="Calibri (MS) Bold"/>
                </a:rPr>
                <a:t>✓</a:t>
              </a:r>
            </a:p>
          </p:txBody>
        </p:sp>
      </p:grpSp>
      <p:grpSp>
        <p:nvGrpSpPr>
          <p:cNvPr name="Group 70" id="70"/>
          <p:cNvGrpSpPr/>
          <p:nvPr/>
        </p:nvGrpSpPr>
        <p:grpSpPr>
          <a:xfrm rot="0">
            <a:off x="1577340" y="7818120"/>
            <a:ext cx="7406640" cy="480060"/>
            <a:chOff x="0" y="0"/>
            <a:chExt cx="9875520" cy="640080"/>
          </a:xfrm>
        </p:grpSpPr>
        <p:sp>
          <p:nvSpPr>
            <p:cNvPr name="Freeform 71" id="71"/>
            <p:cNvSpPr/>
            <p:nvPr/>
          </p:nvSpPr>
          <p:spPr>
            <a:xfrm flipH="false" flipV="false" rot="0">
              <a:off x="0" y="0"/>
              <a:ext cx="9875520" cy="640080"/>
            </a:xfrm>
            <a:custGeom>
              <a:avLst/>
              <a:gdLst/>
              <a:ahLst/>
              <a:cxnLst/>
              <a:rect r="r" b="b" t="t" l="l"/>
              <a:pathLst>
                <a:path h="640080" w="9875520">
                  <a:moveTo>
                    <a:pt x="0" y="0"/>
                  </a:moveTo>
                  <a:lnTo>
                    <a:pt x="9875520" y="0"/>
                  </a:lnTo>
                  <a:lnTo>
                    <a:pt x="9875520" y="640080"/>
                  </a:lnTo>
                  <a:lnTo>
                    <a:pt x="0" y="640080"/>
                  </a:lnTo>
                  <a:close/>
                </a:path>
              </a:pathLst>
            </a:custGeom>
            <a:blipFill>
              <a:blip r:embed="rId2">
                <a:alphaModFix amt="0"/>
              </a:blip>
              <a:stretch>
                <a:fillRect l="0" t="-250626" r="0" b="-250626"/>
              </a:stretch>
            </a:blipFill>
          </p:spPr>
        </p:sp>
        <p:sp>
          <p:nvSpPr>
            <p:cNvPr name="TextBox 72" id="72"/>
            <p:cNvSpPr txBox="true"/>
            <p:nvPr/>
          </p:nvSpPr>
          <p:spPr>
            <a:xfrm>
              <a:off x="0" y="-38100"/>
              <a:ext cx="9875520" cy="678180"/>
            </a:xfrm>
            <a:prstGeom prst="rect">
              <a:avLst/>
            </a:prstGeom>
          </p:spPr>
          <p:txBody>
            <a:bodyPr anchor="ctr" rtlCol="false" tIns="0" lIns="0" bIns="0" rIns="0"/>
            <a:lstStyle/>
            <a:p>
              <a:pPr algn="l">
                <a:lnSpc>
                  <a:spcPts val="2250"/>
                </a:lnSpc>
              </a:pPr>
              <a:r>
                <a:rPr lang="en-US" sz="1875" b="true">
                  <a:solidFill>
                    <a:srgbClr val="FFFFFF"/>
                  </a:solidFill>
                  <a:latin typeface="Calibri (MS) Bold"/>
                  <a:ea typeface="Calibri (MS) Bold"/>
                  <a:cs typeface="Calibri (MS) Bold"/>
                  <a:sym typeface="Calibri (MS) Bold"/>
                </a:rPr>
                <a:t>Batched delivery</a:t>
              </a:r>
            </a:p>
          </p:txBody>
        </p:sp>
      </p:grpSp>
      <p:grpSp>
        <p:nvGrpSpPr>
          <p:cNvPr name="Group 73" id="73"/>
          <p:cNvGrpSpPr/>
          <p:nvPr/>
        </p:nvGrpSpPr>
        <p:grpSpPr>
          <a:xfrm rot="0">
            <a:off x="1577340" y="8270748"/>
            <a:ext cx="7406640" cy="822960"/>
            <a:chOff x="0" y="0"/>
            <a:chExt cx="9875520" cy="1097280"/>
          </a:xfrm>
        </p:grpSpPr>
        <p:sp>
          <p:nvSpPr>
            <p:cNvPr name="Freeform 74" id="74"/>
            <p:cNvSpPr/>
            <p:nvPr/>
          </p:nvSpPr>
          <p:spPr>
            <a:xfrm flipH="false" flipV="false" rot="0">
              <a:off x="0" y="0"/>
              <a:ext cx="9875520" cy="1097280"/>
            </a:xfrm>
            <a:custGeom>
              <a:avLst/>
              <a:gdLst/>
              <a:ahLst/>
              <a:cxnLst/>
              <a:rect r="r" b="b" t="t" l="l"/>
              <a:pathLst>
                <a:path h="1097280" w="9875520">
                  <a:moveTo>
                    <a:pt x="0" y="0"/>
                  </a:moveTo>
                  <a:lnTo>
                    <a:pt x="9875520" y="0"/>
                  </a:lnTo>
                  <a:lnTo>
                    <a:pt x="9875520" y="1097280"/>
                  </a:lnTo>
                  <a:lnTo>
                    <a:pt x="0" y="1097280"/>
                  </a:lnTo>
                  <a:close/>
                </a:path>
              </a:pathLst>
            </a:custGeom>
            <a:blipFill>
              <a:blip r:embed="rId2">
                <a:alphaModFix amt="0"/>
              </a:blip>
              <a:stretch>
                <a:fillRect l="0" t="-125365" r="0" b="-125365"/>
              </a:stretch>
            </a:blipFill>
          </p:spPr>
        </p:sp>
        <p:sp>
          <p:nvSpPr>
            <p:cNvPr name="TextBox 75" id="75"/>
            <p:cNvSpPr txBox="true"/>
            <p:nvPr/>
          </p:nvSpPr>
          <p:spPr>
            <a:xfrm>
              <a:off x="0" y="-19050"/>
              <a:ext cx="9875520" cy="1116330"/>
            </a:xfrm>
            <a:prstGeom prst="rect">
              <a:avLst/>
            </a:prstGeom>
          </p:spPr>
          <p:txBody>
            <a:bodyPr anchor="ctr" rtlCol="false" tIns="0" lIns="0" bIns="0" rIns="0"/>
            <a:lstStyle/>
            <a:p>
              <a:pPr algn="l">
                <a:lnSpc>
                  <a:spcPts val="1889"/>
                </a:lnSpc>
              </a:pPr>
              <a:r>
                <a:rPr lang="en-US" sz="1575">
                  <a:solidFill>
                    <a:srgbClr val="9FB0C9"/>
                  </a:solidFill>
                  <a:latin typeface="Calibri (MS)"/>
                  <a:ea typeface="Calibri (MS)"/>
                  <a:cs typeface="Calibri (MS)"/>
                  <a:sym typeface="Calibri (MS)"/>
                </a:rPr>
                <a:t>Lots de </a:t>
              </a:r>
              <a:r>
                <a:rPr lang="en-US" sz="1575">
                  <a:solidFill>
                    <a:srgbClr val="9FB0C9"/>
                  </a:solidFill>
                  <a:latin typeface="Calibri (MS)"/>
                  <a:ea typeface="Calibri (MS)"/>
                  <a:cs typeface="Calibri (MS)"/>
                  <a:sym typeface="Calibri (MS)"/>
                </a:rPr>
                <a:t>256 Ko, temporisation de 50 ms — débit supérieur au surcoût par message.</a:t>
              </a:r>
            </a:p>
          </p:txBody>
        </p:sp>
      </p:grpSp>
      <p:grpSp>
        <p:nvGrpSpPr>
          <p:cNvPr name="Group 76" id="76"/>
          <p:cNvGrpSpPr/>
          <p:nvPr/>
        </p:nvGrpSpPr>
        <p:grpSpPr>
          <a:xfrm rot="0">
            <a:off x="9258300" y="7886700"/>
            <a:ext cx="548640" cy="548640"/>
            <a:chOff x="0" y="0"/>
            <a:chExt cx="731520" cy="731520"/>
          </a:xfrm>
        </p:grpSpPr>
        <p:sp>
          <p:nvSpPr>
            <p:cNvPr name="Freeform 77" id="77"/>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0E5C7"/>
            </a:solidFill>
          </p:spPr>
        </p:sp>
      </p:grpSp>
      <p:grpSp>
        <p:nvGrpSpPr>
          <p:cNvPr name="Group 78" id="78"/>
          <p:cNvGrpSpPr/>
          <p:nvPr/>
        </p:nvGrpSpPr>
        <p:grpSpPr>
          <a:xfrm rot="0">
            <a:off x="9258300" y="7872984"/>
            <a:ext cx="548640" cy="548640"/>
            <a:chOff x="0" y="0"/>
            <a:chExt cx="731520" cy="731520"/>
          </a:xfrm>
        </p:grpSpPr>
        <p:sp>
          <p:nvSpPr>
            <p:cNvPr name="Freeform 79" id="79"/>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2">
                <a:alphaModFix amt="0"/>
              </a:blip>
              <a:stretch>
                <a:fillRect l="-78303" t="0" r="-78303" b="0"/>
              </a:stretch>
            </a:blipFill>
          </p:spPr>
        </p:sp>
        <p:sp>
          <p:nvSpPr>
            <p:cNvPr name="TextBox 80" id="80"/>
            <p:cNvSpPr txBox="true"/>
            <p:nvPr/>
          </p:nvSpPr>
          <p:spPr>
            <a:xfrm>
              <a:off x="0" y="-19050"/>
              <a:ext cx="731520" cy="750570"/>
            </a:xfrm>
            <a:prstGeom prst="rect">
              <a:avLst/>
            </a:prstGeom>
          </p:spPr>
          <p:txBody>
            <a:bodyPr anchor="ctr" rtlCol="false" tIns="0" lIns="0" bIns="0" rIns="0"/>
            <a:lstStyle/>
            <a:p>
              <a:pPr algn="ctr">
                <a:lnSpc>
                  <a:spcPts val="1872"/>
                </a:lnSpc>
              </a:pPr>
              <a:r>
                <a:rPr lang="en-US" sz="1560" b="true">
                  <a:solidFill>
                    <a:srgbClr val="0A1428"/>
                  </a:solidFill>
                  <a:latin typeface="Calibri (MS) Bold"/>
                  <a:ea typeface="Calibri (MS) Bold"/>
                  <a:cs typeface="Calibri (MS) Bold"/>
                  <a:sym typeface="Calibri (MS) Bold"/>
                </a:rPr>
                <a:t>✓</a:t>
              </a:r>
            </a:p>
          </p:txBody>
        </p:sp>
      </p:grpSp>
      <p:grpSp>
        <p:nvGrpSpPr>
          <p:cNvPr name="Group 81" id="81"/>
          <p:cNvGrpSpPr/>
          <p:nvPr/>
        </p:nvGrpSpPr>
        <p:grpSpPr>
          <a:xfrm rot="0">
            <a:off x="10012680" y="7818120"/>
            <a:ext cx="7406640" cy="480060"/>
            <a:chOff x="0" y="0"/>
            <a:chExt cx="9875520" cy="640080"/>
          </a:xfrm>
        </p:grpSpPr>
        <p:sp>
          <p:nvSpPr>
            <p:cNvPr name="Freeform 82" id="82"/>
            <p:cNvSpPr/>
            <p:nvPr/>
          </p:nvSpPr>
          <p:spPr>
            <a:xfrm flipH="false" flipV="false" rot="0">
              <a:off x="0" y="0"/>
              <a:ext cx="9875520" cy="640080"/>
            </a:xfrm>
            <a:custGeom>
              <a:avLst/>
              <a:gdLst/>
              <a:ahLst/>
              <a:cxnLst/>
              <a:rect r="r" b="b" t="t" l="l"/>
              <a:pathLst>
                <a:path h="640080" w="9875520">
                  <a:moveTo>
                    <a:pt x="0" y="0"/>
                  </a:moveTo>
                  <a:lnTo>
                    <a:pt x="9875520" y="0"/>
                  </a:lnTo>
                  <a:lnTo>
                    <a:pt x="9875520" y="640080"/>
                  </a:lnTo>
                  <a:lnTo>
                    <a:pt x="0" y="640080"/>
                  </a:lnTo>
                  <a:close/>
                </a:path>
              </a:pathLst>
            </a:custGeom>
            <a:blipFill>
              <a:blip r:embed="rId2">
                <a:alphaModFix amt="0"/>
              </a:blip>
              <a:stretch>
                <a:fillRect l="0" t="-250626" r="0" b="-250626"/>
              </a:stretch>
            </a:blipFill>
          </p:spPr>
        </p:sp>
        <p:sp>
          <p:nvSpPr>
            <p:cNvPr name="TextBox 83" id="83"/>
            <p:cNvSpPr txBox="true"/>
            <p:nvPr/>
          </p:nvSpPr>
          <p:spPr>
            <a:xfrm>
              <a:off x="0" y="-38100"/>
              <a:ext cx="9875520" cy="678180"/>
            </a:xfrm>
            <a:prstGeom prst="rect">
              <a:avLst/>
            </a:prstGeom>
          </p:spPr>
          <p:txBody>
            <a:bodyPr anchor="ctr" rtlCol="false" tIns="0" lIns="0" bIns="0" rIns="0"/>
            <a:lstStyle/>
            <a:p>
              <a:pPr algn="l">
                <a:lnSpc>
                  <a:spcPts val="2250"/>
                </a:lnSpc>
              </a:pPr>
              <a:r>
                <a:rPr lang="en-US" sz="1875" b="true">
                  <a:solidFill>
                    <a:srgbClr val="FFFFFF"/>
                  </a:solidFill>
                  <a:latin typeface="Calibri (MS) Bold"/>
                  <a:ea typeface="Calibri (MS) Bold"/>
                  <a:cs typeface="Calibri (MS) Bold"/>
                  <a:sym typeface="Calibri (MS) Bold"/>
                </a:rPr>
                <a:t>acks=1</a:t>
              </a:r>
            </a:p>
          </p:txBody>
        </p:sp>
      </p:grpSp>
      <p:grpSp>
        <p:nvGrpSpPr>
          <p:cNvPr name="Group 84" id="84"/>
          <p:cNvGrpSpPr/>
          <p:nvPr/>
        </p:nvGrpSpPr>
        <p:grpSpPr>
          <a:xfrm rot="0">
            <a:off x="10012680" y="8270748"/>
            <a:ext cx="7406640" cy="822960"/>
            <a:chOff x="0" y="0"/>
            <a:chExt cx="9875520" cy="1097280"/>
          </a:xfrm>
        </p:grpSpPr>
        <p:sp>
          <p:nvSpPr>
            <p:cNvPr name="Freeform 85" id="85"/>
            <p:cNvSpPr/>
            <p:nvPr/>
          </p:nvSpPr>
          <p:spPr>
            <a:xfrm flipH="false" flipV="false" rot="0">
              <a:off x="0" y="0"/>
              <a:ext cx="9875520" cy="1097280"/>
            </a:xfrm>
            <a:custGeom>
              <a:avLst/>
              <a:gdLst/>
              <a:ahLst/>
              <a:cxnLst/>
              <a:rect r="r" b="b" t="t" l="l"/>
              <a:pathLst>
                <a:path h="1097280" w="9875520">
                  <a:moveTo>
                    <a:pt x="0" y="0"/>
                  </a:moveTo>
                  <a:lnTo>
                    <a:pt x="9875520" y="0"/>
                  </a:lnTo>
                  <a:lnTo>
                    <a:pt x="9875520" y="1097280"/>
                  </a:lnTo>
                  <a:lnTo>
                    <a:pt x="0" y="1097280"/>
                  </a:lnTo>
                  <a:close/>
                </a:path>
              </a:pathLst>
            </a:custGeom>
            <a:blipFill>
              <a:blip r:embed="rId2">
                <a:alphaModFix amt="0"/>
              </a:blip>
              <a:stretch>
                <a:fillRect l="0" t="-125365" r="0" b="-125365"/>
              </a:stretch>
            </a:blipFill>
          </p:spPr>
        </p:sp>
        <p:sp>
          <p:nvSpPr>
            <p:cNvPr name="TextBox 86" id="86"/>
            <p:cNvSpPr txBox="true"/>
            <p:nvPr/>
          </p:nvSpPr>
          <p:spPr>
            <a:xfrm>
              <a:off x="0" y="-19050"/>
              <a:ext cx="9875520" cy="1116330"/>
            </a:xfrm>
            <a:prstGeom prst="rect">
              <a:avLst/>
            </a:prstGeom>
          </p:spPr>
          <p:txBody>
            <a:bodyPr anchor="ctr" rtlCol="false" tIns="0" lIns="0" bIns="0" rIns="0"/>
            <a:lstStyle/>
            <a:p>
              <a:pPr algn="l">
                <a:lnSpc>
                  <a:spcPts val="1889"/>
                </a:lnSpc>
              </a:pPr>
              <a:r>
                <a:rPr lang="en-US" sz="1575">
                  <a:solidFill>
                    <a:srgbClr val="9FB0C9"/>
                  </a:solidFill>
                  <a:latin typeface="Calibri (MS)"/>
                  <a:ea typeface="Calibri (MS)"/>
                  <a:cs typeface="Calibri (MS)"/>
                  <a:sym typeface="Calibri (MS)"/>
                </a:rPr>
                <a:t>Équilibre </a:t>
              </a:r>
              <a:r>
                <a:rPr lang="en-US" sz="1575">
                  <a:solidFill>
                    <a:srgbClr val="9FB0C9"/>
                  </a:solidFill>
                  <a:latin typeface="Calibri (MS)"/>
                  <a:ea typeface="Calibri (MS)"/>
                  <a:cs typeface="Calibri (MS)"/>
                  <a:sym typeface="Calibri (MS)"/>
                </a:rPr>
                <a:t>la durabilité et la latence pour l'accusé de réception du courtier leader.</a:t>
              </a:r>
            </a:p>
          </p:txBody>
        </p:sp>
      </p:grpSp>
      <p:grpSp>
        <p:nvGrpSpPr>
          <p:cNvPr name="Group 87" id="87"/>
          <p:cNvGrpSpPr/>
          <p:nvPr/>
        </p:nvGrpSpPr>
        <p:grpSpPr>
          <a:xfrm rot="0">
            <a:off x="685800" y="9710928"/>
            <a:ext cx="10972800" cy="411480"/>
            <a:chOff x="0" y="0"/>
            <a:chExt cx="14630400" cy="548640"/>
          </a:xfrm>
        </p:grpSpPr>
        <p:sp>
          <p:nvSpPr>
            <p:cNvPr name="Freeform 88" id="8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89" id="89"/>
            <p:cNvSpPr txBox="true"/>
            <p:nvPr/>
          </p:nvSpPr>
          <p:spPr>
            <a:xfrm>
              <a:off x="0" y="-28575"/>
              <a:ext cx="14630400" cy="577215"/>
            </a:xfrm>
            <a:prstGeom prst="rect">
              <a:avLst/>
            </a:prstGeom>
          </p:spPr>
          <p:txBody>
            <a:bodyPr anchor="ctr" rtlCol="false" tIns="0" lIns="0" bIns="0" rIns="0"/>
            <a:lstStyle/>
            <a:p>
              <a:pPr algn="l">
                <a:lnSpc>
                  <a:spcPts val="1620"/>
                </a:lnSpc>
              </a:pPr>
              <a:r>
                <a:rPr lang="en-US" sz="1350" spc="149">
                  <a:solidFill>
                    <a:srgbClr val="6E84A6"/>
                  </a:solidFill>
                  <a:latin typeface="Calibri (MS)"/>
                  <a:ea typeface="Calibri (MS)"/>
                  <a:cs typeface="Calibri (MS)"/>
                  <a:sym typeface="Calibri (MS)"/>
                </a:rPr>
                <a:t>MLSECOPS PLATFORM · STREAMING &amp; DATA INGESTION</a:t>
              </a:r>
            </a:p>
          </p:txBody>
        </p:sp>
      </p:grpSp>
      <p:grpSp>
        <p:nvGrpSpPr>
          <p:cNvPr name="Group 90" id="90"/>
          <p:cNvGrpSpPr/>
          <p:nvPr/>
        </p:nvGrpSpPr>
        <p:grpSpPr>
          <a:xfrm rot="0">
            <a:off x="16500348" y="9710928"/>
            <a:ext cx="1097280" cy="411480"/>
            <a:chOff x="0" y="0"/>
            <a:chExt cx="1463040" cy="548640"/>
          </a:xfrm>
        </p:grpSpPr>
        <p:sp>
          <p:nvSpPr>
            <p:cNvPr name="Freeform 91" id="91"/>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92" id="92"/>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09 / 32</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STREAMING &amp; INGESTION</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3</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Soumia Zahir — Data Engineer</a:t>
              </a:r>
            </a:p>
          </p:txBody>
        </p:sp>
      </p:grpSp>
      <p:grpSp>
        <p:nvGrpSpPr>
          <p:cNvPr name="Group 11" id="11"/>
          <p:cNvGrpSpPr/>
          <p:nvPr/>
        </p:nvGrpSpPr>
        <p:grpSpPr>
          <a:xfrm rot="0">
            <a:off x="822960" y="49947"/>
            <a:ext cx="16596360" cy="3516213"/>
            <a:chOff x="0" y="0"/>
            <a:chExt cx="22128480" cy="4688284"/>
          </a:xfrm>
        </p:grpSpPr>
        <p:sp>
          <p:nvSpPr>
            <p:cNvPr name="Freeform 12" id="12"/>
            <p:cNvSpPr/>
            <p:nvPr/>
          </p:nvSpPr>
          <p:spPr>
            <a:xfrm flipH="false" flipV="false" rot="0">
              <a:off x="0" y="0"/>
              <a:ext cx="22128480" cy="4688284"/>
            </a:xfrm>
            <a:custGeom>
              <a:avLst/>
              <a:gdLst/>
              <a:ahLst/>
              <a:cxnLst/>
              <a:rect r="r" b="b" t="t" l="l"/>
              <a:pathLst>
                <a:path h="4688284" w="22128480">
                  <a:moveTo>
                    <a:pt x="0" y="0"/>
                  </a:moveTo>
                  <a:lnTo>
                    <a:pt x="22128480" y="0"/>
                  </a:lnTo>
                  <a:lnTo>
                    <a:pt x="22128480" y="4688284"/>
                  </a:lnTo>
                  <a:lnTo>
                    <a:pt x="0" y="4688284"/>
                  </a:lnTo>
                  <a:close/>
                </a:path>
              </a:pathLst>
            </a:custGeom>
            <a:blipFill>
              <a:blip r:embed="rId2">
                <a:alphaModFix amt="0"/>
              </a:blip>
              <a:stretch>
                <a:fillRect l="0" t="-73439" r="0" b="-10497"/>
              </a:stretch>
            </a:blipFill>
          </p:spPr>
        </p:sp>
        <p:sp>
          <p:nvSpPr>
            <p:cNvPr name="TextBox 13" id="13"/>
            <p:cNvSpPr txBox="true"/>
            <p:nvPr/>
          </p:nvSpPr>
          <p:spPr>
            <a:xfrm>
              <a:off x="0" y="-9525"/>
              <a:ext cx="22128480" cy="4697809"/>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L</a:t>
              </a:r>
              <a:r>
                <a:rPr lang="en-US" sz="4800" b="true">
                  <a:solidFill>
                    <a:srgbClr val="FFFFFF"/>
                  </a:solidFill>
                  <a:latin typeface="Cambria Bold"/>
                  <a:ea typeface="Cambria Bold"/>
                  <a:cs typeface="Cambria Bold"/>
                  <a:sym typeface="Cambria Bold"/>
                </a:rPr>
                <a:t>e flux de données brutes — CICIDS2017</a:t>
              </a:r>
            </a:p>
          </p:txBody>
        </p:sp>
      </p:grpSp>
      <p:grpSp>
        <p:nvGrpSpPr>
          <p:cNvPr name="Group 14" id="14"/>
          <p:cNvGrpSpPr/>
          <p:nvPr/>
        </p:nvGrpSpPr>
        <p:grpSpPr>
          <a:xfrm rot="0">
            <a:off x="822960" y="2537460"/>
            <a:ext cx="3566160" cy="1028700"/>
            <a:chOff x="0" y="0"/>
            <a:chExt cx="4754880" cy="1371600"/>
          </a:xfrm>
        </p:grpSpPr>
        <p:sp>
          <p:nvSpPr>
            <p:cNvPr name="Freeform 15" id="15"/>
            <p:cNvSpPr/>
            <p:nvPr/>
          </p:nvSpPr>
          <p:spPr>
            <a:xfrm flipH="false" flipV="false" rot="0">
              <a:off x="0" y="0"/>
              <a:ext cx="4754880" cy="1371600"/>
            </a:xfrm>
            <a:custGeom>
              <a:avLst/>
              <a:gdLst/>
              <a:ahLst/>
              <a:cxnLst/>
              <a:rect r="r" b="b" t="t" l="l"/>
              <a:pathLst>
                <a:path h="1371600" w="4754880">
                  <a:moveTo>
                    <a:pt x="0" y="0"/>
                  </a:moveTo>
                  <a:lnTo>
                    <a:pt x="4754880" y="0"/>
                  </a:lnTo>
                  <a:lnTo>
                    <a:pt x="4754880" y="1371600"/>
                  </a:lnTo>
                  <a:lnTo>
                    <a:pt x="0" y="1371600"/>
                  </a:lnTo>
                  <a:close/>
                </a:path>
              </a:pathLst>
            </a:custGeom>
            <a:blipFill>
              <a:blip r:embed="rId2">
                <a:alphaModFix amt="0"/>
              </a:blip>
              <a:stretch>
                <a:fillRect l="0" t="-17548" r="0" b="-17548"/>
              </a:stretch>
            </a:blipFill>
          </p:spPr>
        </p:sp>
        <p:sp>
          <p:nvSpPr>
            <p:cNvPr name="TextBox 16" id="16"/>
            <p:cNvSpPr txBox="true"/>
            <p:nvPr/>
          </p:nvSpPr>
          <p:spPr>
            <a:xfrm>
              <a:off x="0" y="-9525"/>
              <a:ext cx="4754880" cy="1381125"/>
            </a:xfrm>
            <a:prstGeom prst="rect">
              <a:avLst/>
            </a:prstGeom>
          </p:spPr>
          <p:txBody>
            <a:bodyPr anchor="ctr" rtlCol="false" tIns="0" lIns="0" bIns="0" rIns="0"/>
            <a:lstStyle/>
            <a:p>
              <a:pPr algn="l">
                <a:lnSpc>
                  <a:spcPts val="7200"/>
                </a:lnSpc>
              </a:pPr>
              <a:r>
                <a:rPr lang="en-US" sz="6000" b="true">
                  <a:solidFill>
                    <a:srgbClr val="00E5C7"/>
                  </a:solidFill>
                  <a:latin typeface="Cambria Bold"/>
                  <a:ea typeface="Cambria Bold"/>
                  <a:cs typeface="Cambria Bold"/>
                  <a:sym typeface="Cambria Bold"/>
                </a:rPr>
                <a:t>2.8M</a:t>
              </a:r>
            </a:p>
          </p:txBody>
        </p:sp>
      </p:grpSp>
      <p:grpSp>
        <p:nvGrpSpPr>
          <p:cNvPr name="Group 17" id="17"/>
          <p:cNvGrpSpPr/>
          <p:nvPr/>
        </p:nvGrpSpPr>
        <p:grpSpPr>
          <a:xfrm rot="0">
            <a:off x="822960" y="3525012"/>
            <a:ext cx="3566160" cy="685800"/>
            <a:chOff x="0" y="0"/>
            <a:chExt cx="4754880" cy="914400"/>
          </a:xfrm>
        </p:grpSpPr>
        <p:sp>
          <p:nvSpPr>
            <p:cNvPr name="Freeform 18" id="18"/>
            <p:cNvSpPr/>
            <p:nvPr/>
          </p:nvSpPr>
          <p:spPr>
            <a:xfrm flipH="false" flipV="false" rot="0">
              <a:off x="0" y="0"/>
              <a:ext cx="4754880" cy="914400"/>
            </a:xfrm>
            <a:custGeom>
              <a:avLst/>
              <a:gdLst/>
              <a:ahLst/>
              <a:cxnLst/>
              <a:rect r="r" b="b" t="t" l="l"/>
              <a:pathLst>
                <a:path h="914400" w="4754880">
                  <a:moveTo>
                    <a:pt x="0" y="0"/>
                  </a:moveTo>
                  <a:lnTo>
                    <a:pt x="4754880" y="0"/>
                  </a:lnTo>
                  <a:lnTo>
                    <a:pt x="4754880" y="914400"/>
                  </a:lnTo>
                  <a:lnTo>
                    <a:pt x="0" y="914400"/>
                  </a:lnTo>
                  <a:close/>
                </a:path>
              </a:pathLst>
            </a:custGeom>
            <a:blipFill>
              <a:blip r:embed="rId2">
                <a:alphaModFix amt="0"/>
              </a:blip>
              <a:stretch>
                <a:fillRect l="0" t="-51322" r="0" b="-51322"/>
              </a:stretch>
            </a:blipFill>
          </p:spPr>
        </p:sp>
        <p:sp>
          <p:nvSpPr>
            <p:cNvPr name="TextBox 19" id="19"/>
            <p:cNvSpPr txBox="true"/>
            <p:nvPr/>
          </p:nvSpPr>
          <p:spPr>
            <a:xfrm>
              <a:off x="0" y="-19050"/>
              <a:ext cx="4754880" cy="933450"/>
            </a:xfrm>
            <a:prstGeom prst="rect">
              <a:avLst/>
            </a:prstGeom>
          </p:spPr>
          <p:txBody>
            <a:bodyPr anchor="ctr" rtlCol="false" tIns="0" lIns="0" bIns="0" rIns="0"/>
            <a:lstStyle/>
            <a:p>
              <a:pPr algn="l">
                <a:lnSpc>
                  <a:spcPts val="1889"/>
                </a:lnSpc>
              </a:pPr>
              <a:r>
                <a:rPr lang="en-US" sz="1575" spc="150">
                  <a:solidFill>
                    <a:srgbClr val="9FB0C9"/>
                  </a:solidFill>
                  <a:latin typeface="Calibri (MS)"/>
                  <a:ea typeface="Calibri (MS)"/>
                  <a:cs typeface="Calibri (MS)"/>
                  <a:sym typeface="Calibri (MS)"/>
                </a:rPr>
                <a:t>EN</a:t>
              </a:r>
              <a:r>
                <a:rPr lang="en-US" sz="1575" spc="150">
                  <a:solidFill>
                    <a:srgbClr val="9FB0C9"/>
                  </a:solidFill>
                  <a:latin typeface="Calibri (MS)"/>
                  <a:ea typeface="Calibri (MS)"/>
                  <a:cs typeface="Calibri (MS)"/>
                  <a:sym typeface="Calibri (MS)"/>
                </a:rPr>
                <a:t>REGISTREMENTS DE FLUX </a:t>
              </a:r>
            </a:p>
          </p:txBody>
        </p:sp>
      </p:grpSp>
      <p:grpSp>
        <p:nvGrpSpPr>
          <p:cNvPr name="Group 20" id="20"/>
          <p:cNvGrpSpPr/>
          <p:nvPr/>
        </p:nvGrpSpPr>
        <p:grpSpPr>
          <a:xfrm rot="0">
            <a:off x="4526280" y="2537460"/>
            <a:ext cx="3566160" cy="1028700"/>
            <a:chOff x="0" y="0"/>
            <a:chExt cx="4754880" cy="1371600"/>
          </a:xfrm>
        </p:grpSpPr>
        <p:sp>
          <p:nvSpPr>
            <p:cNvPr name="Freeform 21" id="21"/>
            <p:cNvSpPr/>
            <p:nvPr/>
          </p:nvSpPr>
          <p:spPr>
            <a:xfrm flipH="false" flipV="false" rot="0">
              <a:off x="0" y="0"/>
              <a:ext cx="4754880" cy="1371600"/>
            </a:xfrm>
            <a:custGeom>
              <a:avLst/>
              <a:gdLst/>
              <a:ahLst/>
              <a:cxnLst/>
              <a:rect r="r" b="b" t="t" l="l"/>
              <a:pathLst>
                <a:path h="1371600" w="4754880">
                  <a:moveTo>
                    <a:pt x="0" y="0"/>
                  </a:moveTo>
                  <a:lnTo>
                    <a:pt x="4754880" y="0"/>
                  </a:lnTo>
                  <a:lnTo>
                    <a:pt x="4754880" y="1371600"/>
                  </a:lnTo>
                  <a:lnTo>
                    <a:pt x="0" y="1371600"/>
                  </a:lnTo>
                  <a:close/>
                </a:path>
              </a:pathLst>
            </a:custGeom>
            <a:blipFill>
              <a:blip r:embed="rId2">
                <a:alphaModFix amt="0"/>
              </a:blip>
              <a:stretch>
                <a:fillRect l="0" t="-17548" r="0" b="-17548"/>
              </a:stretch>
            </a:blipFill>
          </p:spPr>
        </p:sp>
        <p:sp>
          <p:nvSpPr>
            <p:cNvPr name="TextBox 22" id="22"/>
            <p:cNvSpPr txBox="true"/>
            <p:nvPr/>
          </p:nvSpPr>
          <p:spPr>
            <a:xfrm>
              <a:off x="0" y="-9525"/>
              <a:ext cx="4754880" cy="1381125"/>
            </a:xfrm>
            <a:prstGeom prst="rect">
              <a:avLst/>
            </a:prstGeom>
          </p:spPr>
          <p:txBody>
            <a:bodyPr anchor="ctr" rtlCol="false" tIns="0" lIns="0" bIns="0" rIns="0"/>
            <a:lstStyle/>
            <a:p>
              <a:pPr algn="l">
                <a:lnSpc>
                  <a:spcPts val="7200"/>
                </a:lnSpc>
              </a:pPr>
              <a:r>
                <a:rPr lang="en-US" sz="6000" b="true">
                  <a:solidFill>
                    <a:srgbClr val="4C7CFF"/>
                  </a:solidFill>
                  <a:latin typeface="Cambria Bold"/>
                  <a:ea typeface="Cambria Bold"/>
                  <a:cs typeface="Cambria Bold"/>
                  <a:sym typeface="Cambria Bold"/>
                </a:rPr>
                <a:t>79</a:t>
              </a:r>
            </a:p>
          </p:txBody>
        </p:sp>
      </p:grpSp>
      <p:grpSp>
        <p:nvGrpSpPr>
          <p:cNvPr name="Group 23" id="23"/>
          <p:cNvGrpSpPr/>
          <p:nvPr/>
        </p:nvGrpSpPr>
        <p:grpSpPr>
          <a:xfrm rot="0">
            <a:off x="4526280" y="3525012"/>
            <a:ext cx="3566160" cy="685800"/>
            <a:chOff x="0" y="0"/>
            <a:chExt cx="4754880" cy="914400"/>
          </a:xfrm>
        </p:grpSpPr>
        <p:sp>
          <p:nvSpPr>
            <p:cNvPr name="Freeform 24" id="24"/>
            <p:cNvSpPr/>
            <p:nvPr/>
          </p:nvSpPr>
          <p:spPr>
            <a:xfrm flipH="false" flipV="false" rot="0">
              <a:off x="0" y="0"/>
              <a:ext cx="4754880" cy="914400"/>
            </a:xfrm>
            <a:custGeom>
              <a:avLst/>
              <a:gdLst/>
              <a:ahLst/>
              <a:cxnLst/>
              <a:rect r="r" b="b" t="t" l="l"/>
              <a:pathLst>
                <a:path h="914400" w="4754880">
                  <a:moveTo>
                    <a:pt x="0" y="0"/>
                  </a:moveTo>
                  <a:lnTo>
                    <a:pt x="4754880" y="0"/>
                  </a:lnTo>
                  <a:lnTo>
                    <a:pt x="4754880" y="914400"/>
                  </a:lnTo>
                  <a:lnTo>
                    <a:pt x="0" y="914400"/>
                  </a:lnTo>
                  <a:close/>
                </a:path>
              </a:pathLst>
            </a:custGeom>
            <a:blipFill>
              <a:blip r:embed="rId2">
                <a:alphaModFix amt="0"/>
              </a:blip>
              <a:stretch>
                <a:fillRect l="0" t="-51322" r="0" b="-51322"/>
              </a:stretch>
            </a:blipFill>
          </p:spPr>
        </p:sp>
        <p:sp>
          <p:nvSpPr>
            <p:cNvPr name="TextBox 25" id="25"/>
            <p:cNvSpPr txBox="true"/>
            <p:nvPr/>
          </p:nvSpPr>
          <p:spPr>
            <a:xfrm>
              <a:off x="0" y="-19050"/>
              <a:ext cx="4754880" cy="933450"/>
            </a:xfrm>
            <a:prstGeom prst="rect">
              <a:avLst/>
            </a:prstGeom>
          </p:spPr>
          <p:txBody>
            <a:bodyPr anchor="ctr" rtlCol="false" tIns="0" lIns="0" bIns="0" rIns="0"/>
            <a:lstStyle/>
            <a:p>
              <a:pPr algn="l">
                <a:lnSpc>
                  <a:spcPts val="1889"/>
                </a:lnSpc>
              </a:pPr>
              <a:r>
                <a:rPr lang="en-US" sz="1575" spc="150">
                  <a:solidFill>
                    <a:srgbClr val="9FB0C9"/>
                  </a:solidFill>
                  <a:latin typeface="Calibri (MS)"/>
                  <a:ea typeface="Calibri (MS)"/>
                  <a:cs typeface="Calibri (MS)"/>
                  <a:sym typeface="Calibri (MS)"/>
                </a:rPr>
                <a:t> CA</a:t>
              </a:r>
              <a:r>
                <a:rPr lang="en-US" sz="1575" spc="150">
                  <a:solidFill>
                    <a:srgbClr val="9FB0C9"/>
                  </a:solidFill>
                  <a:latin typeface="Calibri (MS)"/>
                  <a:ea typeface="Calibri (MS)"/>
                  <a:cs typeface="Calibri (MS)"/>
                  <a:sym typeface="Calibri (MS)"/>
                </a:rPr>
                <a:t>RACTÉRISTIQUES BRUTES</a:t>
              </a:r>
            </a:p>
          </p:txBody>
        </p:sp>
      </p:grpSp>
      <p:grpSp>
        <p:nvGrpSpPr>
          <p:cNvPr name="Group 26" id="26"/>
          <p:cNvGrpSpPr/>
          <p:nvPr/>
        </p:nvGrpSpPr>
        <p:grpSpPr>
          <a:xfrm rot="0">
            <a:off x="8229600" y="2537460"/>
            <a:ext cx="3566160" cy="1028700"/>
            <a:chOff x="0" y="0"/>
            <a:chExt cx="4754880" cy="1371600"/>
          </a:xfrm>
        </p:grpSpPr>
        <p:sp>
          <p:nvSpPr>
            <p:cNvPr name="Freeform 27" id="27"/>
            <p:cNvSpPr/>
            <p:nvPr/>
          </p:nvSpPr>
          <p:spPr>
            <a:xfrm flipH="false" flipV="false" rot="0">
              <a:off x="0" y="0"/>
              <a:ext cx="4754880" cy="1371600"/>
            </a:xfrm>
            <a:custGeom>
              <a:avLst/>
              <a:gdLst/>
              <a:ahLst/>
              <a:cxnLst/>
              <a:rect r="r" b="b" t="t" l="l"/>
              <a:pathLst>
                <a:path h="1371600" w="4754880">
                  <a:moveTo>
                    <a:pt x="0" y="0"/>
                  </a:moveTo>
                  <a:lnTo>
                    <a:pt x="4754880" y="0"/>
                  </a:lnTo>
                  <a:lnTo>
                    <a:pt x="4754880" y="1371600"/>
                  </a:lnTo>
                  <a:lnTo>
                    <a:pt x="0" y="1371600"/>
                  </a:lnTo>
                  <a:close/>
                </a:path>
              </a:pathLst>
            </a:custGeom>
            <a:blipFill>
              <a:blip r:embed="rId2">
                <a:alphaModFix amt="0"/>
              </a:blip>
              <a:stretch>
                <a:fillRect l="0" t="-17548" r="0" b="-17548"/>
              </a:stretch>
            </a:blipFill>
          </p:spPr>
        </p:sp>
        <p:sp>
          <p:nvSpPr>
            <p:cNvPr name="TextBox 28" id="28"/>
            <p:cNvSpPr txBox="true"/>
            <p:nvPr/>
          </p:nvSpPr>
          <p:spPr>
            <a:xfrm>
              <a:off x="0" y="-9525"/>
              <a:ext cx="4754880" cy="1381125"/>
            </a:xfrm>
            <a:prstGeom prst="rect">
              <a:avLst/>
            </a:prstGeom>
          </p:spPr>
          <p:txBody>
            <a:bodyPr anchor="ctr" rtlCol="false" tIns="0" lIns="0" bIns="0" rIns="0"/>
            <a:lstStyle/>
            <a:p>
              <a:pPr algn="l">
                <a:lnSpc>
                  <a:spcPts val="7200"/>
                </a:lnSpc>
              </a:pPr>
              <a:r>
                <a:rPr lang="en-US" sz="6000" b="true">
                  <a:solidFill>
                    <a:srgbClr val="FF4B5C"/>
                  </a:solidFill>
                  <a:latin typeface="Cambria Bold"/>
                  <a:ea typeface="Cambria Bold"/>
                  <a:cs typeface="Cambria Bold"/>
                  <a:sym typeface="Cambria Bold"/>
                </a:rPr>
                <a:t>14</a:t>
              </a:r>
            </a:p>
          </p:txBody>
        </p:sp>
      </p:grpSp>
      <p:grpSp>
        <p:nvGrpSpPr>
          <p:cNvPr name="Group 29" id="29"/>
          <p:cNvGrpSpPr/>
          <p:nvPr/>
        </p:nvGrpSpPr>
        <p:grpSpPr>
          <a:xfrm rot="0">
            <a:off x="8229600" y="3525012"/>
            <a:ext cx="3566160" cy="685800"/>
            <a:chOff x="0" y="0"/>
            <a:chExt cx="4754880" cy="914400"/>
          </a:xfrm>
        </p:grpSpPr>
        <p:sp>
          <p:nvSpPr>
            <p:cNvPr name="Freeform 30" id="30"/>
            <p:cNvSpPr/>
            <p:nvPr/>
          </p:nvSpPr>
          <p:spPr>
            <a:xfrm flipH="false" flipV="false" rot="0">
              <a:off x="0" y="0"/>
              <a:ext cx="4754880" cy="914400"/>
            </a:xfrm>
            <a:custGeom>
              <a:avLst/>
              <a:gdLst/>
              <a:ahLst/>
              <a:cxnLst/>
              <a:rect r="r" b="b" t="t" l="l"/>
              <a:pathLst>
                <a:path h="914400" w="4754880">
                  <a:moveTo>
                    <a:pt x="0" y="0"/>
                  </a:moveTo>
                  <a:lnTo>
                    <a:pt x="4754880" y="0"/>
                  </a:lnTo>
                  <a:lnTo>
                    <a:pt x="4754880" y="914400"/>
                  </a:lnTo>
                  <a:lnTo>
                    <a:pt x="0" y="914400"/>
                  </a:lnTo>
                  <a:close/>
                </a:path>
              </a:pathLst>
            </a:custGeom>
            <a:blipFill>
              <a:blip r:embed="rId2">
                <a:alphaModFix amt="0"/>
              </a:blip>
              <a:stretch>
                <a:fillRect l="0" t="-51322" r="0" b="-51322"/>
              </a:stretch>
            </a:blipFill>
          </p:spPr>
        </p:sp>
        <p:sp>
          <p:nvSpPr>
            <p:cNvPr name="TextBox 31" id="31"/>
            <p:cNvSpPr txBox="true"/>
            <p:nvPr/>
          </p:nvSpPr>
          <p:spPr>
            <a:xfrm>
              <a:off x="0" y="-19050"/>
              <a:ext cx="4754880" cy="933450"/>
            </a:xfrm>
            <a:prstGeom prst="rect">
              <a:avLst/>
            </a:prstGeom>
          </p:spPr>
          <p:txBody>
            <a:bodyPr anchor="ctr" rtlCol="false" tIns="0" lIns="0" bIns="0" rIns="0"/>
            <a:lstStyle/>
            <a:p>
              <a:pPr algn="l">
                <a:lnSpc>
                  <a:spcPts val="1889"/>
                </a:lnSpc>
              </a:pPr>
              <a:r>
                <a:rPr lang="en-US" sz="1575" spc="150">
                  <a:solidFill>
                    <a:srgbClr val="9FB0C9"/>
                  </a:solidFill>
                  <a:latin typeface="Calibri (MS)"/>
                  <a:ea typeface="Calibri (MS)"/>
                  <a:cs typeface="Calibri (MS)"/>
                  <a:sym typeface="Calibri (MS)"/>
                </a:rPr>
                <a:t>VECTEURS D'ATTAQUE </a:t>
              </a:r>
            </a:p>
          </p:txBody>
        </p:sp>
      </p:grpSp>
      <p:grpSp>
        <p:nvGrpSpPr>
          <p:cNvPr name="Group 32" id="32"/>
          <p:cNvGrpSpPr/>
          <p:nvPr/>
        </p:nvGrpSpPr>
        <p:grpSpPr>
          <a:xfrm rot="0">
            <a:off x="822960" y="4183380"/>
            <a:ext cx="11521440" cy="685800"/>
            <a:chOff x="0" y="0"/>
            <a:chExt cx="15361920" cy="914400"/>
          </a:xfrm>
        </p:grpSpPr>
        <p:sp>
          <p:nvSpPr>
            <p:cNvPr name="Freeform 33" id="33"/>
            <p:cNvSpPr/>
            <p:nvPr/>
          </p:nvSpPr>
          <p:spPr>
            <a:xfrm flipH="false" flipV="false" rot="0">
              <a:off x="0" y="0"/>
              <a:ext cx="15361920" cy="914400"/>
            </a:xfrm>
            <a:custGeom>
              <a:avLst/>
              <a:gdLst/>
              <a:ahLst/>
              <a:cxnLst/>
              <a:rect r="r" b="b" t="t" l="l"/>
              <a:pathLst>
                <a:path h="914400" w="15361920">
                  <a:moveTo>
                    <a:pt x="0" y="0"/>
                  </a:moveTo>
                  <a:lnTo>
                    <a:pt x="15361920" y="0"/>
                  </a:lnTo>
                  <a:lnTo>
                    <a:pt x="15361920" y="914400"/>
                  </a:lnTo>
                  <a:lnTo>
                    <a:pt x="0" y="914400"/>
                  </a:lnTo>
                  <a:close/>
                </a:path>
              </a:pathLst>
            </a:custGeom>
            <a:blipFill>
              <a:blip r:embed="rId2">
                <a:alphaModFix amt="0"/>
              </a:blip>
              <a:stretch>
                <a:fillRect l="0" t="-277348" r="0" b="-277348"/>
              </a:stretch>
            </a:blipFill>
          </p:spPr>
        </p:sp>
        <p:sp>
          <p:nvSpPr>
            <p:cNvPr name="TextBox 34" id="34"/>
            <p:cNvSpPr txBox="true"/>
            <p:nvPr/>
          </p:nvSpPr>
          <p:spPr>
            <a:xfrm>
              <a:off x="0" y="-38100"/>
              <a:ext cx="15361920" cy="952500"/>
            </a:xfrm>
            <a:prstGeom prst="rect">
              <a:avLst/>
            </a:prstGeom>
          </p:spPr>
          <p:txBody>
            <a:bodyPr anchor="ctr" rtlCol="false" tIns="0" lIns="0" bIns="0" rIns="0"/>
            <a:lstStyle/>
            <a:p>
              <a:pPr algn="l">
                <a:lnSpc>
                  <a:spcPts val="2250"/>
                </a:lnSpc>
              </a:pPr>
              <a:r>
                <a:rPr lang="en-US" sz="1875" i="true">
                  <a:solidFill>
                    <a:srgbClr val="9FB0C9"/>
                  </a:solidFill>
                  <a:latin typeface="Calibri (MS) Italics"/>
                  <a:ea typeface="Calibri (MS) Italics"/>
                  <a:cs typeface="Calibri (MS) Italics"/>
                  <a:sym typeface="Calibri (MS) Italics"/>
                </a:rPr>
                <a:t>Un</a:t>
              </a:r>
              <a:r>
                <a:rPr lang="en-US" sz="1875" i="true">
                  <a:solidFill>
                    <a:srgbClr val="9FB0C9"/>
                  </a:solidFill>
                  <a:latin typeface="Calibri (MS) Italics"/>
                  <a:ea typeface="Calibri (MS) Italics"/>
                  <a:cs typeface="Calibri (MS) Italics"/>
                  <a:sym typeface="Calibri (MS) Italics"/>
                </a:rPr>
                <a:t> déséquilibre sévère entre le trafic bénin et malveillant est le principal défi des données.</a:t>
              </a:r>
            </a:p>
          </p:txBody>
        </p:sp>
      </p:grpSp>
      <p:pic>
        <p:nvPicPr>
          <p:cNvPr name="Picture 35" id="35"/>
          <p:cNvPicPr>
            <a:picLocks noChangeAspect="true"/>
          </p:cNvPicPr>
          <p:nvPr/>
        </p:nvPicPr>
        <p:blipFill>
          <a:blip r:embed="rId3"/>
          <a:stretch>
            <a:fillRect/>
          </a:stretch>
        </p:blipFill>
        <p:spPr>
          <a:xfrm rot="0">
            <a:off x="-288036" y="3826764"/>
            <a:ext cx="12508992" cy="6954012"/>
          </a:xfrm>
          <a:prstGeom prst="rect">
            <a:avLst/>
          </a:prstGeom>
        </p:spPr>
      </p:pic>
      <p:grpSp>
        <p:nvGrpSpPr>
          <p:cNvPr name="Group 36" id="36"/>
          <p:cNvGrpSpPr/>
          <p:nvPr/>
        </p:nvGrpSpPr>
        <p:grpSpPr>
          <a:xfrm rot="0">
            <a:off x="11511915" y="4859655"/>
            <a:ext cx="5985510" cy="4888230"/>
            <a:chOff x="0" y="0"/>
            <a:chExt cx="7980680" cy="6517640"/>
          </a:xfrm>
        </p:grpSpPr>
        <p:sp>
          <p:nvSpPr>
            <p:cNvPr name="Freeform 37" id="37"/>
            <p:cNvSpPr/>
            <p:nvPr/>
          </p:nvSpPr>
          <p:spPr>
            <a:xfrm flipH="false" flipV="false" rot="0">
              <a:off x="0" y="0"/>
              <a:ext cx="7980680" cy="6517640"/>
            </a:xfrm>
            <a:custGeom>
              <a:avLst/>
              <a:gdLst/>
              <a:ahLst/>
              <a:cxnLst/>
              <a:rect r="r" b="b" t="t" l="l"/>
              <a:pathLst>
                <a:path h="6517640" w="7980680">
                  <a:moveTo>
                    <a:pt x="0" y="146939"/>
                  </a:moveTo>
                  <a:cubicBezTo>
                    <a:pt x="0" y="65786"/>
                    <a:pt x="65786" y="0"/>
                    <a:pt x="146939" y="0"/>
                  </a:cubicBezTo>
                  <a:lnTo>
                    <a:pt x="7833741" y="0"/>
                  </a:lnTo>
                  <a:cubicBezTo>
                    <a:pt x="7914894" y="0"/>
                    <a:pt x="7980680" y="65786"/>
                    <a:pt x="7980680" y="146939"/>
                  </a:cubicBezTo>
                  <a:lnTo>
                    <a:pt x="7980680" y="6370701"/>
                  </a:lnTo>
                  <a:cubicBezTo>
                    <a:pt x="7980680" y="6451854"/>
                    <a:pt x="7914894" y="6517640"/>
                    <a:pt x="7833741" y="6517640"/>
                  </a:cubicBezTo>
                  <a:lnTo>
                    <a:pt x="146939" y="6517640"/>
                  </a:lnTo>
                  <a:cubicBezTo>
                    <a:pt x="65786" y="6517640"/>
                    <a:pt x="0" y="6451854"/>
                    <a:pt x="0" y="6370701"/>
                  </a:cubicBezTo>
                  <a:close/>
                </a:path>
              </a:pathLst>
            </a:custGeom>
            <a:solidFill>
              <a:srgbClr val="13294A"/>
            </a:solidFill>
            <a:ln w="19050" cap="sq">
              <a:solidFill>
                <a:srgbClr val="1E3358"/>
              </a:solidFill>
              <a:prstDash val="solid"/>
              <a:miter/>
            </a:ln>
          </p:spPr>
        </p:sp>
      </p:grpSp>
      <p:grpSp>
        <p:nvGrpSpPr>
          <p:cNvPr name="Group 38" id="38"/>
          <p:cNvGrpSpPr/>
          <p:nvPr/>
        </p:nvGrpSpPr>
        <p:grpSpPr>
          <a:xfrm rot="0">
            <a:off x="11864340" y="5143500"/>
            <a:ext cx="5349240" cy="411480"/>
            <a:chOff x="0" y="0"/>
            <a:chExt cx="7132320" cy="548640"/>
          </a:xfrm>
        </p:grpSpPr>
        <p:sp>
          <p:nvSpPr>
            <p:cNvPr name="Freeform 39" id="39"/>
            <p:cNvSpPr/>
            <p:nvPr/>
          </p:nvSpPr>
          <p:spPr>
            <a:xfrm flipH="false" flipV="false" rot="0">
              <a:off x="0" y="0"/>
              <a:ext cx="7132320" cy="548640"/>
            </a:xfrm>
            <a:custGeom>
              <a:avLst/>
              <a:gdLst/>
              <a:ahLst/>
              <a:cxnLst/>
              <a:rect r="r" b="b" t="t" l="l"/>
              <a:pathLst>
                <a:path h="548640" w="7132320">
                  <a:moveTo>
                    <a:pt x="0" y="0"/>
                  </a:moveTo>
                  <a:lnTo>
                    <a:pt x="7132320" y="0"/>
                  </a:lnTo>
                  <a:lnTo>
                    <a:pt x="7132320" y="548640"/>
                  </a:lnTo>
                  <a:lnTo>
                    <a:pt x="0" y="548640"/>
                  </a:lnTo>
                  <a:close/>
                </a:path>
              </a:pathLst>
            </a:custGeom>
            <a:blipFill>
              <a:blip r:embed="rId2">
                <a:alphaModFix amt="0"/>
              </a:blip>
              <a:stretch>
                <a:fillRect l="0" t="-203305" r="0" b="-203305"/>
              </a:stretch>
            </a:blipFill>
          </p:spPr>
        </p:sp>
        <p:sp>
          <p:nvSpPr>
            <p:cNvPr name="TextBox 40" id="40"/>
            <p:cNvSpPr txBox="true"/>
            <p:nvPr/>
          </p:nvSpPr>
          <p:spPr>
            <a:xfrm>
              <a:off x="0" y="-19050"/>
              <a:ext cx="7132320" cy="567690"/>
            </a:xfrm>
            <a:prstGeom prst="rect">
              <a:avLst/>
            </a:prstGeom>
          </p:spPr>
          <p:txBody>
            <a:bodyPr anchor="ctr" rtlCol="false" tIns="0" lIns="0" bIns="0" rIns="0"/>
            <a:lstStyle/>
            <a:p>
              <a:pPr algn="l">
                <a:lnSpc>
                  <a:spcPts val="1889"/>
                </a:lnSpc>
              </a:pPr>
              <a:r>
                <a:rPr lang="en-US" b="true" sz="1575" spc="150">
                  <a:solidFill>
                    <a:srgbClr val="00E5C7"/>
                  </a:solidFill>
                  <a:latin typeface="Calibri (MS) Bold"/>
                  <a:ea typeface="Calibri (MS) Bold"/>
                  <a:cs typeface="Calibri (MS) Bold"/>
                  <a:sym typeface="Calibri (MS) Bold"/>
                </a:rPr>
                <a:t>POURQUOI C'EST IMPORTANT</a:t>
              </a:r>
            </a:p>
          </p:txBody>
        </p:sp>
      </p:grpSp>
      <p:sp>
        <p:nvSpPr>
          <p:cNvPr name="TextBox 41" id="41"/>
          <p:cNvSpPr txBox="true"/>
          <p:nvPr/>
        </p:nvSpPr>
        <p:spPr>
          <a:xfrm rot="0">
            <a:off x="11864340" y="5556885"/>
            <a:ext cx="5349240" cy="2389441"/>
          </a:xfrm>
          <a:prstGeom prst="rect">
            <a:avLst/>
          </a:prstGeom>
        </p:spPr>
        <p:txBody>
          <a:bodyPr anchor="t" rtlCol="false" tIns="0" lIns="0" bIns="0" rIns="0">
            <a:spAutoFit/>
          </a:bodyPr>
          <a:lstStyle/>
          <a:p>
            <a:pPr algn="l" marL="312182" indent="-156091" lvl="1">
              <a:lnSpc>
                <a:spcPts val="2380"/>
              </a:lnSpc>
              <a:buFont typeface="Arial"/>
              <a:buChar char="•"/>
            </a:pPr>
            <a:r>
              <a:rPr lang="en-US" sz="1725">
                <a:solidFill>
                  <a:srgbClr val="9FB0C9"/>
                </a:solidFill>
                <a:latin typeface="Calibri (MS)"/>
                <a:ea typeface="Calibri (MS)"/>
                <a:cs typeface="Calibri (MS)"/>
                <a:sym typeface="Calibri (MS)"/>
              </a:rPr>
              <a:t>Le</a:t>
            </a:r>
            <a:r>
              <a:rPr lang="en-US" sz="1725">
                <a:solidFill>
                  <a:srgbClr val="9FB0C9"/>
                </a:solidFill>
                <a:latin typeface="Calibri (MS)"/>
                <a:ea typeface="Calibri (MS)"/>
                <a:cs typeface="Calibri (MS)"/>
                <a:sym typeface="Calibri (MS)"/>
              </a:rPr>
              <a:t> trafic BÉNIN domine (&gt;2,27 millions d'enregistrements).</a:t>
            </a:r>
          </a:p>
          <a:p>
            <a:pPr algn="l" marL="312182" indent="-156091" lvl="1">
              <a:lnSpc>
                <a:spcPts val="2380"/>
              </a:lnSpc>
              <a:buFont typeface="Arial"/>
              <a:buChar char="•"/>
            </a:pPr>
            <a:r>
              <a:rPr lang="en-US" sz="1725">
                <a:solidFill>
                  <a:srgbClr val="9FB0C9"/>
                </a:solidFill>
                <a:latin typeface="Calibri (MS)"/>
                <a:ea typeface="Calibri (MS)"/>
                <a:cs typeface="Calibri (MS)"/>
                <a:sym typeface="Calibri (MS)"/>
              </a:rPr>
              <a:t>Les classes rares comme Heartbleed ne comptent qu'environ 11 échantillons.</a:t>
            </a:r>
          </a:p>
          <a:p>
            <a:pPr algn="l" marL="312182" indent="-156091" lvl="1">
              <a:lnSpc>
                <a:spcPts val="2380"/>
              </a:lnSpc>
              <a:buFont typeface="Arial"/>
              <a:buChar char="•"/>
            </a:pPr>
            <a:r>
              <a:rPr lang="en-US" sz="1725">
                <a:solidFill>
                  <a:srgbClr val="9FB0C9"/>
                </a:solidFill>
                <a:latin typeface="Calibri (MS)"/>
                <a:ea typeface="Calibri (MS)"/>
                <a:cs typeface="Calibri (MS)"/>
                <a:sym typeface="Calibri (MS)"/>
              </a:rPr>
              <a:t>Un entraînement naïf ignorerait complètement les attaques rares.</a:t>
            </a:r>
          </a:p>
          <a:p>
            <a:pPr algn="l" marL="312182" indent="-156091" lvl="1">
              <a:lnSpc>
                <a:spcPts val="2380"/>
              </a:lnSpc>
              <a:buFont typeface="Arial"/>
              <a:buChar char="•"/>
            </a:pPr>
            <a:r>
              <a:rPr lang="en-US" sz="1725">
                <a:solidFill>
                  <a:srgbClr val="9FB0C9"/>
                </a:solidFill>
                <a:latin typeface="Calibri (MS)"/>
                <a:ea typeface="Calibri (MS)"/>
                <a:cs typeface="Calibri (MS)"/>
                <a:sym typeface="Calibri (MS)"/>
              </a:rPr>
              <a:t>Cela motive un pondération atténuée des échantillons lors de l'entraînement (Chap. 4).</a:t>
            </a:r>
          </a:p>
        </p:txBody>
      </p:sp>
      <p:grpSp>
        <p:nvGrpSpPr>
          <p:cNvPr name="Group 42" id="42"/>
          <p:cNvGrpSpPr/>
          <p:nvPr/>
        </p:nvGrpSpPr>
        <p:grpSpPr>
          <a:xfrm rot="0">
            <a:off x="685800" y="9710928"/>
            <a:ext cx="10972800" cy="411480"/>
            <a:chOff x="0" y="0"/>
            <a:chExt cx="14630400" cy="548640"/>
          </a:xfrm>
        </p:grpSpPr>
        <p:sp>
          <p:nvSpPr>
            <p:cNvPr name="Freeform 43" id="4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44" id="44"/>
            <p:cNvSpPr txBox="true"/>
            <p:nvPr/>
          </p:nvSpPr>
          <p:spPr>
            <a:xfrm>
              <a:off x="0" y="-28575"/>
              <a:ext cx="14630400" cy="577215"/>
            </a:xfrm>
            <a:prstGeom prst="rect">
              <a:avLst/>
            </a:prstGeom>
          </p:spPr>
          <p:txBody>
            <a:bodyPr anchor="ctr" rtlCol="false" tIns="0" lIns="0" bIns="0" rIns="0"/>
            <a:lstStyle/>
            <a:p>
              <a:pPr algn="l">
                <a:lnSpc>
                  <a:spcPts val="1620"/>
                </a:lnSpc>
              </a:pPr>
              <a:r>
                <a:rPr lang="en-US" sz="1350" spc="149">
                  <a:solidFill>
                    <a:srgbClr val="6E84A6"/>
                  </a:solidFill>
                  <a:latin typeface="Calibri (MS)"/>
                  <a:ea typeface="Calibri (MS)"/>
                  <a:cs typeface="Calibri (MS)"/>
                  <a:sym typeface="Calibri (MS)"/>
                </a:rPr>
                <a:t>MLSECOPS PLATFORM · STREAMING &amp; DATA INGESTION</a:t>
              </a:r>
            </a:p>
          </p:txBody>
        </p:sp>
      </p:grpSp>
      <p:grpSp>
        <p:nvGrpSpPr>
          <p:cNvPr name="Group 45" id="45"/>
          <p:cNvGrpSpPr/>
          <p:nvPr/>
        </p:nvGrpSpPr>
        <p:grpSpPr>
          <a:xfrm rot="0">
            <a:off x="16500348" y="9710928"/>
            <a:ext cx="1097280" cy="411480"/>
            <a:chOff x="0" y="0"/>
            <a:chExt cx="1463040" cy="548640"/>
          </a:xfrm>
        </p:grpSpPr>
        <p:sp>
          <p:nvSpPr>
            <p:cNvPr name="Freeform 46" id="46"/>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47" id="47"/>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10 / 32</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STREAMING &amp; INGESTION</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3</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Soumia Zahir — Data Engineer</a:t>
              </a:r>
            </a:p>
          </p:txBody>
        </p:sp>
      </p:grpSp>
      <p:grpSp>
        <p:nvGrpSpPr>
          <p:cNvPr name="Group 11" id="11"/>
          <p:cNvGrpSpPr/>
          <p:nvPr/>
        </p:nvGrpSpPr>
        <p:grpSpPr>
          <a:xfrm rot="0">
            <a:off x="761524" y="-45303"/>
            <a:ext cx="16596360" cy="3516213"/>
            <a:chOff x="0" y="0"/>
            <a:chExt cx="22128480" cy="4688284"/>
          </a:xfrm>
        </p:grpSpPr>
        <p:sp>
          <p:nvSpPr>
            <p:cNvPr name="Freeform 12" id="12"/>
            <p:cNvSpPr/>
            <p:nvPr/>
          </p:nvSpPr>
          <p:spPr>
            <a:xfrm flipH="false" flipV="false" rot="0">
              <a:off x="0" y="0"/>
              <a:ext cx="22128480" cy="4688284"/>
            </a:xfrm>
            <a:custGeom>
              <a:avLst/>
              <a:gdLst/>
              <a:ahLst/>
              <a:cxnLst/>
              <a:rect r="r" b="b" t="t" l="l"/>
              <a:pathLst>
                <a:path h="4688284" w="22128480">
                  <a:moveTo>
                    <a:pt x="0" y="0"/>
                  </a:moveTo>
                  <a:lnTo>
                    <a:pt x="22128480" y="0"/>
                  </a:lnTo>
                  <a:lnTo>
                    <a:pt x="22128480" y="4688284"/>
                  </a:lnTo>
                  <a:lnTo>
                    <a:pt x="0" y="4688284"/>
                  </a:lnTo>
                  <a:close/>
                </a:path>
              </a:pathLst>
            </a:custGeom>
            <a:blipFill>
              <a:blip r:embed="rId2">
                <a:alphaModFix amt="0"/>
              </a:blip>
              <a:stretch>
                <a:fillRect l="0" t="-73439" r="0" b="-10497"/>
              </a:stretch>
            </a:blipFill>
          </p:spPr>
        </p:sp>
        <p:sp>
          <p:nvSpPr>
            <p:cNvPr name="TextBox 13" id="13"/>
            <p:cNvSpPr txBox="true"/>
            <p:nvPr/>
          </p:nvSpPr>
          <p:spPr>
            <a:xfrm>
              <a:off x="0" y="-9525"/>
              <a:ext cx="22128480" cy="4697809"/>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N</a:t>
              </a:r>
              <a:r>
                <a:rPr lang="en-US" sz="4800" b="true">
                  <a:solidFill>
                    <a:srgbClr val="FFFFFF"/>
                  </a:solidFill>
                  <a:latin typeface="Cambria Bold"/>
                  <a:ea typeface="Cambria Bold"/>
                  <a:cs typeface="Cambria Bold"/>
                  <a:sym typeface="Cambria Bold"/>
                </a:rPr>
                <a:t>ettoyage de flux en temps réel</a:t>
              </a:r>
            </a:p>
          </p:txBody>
        </p:sp>
      </p:grpSp>
      <p:grpSp>
        <p:nvGrpSpPr>
          <p:cNvPr name="Group 14" id="14"/>
          <p:cNvGrpSpPr/>
          <p:nvPr/>
        </p:nvGrpSpPr>
        <p:grpSpPr>
          <a:xfrm rot="0">
            <a:off x="822960" y="2674620"/>
            <a:ext cx="754380" cy="754380"/>
            <a:chOff x="0" y="0"/>
            <a:chExt cx="1005840" cy="1005840"/>
          </a:xfrm>
        </p:grpSpPr>
        <p:sp>
          <p:nvSpPr>
            <p:cNvPr name="Freeform 15" id="15"/>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00E5C7"/>
            </a:solidFill>
          </p:spPr>
        </p:sp>
      </p:grpSp>
      <p:grpSp>
        <p:nvGrpSpPr>
          <p:cNvPr name="Group 16" id="16"/>
          <p:cNvGrpSpPr/>
          <p:nvPr/>
        </p:nvGrpSpPr>
        <p:grpSpPr>
          <a:xfrm rot="0">
            <a:off x="822960" y="2660904"/>
            <a:ext cx="754380" cy="754380"/>
            <a:chOff x="0" y="0"/>
            <a:chExt cx="1005840" cy="1005840"/>
          </a:xfrm>
        </p:grpSpPr>
        <p:sp>
          <p:nvSpPr>
            <p:cNvPr name="Freeform 17" id="17"/>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18" id="18"/>
            <p:cNvSpPr txBox="true"/>
            <p:nvPr/>
          </p:nvSpPr>
          <p:spPr>
            <a:xfrm>
              <a:off x="0" y="-38100"/>
              <a:ext cx="1005840" cy="1043940"/>
            </a:xfrm>
            <a:prstGeom prst="rect">
              <a:avLst/>
            </a:prstGeom>
          </p:spPr>
          <p:txBody>
            <a:bodyPr anchor="ctr" rtlCol="false" tIns="0" lIns="0" bIns="0" rIns="0"/>
            <a:lstStyle/>
            <a:p>
              <a:pPr algn="ctr">
                <a:lnSpc>
                  <a:spcPts val="2574"/>
                </a:lnSpc>
              </a:pPr>
              <a:r>
                <a:rPr lang="en-US" sz="2145" b="true">
                  <a:solidFill>
                    <a:srgbClr val="0A1428"/>
                  </a:solidFill>
                  <a:latin typeface="Calibri (MS) Bold"/>
                  <a:ea typeface="Calibri (MS) Bold"/>
                  <a:cs typeface="Calibri (MS) Bold"/>
                  <a:sym typeface="Calibri (MS) Bold"/>
                </a:rPr>
                <a:t>1</a:t>
              </a:r>
            </a:p>
          </p:txBody>
        </p:sp>
      </p:grpSp>
      <p:grpSp>
        <p:nvGrpSpPr>
          <p:cNvPr name="Group 19" id="19"/>
          <p:cNvGrpSpPr/>
          <p:nvPr/>
        </p:nvGrpSpPr>
        <p:grpSpPr>
          <a:xfrm rot="0">
            <a:off x="1851660" y="2633472"/>
            <a:ext cx="9052560" cy="548640"/>
            <a:chOff x="0" y="0"/>
            <a:chExt cx="12070080" cy="731520"/>
          </a:xfrm>
        </p:grpSpPr>
        <p:sp>
          <p:nvSpPr>
            <p:cNvPr name="Freeform 20" id="20"/>
            <p:cNvSpPr/>
            <p:nvPr/>
          </p:nvSpPr>
          <p:spPr>
            <a:xfrm flipH="false" flipV="false" rot="0">
              <a:off x="0" y="0"/>
              <a:ext cx="12070080" cy="731520"/>
            </a:xfrm>
            <a:custGeom>
              <a:avLst/>
              <a:gdLst/>
              <a:ahLst/>
              <a:cxnLst/>
              <a:rect r="r" b="b" t="t" l="l"/>
              <a:pathLst>
                <a:path h="731520" w="12070080">
                  <a:moveTo>
                    <a:pt x="0" y="0"/>
                  </a:moveTo>
                  <a:lnTo>
                    <a:pt x="12070080" y="0"/>
                  </a:lnTo>
                  <a:lnTo>
                    <a:pt x="12070080" y="731520"/>
                  </a:lnTo>
                  <a:lnTo>
                    <a:pt x="0" y="731520"/>
                  </a:lnTo>
                  <a:close/>
                </a:path>
              </a:pathLst>
            </a:custGeom>
            <a:blipFill>
              <a:blip r:embed="rId2">
                <a:alphaModFix amt="0"/>
              </a:blip>
              <a:stretch>
                <a:fillRect l="0" t="-271503" r="0" b="-271503"/>
              </a:stretch>
            </a:blipFill>
          </p:spPr>
        </p:sp>
        <p:sp>
          <p:nvSpPr>
            <p:cNvPr name="TextBox 21" id="21"/>
            <p:cNvSpPr txBox="true"/>
            <p:nvPr/>
          </p:nvSpPr>
          <p:spPr>
            <a:xfrm>
              <a:off x="0" y="-47625"/>
              <a:ext cx="12070080" cy="779145"/>
            </a:xfrm>
            <a:prstGeom prst="rect">
              <a:avLst/>
            </a:prstGeom>
          </p:spPr>
          <p:txBody>
            <a:bodyPr anchor="ctr" rtlCol="false" tIns="0" lIns="0" bIns="0" rIns="0"/>
            <a:lstStyle/>
            <a:p>
              <a:pPr algn="l">
                <a:lnSpc>
                  <a:spcPts val="2610"/>
                </a:lnSpc>
              </a:pPr>
              <a:r>
                <a:rPr lang="en-US" sz="2175" b="true">
                  <a:solidFill>
                    <a:srgbClr val="FFFFFF"/>
                  </a:solidFill>
                  <a:latin typeface="Calibri (MS) Bold"/>
                  <a:ea typeface="Calibri (MS) Bold"/>
                  <a:cs typeface="Calibri (MS) Bold"/>
                  <a:sym typeface="Calibri (MS) Bold"/>
                </a:rPr>
                <a:t>Normalisation des clés</a:t>
              </a:r>
            </a:p>
          </p:txBody>
        </p:sp>
      </p:grpSp>
      <p:grpSp>
        <p:nvGrpSpPr>
          <p:cNvPr name="Group 22" id="22"/>
          <p:cNvGrpSpPr/>
          <p:nvPr/>
        </p:nvGrpSpPr>
        <p:grpSpPr>
          <a:xfrm rot="0">
            <a:off x="1851660" y="3154680"/>
            <a:ext cx="9052560" cy="822960"/>
            <a:chOff x="0" y="0"/>
            <a:chExt cx="12070080" cy="1097280"/>
          </a:xfrm>
        </p:grpSpPr>
        <p:sp>
          <p:nvSpPr>
            <p:cNvPr name="Freeform 23" id="23"/>
            <p:cNvSpPr/>
            <p:nvPr/>
          </p:nvSpPr>
          <p:spPr>
            <a:xfrm flipH="false" flipV="false" rot="0">
              <a:off x="0" y="0"/>
              <a:ext cx="12070080" cy="1097280"/>
            </a:xfrm>
            <a:custGeom>
              <a:avLst/>
              <a:gdLst/>
              <a:ahLst/>
              <a:cxnLst/>
              <a:rect r="r" b="b" t="t" l="l"/>
              <a:pathLst>
                <a:path h="1097280" w="12070080">
                  <a:moveTo>
                    <a:pt x="0" y="0"/>
                  </a:moveTo>
                  <a:lnTo>
                    <a:pt x="12070080" y="0"/>
                  </a:lnTo>
                  <a:lnTo>
                    <a:pt x="12070080" y="1097280"/>
                  </a:lnTo>
                  <a:lnTo>
                    <a:pt x="0" y="1097280"/>
                  </a:lnTo>
                  <a:close/>
                </a:path>
              </a:pathLst>
            </a:custGeom>
            <a:blipFill>
              <a:blip r:embed="rId2">
                <a:alphaModFix amt="0"/>
              </a:blip>
              <a:stretch>
                <a:fillRect l="0" t="-164335" r="0" b="-164335"/>
              </a:stretch>
            </a:blipFill>
          </p:spPr>
        </p:sp>
        <p:sp>
          <p:nvSpPr>
            <p:cNvPr name="TextBox 24" id="24"/>
            <p:cNvSpPr txBox="true"/>
            <p:nvPr/>
          </p:nvSpPr>
          <p:spPr>
            <a:xfrm>
              <a:off x="0" y="-28575"/>
              <a:ext cx="12070080" cy="112585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N</a:t>
              </a:r>
              <a:r>
                <a:rPr lang="en-US" sz="1650">
                  <a:solidFill>
                    <a:srgbClr val="9FB0C9"/>
                  </a:solidFill>
                  <a:latin typeface="Calibri (MS)"/>
                  <a:ea typeface="Calibri (MS)"/>
                  <a:cs typeface="Calibri (MS)"/>
                  <a:sym typeface="Calibri (MS)"/>
                </a:rPr>
                <a:t>oms de colonnes convertis en snake_case cohérent (par exemple, "Flow Duration" → flow_duration).</a:t>
              </a:r>
            </a:p>
          </p:txBody>
        </p:sp>
      </p:grpSp>
      <p:grpSp>
        <p:nvGrpSpPr>
          <p:cNvPr name="Group 25" id="25"/>
          <p:cNvGrpSpPr/>
          <p:nvPr/>
        </p:nvGrpSpPr>
        <p:grpSpPr>
          <a:xfrm rot="0">
            <a:off x="822960" y="4183380"/>
            <a:ext cx="754380" cy="754380"/>
            <a:chOff x="0" y="0"/>
            <a:chExt cx="1005840" cy="1005840"/>
          </a:xfrm>
        </p:grpSpPr>
        <p:sp>
          <p:nvSpPr>
            <p:cNvPr name="Freeform 26" id="26"/>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00E5C7"/>
            </a:solidFill>
          </p:spPr>
        </p:sp>
      </p:grpSp>
      <p:grpSp>
        <p:nvGrpSpPr>
          <p:cNvPr name="Group 27" id="27"/>
          <p:cNvGrpSpPr/>
          <p:nvPr/>
        </p:nvGrpSpPr>
        <p:grpSpPr>
          <a:xfrm rot="0">
            <a:off x="822960" y="4169664"/>
            <a:ext cx="754380" cy="754380"/>
            <a:chOff x="0" y="0"/>
            <a:chExt cx="1005840" cy="1005840"/>
          </a:xfrm>
        </p:grpSpPr>
        <p:sp>
          <p:nvSpPr>
            <p:cNvPr name="Freeform 28" id="28"/>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29" id="29"/>
            <p:cNvSpPr txBox="true"/>
            <p:nvPr/>
          </p:nvSpPr>
          <p:spPr>
            <a:xfrm>
              <a:off x="0" y="-38100"/>
              <a:ext cx="1005840" cy="1043940"/>
            </a:xfrm>
            <a:prstGeom prst="rect">
              <a:avLst/>
            </a:prstGeom>
          </p:spPr>
          <p:txBody>
            <a:bodyPr anchor="ctr" rtlCol="false" tIns="0" lIns="0" bIns="0" rIns="0"/>
            <a:lstStyle/>
            <a:p>
              <a:pPr algn="ctr">
                <a:lnSpc>
                  <a:spcPts val="2574"/>
                </a:lnSpc>
              </a:pPr>
              <a:r>
                <a:rPr lang="en-US" sz="2145" b="true">
                  <a:solidFill>
                    <a:srgbClr val="0A1428"/>
                  </a:solidFill>
                  <a:latin typeface="Calibri (MS) Bold"/>
                  <a:ea typeface="Calibri (MS) Bold"/>
                  <a:cs typeface="Calibri (MS) Bold"/>
                  <a:sym typeface="Calibri (MS) Bold"/>
                </a:rPr>
                <a:t>2</a:t>
              </a:r>
            </a:p>
          </p:txBody>
        </p:sp>
      </p:grpSp>
      <p:grpSp>
        <p:nvGrpSpPr>
          <p:cNvPr name="Group 30" id="30"/>
          <p:cNvGrpSpPr/>
          <p:nvPr/>
        </p:nvGrpSpPr>
        <p:grpSpPr>
          <a:xfrm rot="0">
            <a:off x="1851660" y="4142232"/>
            <a:ext cx="9052560" cy="548640"/>
            <a:chOff x="0" y="0"/>
            <a:chExt cx="12070080" cy="731520"/>
          </a:xfrm>
        </p:grpSpPr>
        <p:sp>
          <p:nvSpPr>
            <p:cNvPr name="Freeform 31" id="31"/>
            <p:cNvSpPr/>
            <p:nvPr/>
          </p:nvSpPr>
          <p:spPr>
            <a:xfrm flipH="false" flipV="false" rot="0">
              <a:off x="0" y="0"/>
              <a:ext cx="12070080" cy="731520"/>
            </a:xfrm>
            <a:custGeom>
              <a:avLst/>
              <a:gdLst/>
              <a:ahLst/>
              <a:cxnLst/>
              <a:rect r="r" b="b" t="t" l="l"/>
              <a:pathLst>
                <a:path h="731520" w="12070080">
                  <a:moveTo>
                    <a:pt x="0" y="0"/>
                  </a:moveTo>
                  <a:lnTo>
                    <a:pt x="12070080" y="0"/>
                  </a:lnTo>
                  <a:lnTo>
                    <a:pt x="12070080" y="731520"/>
                  </a:lnTo>
                  <a:lnTo>
                    <a:pt x="0" y="731520"/>
                  </a:lnTo>
                  <a:close/>
                </a:path>
              </a:pathLst>
            </a:custGeom>
            <a:blipFill>
              <a:blip r:embed="rId2">
                <a:alphaModFix amt="0"/>
              </a:blip>
              <a:stretch>
                <a:fillRect l="0" t="-271503" r="0" b="-271503"/>
              </a:stretch>
            </a:blipFill>
          </p:spPr>
        </p:sp>
        <p:sp>
          <p:nvSpPr>
            <p:cNvPr name="TextBox 32" id="32"/>
            <p:cNvSpPr txBox="true"/>
            <p:nvPr/>
          </p:nvSpPr>
          <p:spPr>
            <a:xfrm>
              <a:off x="0" y="-47625"/>
              <a:ext cx="12070080" cy="779145"/>
            </a:xfrm>
            <a:prstGeom prst="rect">
              <a:avLst/>
            </a:prstGeom>
          </p:spPr>
          <p:txBody>
            <a:bodyPr anchor="ctr" rtlCol="false" tIns="0" lIns="0" bIns="0" rIns="0"/>
            <a:lstStyle/>
            <a:p>
              <a:pPr algn="l">
                <a:lnSpc>
                  <a:spcPts val="2610"/>
                </a:lnSpc>
              </a:pPr>
              <a:r>
                <a:rPr lang="en-US" sz="2175" b="true">
                  <a:solidFill>
                    <a:srgbClr val="FFFFFF"/>
                  </a:solidFill>
                  <a:latin typeface="Calibri (MS) Bold"/>
                  <a:ea typeface="Calibri (MS) Bold"/>
                  <a:cs typeface="Calibri (MS) Bold"/>
                  <a:sym typeface="Calibri (MS) Bold"/>
                </a:rPr>
                <a:t>Conversion des valeurs</a:t>
              </a:r>
            </a:p>
          </p:txBody>
        </p:sp>
      </p:grpSp>
      <p:grpSp>
        <p:nvGrpSpPr>
          <p:cNvPr name="Group 33" id="33"/>
          <p:cNvGrpSpPr/>
          <p:nvPr/>
        </p:nvGrpSpPr>
        <p:grpSpPr>
          <a:xfrm rot="0">
            <a:off x="1851660" y="4663440"/>
            <a:ext cx="9052560" cy="822960"/>
            <a:chOff x="0" y="0"/>
            <a:chExt cx="12070080" cy="1097280"/>
          </a:xfrm>
        </p:grpSpPr>
        <p:sp>
          <p:nvSpPr>
            <p:cNvPr name="Freeform 34" id="34"/>
            <p:cNvSpPr/>
            <p:nvPr/>
          </p:nvSpPr>
          <p:spPr>
            <a:xfrm flipH="false" flipV="false" rot="0">
              <a:off x="0" y="0"/>
              <a:ext cx="12070080" cy="1097280"/>
            </a:xfrm>
            <a:custGeom>
              <a:avLst/>
              <a:gdLst/>
              <a:ahLst/>
              <a:cxnLst/>
              <a:rect r="r" b="b" t="t" l="l"/>
              <a:pathLst>
                <a:path h="1097280" w="12070080">
                  <a:moveTo>
                    <a:pt x="0" y="0"/>
                  </a:moveTo>
                  <a:lnTo>
                    <a:pt x="12070080" y="0"/>
                  </a:lnTo>
                  <a:lnTo>
                    <a:pt x="12070080" y="1097280"/>
                  </a:lnTo>
                  <a:lnTo>
                    <a:pt x="0" y="1097280"/>
                  </a:lnTo>
                  <a:close/>
                </a:path>
              </a:pathLst>
            </a:custGeom>
            <a:blipFill>
              <a:blip r:embed="rId2">
                <a:alphaModFix amt="0"/>
              </a:blip>
              <a:stretch>
                <a:fillRect l="0" t="-164335" r="0" b="-164335"/>
              </a:stretch>
            </a:blipFill>
          </p:spPr>
        </p:sp>
        <p:sp>
          <p:nvSpPr>
            <p:cNvPr name="TextBox 35" id="35"/>
            <p:cNvSpPr txBox="true"/>
            <p:nvPr/>
          </p:nvSpPr>
          <p:spPr>
            <a:xfrm>
              <a:off x="0" y="-28575"/>
              <a:ext cx="12070080" cy="112585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Variantes </a:t>
              </a:r>
              <a:r>
                <a:rPr lang="en-US" sz="1650">
                  <a:solidFill>
                    <a:srgbClr val="9FB0C9"/>
                  </a:solidFill>
                  <a:latin typeface="Calibri (MS)"/>
                  <a:ea typeface="Calibri (MS)"/>
                  <a:cs typeface="Calibri (MS)"/>
                  <a:sym typeface="Calibri (MS)"/>
                </a:rPr>
                <a:t>None, NaN et Infinity normalisées ; artefacts d'encodage UTF-8 réparés.</a:t>
              </a:r>
            </a:p>
          </p:txBody>
        </p:sp>
      </p:grpSp>
      <p:grpSp>
        <p:nvGrpSpPr>
          <p:cNvPr name="Group 36" id="36"/>
          <p:cNvGrpSpPr/>
          <p:nvPr/>
        </p:nvGrpSpPr>
        <p:grpSpPr>
          <a:xfrm rot="0">
            <a:off x="822960" y="5692140"/>
            <a:ext cx="754380" cy="754380"/>
            <a:chOff x="0" y="0"/>
            <a:chExt cx="1005840" cy="1005840"/>
          </a:xfrm>
        </p:grpSpPr>
        <p:sp>
          <p:nvSpPr>
            <p:cNvPr name="Freeform 37" id="37"/>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00E5C7"/>
            </a:solidFill>
          </p:spPr>
        </p:sp>
      </p:grpSp>
      <p:grpSp>
        <p:nvGrpSpPr>
          <p:cNvPr name="Group 38" id="38"/>
          <p:cNvGrpSpPr/>
          <p:nvPr/>
        </p:nvGrpSpPr>
        <p:grpSpPr>
          <a:xfrm rot="0">
            <a:off x="822960" y="5678424"/>
            <a:ext cx="754380" cy="754380"/>
            <a:chOff x="0" y="0"/>
            <a:chExt cx="1005840" cy="1005840"/>
          </a:xfrm>
        </p:grpSpPr>
        <p:sp>
          <p:nvSpPr>
            <p:cNvPr name="Freeform 39" id="39"/>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40" id="40"/>
            <p:cNvSpPr txBox="true"/>
            <p:nvPr/>
          </p:nvSpPr>
          <p:spPr>
            <a:xfrm>
              <a:off x="0" y="-38100"/>
              <a:ext cx="1005840" cy="1043940"/>
            </a:xfrm>
            <a:prstGeom prst="rect">
              <a:avLst/>
            </a:prstGeom>
          </p:spPr>
          <p:txBody>
            <a:bodyPr anchor="ctr" rtlCol="false" tIns="0" lIns="0" bIns="0" rIns="0"/>
            <a:lstStyle/>
            <a:p>
              <a:pPr algn="ctr">
                <a:lnSpc>
                  <a:spcPts val="2574"/>
                </a:lnSpc>
              </a:pPr>
              <a:r>
                <a:rPr lang="en-US" sz="2145" b="true">
                  <a:solidFill>
                    <a:srgbClr val="0A1428"/>
                  </a:solidFill>
                  <a:latin typeface="Calibri (MS) Bold"/>
                  <a:ea typeface="Calibri (MS) Bold"/>
                  <a:cs typeface="Calibri (MS) Bold"/>
                  <a:sym typeface="Calibri (MS) Bold"/>
                </a:rPr>
                <a:t>3</a:t>
              </a:r>
            </a:p>
          </p:txBody>
        </p:sp>
      </p:grpSp>
      <p:grpSp>
        <p:nvGrpSpPr>
          <p:cNvPr name="Group 41" id="41"/>
          <p:cNvGrpSpPr/>
          <p:nvPr/>
        </p:nvGrpSpPr>
        <p:grpSpPr>
          <a:xfrm rot="0">
            <a:off x="1851660" y="5650992"/>
            <a:ext cx="9052560" cy="548640"/>
            <a:chOff x="0" y="0"/>
            <a:chExt cx="12070080" cy="731520"/>
          </a:xfrm>
        </p:grpSpPr>
        <p:sp>
          <p:nvSpPr>
            <p:cNvPr name="Freeform 42" id="42"/>
            <p:cNvSpPr/>
            <p:nvPr/>
          </p:nvSpPr>
          <p:spPr>
            <a:xfrm flipH="false" flipV="false" rot="0">
              <a:off x="0" y="0"/>
              <a:ext cx="12070080" cy="731520"/>
            </a:xfrm>
            <a:custGeom>
              <a:avLst/>
              <a:gdLst/>
              <a:ahLst/>
              <a:cxnLst/>
              <a:rect r="r" b="b" t="t" l="l"/>
              <a:pathLst>
                <a:path h="731520" w="12070080">
                  <a:moveTo>
                    <a:pt x="0" y="0"/>
                  </a:moveTo>
                  <a:lnTo>
                    <a:pt x="12070080" y="0"/>
                  </a:lnTo>
                  <a:lnTo>
                    <a:pt x="12070080" y="731520"/>
                  </a:lnTo>
                  <a:lnTo>
                    <a:pt x="0" y="731520"/>
                  </a:lnTo>
                  <a:close/>
                </a:path>
              </a:pathLst>
            </a:custGeom>
            <a:blipFill>
              <a:blip r:embed="rId2">
                <a:alphaModFix amt="0"/>
              </a:blip>
              <a:stretch>
                <a:fillRect l="0" t="-271503" r="0" b="-271503"/>
              </a:stretch>
            </a:blipFill>
          </p:spPr>
        </p:sp>
        <p:sp>
          <p:nvSpPr>
            <p:cNvPr name="TextBox 43" id="43"/>
            <p:cNvSpPr txBox="true"/>
            <p:nvPr/>
          </p:nvSpPr>
          <p:spPr>
            <a:xfrm>
              <a:off x="0" y="-47625"/>
              <a:ext cx="12070080" cy="779145"/>
            </a:xfrm>
            <a:prstGeom prst="rect">
              <a:avLst/>
            </a:prstGeom>
          </p:spPr>
          <p:txBody>
            <a:bodyPr anchor="ctr" rtlCol="false" tIns="0" lIns="0" bIns="0" rIns="0"/>
            <a:lstStyle/>
            <a:p>
              <a:pPr algn="l">
                <a:lnSpc>
                  <a:spcPts val="2610"/>
                </a:lnSpc>
              </a:pPr>
              <a:r>
                <a:rPr lang="en-US" sz="2175" b="true">
                  <a:solidFill>
                    <a:srgbClr val="FFFFFF"/>
                  </a:solidFill>
                  <a:latin typeface="Calibri (MS) Bold"/>
                  <a:ea typeface="Calibri (MS) Bold"/>
                  <a:cs typeface="Calibri (MS) Bold"/>
                  <a:sym typeface="Calibri (MS) Bold"/>
                </a:rPr>
                <a:t> Enrichissement des étiquettes et des indicateurs</a:t>
              </a:r>
            </a:p>
          </p:txBody>
        </p:sp>
      </p:grpSp>
      <p:grpSp>
        <p:nvGrpSpPr>
          <p:cNvPr name="Group 44" id="44"/>
          <p:cNvGrpSpPr/>
          <p:nvPr/>
        </p:nvGrpSpPr>
        <p:grpSpPr>
          <a:xfrm rot="0">
            <a:off x="1851660" y="6172200"/>
            <a:ext cx="9052560" cy="822960"/>
            <a:chOff x="0" y="0"/>
            <a:chExt cx="12070080" cy="1097280"/>
          </a:xfrm>
        </p:grpSpPr>
        <p:sp>
          <p:nvSpPr>
            <p:cNvPr name="Freeform 45" id="45"/>
            <p:cNvSpPr/>
            <p:nvPr/>
          </p:nvSpPr>
          <p:spPr>
            <a:xfrm flipH="false" flipV="false" rot="0">
              <a:off x="0" y="0"/>
              <a:ext cx="12070080" cy="1097280"/>
            </a:xfrm>
            <a:custGeom>
              <a:avLst/>
              <a:gdLst/>
              <a:ahLst/>
              <a:cxnLst/>
              <a:rect r="r" b="b" t="t" l="l"/>
              <a:pathLst>
                <a:path h="1097280" w="12070080">
                  <a:moveTo>
                    <a:pt x="0" y="0"/>
                  </a:moveTo>
                  <a:lnTo>
                    <a:pt x="12070080" y="0"/>
                  </a:lnTo>
                  <a:lnTo>
                    <a:pt x="12070080" y="1097280"/>
                  </a:lnTo>
                  <a:lnTo>
                    <a:pt x="0" y="1097280"/>
                  </a:lnTo>
                  <a:close/>
                </a:path>
              </a:pathLst>
            </a:custGeom>
            <a:blipFill>
              <a:blip r:embed="rId2">
                <a:alphaModFix amt="0"/>
              </a:blip>
              <a:stretch>
                <a:fillRect l="0" t="-164335" r="0" b="-164335"/>
              </a:stretch>
            </a:blipFill>
          </p:spPr>
        </p:sp>
        <p:sp>
          <p:nvSpPr>
            <p:cNvPr name="TextBox 46" id="46"/>
            <p:cNvSpPr txBox="true"/>
            <p:nvPr/>
          </p:nvSpPr>
          <p:spPr>
            <a:xfrm>
              <a:off x="0" y="-28575"/>
              <a:ext cx="12070080" cy="112585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Étiqu</a:t>
              </a:r>
              <a:r>
                <a:rPr lang="en-US" sz="1650">
                  <a:solidFill>
                    <a:srgbClr val="9FB0C9"/>
                  </a:solidFill>
                  <a:latin typeface="Calibri (MS)"/>
                  <a:ea typeface="Calibri (MS)"/>
                  <a:cs typeface="Calibri (MS)"/>
                  <a:sym typeface="Calibri (MS)"/>
                </a:rPr>
                <a:t>ettes normalisées en ASCII ; indicateur binaire is_attack et horodatage ingested_at ajoutés.</a:t>
              </a:r>
            </a:p>
          </p:txBody>
        </p:sp>
      </p:grpSp>
      <p:grpSp>
        <p:nvGrpSpPr>
          <p:cNvPr name="Group 47" id="47"/>
          <p:cNvGrpSpPr/>
          <p:nvPr/>
        </p:nvGrpSpPr>
        <p:grpSpPr>
          <a:xfrm rot="0">
            <a:off x="813435" y="7259955"/>
            <a:ext cx="10100310" cy="1870710"/>
            <a:chOff x="0" y="0"/>
            <a:chExt cx="13467080" cy="2494280"/>
          </a:xfrm>
        </p:grpSpPr>
        <p:sp>
          <p:nvSpPr>
            <p:cNvPr name="Freeform 48" id="48"/>
            <p:cNvSpPr/>
            <p:nvPr/>
          </p:nvSpPr>
          <p:spPr>
            <a:xfrm flipH="false" flipV="false" rot="0">
              <a:off x="0" y="0"/>
              <a:ext cx="13467080" cy="2494280"/>
            </a:xfrm>
            <a:custGeom>
              <a:avLst/>
              <a:gdLst/>
              <a:ahLst/>
              <a:cxnLst/>
              <a:rect r="r" b="b" t="t" l="l"/>
              <a:pathLst>
                <a:path h="2494280" w="13467080">
                  <a:moveTo>
                    <a:pt x="0" y="147828"/>
                  </a:moveTo>
                  <a:cubicBezTo>
                    <a:pt x="0" y="66167"/>
                    <a:pt x="66167" y="0"/>
                    <a:pt x="147828" y="0"/>
                  </a:cubicBezTo>
                  <a:lnTo>
                    <a:pt x="13319252" y="0"/>
                  </a:lnTo>
                  <a:cubicBezTo>
                    <a:pt x="13400914" y="0"/>
                    <a:pt x="13467080" y="66167"/>
                    <a:pt x="13467080" y="147828"/>
                  </a:cubicBezTo>
                  <a:lnTo>
                    <a:pt x="13467080" y="2346452"/>
                  </a:lnTo>
                  <a:cubicBezTo>
                    <a:pt x="13467080" y="2428113"/>
                    <a:pt x="13400914" y="2494280"/>
                    <a:pt x="13319252" y="2494280"/>
                  </a:cubicBezTo>
                  <a:lnTo>
                    <a:pt x="147828" y="2494280"/>
                  </a:lnTo>
                  <a:cubicBezTo>
                    <a:pt x="66167" y="2494280"/>
                    <a:pt x="0" y="2428113"/>
                    <a:pt x="0" y="2346452"/>
                  </a:cubicBezTo>
                  <a:close/>
                </a:path>
              </a:pathLst>
            </a:custGeom>
            <a:solidFill>
              <a:srgbClr val="13294A"/>
            </a:solidFill>
            <a:ln w="19050" cap="sq">
              <a:solidFill>
                <a:srgbClr val="1E3358"/>
              </a:solidFill>
              <a:prstDash val="solid"/>
              <a:miter/>
            </a:ln>
          </p:spPr>
        </p:sp>
      </p:grpSp>
      <p:grpSp>
        <p:nvGrpSpPr>
          <p:cNvPr name="Group 49" id="49"/>
          <p:cNvGrpSpPr/>
          <p:nvPr/>
        </p:nvGrpSpPr>
        <p:grpSpPr>
          <a:xfrm rot="0">
            <a:off x="1234440" y="7475220"/>
            <a:ext cx="5486400" cy="411480"/>
            <a:chOff x="0" y="0"/>
            <a:chExt cx="7315200" cy="548640"/>
          </a:xfrm>
        </p:grpSpPr>
        <p:sp>
          <p:nvSpPr>
            <p:cNvPr name="Freeform 50" id="50"/>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2">
                <a:alphaModFix amt="0"/>
              </a:blip>
              <a:stretch>
                <a:fillRect l="0" t="-209800" r="0" b="-209800"/>
              </a:stretch>
            </a:blipFill>
          </p:spPr>
        </p:sp>
        <p:sp>
          <p:nvSpPr>
            <p:cNvPr name="TextBox 51" id="51"/>
            <p:cNvSpPr txBox="true"/>
            <p:nvPr/>
          </p:nvSpPr>
          <p:spPr>
            <a:xfrm>
              <a:off x="0" y="-38100"/>
              <a:ext cx="7315200" cy="586740"/>
            </a:xfrm>
            <a:prstGeom prst="rect">
              <a:avLst/>
            </a:prstGeom>
          </p:spPr>
          <p:txBody>
            <a:bodyPr anchor="ctr" rtlCol="false" tIns="0" lIns="0" bIns="0" rIns="0"/>
            <a:lstStyle/>
            <a:p>
              <a:pPr algn="l">
                <a:lnSpc>
                  <a:spcPts val="1800"/>
                </a:lnSpc>
              </a:pPr>
              <a:r>
                <a:rPr lang="en-US" b="true" sz="1500" spc="150">
                  <a:solidFill>
                    <a:srgbClr val="00E5C7"/>
                  </a:solidFill>
                  <a:latin typeface="Calibri (MS) Bold"/>
                  <a:ea typeface="Calibri (MS) Bold"/>
                  <a:cs typeface="Calibri (MS) Bold"/>
                  <a:sym typeface="Calibri (MS) Bold"/>
                </a:rPr>
                <a:t>GRACEFUL SHUTDOWN</a:t>
              </a:r>
            </a:p>
          </p:txBody>
        </p:sp>
      </p:grpSp>
      <p:grpSp>
        <p:nvGrpSpPr>
          <p:cNvPr name="Group 52" id="52"/>
          <p:cNvGrpSpPr/>
          <p:nvPr/>
        </p:nvGrpSpPr>
        <p:grpSpPr>
          <a:xfrm rot="0">
            <a:off x="1234440" y="7886700"/>
            <a:ext cx="9326880" cy="1097280"/>
            <a:chOff x="0" y="0"/>
            <a:chExt cx="12435840" cy="1463040"/>
          </a:xfrm>
        </p:grpSpPr>
        <p:sp>
          <p:nvSpPr>
            <p:cNvPr name="Freeform 53" id="53"/>
            <p:cNvSpPr/>
            <p:nvPr/>
          </p:nvSpPr>
          <p:spPr>
            <a:xfrm flipH="false" flipV="false" rot="0">
              <a:off x="0" y="0"/>
              <a:ext cx="12435840" cy="1463040"/>
            </a:xfrm>
            <a:custGeom>
              <a:avLst/>
              <a:gdLst/>
              <a:ahLst/>
              <a:cxnLst/>
              <a:rect r="r" b="b" t="t" l="l"/>
              <a:pathLst>
                <a:path h="1463040" w="12435840">
                  <a:moveTo>
                    <a:pt x="0" y="0"/>
                  </a:moveTo>
                  <a:lnTo>
                    <a:pt x="12435840" y="0"/>
                  </a:lnTo>
                  <a:lnTo>
                    <a:pt x="12435840" y="1463040"/>
                  </a:lnTo>
                  <a:lnTo>
                    <a:pt x="0" y="1463040"/>
                  </a:lnTo>
                  <a:close/>
                </a:path>
              </a:pathLst>
            </a:custGeom>
            <a:blipFill>
              <a:blip r:embed="rId2">
                <a:alphaModFix amt="0"/>
              </a:blip>
              <a:stretch>
                <a:fillRect l="0" t="-115622" r="0" b="-115622"/>
              </a:stretch>
            </a:blipFill>
          </p:spPr>
        </p:sp>
        <p:sp>
          <p:nvSpPr>
            <p:cNvPr name="TextBox 54" id="54"/>
            <p:cNvSpPr txBox="true"/>
            <p:nvPr/>
          </p:nvSpPr>
          <p:spPr>
            <a:xfrm>
              <a:off x="0" y="-28575"/>
              <a:ext cx="12435840" cy="149161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Idle-poll detection (5 empty polls) + atomic file replacement (os.replace) ensures downstream consumers never read a partially-written export.</a:t>
              </a:r>
            </a:p>
          </p:txBody>
        </p:sp>
      </p:grpSp>
      <p:grpSp>
        <p:nvGrpSpPr>
          <p:cNvPr name="Group 55" id="55"/>
          <p:cNvGrpSpPr/>
          <p:nvPr/>
        </p:nvGrpSpPr>
        <p:grpSpPr>
          <a:xfrm rot="0">
            <a:off x="11306175" y="2665095"/>
            <a:ext cx="6191250" cy="6465570"/>
            <a:chOff x="0" y="0"/>
            <a:chExt cx="8255000" cy="8620760"/>
          </a:xfrm>
        </p:grpSpPr>
        <p:sp>
          <p:nvSpPr>
            <p:cNvPr name="Freeform 56" id="56"/>
            <p:cNvSpPr/>
            <p:nvPr/>
          </p:nvSpPr>
          <p:spPr>
            <a:xfrm flipH="false" flipV="false" rot="0">
              <a:off x="0" y="0"/>
              <a:ext cx="8255000" cy="8620760"/>
            </a:xfrm>
            <a:custGeom>
              <a:avLst/>
              <a:gdLst/>
              <a:ahLst/>
              <a:cxnLst/>
              <a:rect r="r" b="b" t="t" l="l"/>
              <a:pathLst>
                <a:path h="8620760" w="8255000">
                  <a:moveTo>
                    <a:pt x="0" y="146812"/>
                  </a:moveTo>
                  <a:cubicBezTo>
                    <a:pt x="0" y="65659"/>
                    <a:pt x="65659" y="0"/>
                    <a:pt x="146812" y="0"/>
                  </a:cubicBezTo>
                  <a:lnTo>
                    <a:pt x="8108188" y="0"/>
                  </a:lnTo>
                  <a:cubicBezTo>
                    <a:pt x="8189341" y="0"/>
                    <a:pt x="8255000" y="65659"/>
                    <a:pt x="8255000" y="146812"/>
                  </a:cubicBezTo>
                  <a:lnTo>
                    <a:pt x="8255000" y="8473948"/>
                  </a:lnTo>
                  <a:cubicBezTo>
                    <a:pt x="8255000" y="8554974"/>
                    <a:pt x="8189341" y="8620760"/>
                    <a:pt x="8108188" y="8620760"/>
                  </a:cubicBezTo>
                  <a:lnTo>
                    <a:pt x="146812" y="8620760"/>
                  </a:lnTo>
                  <a:cubicBezTo>
                    <a:pt x="65659" y="8620760"/>
                    <a:pt x="0" y="8555101"/>
                    <a:pt x="0" y="8473948"/>
                  </a:cubicBezTo>
                  <a:close/>
                </a:path>
              </a:pathLst>
            </a:custGeom>
            <a:solidFill>
              <a:srgbClr val="0F2038"/>
            </a:solidFill>
            <a:ln w="19050" cap="sq">
              <a:solidFill>
                <a:srgbClr val="1E3358"/>
              </a:solidFill>
              <a:prstDash val="solid"/>
              <a:miter/>
            </a:ln>
          </p:spPr>
        </p:sp>
      </p:grpSp>
      <p:grpSp>
        <p:nvGrpSpPr>
          <p:cNvPr name="Group 57" id="57"/>
          <p:cNvGrpSpPr/>
          <p:nvPr/>
        </p:nvGrpSpPr>
        <p:grpSpPr>
          <a:xfrm rot="0">
            <a:off x="11658600" y="2948940"/>
            <a:ext cx="5486400" cy="411480"/>
            <a:chOff x="0" y="0"/>
            <a:chExt cx="7315200" cy="548640"/>
          </a:xfrm>
        </p:grpSpPr>
        <p:sp>
          <p:nvSpPr>
            <p:cNvPr name="Freeform 58" id="58"/>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2">
                <a:alphaModFix amt="0"/>
              </a:blip>
              <a:stretch>
                <a:fillRect l="0" t="-209800" r="0" b="-209800"/>
              </a:stretch>
            </a:blipFill>
          </p:spPr>
        </p:sp>
        <p:sp>
          <p:nvSpPr>
            <p:cNvPr name="TextBox 59" id="59"/>
            <p:cNvSpPr txBox="true"/>
            <p:nvPr/>
          </p:nvSpPr>
          <p:spPr>
            <a:xfrm>
              <a:off x="0" y="-19050"/>
              <a:ext cx="7315200" cy="567690"/>
            </a:xfrm>
            <a:prstGeom prst="rect">
              <a:avLst/>
            </a:prstGeom>
          </p:spPr>
          <p:txBody>
            <a:bodyPr anchor="ctr" rtlCol="false" tIns="0" lIns="0" bIns="0" rIns="0"/>
            <a:lstStyle/>
            <a:p>
              <a:pPr algn="l">
                <a:lnSpc>
                  <a:spcPts val="1889"/>
                </a:lnSpc>
              </a:pPr>
              <a:r>
                <a:rPr lang="en-US" b="true" sz="1575" spc="150">
                  <a:solidFill>
                    <a:srgbClr val="00E5C7"/>
                  </a:solidFill>
                  <a:latin typeface="Calibri (MS) Bold"/>
                  <a:ea typeface="Calibri (MS) Bold"/>
                  <a:cs typeface="Calibri (MS) Bold"/>
                  <a:sym typeface="Calibri (MS) Bold"/>
                </a:rPr>
                <a:t>CONFIG PARAMETERS</a:t>
              </a:r>
            </a:p>
          </p:txBody>
        </p:sp>
      </p:grpSp>
      <p:grpSp>
        <p:nvGrpSpPr>
          <p:cNvPr name="Group 60" id="60"/>
          <p:cNvGrpSpPr/>
          <p:nvPr/>
        </p:nvGrpSpPr>
        <p:grpSpPr>
          <a:xfrm rot="0">
            <a:off x="11658600" y="3566160"/>
            <a:ext cx="4114800" cy="480060"/>
            <a:chOff x="0" y="0"/>
            <a:chExt cx="5486400" cy="640080"/>
          </a:xfrm>
        </p:grpSpPr>
        <p:sp>
          <p:nvSpPr>
            <p:cNvPr name="Freeform 61" id="61"/>
            <p:cNvSpPr/>
            <p:nvPr/>
          </p:nvSpPr>
          <p:spPr>
            <a:xfrm flipH="false" flipV="false" rot="0">
              <a:off x="0" y="0"/>
              <a:ext cx="5486400" cy="640080"/>
            </a:xfrm>
            <a:custGeom>
              <a:avLst/>
              <a:gdLst/>
              <a:ahLst/>
              <a:cxnLst/>
              <a:rect r="r" b="b" t="t" l="l"/>
              <a:pathLst>
                <a:path h="640080" w="5486400">
                  <a:moveTo>
                    <a:pt x="0" y="0"/>
                  </a:moveTo>
                  <a:lnTo>
                    <a:pt x="5486400" y="0"/>
                  </a:lnTo>
                  <a:lnTo>
                    <a:pt x="5486400" y="640080"/>
                  </a:lnTo>
                  <a:lnTo>
                    <a:pt x="0" y="640080"/>
                  </a:lnTo>
                  <a:close/>
                </a:path>
              </a:pathLst>
            </a:custGeom>
            <a:blipFill>
              <a:blip r:embed="rId2">
                <a:alphaModFix amt="0"/>
              </a:blip>
              <a:stretch>
                <a:fillRect l="0" t="-117014" r="0" b="-117014"/>
              </a:stretch>
            </a:blipFill>
          </p:spPr>
        </p:sp>
        <p:sp>
          <p:nvSpPr>
            <p:cNvPr name="TextBox 62" id="62"/>
            <p:cNvSpPr txBox="true"/>
            <p:nvPr/>
          </p:nvSpPr>
          <p:spPr>
            <a:xfrm>
              <a:off x="0" y="-28575"/>
              <a:ext cx="5486400" cy="668655"/>
            </a:xfrm>
            <a:prstGeom prst="rect">
              <a:avLst/>
            </a:prstGeom>
          </p:spPr>
          <p:txBody>
            <a:bodyPr anchor="ctr" rtlCol="false" tIns="0" lIns="0" bIns="0" rIns="0"/>
            <a:lstStyle/>
            <a:p>
              <a:pPr algn="l">
                <a:lnSpc>
                  <a:spcPts val="1889"/>
                </a:lnSpc>
              </a:pPr>
              <a:r>
                <a:rPr lang="en-US" sz="1575">
                  <a:solidFill>
                    <a:srgbClr val="FFFFFF"/>
                  </a:solidFill>
                  <a:latin typeface="Consolas"/>
                  <a:ea typeface="Consolas"/>
                  <a:cs typeface="Consolas"/>
                  <a:sym typeface="Consolas"/>
                </a:rPr>
                <a:t>KAFKA_IDLE_POLLS_LIMIT</a:t>
              </a:r>
            </a:p>
          </p:txBody>
        </p:sp>
      </p:grpSp>
      <p:grpSp>
        <p:nvGrpSpPr>
          <p:cNvPr name="Group 63" id="63"/>
          <p:cNvGrpSpPr/>
          <p:nvPr/>
        </p:nvGrpSpPr>
        <p:grpSpPr>
          <a:xfrm rot="0">
            <a:off x="15636240" y="3566160"/>
            <a:ext cx="1645920" cy="480060"/>
            <a:chOff x="0" y="0"/>
            <a:chExt cx="2194560" cy="640080"/>
          </a:xfrm>
        </p:grpSpPr>
        <p:sp>
          <p:nvSpPr>
            <p:cNvPr name="Freeform 64" id="64"/>
            <p:cNvSpPr/>
            <p:nvPr/>
          </p:nvSpPr>
          <p:spPr>
            <a:xfrm flipH="false" flipV="false" rot="0">
              <a:off x="0" y="0"/>
              <a:ext cx="2194560" cy="640080"/>
            </a:xfrm>
            <a:custGeom>
              <a:avLst/>
              <a:gdLst/>
              <a:ahLst/>
              <a:cxnLst/>
              <a:rect r="r" b="b" t="t" l="l"/>
              <a:pathLst>
                <a:path h="640080" w="2194560">
                  <a:moveTo>
                    <a:pt x="0" y="0"/>
                  </a:moveTo>
                  <a:lnTo>
                    <a:pt x="2194560" y="0"/>
                  </a:lnTo>
                  <a:lnTo>
                    <a:pt x="2194560" y="640080"/>
                  </a:lnTo>
                  <a:lnTo>
                    <a:pt x="0" y="640080"/>
                  </a:lnTo>
                  <a:close/>
                </a:path>
              </a:pathLst>
            </a:custGeom>
            <a:blipFill>
              <a:blip r:embed="rId2">
                <a:alphaModFix amt="0"/>
              </a:blip>
              <a:stretch>
                <a:fillRect l="0" t="-16805" r="0" b="-16805"/>
              </a:stretch>
            </a:blipFill>
          </p:spPr>
        </p:sp>
        <p:sp>
          <p:nvSpPr>
            <p:cNvPr name="TextBox 65" id="65"/>
            <p:cNvSpPr txBox="true"/>
            <p:nvPr/>
          </p:nvSpPr>
          <p:spPr>
            <a:xfrm>
              <a:off x="0" y="-28575"/>
              <a:ext cx="2194560" cy="668655"/>
            </a:xfrm>
            <a:prstGeom prst="rect">
              <a:avLst/>
            </a:prstGeom>
          </p:spPr>
          <p:txBody>
            <a:bodyPr anchor="ctr" rtlCol="false" tIns="0" lIns="0" bIns="0" rIns="0"/>
            <a:lstStyle/>
            <a:p>
              <a:pPr algn="r">
                <a:lnSpc>
                  <a:spcPts val="1889"/>
                </a:lnSpc>
              </a:pPr>
              <a:r>
                <a:rPr lang="en-US" sz="1575" b="true">
                  <a:solidFill>
                    <a:srgbClr val="00E5C7"/>
                  </a:solidFill>
                  <a:latin typeface="Consolas Bold"/>
                  <a:ea typeface="Consolas Bold"/>
                  <a:cs typeface="Consolas Bold"/>
                  <a:sym typeface="Consolas Bold"/>
                </a:rPr>
                <a:t>5</a:t>
              </a:r>
            </a:p>
          </p:txBody>
        </p:sp>
      </p:grpSp>
      <p:sp>
        <p:nvSpPr>
          <p:cNvPr name="AutoShape 66" id="66"/>
          <p:cNvSpPr/>
          <p:nvPr/>
        </p:nvSpPr>
        <p:spPr>
          <a:xfrm rot="8580">
            <a:off x="11651447" y="4137469"/>
            <a:ext cx="5706447" cy="0"/>
          </a:xfrm>
          <a:prstGeom prst="line">
            <a:avLst/>
          </a:prstGeom>
          <a:ln cap="rnd" w="9525">
            <a:solidFill>
              <a:srgbClr val="1E3358"/>
            </a:solidFill>
            <a:prstDash val="solid"/>
            <a:headEnd type="none" len="sm" w="sm"/>
            <a:tailEnd type="none" len="sm" w="sm"/>
          </a:ln>
        </p:spPr>
      </p:sp>
      <p:grpSp>
        <p:nvGrpSpPr>
          <p:cNvPr name="Group 67" id="67"/>
          <p:cNvGrpSpPr/>
          <p:nvPr/>
        </p:nvGrpSpPr>
        <p:grpSpPr>
          <a:xfrm rot="0">
            <a:off x="11658600" y="4416552"/>
            <a:ext cx="4114800" cy="480060"/>
            <a:chOff x="0" y="0"/>
            <a:chExt cx="5486400" cy="640080"/>
          </a:xfrm>
        </p:grpSpPr>
        <p:sp>
          <p:nvSpPr>
            <p:cNvPr name="Freeform 68" id="68"/>
            <p:cNvSpPr/>
            <p:nvPr/>
          </p:nvSpPr>
          <p:spPr>
            <a:xfrm flipH="false" flipV="false" rot="0">
              <a:off x="0" y="0"/>
              <a:ext cx="5486400" cy="640080"/>
            </a:xfrm>
            <a:custGeom>
              <a:avLst/>
              <a:gdLst/>
              <a:ahLst/>
              <a:cxnLst/>
              <a:rect r="r" b="b" t="t" l="l"/>
              <a:pathLst>
                <a:path h="640080" w="5486400">
                  <a:moveTo>
                    <a:pt x="0" y="0"/>
                  </a:moveTo>
                  <a:lnTo>
                    <a:pt x="5486400" y="0"/>
                  </a:lnTo>
                  <a:lnTo>
                    <a:pt x="5486400" y="640080"/>
                  </a:lnTo>
                  <a:lnTo>
                    <a:pt x="0" y="640080"/>
                  </a:lnTo>
                  <a:close/>
                </a:path>
              </a:pathLst>
            </a:custGeom>
            <a:blipFill>
              <a:blip r:embed="rId2">
                <a:alphaModFix amt="0"/>
              </a:blip>
              <a:stretch>
                <a:fillRect l="0" t="-117014" r="0" b="-117014"/>
              </a:stretch>
            </a:blipFill>
          </p:spPr>
        </p:sp>
        <p:sp>
          <p:nvSpPr>
            <p:cNvPr name="TextBox 69" id="69"/>
            <p:cNvSpPr txBox="true"/>
            <p:nvPr/>
          </p:nvSpPr>
          <p:spPr>
            <a:xfrm>
              <a:off x="0" y="-28575"/>
              <a:ext cx="5486400" cy="668655"/>
            </a:xfrm>
            <a:prstGeom prst="rect">
              <a:avLst/>
            </a:prstGeom>
          </p:spPr>
          <p:txBody>
            <a:bodyPr anchor="ctr" rtlCol="false" tIns="0" lIns="0" bIns="0" rIns="0"/>
            <a:lstStyle/>
            <a:p>
              <a:pPr algn="l">
                <a:lnSpc>
                  <a:spcPts val="1889"/>
                </a:lnSpc>
              </a:pPr>
              <a:r>
                <a:rPr lang="en-US" sz="1575">
                  <a:solidFill>
                    <a:srgbClr val="FFFFFF"/>
                  </a:solidFill>
                  <a:latin typeface="Consolas"/>
                  <a:ea typeface="Consolas"/>
                  <a:cs typeface="Consolas"/>
                  <a:sym typeface="Consolas"/>
                </a:rPr>
                <a:t>KAFKA_IDLE_TIMEOUT_S</a:t>
              </a:r>
            </a:p>
          </p:txBody>
        </p:sp>
      </p:grpSp>
      <p:grpSp>
        <p:nvGrpSpPr>
          <p:cNvPr name="Group 70" id="70"/>
          <p:cNvGrpSpPr/>
          <p:nvPr/>
        </p:nvGrpSpPr>
        <p:grpSpPr>
          <a:xfrm rot="0">
            <a:off x="15636240" y="4416552"/>
            <a:ext cx="1645920" cy="480060"/>
            <a:chOff x="0" y="0"/>
            <a:chExt cx="2194560" cy="640080"/>
          </a:xfrm>
        </p:grpSpPr>
        <p:sp>
          <p:nvSpPr>
            <p:cNvPr name="Freeform 71" id="71"/>
            <p:cNvSpPr/>
            <p:nvPr/>
          </p:nvSpPr>
          <p:spPr>
            <a:xfrm flipH="false" flipV="false" rot="0">
              <a:off x="0" y="0"/>
              <a:ext cx="2194560" cy="640080"/>
            </a:xfrm>
            <a:custGeom>
              <a:avLst/>
              <a:gdLst/>
              <a:ahLst/>
              <a:cxnLst/>
              <a:rect r="r" b="b" t="t" l="l"/>
              <a:pathLst>
                <a:path h="640080" w="2194560">
                  <a:moveTo>
                    <a:pt x="0" y="0"/>
                  </a:moveTo>
                  <a:lnTo>
                    <a:pt x="2194560" y="0"/>
                  </a:lnTo>
                  <a:lnTo>
                    <a:pt x="2194560" y="640080"/>
                  </a:lnTo>
                  <a:lnTo>
                    <a:pt x="0" y="640080"/>
                  </a:lnTo>
                  <a:close/>
                </a:path>
              </a:pathLst>
            </a:custGeom>
            <a:blipFill>
              <a:blip r:embed="rId2">
                <a:alphaModFix amt="0"/>
              </a:blip>
              <a:stretch>
                <a:fillRect l="0" t="-16805" r="0" b="-16805"/>
              </a:stretch>
            </a:blipFill>
          </p:spPr>
        </p:sp>
        <p:sp>
          <p:nvSpPr>
            <p:cNvPr name="TextBox 72" id="72"/>
            <p:cNvSpPr txBox="true"/>
            <p:nvPr/>
          </p:nvSpPr>
          <p:spPr>
            <a:xfrm>
              <a:off x="0" y="-28575"/>
              <a:ext cx="2194560" cy="668655"/>
            </a:xfrm>
            <a:prstGeom prst="rect">
              <a:avLst/>
            </a:prstGeom>
          </p:spPr>
          <p:txBody>
            <a:bodyPr anchor="ctr" rtlCol="false" tIns="0" lIns="0" bIns="0" rIns="0"/>
            <a:lstStyle/>
            <a:p>
              <a:pPr algn="r">
                <a:lnSpc>
                  <a:spcPts val="1889"/>
                </a:lnSpc>
              </a:pPr>
              <a:r>
                <a:rPr lang="en-US" sz="1575" b="true">
                  <a:solidFill>
                    <a:srgbClr val="00E5C7"/>
                  </a:solidFill>
                  <a:latin typeface="Consolas Bold"/>
                  <a:ea typeface="Consolas Bold"/>
                  <a:cs typeface="Consolas Bold"/>
                  <a:sym typeface="Consolas Bold"/>
                </a:rPr>
                <a:t>120s</a:t>
              </a:r>
            </a:p>
          </p:txBody>
        </p:sp>
      </p:grpSp>
      <p:sp>
        <p:nvSpPr>
          <p:cNvPr name="AutoShape 73" id="73"/>
          <p:cNvSpPr/>
          <p:nvPr/>
        </p:nvSpPr>
        <p:spPr>
          <a:xfrm rot="8580">
            <a:off x="11651447" y="4987862"/>
            <a:ext cx="5706447" cy="0"/>
          </a:xfrm>
          <a:prstGeom prst="line">
            <a:avLst/>
          </a:prstGeom>
          <a:ln cap="rnd" w="9525">
            <a:solidFill>
              <a:srgbClr val="1E3358"/>
            </a:solidFill>
            <a:prstDash val="solid"/>
            <a:headEnd type="none" len="sm" w="sm"/>
            <a:tailEnd type="none" len="sm" w="sm"/>
          </a:ln>
        </p:spPr>
      </p:sp>
      <p:grpSp>
        <p:nvGrpSpPr>
          <p:cNvPr name="Group 74" id="74"/>
          <p:cNvGrpSpPr/>
          <p:nvPr/>
        </p:nvGrpSpPr>
        <p:grpSpPr>
          <a:xfrm rot="0">
            <a:off x="11658600" y="5266944"/>
            <a:ext cx="4114800" cy="480060"/>
            <a:chOff x="0" y="0"/>
            <a:chExt cx="5486400" cy="640080"/>
          </a:xfrm>
        </p:grpSpPr>
        <p:sp>
          <p:nvSpPr>
            <p:cNvPr name="Freeform 75" id="75"/>
            <p:cNvSpPr/>
            <p:nvPr/>
          </p:nvSpPr>
          <p:spPr>
            <a:xfrm flipH="false" flipV="false" rot="0">
              <a:off x="0" y="0"/>
              <a:ext cx="5486400" cy="640080"/>
            </a:xfrm>
            <a:custGeom>
              <a:avLst/>
              <a:gdLst/>
              <a:ahLst/>
              <a:cxnLst/>
              <a:rect r="r" b="b" t="t" l="l"/>
              <a:pathLst>
                <a:path h="640080" w="5486400">
                  <a:moveTo>
                    <a:pt x="0" y="0"/>
                  </a:moveTo>
                  <a:lnTo>
                    <a:pt x="5486400" y="0"/>
                  </a:lnTo>
                  <a:lnTo>
                    <a:pt x="5486400" y="640080"/>
                  </a:lnTo>
                  <a:lnTo>
                    <a:pt x="0" y="640080"/>
                  </a:lnTo>
                  <a:close/>
                </a:path>
              </a:pathLst>
            </a:custGeom>
            <a:blipFill>
              <a:blip r:embed="rId2">
                <a:alphaModFix amt="0"/>
              </a:blip>
              <a:stretch>
                <a:fillRect l="0" t="-117014" r="0" b="-117014"/>
              </a:stretch>
            </a:blipFill>
          </p:spPr>
        </p:sp>
        <p:sp>
          <p:nvSpPr>
            <p:cNvPr name="TextBox 76" id="76"/>
            <p:cNvSpPr txBox="true"/>
            <p:nvPr/>
          </p:nvSpPr>
          <p:spPr>
            <a:xfrm>
              <a:off x="0" y="-28575"/>
              <a:ext cx="5486400" cy="668655"/>
            </a:xfrm>
            <a:prstGeom prst="rect">
              <a:avLst/>
            </a:prstGeom>
          </p:spPr>
          <p:txBody>
            <a:bodyPr anchor="ctr" rtlCol="false" tIns="0" lIns="0" bIns="0" rIns="0"/>
            <a:lstStyle/>
            <a:p>
              <a:pPr algn="l">
                <a:lnSpc>
                  <a:spcPts val="1889"/>
                </a:lnSpc>
              </a:pPr>
              <a:r>
                <a:rPr lang="en-US" sz="1575">
                  <a:solidFill>
                    <a:srgbClr val="FFFFFF"/>
                  </a:solidFill>
                  <a:latin typeface="Consolas"/>
                  <a:ea typeface="Consolas"/>
                  <a:cs typeface="Consolas"/>
                  <a:sym typeface="Consolas"/>
                </a:rPr>
                <a:t>KAFKA_POLL_TIMEOUT_MS</a:t>
              </a:r>
            </a:p>
          </p:txBody>
        </p:sp>
      </p:grpSp>
      <p:grpSp>
        <p:nvGrpSpPr>
          <p:cNvPr name="Group 77" id="77"/>
          <p:cNvGrpSpPr/>
          <p:nvPr/>
        </p:nvGrpSpPr>
        <p:grpSpPr>
          <a:xfrm rot="0">
            <a:off x="15636240" y="5266944"/>
            <a:ext cx="1645920" cy="480060"/>
            <a:chOff x="0" y="0"/>
            <a:chExt cx="2194560" cy="640080"/>
          </a:xfrm>
        </p:grpSpPr>
        <p:sp>
          <p:nvSpPr>
            <p:cNvPr name="Freeform 78" id="78"/>
            <p:cNvSpPr/>
            <p:nvPr/>
          </p:nvSpPr>
          <p:spPr>
            <a:xfrm flipH="false" flipV="false" rot="0">
              <a:off x="0" y="0"/>
              <a:ext cx="2194560" cy="640080"/>
            </a:xfrm>
            <a:custGeom>
              <a:avLst/>
              <a:gdLst/>
              <a:ahLst/>
              <a:cxnLst/>
              <a:rect r="r" b="b" t="t" l="l"/>
              <a:pathLst>
                <a:path h="640080" w="2194560">
                  <a:moveTo>
                    <a:pt x="0" y="0"/>
                  </a:moveTo>
                  <a:lnTo>
                    <a:pt x="2194560" y="0"/>
                  </a:lnTo>
                  <a:lnTo>
                    <a:pt x="2194560" y="640080"/>
                  </a:lnTo>
                  <a:lnTo>
                    <a:pt x="0" y="640080"/>
                  </a:lnTo>
                  <a:close/>
                </a:path>
              </a:pathLst>
            </a:custGeom>
            <a:blipFill>
              <a:blip r:embed="rId2">
                <a:alphaModFix amt="0"/>
              </a:blip>
              <a:stretch>
                <a:fillRect l="0" t="-16805" r="0" b="-16805"/>
              </a:stretch>
            </a:blipFill>
          </p:spPr>
        </p:sp>
        <p:sp>
          <p:nvSpPr>
            <p:cNvPr name="TextBox 79" id="79"/>
            <p:cNvSpPr txBox="true"/>
            <p:nvPr/>
          </p:nvSpPr>
          <p:spPr>
            <a:xfrm>
              <a:off x="0" y="-28575"/>
              <a:ext cx="2194560" cy="668655"/>
            </a:xfrm>
            <a:prstGeom prst="rect">
              <a:avLst/>
            </a:prstGeom>
          </p:spPr>
          <p:txBody>
            <a:bodyPr anchor="ctr" rtlCol="false" tIns="0" lIns="0" bIns="0" rIns="0"/>
            <a:lstStyle/>
            <a:p>
              <a:pPr algn="r">
                <a:lnSpc>
                  <a:spcPts val="1889"/>
                </a:lnSpc>
              </a:pPr>
              <a:r>
                <a:rPr lang="en-US" sz="1575" b="true">
                  <a:solidFill>
                    <a:srgbClr val="00E5C7"/>
                  </a:solidFill>
                  <a:latin typeface="Consolas Bold"/>
                  <a:ea typeface="Consolas Bold"/>
                  <a:cs typeface="Consolas Bold"/>
                  <a:sym typeface="Consolas Bold"/>
                </a:rPr>
                <a:t>5000ms</a:t>
              </a:r>
            </a:p>
          </p:txBody>
        </p:sp>
      </p:grpSp>
      <p:sp>
        <p:nvSpPr>
          <p:cNvPr name="AutoShape 80" id="80"/>
          <p:cNvSpPr/>
          <p:nvPr/>
        </p:nvSpPr>
        <p:spPr>
          <a:xfrm rot="8580">
            <a:off x="11651447" y="5838254"/>
            <a:ext cx="5706447" cy="0"/>
          </a:xfrm>
          <a:prstGeom prst="line">
            <a:avLst/>
          </a:prstGeom>
          <a:ln cap="rnd" w="9525">
            <a:solidFill>
              <a:srgbClr val="1E3358"/>
            </a:solidFill>
            <a:prstDash val="solid"/>
            <a:headEnd type="none" len="sm" w="sm"/>
            <a:tailEnd type="none" len="sm" w="sm"/>
          </a:ln>
        </p:spPr>
      </p:sp>
      <p:grpSp>
        <p:nvGrpSpPr>
          <p:cNvPr name="Group 81" id="81"/>
          <p:cNvGrpSpPr/>
          <p:nvPr/>
        </p:nvGrpSpPr>
        <p:grpSpPr>
          <a:xfrm rot="0">
            <a:off x="11658600" y="6117336"/>
            <a:ext cx="4114800" cy="480060"/>
            <a:chOff x="0" y="0"/>
            <a:chExt cx="5486400" cy="640080"/>
          </a:xfrm>
        </p:grpSpPr>
        <p:sp>
          <p:nvSpPr>
            <p:cNvPr name="Freeform 82" id="82"/>
            <p:cNvSpPr/>
            <p:nvPr/>
          </p:nvSpPr>
          <p:spPr>
            <a:xfrm flipH="false" flipV="false" rot="0">
              <a:off x="0" y="0"/>
              <a:ext cx="5486400" cy="640080"/>
            </a:xfrm>
            <a:custGeom>
              <a:avLst/>
              <a:gdLst/>
              <a:ahLst/>
              <a:cxnLst/>
              <a:rect r="r" b="b" t="t" l="l"/>
              <a:pathLst>
                <a:path h="640080" w="5486400">
                  <a:moveTo>
                    <a:pt x="0" y="0"/>
                  </a:moveTo>
                  <a:lnTo>
                    <a:pt x="5486400" y="0"/>
                  </a:lnTo>
                  <a:lnTo>
                    <a:pt x="5486400" y="640080"/>
                  </a:lnTo>
                  <a:lnTo>
                    <a:pt x="0" y="640080"/>
                  </a:lnTo>
                  <a:close/>
                </a:path>
              </a:pathLst>
            </a:custGeom>
            <a:blipFill>
              <a:blip r:embed="rId2">
                <a:alphaModFix amt="0"/>
              </a:blip>
              <a:stretch>
                <a:fillRect l="0" t="-117014" r="0" b="-117014"/>
              </a:stretch>
            </a:blipFill>
          </p:spPr>
        </p:sp>
        <p:sp>
          <p:nvSpPr>
            <p:cNvPr name="TextBox 83" id="83"/>
            <p:cNvSpPr txBox="true"/>
            <p:nvPr/>
          </p:nvSpPr>
          <p:spPr>
            <a:xfrm>
              <a:off x="0" y="-28575"/>
              <a:ext cx="5486400" cy="668655"/>
            </a:xfrm>
            <a:prstGeom prst="rect">
              <a:avLst/>
            </a:prstGeom>
          </p:spPr>
          <p:txBody>
            <a:bodyPr anchor="ctr" rtlCol="false" tIns="0" lIns="0" bIns="0" rIns="0"/>
            <a:lstStyle/>
            <a:p>
              <a:pPr algn="l">
                <a:lnSpc>
                  <a:spcPts val="1889"/>
                </a:lnSpc>
              </a:pPr>
              <a:r>
                <a:rPr lang="en-US" sz="1575">
                  <a:solidFill>
                    <a:srgbClr val="FFFFFF"/>
                  </a:solidFill>
                  <a:latin typeface="Consolas"/>
                  <a:ea typeface="Consolas"/>
                  <a:cs typeface="Consolas"/>
                  <a:sym typeface="Consolas"/>
                </a:rPr>
                <a:t>EXPORT_APPEND</a:t>
              </a:r>
            </a:p>
          </p:txBody>
        </p:sp>
      </p:grpSp>
      <p:grpSp>
        <p:nvGrpSpPr>
          <p:cNvPr name="Group 84" id="84"/>
          <p:cNvGrpSpPr/>
          <p:nvPr/>
        </p:nvGrpSpPr>
        <p:grpSpPr>
          <a:xfrm rot="0">
            <a:off x="15636240" y="6117336"/>
            <a:ext cx="1645920" cy="480060"/>
            <a:chOff x="0" y="0"/>
            <a:chExt cx="2194560" cy="640080"/>
          </a:xfrm>
        </p:grpSpPr>
        <p:sp>
          <p:nvSpPr>
            <p:cNvPr name="Freeform 85" id="85"/>
            <p:cNvSpPr/>
            <p:nvPr/>
          </p:nvSpPr>
          <p:spPr>
            <a:xfrm flipH="false" flipV="false" rot="0">
              <a:off x="0" y="0"/>
              <a:ext cx="2194560" cy="640080"/>
            </a:xfrm>
            <a:custGeom>
              <a:avLst/>
              <a:gdLst/>
              <a:ahLst/>
              <a:cxnLst/>
              <a:rect r="r" b="b" t="t" l="l"/>
              <a:pathLst>
                <a:path h="640080" w="2194560">
                  <a:moveTo>
                    <a:pt x="0" y="0"/>
                  </a:moveTo>
                  <a:lnTo>
                    <a:pt x="2194560" y="0"/>
                  </a:lnTo>
                  <a:lnTo>
                    <a:pt x="2194560" y="640080"/>
                  </a:lnTo>
                  <a:lnTo>
                    <a:pt x="0" y="640080"/>
                  </a:lnTo>
                  <a:close/>
                </a:path>
              </a:pathLst>
            </a:custGeom>
            <a:blipFill>
              <a:blip r:embed="rId2">
                <a:alphaModFix amt="0"/>
              </a:blip>
              <a:stretch>
                <a:fillRect l="0" t="-16805" r="0" b="-16805"/>
              </a:stretch>
            </a:blipFill>
          </p:spPr>
        </p:sp>
        <p:sp>
          <p:nvSpPr>
            <p:cNvPr name="TextBox 86" id="86"/>
            <p:cNvSpPr txBox="true"/>
            <p:nvPr/>
          </p:nvSpPr>
          <p:spPr>
            <a:xfrm>
              <a:off x="0" y="-28575"/>
              <a:ext cx="2194560" cy="668655"/>
            </a:xfrm>
            <a:prstGeom prst="rect">
              <a:avLst/>
            </a:prstGeom>
          </p:spPr>
          <p:txBody>
            <a:bodyPr anchor="ctr" rtlCol="false" tIns="0" lIns="0" bIns="0" rIns="0"/>
            <a:lstStyle/>
            <a:p>
              <a:pPr algn="r">
                <a:lnSpc>
                  <a:spcPts val="1889"/>
                </a:lnSpc>
              </a:pPr>
              <a:r>
                <a:rPr lang="en-US" sz="1575" b="true">
                  <a:solidFill>
                    <a:srgbClr val="00E5C7"/>
                  </a:solidFill>
                  <a:latin typeface="Consolas Bold"/>
                  <a:ea typeface="Consolas Bold"/>
                  <a:cs typeface="Consolas Bold"/>
                  <a:sym typeface="Consolas Bold"/>
                </a:rPr>
                <a:t>false (default)</a:t>
              </a:r>
            </a:p>
          </p:txBody>
        </p:sp>
      </p:grpSp>
      <p:sp>
        <p:nvSpPr>
          <p:cNvPr name="AutoShape 87" id="87"/>
          <p:cNvSpPr/>
          <p:nvPr/>
        </p:nvSpPr>
        <p:spPr>
          <a:xfrm rot="8580">
            <a:off x="11651447" y="6688646"/>
            <a:ext cx="5706447" cy="0"/>
          </a:xfrm>
          <a:prstGeom prst="line">
            <a:avLst/>
          </a:prstGeom>
          <a:ln cap="rnd" w="9525">
            <a:solidFill>
              <a:srgbClr val="1E3358"/>
            </a:solidFill>
            <a:prstDash val="solid"/>
            <a:headEnd type="none" len="sm" w="sm"/>
            <a:tailEnd type="none" len="sm" w="sm"/>
          </a:ln>
        </p:spPr>
      </p:sp>
      <p:grpSp>
        <p:nvGrpSpPr>
          <p:cNvPr name="Group 88" id="88"/>
          <p:cNvGrpSpPr/>
          <p:nvPr/>
        </p:nvGrpSpPr>
        <p:grpSpPr>
          <a:xfrm rot="0">
            <a:off x="685800" y="9710928"/>
            <a:ext cx="10972800" cy="411480"/>
            <a:chOff x="0" y="0"/>
            <a:chExt cx="14630400" cy="548640"/>
          </a:xfrm>
        </p:grpSpPr>
        <p:sp>
          <p:nvSpPr>
            <p:cNvPr name="Freeform 89" id="89"/>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90" id="90"/>
            <p:cNvSpPr txBox="true"/>
            <p:nvPr/>
          </p:nvSpPr>
          <p:spPr>
            <a:xfrm>
              <a:off x="0" y="-28575"/>
              <a:ext cx="14630400" cy="577215"/>
            </a:xfrm>
            <a:prstGeom prst="rect">
              <a:avLst/>
            </a:prstGeom>
          </p:spPr>
          <p:txBody>
            <a:bodyPr anchor="ctr" rtlCol="false" tIns="0" lIns="0" bIns="0" rIns="0"/>
            <a:lstStyle/>
            <a:p>
              <a:pPr algn="l">
                <a:lnSpc>
                  <a:spcPts val="1620"/>
                </a:lnSpc>
              </a:pPr>
              <a:r>
                <a:rPr lang="en-US" sz="1350" spc="149">
                  <a:solidFill>
                    <a:srgbClr val="6E84A6"/>
                  </a:solidFill>
                  <a:latin typeface="Calibri (MS)"/>
                  <a:ea typeface="Calibri (MS)"/>
                  <a:cs typeface="Calibri (MS)"/>
                  <a:sym typeface="Calibri (MS)"/>
                </a:rPr>
                <a:t>MLSECOPS PLATFORM · STREAMING &amp; DATA INGESTION</a:t>
              </a:r>
            </a:p>
          </p:txBody>
        </p:sp>
      </p:grpSp>
      <p:grpSp>
        <p:nvGrpSpPr>
          <p:cNvPr name="Group 91" id="91"/>
          <p:cNvGrpSpPr/>
          <p:nvPr/>
        </p:nvGrpSpPr>
        <p:grpSpPr>
          <a:xfrm rot="0">
            <a:off x="16500348" y="9710928"/>
            <a:ext cx="1097280" cy="411480"/>
            <a:chOff x="0" y="0"/>
            <a:chExt cx="1463040" cy="548640"/>
          </a:xfrm>
        </p:grpSpPr>
        <p:sp>
          <p:nvSpPr>
            <p:cNvPr name="Freeform 92" id="92"/>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93" id="93"/>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11 / 32</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STREAMING &amp; INGESTION</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3</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Soumia Zahir — Data Engineer</a:t>
              </a:r>
            </a:p>
          </p:txBody>
        </p:sp>
      </p:grpSp>
      <p:grpSp>
        <p:nvGrpSpPr>
          <p:cNvPr name="Group 11" id="11"/>
          <p:cNvGrpSpPr/>
          <p:nvPr/>
        </p:nvGrpSpPr>
        <p:grpSpPr>
          <a:xfrm rot="0">
            <a:off x="685800" y="0"/>
            <a:ext cx="16596360" cy="3516213"/>
            <a:chOff x="0" y="0"/>
            <a:chExt cx="22128480" cy="4688284"/>
          </a:xfrm>
        </p:grpSpPr>
        <p:sp>
          <p:nvSpPr>
            <p:cNvPr name="Freeform 12" id="12"/>
            <p:cNvSpPr/>
            <p:nvPr/>
          </p:nvSpPr>
          <p:spPr>
            <a:xfrm flipH="false" flipV="false" rot="0">
              <a:off x="0" y="0"/>
              <a:ext cx="22128480" cy="4688284"/>
            </a:xfrm>
            <a:custGeom>
              <a:avLst/>
              <a:gdLst/>
              <a:ahLst/>
              <a:cxnLst/>
              <a:rect r="r" b="b" t="t" l="l"/>
              <a:pathLst>
                <a:path h="4688284" w="22128480">
                  <a:moveTo>
                    <a:pt x="0" y="0"/>
                  </a:moveTo>
                  <a:lnTo>
                    <a:pt x="22128480" y="0"/>
                  </a:lnTo>
                  <a:lnTo>
                    <a:pt x="22128480" y="4688284"/>
                  </a:lnTo>
                  <a:lnTo>
                    <a:pt x="0" y="4688284"/>
                  </a:lnTo>
                  <a:close/>
                </a:path>
              </a:pathLst>
            </a:custGeom>
            <a:blipFill>
              <a:blip r:embed="rId2">
                <a:alphaModFix amt="0"/>
              </a:blip>
              <a:stretch>
                <a:fillRect l="0" t="-73439" r="0" b="-10497"/>
              </a:stretch>
            </a:blipFill>
          </p:spPr>
        </p:sp>
        <p:sp>
          <p:nvSpPr>
            <p:cNvPr name="TextBox 13" id="13"/>
            <p:cNvSpPr txBox="true"/>
            <p:nvPr/>
          </p:nvSpPr>
          <p:spPr>
            <a:xfrm>
              <a:off x="0" y="-9525"/>
              <a:ext cx="22128480" cy="4697809"/>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Analyse de flux et exploration des fonctionnalités</a:t>
              </a:r>
            </a:p>
          </p:txBody>
        </p:sp>
      </p:grpSp>
      <p:grpSp>
        <p:nvGrpSpPr>
          <p:cNvPr name="Group 14" id="14"/>
          <p:cNvGrpSpPr/>
          <p:nvPr/>
        </p:nvGrpSpPr>
        <p:grpSpPr>
          <a:xfrm rot="0">
            <a:off x="822960" y="2400300"/>
            <a:ext cx="16184880" cy="685800"/>
            <a:chOff x="0" y="0"/>
            <a:chExt cx="21579840" cy="914400"/>
          </a:xfrm>
        </p:grpSpPr>
        <p:sp>
          <p:nvSpPr>
            <p:cNvPr name="Freeform 15" id="15"/>
            <p:cNvSpPr/>
            <p:nvPr/>
          </p:nvSpPr>
          <p:spPr>
            <a:xfrm flipH="false" flipV="false" rot="0">
              <a:off x="0" y="0"/>
              <a:ext cx="21579839" cy="914400"/>
            </a:xfrm>
            <a:custGeom>
              <a:avLst/>
              <a:gdLst/>
              <a:ahLst/>
              <a:cxnLst/>
              <a:rect r="r" b="b" t="t" l="l"/>
              <a:pathLst>
                <a:path h="914400" w="21579839">
                  <a:moveTo>
                    <a:pt x="0" y="0"/>
                  </a:moveTo>
                  <a:lnTo>
                    <a:pt x="21579839" y="0"/>
                  </a:lnTo>
                  <a:lnTo>
                    <a:pt x="21579839" y="914400"/>
                  </a:lnTo>
                  <a:lnTo>
                    <a:pt x="0" y="914400"/>
                  </a:lnTo>
                  <a:close/>
                </a:path>
              </a:pathLst>
            </a:custGeom>
            <a:blipFill>
              <a:blip r:embed="rId2">
                <a:alphaModFix amt="0"/>
              </a:blip>
              <a:stretch>
                <a:fillRect l="0" t="-409846" r="0" b="-409846"/>
              </a:stretch>
            </a:blipFill>
          </p:spPr>
        </p:sp>
        <p:sp>
          <p:nvSpPr>
            <p:cNvPr name="TextBox 16" id="16"/>
            <p:cNvSpPr txBox="true"/>
            <p:nvPr/>
          </p:nvSpPr>
          <p:spPr>
            <a:xfrm>
              <a:off x="0" y="-47625"/>
              <a:ext cx="21579840" cy="962025"/>
            </a:xfrm>
            <a:prstGeom prst="rect">
              <a:avLst/>
            </a:prstGeom>
          </p:spPr>
          <p:txBody>
            <a:bodyPr anchor="ctr" rtlCol="false" tIns="0" lIns="0" bIns="0" rIns="0"/>
            <a:lstStyle/>
            <a:p>
              <a:pPr algn="l">
                <a:lnSpc>
                  <a:spcPts val="2340"/>
                </a:lnSpc>
              </a:pPr>
              <a:r>
                <a:rPr lang="en-US" sz="1950" i="true">
                  <a:solidFill>
                    <a:srgbClr val="9FB0C9"/>
                  </a:solidFill>
                  <a:latin typeface="Calibri (MS) Italics"/>
                  <a:ea typeface="Calibri (MS) Italics"/>
                  <a:cs typeface="Calibri (MS) Italics"/>
                  <a:sym typeface="Calibri (MS) Italics"/>
                </a:rPr>
                <a:t>Analyse e</a:t>
              </a:r>
              <a:r>
                <a:rPr lang="en-US" sz="1950" i="true">
                  <a:solidFill>
                    <a:srgbClr val="9FB0C9"/>
                  </a:solidFill>
                  <a:latin typeface="Calibri (MS) Italics"/>
                  <a:ea typeface="Calibri (MS) Italics"/>
                  <a:cs typeface="Calibri (MS) Italics"/>
                  <a:sym typeface="Calibri (MS) Italics"/>
                </a:rPr>
                <a:t>xploratoire du comportement du flux pendant les périodes d'attaques DDoS actives et d'attaques par force brute.</a:t>
              </a:r>
            </a:p>
          </p:txBody>
        </p:sp>
      </p:grpSp>
      <p:pic>
        <p:nvPicPr>
          <p:cNvPr name="Picture 17" id="17"/>
          <p:cNvPicPr>
            <a:picLocks noChangeAspect="true"/>
          </p:cNvPicPr>
          <p:nvPr/>
        </p:nvPicPr>
        <p:blipFill>
          <a:blip r:embed="rId3"/>
          <a:stretch>
            <a:fillRect/>
          </a:stretch>
        </p:blipFill>
        <p:spPr>
          <a:xfrm rot="0">
            <a:off x="-301752" y="2235708"/>
            <a:ext cx="12673584" cy="8078724"/>
          </a:xfrm>
          <a:prstGeom prst="rect">
            <a:avLst/>
          </a:prstGeom>
        </p:spPr>
      </p:pic>
      <p:grpSp>
        <p:nvGrpSpPr>
          <p:cNvPr name="Group 18" id="18"/>
          <p:cNvGrpSpPr/>
          <p:nvPr/>
        </p:nvGrpSpPr>
        <p:grpSpPr>
          <a:xfrm rot="0">
            <a:off x="11580495" y="3282315"/>
            <a:ext cx="5916930" cy="5985510"/>
            <a:chOff x="0" y="0"/>
            <a:chExt cx="7889240" cy="7980680"/>
          </a:xfrm>
        </p:grpSpPr>
        <p:sp>
          <p:nvSpPr>
            <p:cNvPr name="Freeform 19" id="19"/>
            <p:cNvSpPr/>
            <p:nvPr/>
          </p:nvSpPr>
          <p:spPr>
            <a:xfrm flipH="false" flipV="false" rot="0">
              <a:off x="0" y="0"/>
              <a:ext cx="7889240" cy="7980680"/>
            </a:xfrm>
            <a:custGeom>
              <a:avLst/>
              <a:gdLst/>
              <a:ahLst/>
              <a:cxnLst/>
              <a:rect r="r" b="b" t="t" l="l"/>
              <a:pathLst>
                <a:path h="7980680" w="7889240">
                  <a:moveTo>
                    <a:pt x="0" y="146685"/>
                  </a:moveTo>
                  <a:cubicBezTo>
                    <a:pt x="0" y="65659"/>
                    <a:pt x="65659" y="0"/>
                    <a:pt x="146685" y="0"/>
                  </a:cubicBezTo>
                  <a:lnTo>
                    <a:pt x="7742555" y="0"/>
                  </a:lnTo>
                  <a:cubicBezTo>
                    <a:pt x="7823581" y="0"/>
                    <a:pt x="7889240" y="65659"/>
                    <a:pt x="7889240" y="146685"/>
                  </a:cubicBezTo>
                  <a:lnTo>
                    <a:pt x="7889240" y="7833995"/>
                  </a:lnTo>
                  <a:cubicBezTo>
                    <a:pt x="7889240" y="7915021"/>
                    <a:pt x="7823581" y="7980680"/>
                    <a:pt x="7742555" y="7980680"/>
                  </a:cubicBezTo>
                  <a:lnTo>
                    <a:pt x="146685" y="7980680"/>
                  </a:lnTo>
                  <a:cubicBezTo>
                    <a:pt x="65659" y="7980680"/>
                    <a:pt x="0" y="7915021"/>
                    <a:pt x="0" y="7833995"/>
                  </a:cubicBezTo>
                  <a:close/>
                </a:path>
              </a:pathLst>
            </a:custGeom>
            <a:solidFill>
              <a:srgbClr val="13294A"/>
            </a:solidFill>
            <a:ln w="19050" cap="sq">
              <a:solidFill>
                <a:srgbClr val="1E3358"/>
              </a:solidFill>
              <a:prstDash val="solid"/>
              <a:miter/>
            </a:ln>
          </p:spPr>
        </p:sp>
      </p:grpSp>
      <p:grpSp>
        <p:nvGrpSpPr>
          <p:cNvPr name="Group 20" id="20"/>
          <p:cNvGrpSpPr/>
          <p:nvPr/>
        </p:nvGrpSpPr>
        <p:grpSpPr>
          <a:xfrm rot="0">
            <a:off x="11932920" y="3566160"/>
            <a:ext cx="5212080" cy="411480"/>
            <a:chOff x="0" y="0"/>
            <a:chExt cx="6949440" cy="548640"/>
          </a:xfrm>
        </p:grpSpPr>
        <p:sp>
          <p:nvSpPr>
            <p:cNvPr name="Freeform 21" id="21"/>
            <p:cNvSpPr/>
            <p:nvPr/>
          </p:nvSpPr>
          <p:spPr>
            <a:xfrm flipH="false" flipV="false" rot="0">
              <a:off x="0" y="0"/>
              <a:ext cx="6949440" cy="548640"/>
            </a:xfrm>
            <a:custGeom>
              <a:avLst/>
              <a:gdLst/>
              <a:ahLst/>
              <a:cxnLst/>
              <a:rect r="r" b="b" t="t" l="l"/>
              <a:pathLst>
                <a:path h="548640" w="6949440">
                  <a:moveTo>
                    <a:pt x="0" y="0"/>
                  </a:moveTo>
                  <a:lnTo>
                    <a:pt x="6949440" y="0"/>
                  </a:lnTo>
                  <a:lnTo>
                    <a:pt x="6949440" y="548640"/>
                  </a:lnTo>
                  <a:lnTo>
                    <a:pt x="0" y="548640"/>
                  </a:lnTo>
                  <a:close/>
                </a:path>
              </a:pathLst>
            </a:custGeom>
            <a:blipFill>
              <a:blip r:embed="rId2">
                <a:alphaModFix amt="0"/>
              </a:blip>
              <a:stretch>
                <a:fillRect l="0" t="-196810" r="0" b="-196810"/>
              </a:stretch>
            </a:blipFill>
          </p:spPr>
        </p:sp>
        <p:sp>
          <p:nvSpPr>
            <p:cNvPr name="TextBox 22" id="22"/>
            <p:cNvSpPr txBox="true"/>
            <p:nvPr/>
          </p:nvSpPr>
          <p:spPr>
            <a:xfrm>
              <a:off x="0" y="-19050"/>
              <a:ext cx="6949440" cy="567690"/>
            </a:xfrm>
            <a:prstGeom prst="rect">
              <a:avLst/>
            </a:prstGeom>
          </p:spPr>
          <p:txBody>
            <a:bodyPr anchor="ctr" rtlCol="false" tIns="0" lIns="0" bIns="0" rIns="0"/>
            <a:lstStyle/>
            <a:p>
              <a:pPr algn="l">
                <a:lnSpc>
                  <a:spcPts val="1889"/>
                </a:lnSpc>
              </a:pPr>
              <a:r>
                <a:rPr lang="en-US" b="true" sz="1575" spc="150">
                  <a:solidFill>
                    <a:srgbClr val="00E5C7"/>
                  </a:solidFill>
                  <a:latin typeface="Calibri (MS) Bold"/>
                  <a:ea typeface="Calibri (MS) Bold"/>
                  <a:cs typeface="Calibri (MS) Bold"/>
                  <a:sym typeface="Calibri (MS) Bold"/>
                </a:rPr>
                <a:t>RÉSULTATS</a:t>
              </a:r>
              <a:r>
                <a:rPr lang="en-US" b="true" sz="1575" spc="150">
                  <a:solidFill>
                    <a:srgbClr val="00E5C7"/>
                  </a:solidFill>
                  <a:latin typeface="Calibri (MS) Bold"/>
                  <a:ea typeface="Calibri (MS) Bold"/>
                  <a:cs typeface="Calibri (MS) Bold"/>
                  <a:sym typeface="Calibri (MS) Bold"/>
                </a:rPr>
                <a:t> CLÉS</a:t>
              </a:r>
            </a:p>
          </p:txBody>
        </p:sp>
      </p:grpSp>
      <p:sp>
        <p:nvSpPr>
          <p:cNvPr name="TextBox 23" id="23"/>
          <p:cNvSpPr txBox="true"/>
          <p:nvPr/>
        </p:nvSpPr>
        <p:spPr>
          <a:xfrm rot="0">
            <a:off x="11932920" y="4048125"/>
            <a:ext cx="5212080" cy="2684717"/>
          </a:xfrm>
          <a:prstGeom prst="rect">
            <a:avLst/>
          </a:prstGeom>
        </p:spPr>
        <p:txBody>
          <a:bodyPr anchor="t" rtlCol="false" tIns="0" lIns="0" bIns="0" rIns="0">
            <a:spAutoFit/>
          </a:bodyPr>
          <a:lstStyle/>
          <a:p>
            <a:pPr algn="l" marL="312182" indent="-156091" lvl="1">
              <a:lnSpc>
                <a:spcPts val="2380"/>
              </a:lnSpc>
              <a:buFont typeface="Arial"/>
              <a:buChar char="•"/>
            </a:pPr>
            <a:r>
              <a:rPr lang="en-US" sz="1725">
                <a:solidFill>
                  <a:srgbClr val="9FB0C9"/>
                </a:solidFill>
                <a:latin typeface="Calibri (MS)"/>
                <a:ea typeface="Calibri (MS)"/>
                <a:cs typeface="Calibri (MS)"/>
                <a:sym typeface="Calibri (MS)"/>
              </a:rPr>
              <a:t>L</a:t>
            </a:r>
            <a:r>
              <a:rPr lang="en-US" sz="1725">
                <a:solidFill>
                  <a:srgbClr val="9FB0C9"/>
                </a:solidFill>
                <a:latin typeface="Calibri (MS)"/>
                <a:ea typeface="Calibri (MS)"/>
                <a:cs typeface="Calibri (MS)"/>
                <a:sym typeface="Calibri (MS)"/>
              </a:rPr>
              <a:t>a longueur des paquets et le temps d'inter-arrivée montrent des schémas distincts lors des attaques par rapport au comportement normal.</a:t>
            </a:r>
          </a:p>
          <a:p>
            <a:pPr algn="l" marL="312182" indent="-156091" lvl="1">
              <a:lnSpc>
                <a:spcPts val="2380"/>
              </a:lnSpc>
              <a:buFont typeface="Arial"/>
              <a:buChar char="•"/>
            </a:pPr>
            <a:r>
              <a:rPr lang="en-US" sz="1725">
                <a:solidFill>
                  <a:srgbClr val="9FB0C9"/>
                </a:solidFill>
                <a:latin typeface="Calibri (MS)"/>
                <a:ea typeface="Calibri (MS)"/>
                <a:cs typeface="Calibri (MS)"/>
                <a:sym typeface="Calibri (MS)"/>
              </a:rPr>
              <a:t>Certaines plages de durée de flux sont dominées par le trafic d'attaque — un signal candidat fort.</a:t>
            </a:r>
          </a:p>
          <a:p>
            <a:pPr algn="l" marL="312182" indent="-156091" lvl="1">
              <a:lnSpc>
                <a:spcPts val="2380"/>
              </a:lnSpc>
              <a:buFont typeface="Arial"/>
              <a:buChar char="•"/>
            </a:pPr>
            <a:r>
              <a:rPr lang="en-US" sz="1725">
                <a:solidFill>
                  <a:srgbClr val="9FB0C9"/>
                </a:solidFill>
                <a:latin typeface="Calibri (MS)"/>
                <a:ea typeface="Calibri (MS)"/>
                <a:cs typeface="Calibri (MS)"/>
                <a:sym typeface="Calibri (MS)"/>
              </a:rPr>
              <a:t>L'EDA a directement guidé la sélection de 79 → 33 caractéristiques au Chapitre 4.</a:t>
            </a:r>
          </a:p>
          <a:p>
            <a:pPr algn="l" marL="312182" indent="-156091" lvl="1">
              <a:lnSpc>
                <a:spcPts val="2380"/>
              </a:lnSpc>
              <a:buFont typeface="Arial"/>
              <a:buChar char="•"/>
            </a:pPr>
            <a:r>
              <a:rPr lang="en-US" sz="1725">
                <a:solidFill>
                  <a:srgbClr val="9FB0C9"/>
                </a:solidFill>
                <a:latin typeface="Calibri (MS)"/>
                <a:ea typeface="Calibri (MS)"/>
                <a:cs typeface="Calibri (MS)"/>
                <a:sym typeface="Calibri (MS)"/>
              </a:rPr>
              <a:t>Les résultats sont consignés dans un carnet EDA dédié pour assurer la reproductibilité.</a:t>
            </a:r>
          </a:p>
        </p:txBody>
      </p:sp>
      <p:grpSp>
        <p:nvGrpSpPr>
          <p:cNvPr name="Group 24" id="24"/>
          <p:cNvGrpSpPr/>
          <p:nvPr/>
        </p:nvGrpSpPr>
        <p:grpSpPr>
          <a:xfrm rot="0">
            <a:off x="685800" y="9710928"/>
            <a:ext cx="10972800" cy="411480"/>
            <a:chOff x="0" y="0"/>
            <a:chExt cx="14630400" cy="548640"/>
          </a:xfrm>
        </p:grpSpPr>
        <p:sp>
          <p:nvSpPr>
            <p:cNvPr name="Freeform 25" id="2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26" id="26"/>
            <p:cNvSpPr txBox="true"/>
            <p:nvPr/>
          </p:nvSpPr>
          <p:spPr>
            <a:xfrm>
              <a:off x="0" y="-28575"/>
              <a:ext cx="14630400" cy="577215"/>
            </a:xfrm>
            <a:prstGeom prst="rect">
              <a:avLst/>
            </a:prstGeom>
          </p:spPr>
          <p:txBody>
            <a:bodyPr anchor="ctr" rtlCol="false" tIns="0" lIns="0" bIns="0" rIns="0"/>
            <a:lstStyle/>
            <a:p>
              <a:pPr algn="l">
                <a:lnSpc>
                  <a:spcPts val="1620"/>
                </a:lnSpc>
              </a:pPr>
              <a:r>
                <a:rPr lang="en-US" sz="1350" spc="149">
                  <a:solidFill>
                    <a:srgbClr val="6E84A6"/>
                  </a:solidFill>
                  <a:latin typeface="Calibri (MS)"/>
                  <a:ea typeface="Calibri (MS)"/>
                  <a:cs typeface="Calibri (MS)"/>
                  <a:sym typeface="Calibri (MS)"/>
                </a:rPr>
                <a:t>MLSECOPS PLATFORM · STREAMING &amp; DATA INGESTION</a:t>
              </a:r>
            </a:p>
          </p:txBody>
        </p:sp>
      </p:grpSp>
      <p:grpSp>
        <p:nvGrpSpPr>
          <p:cNvPr name="Group 27" id="27"/>
          <p:cNvGrpSpPr/>
          <p:nvPr/>
        </p:nvGrpSpPr>
        <p:grpSpPr>
          <a:xfrm rot="0">
            <a:off x="16500348" y="9710928"/>
            <a:ext cx="1097280" cy="411480"/>
            <a:chOff x="0" y="0"/>
            <a:chExt cx="1463040" cy="548640"/>
          </a:xfrm>
        </p:grpSpPr>
        <p:sp>
          <p:nvSpPr>
            <p:cNvPr name="Freeform 28" id="28"/>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29" id="29"/>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12 / 32</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marL="0" indent="0" lvl="0">
                <a:lnSpc>
                  <a:spcPts val="2250"/>
                </a:lnSpc>
                <a:spcBef>
                  <a:spcPct val="0"/>
                </a:spcBef>
              </a:pPr>
              <a:r>
                <a:rPr lang="en-US" b="true" sz="1875" spc="300" strike="noStrike" u="none">
                  <a:solidFill>
                    <a:srgbClr val="00E5C7"/>
                  </a:solidFill>
                  <a:latin typeface="Calibri (MS) Bold"/>
                  <a:ea typeface="Calibri (MS) Bold"/>
                  <a:cs typeface="Calibri (MS) Bold"/>
                  <a:sym typeface="Calibri (MS) Bold"/>
                </a:rPr>
                <a:t>QUALITÉ DES DONNÉES &amp; TESTS</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marL="0" indent="0" lvl="0">
                <a:lnSpc>
                  <a:spcPts val="1800"/>
                </a:lnSpc>
                <a:spcBef>
                  <a:spcPct val="0"/>
                </a:spcBef>
              </a:pPr>
              <a:r>
                <a:rPr lang="en-US" b="true" sz="1500" spc="225" strike="noStrike" u="none">
                  <a:solidFill>
                    <a:srgbClr val="00E5C7"/>
                  </a:solidFill>
                  <a:latin typeface="Calibri (MS) Bold"/>
                  <a:ea typeface="Calibri (MS) Bold"/>
                  <a:cs typeface="Calibri (MS) Bold"/>
                  <a:sym typeface="Calibri (MS) Bold"/>
                </a:rPr>
                <a:t>INTERVENANT 4</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marL="0" indent="0" lvl="0">
                <a:lnSpc>
                  <a:spcPts val="1889"/>
                </a:lnSpc>
                <a:spcBef>
                  <a:spcPct val="0"/>
                </a:spcBef>
              </a:pPr>
              <a:r>
                <a:rPr lang="en-US" sz="1575" strike="noStrike" u="none">
                  <a:solidFill>
                    <a:srgbClr val="9FB0C9"/>
                  </a:solidFill>
                  <a:latin typeface="Calibri (MS)"/>
                  <a:ea typeface="Calibri (MS)"/>
                  <a:cs typeface="Calibri (MS)"/>
                  <a:sym typeface="Calibri (MS)"/>
                </a:rPr>
                <a:t>Hamza Rbib — QA / Testeur</a:t>
              </a:r>
            </a:p>
          </p:txBody>
        </p:sp>
      </p:grpSp>
      <p:grpSp>
        <p:nvGrpSpPr>
          <p:cNvPr name="Group 11" id="11"/>
          <p:cNvGrpSpPr/>
          <p:nvPr/>
        </p:nvGrpSpPr>
        <p:grpSpPr>
          <a:xfrm rot="0">
            <a:off x="822960" y="493157"/>
            <a:ext cx="16596360" cy="3516213"/>
            <a:chOff x="0" y="0"/>
            <a:chExt cx="22128480" cy="4688284"/>
          </a:xfrm>
        </p:grpSpPr>
        <p:sp>
          <p:nvSpPr>
            <p:cNvPr name="Freeform 12" id="12"/>
            <p:cNvSpPr/>
            <p:nvPr/>
          </p:nvSpPr>
          <p:spPr>
            <a:xfrm flipH="false" flipV="false" rot="0">
              <a:off x="0" y="0"/>
              <a:ext cx="22128480" cy="4688284"/>
            </a:xfrm>
            <a:custGeom>
              <a:avLst/>
              <a:gdLst/>
              <a:ahLst/>
              <a:cxnLst/>
              <a:rect r="r" b="b" t="t" l="l"/>
              <a:pathLst>
                <a:path h="4688284" w="22128480">
                  <a:moveTo>
                    <a:pt x="0" y="0"/>
                  </a:moveTo>
                  <a:lnTo>
                    <a:pt x="22128480" y="0"/>
                  </a:lnTo>
                  <a:lnTo>
                    <a:pt x="22128480" y="4688284"/>
                  </a:lnTo>
                  <a:lnTo>
                    <a:pt x="0" y="4688284"/>
                  </a:lnTo>
                  <a:close/>
                </a:path>
              </a:pathLst>
            </a:custGeom>
            <a:blipFill>
              <a:blip r:embed="rId2">
                <a:alphaModFix amt="0"/>
              </a:blip>
              <a:stretch>
                <a:fillRect l="0" t="-73439" r="0" b="-10497"/>
              </a:stretch>
            </a:blipFill>
          </p:spPr>
        </p:sp>
        <p:sp>
          <p:nvSpPr>
            <p:cNvPr name="TextBox 13" id="13"/>
            <p:cNvSpPr txBox="true"/>
            <p:nvPr/>
          </p:nvSpPr>
          <p:spPr>
            <a:xfrm>
              <a:off x="0" y="-9525"/>
              <a:ext cx="22128480" cy="4697809"/>
            </a:xfrm>
            <a:prstGeom prst="rect">
              <a:avLst/>
            </a:prstGeom>
          </p:spPr>
          <p:txBody>
            <a:bodyPr anchor="ctr" rtlCol="false" tIns="0" lIns="0" bIns="0" rIns="0"/>
            <a:lstStyle/>
            <a:p>
              <a:pPr algn="l" marL="0" indent="0" lvl="0">
                <a:lnSpc>
                  <a:spcPts val="5759"/>
                </a:lnSpc>
                <a:spcBef>
                  <a:spcPct val="0"/>
                </a:spcBef>
              </a:pPr>
              <a:r>
                <a:rPr lang="en-US" b="true" sz="4800" strike="noStrike" u="none">
                  <a:solidFill>
                    <a:srgbClr val="FFFFFF"/>
                  </a:solidFill>
                  <a:latin typeface="Cambria Bold"/>
                  <a:ea typeface="Cambria Bold"/>
                  <a:cs typeface="Cambria Bold"/>
                  <a:sym typeface="Cambria Bold"/>
                </a:rPr>
                <a:t>Le framework de qualité des données en 3 niveaux</a:t>
              </a:r>
            </a:p>
          </p:txBody>
        </p:sp>
      </p:grpSp>
      <p:grpSp>
        <p:nvGrpSpPr>
          <p:cNvPr name="Group 14" id="14"/>
          <p:cNvGrpSpPr/>
          <p:nvPr/>
        </p:nvGrpSpPr>
        <p:grpSpPr>
          <a:xfrm rot="0">
            <a:off x="813435" y="2733675"/>
            <a:ext cx="16184880" cy="685800"/>
            <a:chOff x="0" y="0"/>
            <a:chExt cx="21579840" cy="914400"/>
          </a:xfrm>
        </p:grpSpPr>
        <p:sp>
          <p:nvSpPr>
            <p:cNvPr name="Freeform 15" id="15"/>
            <p:cNvSpPr/>
            <p:nvPr/>
          </p:nvSpPr>
          <p:spPr>
            <a:xfrm flipH="false" flipV="false" rot="0">
              <a:off x="0" y="0"/>
              <a:ext cx="21579839" cy="914400"/>
            </a:xfrm>
            <a:custGeom>
              <a:avLst/>
              <a:gdLst/>
              <a:ahLst/>
              <a:cxnLst/>
              <a:rect r="r" b="b" t="t" l="l"/>
              <a:pathLst>
                <a:path h="914400" w="21579839">
                  <a:moveTo>
                    <a:pt x="0" y="0"/>
                  </a:moveTo>
                  <a:lnTo>
                    <a:pt x="21579839" y="0"/>
                  </a:lnTo>
                  <a:lnTo>
                    <a:pt x="21579839" y="914400"/>
                  </a:lnTo>
                  <a:lnTo>
                    <a:pt x="0" y="914400"/>
                  </a:lnTo>
                  <a:close/>
                </a:path>
              </a:pathLst>
            </a:custGeom>
            <a:blipFill>
              <a:blip r:embed="rId2">
                <a:alphaModFix amt="0"/>
              </a:blip>
              <a:stretch>
                <a:fillRect l="0" t="-409846" r="0" b="-409846"/>
              </a:stretch>
            </a:blipFill>
          </p:spPr>
        </p:sp>
        <p:sp>
          <p:nvSpPr>
            <p:cNvPr name="TextBox 16" id="16"/>
            <p:cNvSpPr txBox="true"/>
            <p:nvPr/>
          </p:nvSpPr>
          <p:spPr>
            <a:xfrm>
              <a:off x="0" y="-47625"/>
              <a:ext cx="21579840" cy="962025"/>
            </a:xfrm>
            <a:prstGeom prst="rect">
              <a:avLst/>
            </a:prstGeom>
          </p:spPr>
          <p:txBody>
            <a:bodyPr anchor="ctr" rtlCol="false" tIns="0" lIns="0" bIns="0" rIns="0"/>
            <a:lstStyle/>
            <a:p>
              <a:pPr algn="l" marL="0" indent="0" lvl="0">
                <a:lnSpc>
                  <a:spcPts val="2340"/>
                </a:lnSpc>
                <a:spcBef>
                  <a:spcPct val="0"/>
                </a:spcBef>
              </a:pPr>
              <a:r>
                <a:rPr lang="en-US" sz="1950" i="true" strike="noStrike" u="none">
                  <a:solidFill>
                    <a:srgbClr val="9FB0C9"/>
                  </a:solidFill>
                  <a:latin typeface="Calibri (MS) Italics"/>
                  <a:ea typeface="Calibri (MS) Italics"/>
                  <a:cs typeface="Calibri (MS) Italics"/>
                  <a:sym typeface="Calibri (MS) Italics"/>
                </a:rPr>
                <a:t>831 lignes de logique de validation — isolation des enregistrements invalides avant qu’ils ne corrompent les modèles en aval.</a:t>
              </a:r>
            </a:p>
          </p:txBody>
        </p:sp>
      </p:grpSp>
      <p:grpSp>
        <p:nvGrpSpPr>
          <p:cNvPr name="Group 17" id="17"/>
          <p:cNvGrpSpPr/>
          <p:nvPr/>
        </p:nvGrpSpPr>
        <p:grpSpPr>
          <a:xfrm rot="0">
            <a:off x="813435" y="3419475"/>
            <a:ext cx="5436870" cy="4271010"/>
            <a:chOff x="0" y="0"/>
            <a:chExt cx="7249160" cy="5694680"/>
          </a:xfrm>
        </p:grpSpPr>
        <p:sp>
          <p:nvSpPr>
            <p:cNvPr name="Freeform 18" id="18"/>
            <p:cNvSpPr/>
            <p:nvPr/>
          </p:nvSpPr>
          <p:spPr>
            <a:xfrm flipH="false" flipV="false" rot="0">
              <a:off x="0" y="0"/>
              <a:ext cx="7249160" cy="5694680"/>
            </a:xfrm>
            <a:custGeom>
              <a:avLst/>
              <a:gdLst/>
              <a:ahLst/>
              <a:cxnLst/>
              <a:rect r="r" b="b" t="t" l="l"/>
              <a:pathLst>
                <a:path h="5694680" w="7249160">
                  <a:moveTo>
                    <a:pt x="0" y="146939"/>
                  </a:moveTo>
                  <a:cubicBezTo>
                    <a:pt x="0" y="65786"/>
                    <a:pt x="65786" y="0"/>
                    <a:pt x="146939" y="0"/>
                  </a:cubicBezTo>
                  <a:lnTo>
                    <a:pt x="7102221" y="0"/>
                  </a:lnTo>
                  <a:cubicBezTo>
                    <a:pt x="7183374" y="0"/>
                    <a:pt x="7249160" y="65786"/>
                    <a:pt x="7249160" y="146939"/>
                  </a:cubicBezTo>
                  <a:lnTo>
                    <a:pt x="7249160" y="5547741"/>
                  </a:lnTo>
                  <a:cubicBezTo>
                    <a:pt x="7249160" y="5628894"/>
                    <a:pt x="7183374" y="5694680"/>
                    <a:pt x="7102221" y="5694680"/>
                  </a:cubicBezTo>
                  <a:lnTo>
                    <a:pt x="146939" y="5694680"/>
                  </a:lnTo>
                  <a:cubicBezTo>
                    <a:pt x="65786" y="5694680"/>
                    <a:pt x="0" y="5628894"/>
                    <a:pt x="0" y="5547741"/>
                  </a:cubicBezTo>
                  <a:close/>
                </a:path>
              </a:pathLst>
            </a:custGeom>
            <a:solidFill>
              <a:srgbClr val="0F2038"/>
            </a:solidFill>
            <a:ln w="19050" cap="sq">
              <a:solidFill>
                <a:srgbClr val="00E5C7"/>
              </a:solidFill>
              <a:prstDash val="solid"/>
              <a:miter/>
            </a:ln>
          </p:spPr>
        </p:sp>
      </p:grpSp>
      <p:grpSp>
        <p:nvGrpSpPr>
          <p:cNvPr name="Group 19" id="19"/>
          <p:cNvGrpSpPr/>
          <p:nvPr/>
        </p:nvGrpSpPr>
        <p:grpSpPr>
          <a:xfrm rot="0">
            <a:off x="1165860" y="3703320"/>
            <a:ext cx="4732020" cy="411480"/>
            <a:chOff x="0" y="0"/>
            <a:chExt cx="6309360" cy="548640"/>
          </a:xfrm>
        </p:grpSpPr>
        <p:sp>
          <p:nvSpPr>
            <p:cNvPr name="Freeform 20" id="20"/>
            <p:cNvSpPr/>
            <p:nvPr/>
          </p:nvSpPr>
          <p:spPr>
            <a:xfrm flipH="false" flipV="false" rot="0">
              <a:off x="0" y="0"/>
              <a:ext cx="6309360" cy="548640"/>
            </a:xfrm>
            <a:custGeom>
              <a:avLst/>
              <a:gdLst/>
              <a:ahLst/>
              <a:cxnLst/>
              <a:rect r="r" b="b" t="t" l="l"/>
              <a:pathLst>
                <a:path h="548640" w="6309360">
                  <a:moveTo>
                    <a:pt x="0" y="0"/>
                  </a:moveTo>
                  <a:lnTo>
                    <a:pt x="6309360" y="0"/>
                  </a:lnTo>
                  <a:lnTo>
                    <a:pt x="6309360" y="548640"/>
                  </a:lnTo>
                  <a:lnTo>
                    <a:pt x="0" y="548640"/>
                  </a:lnTo>
                  <a:close/>
                </a:path>
              </a:pathLst>
            </a:custGeom>
            <a:blipFill>
              <a:blip r:embed="rId2">
                <a:alphaModFix amt="0"/>
              </a:blip>
              <a:stretch>
                <a:fillRect l="0" t="-174077" r="0" b="-174077"/>
              </a:stretch>
            </a:blipFill>
          </p:spPr>
        </p:sp>
        <p:sp>
          <p:nvSpPr>
            <p:cNvPr name="TextBox 21" id="21"/>
            <p:cNvSpPr txBox="true"/>
            <p:nvPr/>
          </p:nvSpPr>
          <p:spPr>
            <a:xfrm>
              <a:off x="0" y="-19050"/>
              <a:ext cx="6309360" cy="567690"/>
            </a:xfrm>
            <a:prstGeom prst="rect">
              <a:avLst/>
            </a:prstGeom>
          </p:spPr>
          <p:txBody>
            <a:bodyPr anchor="ctr" rtlCol="false" tIns="0" lIns="0" bIns="0" rIns="0"/>
            <a:lstStyle/>
            <a:p>
              <a:pPr algn="l" marL="0" indent="0" lvl="0">
                <a:lnSpc>
                  <a:spcPts val="1889"/>
                </a:lnSpc>
                <a:spcBef>
                  <a:spcPct val="0"/>
                </a:spcBef>
              </a:pPr>
              <a:r>
                <a:rPr lang="en-US" b="true" sz="1575" spc="224" strike="noStrike" u="none">
                  <a:solidFill>
                    <a:srgbClr val="00E5C7"/>
                  </a:solidFill>
                  <a:latin typeface="Calibri (MS) Bold"/>
                  <a:ea typeface="Calibri (MS) Bold"/>
                  <a:cs typeface="Calibri (MS) Bold"/>
                  <a:sym typeface="Calibri (MS) Bold"/>
                </a:rPr>
                <a:t>Étape 1</a:t>
              </a:r>
            </a:p>
          </p:txBody>
        </p:sp>
      </p:grpSp>
      <p:grpSp>
        <p:nvGrpSpPr>
          <p:cNvPr name="Group 22" id="22"/>
          <p:cNvGrpSpPr/>
          <p:nvPr/>
        </p:nvGrpSpPr>
        <p:grpSpPr>
          <a:xfrm rot="0">
            <a:off x="1129879" y="3757027"/>
            <a:ext cx="4732020" cy="2086561"/>
            <a:chOff x="0" y="0"/>
            <a:chExt cx="6309360" cy="2782081"/>
          </a:xfrm>
        </p:grpSpPr>
        <p:sp>
          <p:nvSpPr>
            <p:cNvPr name="Freeform 23" id="23"/>
            <p:cNvSpPr/>
            <p:nvPr/>
          </p:nvSpPr>
          <p:spPr>
            <a:xfrm flipH="false" flipV="false" rot="0">
              <a:off x="0" y="0"/>
              <a:ext cx="6309360" cy="2782081"/>
            </a:xfrm>
            <a:custGeom>
              <a:avLst/>
              <a:gdLst/>
              <a:ahLst/>
              <a:cxnLst/>
              <a:rect r="r" b="b" t="t" l="l"/>
              <a:pathLst>
                <a:path h="2782081" w="6309360">
                  <a:moveTo>
                    <a:pt x="0" y="0"/>
                  </a:moveTo>
                  <a:lnTo>
                    <a:pt x="6309360" y="0"/>
                  </a:lnTo>
                  <a:lnTo>
                    <a:pt x="6309360" y="2782081"/>
                  </a:lnTo>
                  <a:lnTo>
                    <a:pt x="0" y="2782081"/>
                  </a:lnTo>
                  <a:close/>
                </a:path>
              </a:pathLst>
            </a:custGeom>
            <a:blipFill>
              <a:blip r:embed="rId2">
                <a:alphaModFix amt="0"/>
              </a:blip>
              <a:stretch>
                <a:fillRect l="0" t="-29398" r="0" b="41020"/>
              </a:stretch>
            </a:blipFill>
          </p:spPr>
        </p:sp>
        <p:sp>
          <p:nvSpPr>
            <p:cNvPr name="TextBox 24" id="24"/>
            <p:cNvSpPr txBox="true"/>
            <p:nvPr/>
          </p:nvSpPr>
          <p:spPr>
            <a:xfrm>
              <a:off x="0" y="-9525"/>
              <a:ext cx="6309360" cy="2791606"/>
            </a:xfrm>
            <a:prstGeom prst="rect">
              <a:avLst/>
            </a:prstGeom>
          </p:spPr>
          <p:txBody>
            <a:bodyPr anchor="ctr" rtlCol="false" tIns="0" lIns="0" bIns="0" rIns="0"/>
            <a:lstStyle/>
            <a:p>
              <a:pPr algn="l" marL="0" indent="0" lvl="0">
                <a:lnSpc>
                  <a:spcPts val="3419"/>
                </a:lnSpc>
                <a:spcBef>
                  <a:spcPct val="0"/>
                </a:spcBef>
              </a:pPr>
              <a:r>
                <a:rPr lang="en-US" b="true" sz="2850" strike="noStrike" u="none">
                  <a:solidFill>
                    <a:srgbClr val="FFFFFF"/>
                  </a:solidFill>
                  <a:latin typeface="Cambria Bold"/>
                  <a:ea typeface="Cambria Bold"/>
                  <a:cs typeface="Cambria Bold"/>
                  <a:sym typeface="Cambria Bold"/>
                </a:rPr>
                <a:t>CSV bruts</a:t>
              </a:r>
            </a:p>
          </p:txBody>
        </p:sp>
      </p:grpSp>
      <p:grpSp>
        <p:nvGrpSpPr>
          <p:cNvPr name="Group 25" id="25"/>
          <p:cNvGrpSpPr/>
          <p:nvPr/>
        </p:nvGrpSpPr>
        <p:grpSpPr>
          <a:xfrm rot="0">
            <a:off x="1165860" y="5540692"/>
            <a:ext cx="4732020" cy="548640"/>
            <a:chOff x="0" y="0"/>
            <a:chExt cx="6309360" cy="731520"/>
          </a:xfrm>
        </p:grpSpPr>
        <p:sp>
          <p:nvSpPr>
            <p:cNvPr name="Freeform 26" id="26"/>
            <p:cNvSpPr/>
            <p:nvPr/>
          </p:nvSpPr>
          <p:spPr>
            <a:xfrm flipH="false" flipV="false" rot="0">
              <a:off x="0" y="0"/>
              <a:ext cx="6309360" cy="731520"/>
            </a:xfrm>
            <a:custGeom>
              <a:avLst/>
              <a:gdLst/>
              <a:ahLst/>
              <a:cxnLst/>
              <a:rect r="r" b="b" t="t" l="l"/>
              <a:pathLst>
                <a:path h="731520" w="6309360">
                  <a:moveTo>
                    <a:pt x="0" y="0"/>
                  </a:moveTo>
                  <a:lnTo>
                    <a:pt x="6309360" y="0"/>
                  </a:lnTo>
                  <a:lnTo>
                    <a:pt x="6309360" y="731520"/>
                  </a:lnTo>
                  <a:lnTo>
                    <a:pt x="0" y="731520"/>
                  </a:lnTo>
                  <a:close/>
                </a:path>
              </a:pathLst>
            </a:custGeom>
            <a:blipFill>
              <a:blip r:embed="rId2">
                <a:alphaModFix amt="0"/>
              </a:blip>
              <a:stretch>
                <a:fillRect l="0" t="-118058" r="0" b="-118058"/>
              </a:stretch>
            </a:blipFill>
          </p:spPr>
        </p:sp>
        <p:sp>
          <p:nvSpPr>
            <p:cNvPr name="TextBox 27" id="27"/>
            <p:cNvSpPr txBox="true"/>
            <p:nvPr/>
          </p:nvSpPr>
          <p:spPr>
            <a:xfrm>
              <a:off x="0" y="-47625"/>
              <a:ext cx="6309360" cy="779145"/>
            </a:xfrm>
            <a:prstGeom prst="rect">
              <a:avLst/>
            </a:prstGeom>
          </p:spPr>
          <p:txBody>
            <a:bodyPr anchor="ctr" rtlCol="false" tIns="0" lIns="0" bIns="0" rIns="0"/>
            <a:lstStyle/>
            <a:p>
              <a:pPr algn="l" marL="0" indent="0" lvl="0">
                <a:lnSpc>
                  <a:spcPts val="2340"/>
                </a:lnSpc>
                <a:spcBef>
                  <a:spcPct val="0"/>
                </a:spcBef>
              </a:pPr>
              <a:r>
                <a:rPr lang="en-US" b="true" sz="1950" strike="noStrike" u="none">
                  <a:solidFill>
                    <a:srgbClr val="9FB0C9"/>
                  </a:solidFill>
                  <a:latin typeface="Calibri (MS) Bold"/>
                  <a:ea typeface="Calibri (MS) Bold"/>
                  <a:cs typeface="Calibri (MS) Bold"/>
                  <a:sym typeface="Calibri (MS) Bold"/>
                </a:rPr>
                <a:t>12 règles</a:t>
              </a:r>
            </a:p>
          </p:txBody>
        </p:sp>
      </p:grpSp>
      <p:grpSp>
        <p:nvGrpSpPr>
          <p:cNvPr name="Group 28" id="28"/>
          <p:cNvGrpSpPr/>
          <p:nvPr/>
        </p:nvGrpSpPr>
        <p:grpSpPr>
          <a:xfrm rot="0">
            <a:off x="1165860" y="5486400"/>
            <a:ext cx="4732020" cy="1645920"/>
            <a:chOff x="0" y="0"/>
            <a:chExt cx="6309360" cy="2194560"/>
          </a:xfrm>
        </p:grpSpPr>
        <p:sp>
          <p:nvSpPr>
            <p:cNvPr name="Freeform 29" id="29"/>
            <p:cNvSpPr/>
            <p:nvPr/>
          </p:nvSpPr>
          <p:spPr>
            <a:xfrm flipH="false" flipV="false" rot="0">
              <a:off x="0" y="0"/>
              <a:ext cx="6309360" cy="2194560"/>
            </a:xfrm>
            <a:custGeom>
              <a:avLst/>
              <a:gdLst/>
              <a:ahLst/>
              <a:cxnLst/>
              <a:rect r="r" b="b" t="t" l="l"/>
              <a:pathLst>
                <a:path h="2194560" w="6309360">
                  <a:moveTo>
                    <a:pt x="0" y="0"/>
                  </a:moveTo>
                  <a:lnTo>
                    <a:pt x="6309360" y="0"/>
                  </a:lnTo>
                  <a:lnTo>
                    <a:pt x="6309360" y="2194560"/>
                  </a:lnTo>
                  <a:lnTo>
                    <a:pt x="0" y="2194560"/>
                  </a:lnTo>
                  <a:close/>
                </a:path>
              </a:pathLst>
            </a:custGeom>
            <a:blipFill>
              <a:blip r:embed="rId2">
                <a:alphaModFix amt="0"/>
              </a:blip>
              <a:stretch>
                <a:fillRect l="0" t="-6019" r="0" b="-6019"/>
              </a:stretch>
            </a:blipFill>
          </p:spPr>
        </p:sp>
        <p:sp>
          <p:nvSpPr>
            <p:cNvPr name="TextBox 30" id="30"/>
            <p:cNvSpPr txBox="true"/>
            <p:nvPr/>
          </p:nvSpPr>
          <p:spPr>
            <a:xfrm>
              <a:off x="0" y="-28575"/>
              <a:ext cx="6309360" cy="2223135"/>
            </a:xfrm>
            <a:prstGeom prst="rect">
              <a:avLst/>
            </a:prstGeom>
          </p:spPr>
          <p:txBody>
            <a:bodyPr anchor="ctr" rtlCol="false" tIns="0" lIns="0" bIns="0" rIns="0"/>
            <a:lstStyle/>
            <a:p>
              <a:pPr algn="l" marL="0" indent="0" lvl="0">
                <a:lnSpc>
                  <a:spcPts val="1980"/>
                </a:lnSpc>
                <a:spcBef>
                  <a:spcPct val="0"/>
                </a:spcBef>
              </a:pPr>
              <a:r>
                <a:rPr lang="en-US" sz="1650" strike="noStrike" u="none">
                  <a:solidFill>
                    <a:srgbClr val="9FB0C9"/>
                  </a:solidFill>
                  <a:latin typeface="Calibri (MS)"/>
                  <a:ea typeface="Calibri (MS)"/>
                  <a:cs typeface="Calibri (MS)"/>
                  <a:sym typeface="Calibri (MS)"/>
                </a:rPr>
                <a:t>Contrôles de complétude, de validité et d’intégrité sur les fichiers CSV CICIDS2017 ingérés.</a:t>
              </a:r>
            </a:p>
          </p:txBody>
        </p:sp>
      </p:grpSp>
      <p:sp>
        <p:nvSpPr>
          <p:cNvPr name="AutoShape 31" id="31"/>
          <p:cNvSpPr/>
          <p:nvPr/>
        </p:nvSpPr>
        <p:spPr>
          <a:xfrm rot="542880">
            <a:off x="6252791" y="5545455"/>
            <a:ext cx="181708" cy="0"/>
          </a:xfrm>
          <a:prstGeom prst="line">
            <a:avLst/>
          </a:prstGeom>
          <a:ln cap="rnd" w="19050">
            <a:solidFill>
              <a:srgbClr val="6E84A6"/>
            </a:solidFill>
            <a:prstDash val="solid"/>
            <a:headEnd type="none" len="sm" w="sm"/>
            <a:tailEnd type="triangle" len="med" w="lg"/>
          </a:ln>
        </p:spPr>
      </p:sp>
      <p:grpSp>
        <p:nvGrpSpPr>
          <p:cNvPr name="Group 32" id="32"/>
          <p:cNvGrpSpPr/>
          <p:nvPr/>
        </p:nvGrpSpPr>
        <p:grpSpPr>
          <a:xfrm rot="0">
            <a:off x="6436995" y="3419475"/>
            <a:ext cx="5436870" cy="4271010"/>
            <a:chOff x="0" y="0"/>
            <a:chExt cx="7249160" cy="5694680"/>
          </a:xfrm>
        </p:grpSpPr>
        <p:sp>
          <p:nvSpPr>
            <p:cNvPr name="Freeform 33" id="33"/>
            <p:cNvSpPr/>
            <p:nvPr/>
          </p:nvSpPr>
          <p:spPr>
            <a:xfrm flipH="false" flipV="false" rot="0">
              <a:off x="0" y="0"/>
              <a:ext cx="7249160" cy="5694680"/>
            </a:xfrm>
            <a:custGeom>
              <a:avLst/>
              <a:gdLst/>
              <a:ahLst/>
              <a:cxnLst/>
              <a:rect r="r" b="b" t="t" l="l"/>
              <a:pathLst>
                <a:path h="5694680" w="7249160">
                  <a:moveTo>
                    <a:pt x="0" y="146939"/>
                  </a:moveTo>
                  <a:cubicBezTo>
                    <a:pt x="0" y="65786"/>
                    <a:pt x="65786" y="0"/>
                    <a:pt x="146939" y="0"/>
                  </a:cubicBezTo>
                  <a:lnTo>
                    <a:pt x="7102221" y="0"/>
                  </a:lnTo>
                  <a:cubicBezTo>
                    <a:pt x="7183374" y="0"/>
                    <a:pt x="7249160" y="65786"/>
                    <a:pt x="7249160" y="146939"/>
                  </a:cubicBezTo>
                  <a:lnTo>
                    <a:pt x="7249160" y="5547741"/>
                  </a:lnTo>
                  <a:cubicBezTo>
                    <a:pt x="7249160" y="5628894"/>
                    <a:pt x="7183374" y="5694680"/>
                    <a:pt x="7102221" y="5694680"/>
                  </a:cubicBezTo>
                  <a:lnTo>
                    <a:pt x="146939" y="5694680"/>
                  </a:lnTo>
                  <a:cubicBezTo>
                    <a:pt x="65786" y="5694680"/>
                    <a:pt x="0" y="5628894"/>
                    <a:pt x="0" y="5547741"/>
                  </a:cubicBezTo>
                  <a:close/>
                </a:path>
              </a:pathLst>
            </a:custGeom>
            <a:solidFill>
              <a:srgbClr val="0F2038"/>
            </a:solidFill>
            <a:ln w="19050" cap="sq">
              <a:solidFill>
                <a:srgbClr val="4C7CFF"/>
              </a:solidFill>
              <a:prstDash val="solid"/>
              <a:miter/>
            </a:ln>
          </p:spPr>
        </p:sp>
      </p:grpSp>
      <p:grpSp>
        <p:nvGrpSpPr>
          <p:cNvPr name="Group 34" id="34"/>
          <p:cNvGrpSpPr/>
          <p:nvPr/>
        </p:nvGrpSpPr>
        <p:grpSpPr>
          <a:xfrm rot="0">
            <a:off x="6789420" y="3703320"/>
            <a:ext cx="4732020" cy="411480"/>
            <a:chOff x="0" y="0"/>
            <a:chExt cx="6309360" cy="548640"/>
          </a:xfrm>
        </p:grpSpPr>
        <p:sp>
          <p:nvSpPr>
            <p:cNvPr name="Freeform 35" id="35"/>
            <p:cNvSpPr/>
            <p:nvPr/>
          </p:nvSpPr>
          <p:spPr>
            <a:xfrm flipH="false" flipV="false" rot="0">
              <a:off x="0" y="0"/>
              <a:ext cx="6309360" cy="548640"/>
            </a:xfrm>
            <a:custGeom>
              <a:avLst/>
              <a:gdLst/>
              <a:ahLst/>
              <a:cxnLst/>
              <a:rect r="r" b="b" t="t" l="l"/>
              <a:pathLst>
                <a:path h="548640" w="6309360">
                  <a:moveTo>
                    <a:pt x="0" y="0"/>
                  </a:moveTo>
                  <a:lnTo>
                    <a:pt x="6309360" y="0"/>
                  </a:lnTo>
                  <a:lnTo>
                    <a:pt x="6309360" y="548640"/>
                  </a:lnTo>
                  <a:lnTo>
                    <a:pt x="0" y="548640"/>
                  </a:lnTo>
                  <a:close/>
                </a:path>
              </a:pathLst>
            </a:custGeom>
            <a:blipFill>
              <a:blip r:embed="rId2">
                <a:alphaModFix amt="0"/>
              </a:blip>
              <a:stretch>
                <a:fillRect l="0" t="-174077" r="0" b="-174077"/>
              </a:stretch>
            </a:blipFill>
          </p:spPr>
        </p:sp>
        <p:sp>
          <p:nvSpPr>
            <p:cNvPr name="TextBox 36" id="36"/>
            <p:cNvSpPr txBox="true"/>
            <p:nvPr/>
          </p:nvSpPr>
          <p:spPr>
            <a:xfrm>
              <a:off x="0" y="-19050"/>
              <a:ext cx="6309360" cy="567690"/>
            </a:xfrm>
            <a:prstGeom prst="rect">
              <a:avLst/>
            </a:prstGeom>
          </p:spPr>
          <p:txBody>
            <a:bodyPr anchor="ctr" rtlCol="false" tIns="0" lIns="0" bIns="0" rIns="0"/>
            <a:lstStyle/>
            <a:p>
              <a:pPr algn="l" marL="0" indent="0" lvl="0">
                <a:lnSpc>
                  <a:spcPts val="1889"/>
                </a:lnSpc>
                <a:spcBef>
                  <a:spcPct val="0"/>
                </a:spcBef>
              </a:pPr>
              <a:r>
                <a:rPr lang="en-US" b="true" sz="1575" spc="224" strike="noStrike" u="none">
                  <a:solidFill>
                    <a:srgbClr val="4C7CFF"/>
                  </a:solidFill>
                  <a:latin typeface="Calibri (MS) Bold"/>
                  <a:ea typeface="Calibri (MS) Bold"/>
                  <a:cs typeface="Calibri (MS) Bold"/>
                  <a:sym typeface="Calibri (MS) Bold"/>
                </a:rPr>
                <a:t>Étape 2</a:t>
              </a:r>
            </a:p>
          </p:txBody>
        </p:sp>
      </p:grpSp>
      <p:grpSp>
        <p:nvGrpSpPr>
          <p:cNvPr name="Group 37" id="37"/>
          <p:cNvGrpSpPr/>
          <p:nvPr/>
        </p:nvGrpSpPr>
        <p:grpSpPr>
          <a:xfrm rot="0">
            <a:off x="6755130" y="3757027"/>
            <a:ext cx="4732020" cy="2086561"/>
            <a:chOff x="0" y="0"/>
            <a:chExt cx="6309360" cy="2782081"/>
          </a:xfrm>
        </p:grpSpPr>
        <p:sp>
          <p:nvSpPr>
            <p:cNvPr name="Freeform 38" id="38"/>
            <p:cNvSpPr/>
            <p:nvPr/>
          </p:nvSpPr>
          <p:spPr>
            <a:xfrm flipH="false" flipV="false" rot="0">
              <a:off x="0" y="0"/>
              <a:ext cx="6309360" cy="2782081"/>
            </a:xfrm>
            <a:custGeom>
              <a:avLst/>
              <a:gdLst/>
              <a:ahLst/>
              <a:cxnLst/>
              <a:rect r="r" b="b" t="t" l="l"/>
              <a:pathLst>
                <a:path h="2782081" w="6309360">
                  <a:moveTo>
                    <a:pt x="0" y="0"/>
                  </a:moveTo>
                  <a:lnTo>
                    <a:pt x="6309360" y="0"/>
                  </a:lnTo>
                  <a:lnTo>
                    <a:pt x="6309360" y="2782081"/>
                  </a:lnTo>
                  <a:lnTo>
                    <a:pt x="0" y="2782081"/>
                  </a:lnTo>
                  <a:close/>
                </a:path>
              </a:pathLst>
            </a:custGeom>
            <a:blipFill>
              <a:blip r:embed="rId2">
                <a:alphaModFix amt="0"/>
              </a:blip>
              <a:stretch>
                <a:fillRect l="0" t="-29398" r="0" b="41020"/>
              </a:stretch>
            </a:blipFill>
          </p:spPr>
        </p:sp>
        <p:sp>
          <p:nvSpPr>
            <p:cNvPr name="TextBox 39" id="39"/>
            <p:cNvSpPr txBox="true"/>
            <p:nvPr/>
          </p:nvSpPr>
          <p:spPr>
            <a:xfrm>
              <a:off x="0" y="-9525"/>
              <a:ext cx="6309360" cy="2791606"/>
            </a:xfrm>
            <a:prstGeom prst="rect">
              <a:avLst/>
            </a:prstGeom>
          </p:spPr>
          <p:txBody>
            <a:bodyPr anchor="ctr" rtlCol="false" tIns="0" lIns="0" bIns="0" rIns="0"/>
            <a:lstStyle/>
            <a:p>
              <a:pPr algn="l" marL="0" indent="0" lvl="0">
                <a:lnSpc>
                  <a:spcPts val="3419"/>
                </a:lnSpc>
                <a:spcBef>
                  <a:spcPct val="0"/>
                </a:spcBef>
              </a:pPr>
              <a:r>
                <a:rPr lang="en-US" b="true" sz="2850" strike="noStrike" u="none">
                  <a:solidFill>
                    <a:srgbClr val="FFFFFF"/>
                  </a:solidFill>
                  <a:latin typeface="Cambria Bold"/>
                  <a:ea typeface="Cambria Bold"/>
                  <a:cs typeface="Cambria Bold"/>
                  <a:sym typeface="Cambria Bold"/>
                </a:rPr>
                <a:t>Enregistrements nettoyés</a:t>
              </a:r>
            </a:p>
          </p:txBody>
        </p:sp>
      </p:grpSp>
      <p:grpSp>
        <p:nvGrpSpPr>
          <p:cNvPr name="Group 40" id="40"/>
          <p:cNvGrpSpPr/>
          <p:nvPr/>
        </p:nvGrpSpPr>
        <p:grpSpPr>
          <a:xfrm rot="0">
            <a:off x="6755130" y="5569268"/>
            <a:ext cx="4732020" cy="548640"/>
            <a:chOff x="0" y="0"/>
            <a:chExt cx="6309360" cy="731520"/>
          </a:xfrm>
        </p:grpSpPr>
        <p:sp>
          <p:nvSpPr>
            <p:cNvPr name="Freeform 41" id="41"/>
            <p:cNvSpPr/>
            <p:nvPr/>
          </p:nvSpPr>
          <p:spPr>
            <a:xfrm flipH="false" flipV="false" rot="0">
              <a:off x="0" y="0"/>
              <a:ext cx="6309360" cy="731520"/>
            </a:xfrm>
            <a:custGeom>
              <a:avLst/>
              <a:gdLst/>
              <a:ahLst/>
              <a:cxnLst/>
              <a:rect r="r" b="b" t="t" l="l"/>
              <a:pathLst>
                <a:path h="731520" w="6309360">
                  <a:moveTo>
                    <a:pt x="0" y="0"/>
                  </a:moveTo>
                  <a:lnTo>
                    <a:pt x="6309360" y="0"/>
                  </a:lnTo>
                  <a:lnTo>
                    <a:pt x="6309360" y="731520"/>
                  </a:lnTo>
                  <a:lnTo>
                    <a:pt x="0" y="731520"/>
                  </a:lnTo>
                  <a:close/>
                </a:path>
              </a:pathLst>
            </a:custGeom>
            <a:blipFill>
              <a:blip r:embed="rId2">
                <a:alphaModFix amt="0"/>
              </a:blip>
              <a:stretch>
                <a:fillRect l="0" t="-118058" r="0" b="-118058"/>
              </a:stretch>
            </a:blipFill>
          </p:spPr>
        </p:sp>
        <p:sp>
          <p:nvSpPr>
            <p:cNvPr name="TextBox 42" id="42"/>
            <p:cNvSpPr txBox="true"/>
            <p:nvPr/>
          </p:nvSpPr>
          <p:spPr>
            <a:xfrm>
              <a:off x="0" y="-47625"/>
              <a:ext cx="6309360" cy="779145"/>
            </a:xfrm>
            <a:prstGeom prst="rect">
              <a:avLst/>
            </a:prstGeom>
          </p:spPr>
          <p:txBody>
            <a:bodyPr anchor="ctr" rtlCol="false" tIns="0" lIns="0" bIns="0" rIns="0"/>
            <a:lstStyle/>
            <a:p>
              <a:pPr algn="l" marL="0" indent="0" lvl="0">
                <a:lnSpc>
                  <a:spcPts val="2340"/>
                </a:lnSpc>
                <a:spcBef>
                  <a:spcPct val="0"/>
                </a:spcBef>
              </a:pPr>
              <a:r>
                <a:rPr lang="en-US" b="true" sz="1950" strike="noStrike" u="none">
                  <a:solidFill>
                    <a:srgbClr val="9FB0C9"/>
                  </a:solidFill>
                  <a:latin typeface="Calibri (MS) Bold"/>
                  <a:ea typeface="Calibri (MS) Bold"/>
                  <a:cs typeface="Calibri (MS) Bold"/>
                  <a:sym typeface="Calibri (MS) Bold"/>
                </a:rPr>
                <a:t>6 règles</a:t>
              </a:r>
            </a:p>
          </p:txBody>
        </p:sp>
      </p:grpSp>
      <p:grpSp>
        <p:nvGrpSpPr>
          <p:cNvPr name="Group 43" id="43"/>
          <p:cNvGrpSpPr/>
          <p:nvPr/>
        </p:nvGrpSpPr>
        <p:grpSpPr>
          <a:xfrm rot="0">
            <a:off x="6789420" y="5486400"/>
            <a:ext cx="4732020" cy="1645920"/>
            <a:chOff x="0" y="0"/>
            <a:chExt cx="6309360" cy="2194560"/>
          </a:xfrm>
        </p:grpSpPr>
        <p:sp>
          <p:nvSpPr>
            <p:cNvPr name="Freeform 44" id="44"/>
            <p:cNvSpPr/>
            <p:nvPr/>
          </p:nvSpPr>
          <p:spPr>
            <a:xfrm flipH="false" flipV="false" rot="0">
              <a:off x="0" y="0"/>
              <a:ext cx="6309360" cy="2194560"/>
            </a:xfrm>
            <a:custGeom>
              <a:avLst/>
              <a:gdLst/>
              <a:ahLst/>
              <a:cxnLst/>
              <a:rect r="r" b="b" t="t" l="l"/>
              <a:pathLst>
                <a:path h="2194560" w="6309360">
                  <a:moveTo>
                    <a:pt x="0" y="0"/>
                  </a:moveTo>
                  <a:lnTo>
                    <a:pt x="6309360" y="0"/>
                  </a:lnTo>
                  <a:lnTo>
                    <a:pt x="6309360" y="2194560"/>
                  </a:lnTo>
                  <a:lnTo>
                    <a:pt x="0" y="2194560"/>
                  </a:lnTo>
                  <a:close/>
                </a:path>
              </a:pathLst>
            </a:custGeom>
            <a:blipFill>
              <a:blip r:embed="rId2">
                <a:alphaModFix amt="0"/>
              </a:blip>
              <a:stretch>
                <a:fillRect l="0" t="-6019" r="0" b="-6019"/>
              </a:stretch>
            </a:blipFill>
          </p:spPr>
        </p:sp>
        <p:sp>
          <p:nvSpPr>
            <p:cNvPr name="TextBox 45" id="45"/>
            <p:cNvSpPr txBox="true"/>
            <p:nvPr/>
          </p:nvSpPr>
          <p:spPr>
            <a:xfrm>
              <a:off x="0" y="-28575"/>
              <a:ext cx="6309360" cy="2223135"/>
            </a:xfrm>
            <a:prstGeom prst="rect">
              <a:avLst/>
            </a:prstGeom>
          </p:spPr>
          <p:txBody>
            <a:bodyPr anchor="ctr" rtlCol="false" tIns="0" lIns="0" bIns="0" rIns="0"/>
            <a:lstStyle/>
            <a:p>
              <a:pPr algn="l" marL="0" indent="0" lvl="0">
                <a:lnSpc>
                  <a:spcPts val="1980"/>
                </a:lnSpc>
                <a:spcBef>
                  <a:spcPct val="0"/>
                </a:spcBef>
              </a:pPr>
              <a:r>
                <a:rPr lang="en-US" sz="1650" strike="noStrike" u="none">
                  <a:solidFill>
                    <a:srgbClr val="9FB0C9"/>
                  </a:solidFill>
                  <a:latin typeface="Calibri (MS)"/>
                  <a:ea typeface="Calibri (MS)"/>
                  <a:cs typeface="Calibri (MS)"/>
                  <a:sym typeface="Calibri (MS)"/>
                </a:rPr>
                <a:t>Valide les enregistrements JSONL normalisés produits par le nettoyeur de flux.</a:t>
              </a:r>
            </a:p>
          </p:txBody>
        </p:sp>
      </p:grpSp>
      <p:sp>
        <p:nvSpPr>
          <p:cNvPr name="AutoShape 46" id="46"/>
          <p:cNvSpPr/>
          <p:nvPr/>
        </p:nvSpPr>
        <p:spPr>
          <a:xfrm rot="542880">
            <a:off x="11876351" y="5545455"/>
            <a:ext cx="181708" cy="0"/>
          </a:xfrm>
          <a:prstGeom prst="line">
            <a:avLst/>
          </a:prstGeom>
          <a:ln cap="rnd" w="19050">
            <a:solidFill>
              <a:srgbClr val="6E84A6"/>
            </a:solidFill>
            <a:prstDash val="solid"/>
            <a:headEnd type="none" len="sm" w="sm"/>
            <a:tailEnd type="triangle" len="med" w="lg"/>
          </a:ln>
        </p:spPr>
      </p:sp>
      <p:grpSp>
        <p:nvGrpSpPr>
          <p:cNvPr name="Group 47" id="47"/>
          <p:cNvGrpSpPr/>
          <p:nvPr/>
        </p:nvGrpSpPr>
        <p:grpSpPr>
          <a:xfrm rot="0">
            <a:off x="12060555" y="3419475"/>
            <a:ext cx="5436870" cy="4271010"/>
            <a:chOff x="0" y="0"/>
            <a:chExt cx="7249160" cy="5694680"/>
          </a:xfrm>
        </p:grpSpPr>
        <p:sp>
          <p:nvSpPr>
            <p:cNvPr name="Freeform 48" id="48"/>
            <p:cNvSpPr/>
            <p:nvPr/>
          </p:nvSpPr>
          <p:spPr>
            <a:xfrm flipH="false" flipV="false" rot="0">
              <a:off x="0" y="0"/>
              <a:ext cx="7249160" cy="5694680"/>
            </a:xfrm>
            <a:custGeom>
              <a:avLst/>
              <a:gdLst/>
              <a:ahLst/>
              <a:cxnLst/>
              <a:rect r="r" b="b" t="t" l="l"/>
              <a:pathLst>
                <a:path h="5694680" w="7249160">
                  <a:moveTo>
                    <a:pt x="0" y="146939"/>
                  </a:moveTo>
                  <a:cubicBezTo>
                    <a:pt x="0" y="65786"/>
                    <a:pt x="65786" y="0"/>
                    <a:pt x="146939" y="0"/>
                  </a:cubicBezTo>
                  <a:lnTo>
                    <a:pt x="7102221" y="0"/>
                  </a:lnTo>
                  <a:cubicBezTo>
                    <a:pt x="7183374" y="0"/>
                    <a:pt x="7249160" y="65786"/>
                    <a:pt x="7249160" y="146939"/>
                  </a:cubicBezTo>
                  <a:lnTo>
                    <a:pt x="7249160" y="5547741"/>
                  </a:lnTo>
                  <a:cubicBezTo>
                    <a:pt x="7249160" y="5628894"/>
                    <a:pt x="7183374" y="5694680"/>
                    <a:pt x="7102221" y="5694680"/>
                  </a:cubicBezTo>
                  <a:lnTo>
                    <a:pt x="146939" y="5694680"/>
                  </a:lnTo>
                  <a:cubicBezTo>
                    <a:pt x="65786" y="5694680"/>
                    <a:pt x="0" y="5628894"/>
                    <a:pt x="0" y="5547741"/>
                  </a:cubicBezTo>
                  <a:close/>
                </a:path>
              </a:pathLst>
            </a:custGeom>
            <a:solidFill>
              <a:srgbClr val="0F2038"/>
            </a:solidFill>
            <a:ln w="19050" cap="sq">
              <a:solidFill>
                <a:srgbClr val="FFB020"/>
              </a:solidFill>
              <a:prstDash val="solid"/>
              <a:miter/>
            </a:ln>
          </p:spPr>
        </p:sp>
      </p:grpSp>
      <p:grpSp>
        <p:nvGrpSpPr>
          <p:cNvPr name="Group 49" id="49"/>
          <p:cNvGrpSpPr/>
          <p:nvPr/>
        </p:nvGrpSpPr>
        <p:grpSpPr>
          <a:xfrm rot="0">
            <a:off x="12412980" y="3703320"/>
            <a:ext cx="4732020" cy="411480"/>
            <a:chOff x="0" y="0"/>
            <a:chExt cx="6309360" cy="548640"/>
          </a:xfrm>
        </p:grpSpPr>
        <p:sp>
          <p:nvSpPr>
            <p:cNvPr name="Freeform 50" id="50"/>
            <p:cNvSpPr/>
            <p:nvPr/>
          </p:nvSpPr>
          <p:spPr>
            <a:xfrm flipH="false" flipV="false" rot="0">
              <a:off x="0" y="0"/>
              <a:ext cx="6309360" cy="548640"/>
            </a:xfrm>
            <a:custGeom>
              <a:avLst/>
              <a:gdLst/>
              <a:ahLst/>
              <a:cxnLst/>
              <a:rect r="r" b="b" t="t" l="l"/>
              <a:pathLst>
                <a:path h="548640" w="6309360">
                  <a:moveTo>
                    <a:pt x="0" y="0"/>
                  </a:moveTo>
                  <a:lnTo>
                    <a:pt x="6309360" y="0"/>
                  </a:lnTo>
                  <a:lnTo>
                    <a:pt x="6309360" y="548640"/>
                  </a:lnTo>
                  <a:lnTo>
                    <a:pt x="0" y="548640"/>
                  </a:lnTo>
                  <a:close/>
                </a:path>
              </a:pathLst>
            </a:custGeom>
            <a:blipFill>
              <a:blip r:embed="rId2">
                <a:alphaModFix amt="0"/>
              </a:blip>
              <a:stretch>
                <a:fillRect l="0" t="-174077" r="0" b="-174077"/>
              </a:stretch>
            </a:blipFill>
          </p:spPr>
        </p:sp>
        <p:sp>
          <p:nvSpPr>
            <p:cNvPr name="TextBox 51" id="51"/>
            <p:cNvSpPr txBox="true"/>
            <p:nvPr/>
          </p:nvSpPr>
          <p:spPr>
            <a:xfrm>
              <a:off x="0" y="-19050"/>
              <a:ext cx="6309360" cy="567690"/>
            </a:xfrm>
            <a:prstGeom prst="rect">
              <a:avLst/>
            </a:prstGeom>
          </p:spPr>
          <p:txBody>
            <a:bodyPr anchor="ctr" rtlCol="false" tIns="0" lIns="0" bIns="0" rIns="0"/>
            <a:lstStyle/>
            <a:p>
              <a:pPr algn="l" marL="0" indent="0" lvl="0">
                <a:lnSpc>
                  <a:spcPts val="1889"/>
                </a:lnSpc>
                <a:spcBef>
                  <a:spcPct val="0"/>
                </a:spcBef>
              </a:pPr>
              <a:r>
                <a:rPr lang="en-US" b="true" sz="1575" spc="224" strike="noStrike" u="none">
                  <a:solidFill>
                    <a:srgbClr val="FFB020"/>
                  </a:solidFill>
                  <a:latin typeface="Calibri (MS) Bold"/>
                  <a:ea typeface="Calibri (MS) Bold"/>
                  <a:cs typeface="Calibri (MS) Bold"/>
                  <a:sym typeface="Calibri (MS) Bold"/>
                </a:rPr>
                <a:t>Étape 3</a:t>
              </a:r>
            </a:p>
          </p:txBody>
        </p:sp>
      </p:grpSp>
      <p:grpSp>
        <p:nvGrpSpPr>
          <p:cNvPr name="Group 52" id="52"/>
          <p:cNvGrpSpPr/>
          <p:nvPr/>
        </p:nvGrpSpPr>
        <p:grpSpPr>
          <a:xfrm rot="0">
            <a:off x="12382277" y="3757027"/>
            <a:ext cx="4732020" cy="2086561"/>
            <a:chOff x="0" y="0"/>
            <a:chExt cx="6309360" cy="2782081"/>
          </a:xfrm>
        </p:grpSpPr>
        <p:sp>
          <p:nvSpPr>
            <p:cNvPr name="Freeform 53" id="53"/>
            <p:cNvSpPr/>
            <p:nvPr/>
          </p:nvSpPr>
          <p:spPr>
            <a:xfrm flipH="false" flipV="false" rot="0">
              <a:off x="0" y="0"/>
              <a:ext cx="6309360" cy="2782081"/>
            </a:xfrm>
            <a:custGeom>
              <a:avLst/>
              <a:gdLst/>
              <a:ahLst/>
              <a:cxnLst/>
              <a:rect r="r" b="b" t="t" l="l"/>
              <a:pathLst>
                <a:path h="2782081" w="6309360">
                  <a:moveTo>
                    <a:pt x="0" y="0"/>
                  </a:moveTo>
                  <a:lnTo>
                    <a:pt x="6309360" y="0"/>
                  </a:lnTo>
                  <a:lnTo>
                    <a:pt x="6309360" y="2782081"/>
                  </a:lnTo>
                  <a:lnTo>
                    <a:pt x="0" y="2782081"/>
                  </a:lnTo>
                  <a:close/>
                </a:path>
              </a:pathLst>
            </a:custGeom>
            <a:blipFill>
              <a:blip r:embed="rId2">
                <a:alphaModFix amt="0"/>
              </a:blip>
              <a:stretch>
                <a:fillRect l="0" t="-29398" r="0" b="41020"/>
              </a:stretch>
            </a:blipFill>
          </p:spPr>
        </p:sp>
        <p:sp>
          <p:nvSpPr>
            <p:cNvPr name="TextBox 54" id="54"/>
            <p:cNvSpPr txBox="true"/>
            <p:nvPr/>
          </p:nvSpPr>
          <p:spPr>
            <a:xfrm>
              <a:off x="0" y="-9525"/>
              <a:ext cx="6309360" cy="2791606"/>
            </a:xfrm>
            <a:prstGeom prst="rect">
              <a:avLst/>
            </a:prstGeom>
          </p:spPr>
          <p:txBody>
            <a:bodyPr anchor="ctr" rtlCol="false" tIns="0" lIns="0" bIns="0" rIns="0"/>
            <a:lstStyle/>
            <a:p>
              <a:pPr algn="l" marL="0" indent="0" lvl="0">
                <a:lnSpc>
                  <a:spcPts val="3419"/>
                </a:lnSpc>
                <a:spcBef>
                  <a:spcPct val="0"/>
                </a:spcBef>
              </a:pPr>
              <a:r>
                <a:rPr lang="en-US" b="true" sz="2850" strike="noStrike" u="none">
                  <a:solidFill>
                    <a:srgbClr val="FFFFFF"/>
                  </a:solidFill>
                  <a:latin typeface="Cambria Bold"/>
                  <a:ea typeface="Cambria Bold"/>
                  <a:cs typeface="Cambria Bold"/>
                  <a:sym typeface="Cambria Bold"/>
                </a:rPr>
                <a:t>Sortie d’inférence</a:t>
              </a:r>
            </a:p>
          </p:txBody>
        </p:sp>
      </p:grpSp>
      <p:grpSp>
        <p:nvGrpSpPr>
          <p:cNvPr name="Group 55" id="55"/>
          <p:cNvGrpSpPr/>
          <p:nvPr/>
        </p:nvGrpSpPr>
        <p:grpSpPr>
          <a:xfrm rot="0">
            <a:off x="12382277" y="5486400"/>
            <a:ext cx="4732020" cy="548640"/>
            <a:chOff x="0" y="0"/>
            <a:chExt cx="6309360" cy="731520"/>
          </a:xfrm>
        </p:grpSpPr>
        <p:sp>
          <p:nvSpPr>
            <p:cNvPr name="Freeform 56" id="56"/>
            <p:cNvSpPr/>
            <p:nvPr/>
          </p:nvSpPr>
          <p:spPr>
            <a:xfrm flipH="false" flipV="false" rot="0">
              <a:off x="0" y="0"/>
              <a:ext cx="6309360" cy="731520"/>
            </a:xfrm>
            <a:custGeom>
              <a:avLst/>
              <a:gdLst/>
              <a:ahLst/>
              <a:cxnLst/>
              <a:rect r="r" b="b" t="t" l="l"/>
              <a:pathLst>
                <a:path h="731520" w="6309360">
                  <a:moveTo>
                    <a:pt x="0" y="0"/>
                  </a:moveTo>
                  <a:lnTo>
                    <a:pt x="6309360" y="0"/>
                  </a:lnTo>
                  <a:lnTo>
                    <a:pt x="6309360" y="731520"/>
                  </a:lnTo>
                  <a:lnTo>
                    <a:pt x="0" y="731520"/>
                  </a:lnTo>
                  <a:close/>
                </a:path>
              </a:pathLst>
            </a:custGeom>
            <a:blipFill>
              <a:blip r:embed="rId2">
                <a:alphaModFix amt="0"/>
              </a:blip>
              <a:stretch>
                <a:fillRect l="0" t="-118058" r="0" b="-118058"/>
              </a:stretch>
            </a:blipFill>
          </p:spPr>
        </p:sp>
        <p:sp>
          <p:nvSpPr>
            <p:cNvPr name="TextBox 57" id="57"/>
            <p:cNvSpPr txBox="true"/>
            <p:nvPr/>
          </p:nvSpPr>
          <p:spPr>
            <a:xfrm>
              <a:off x="0" y="-47625"/>
              <a:ext cx="6309360" cy="779145"/>
            </a:xfrm>
            <a:prstGeom prst="rect">
              <a:avLst/>
            </a:prstGeom>
          </p:spPr>
          <p:txBody>
            <a:bodyPr anchor="ctr" rtlCol="false" tIns="0" lIns="0" bIns="0" rIns="0"/>
            <a:lstStyle/>
            <a:p>
              <a:pPr algn="l" marL="0" indent="0" lvl="0">
                <a:lnSpc>
                  <a:spcPts val="2340"/>
                </a:lnSpc>
                <a:spcBef>
                  <a:spcPct val="0"/>
                </a:spcBef>
              </a:pPr>
              <a:r>
                <a:rPr lang="en-US" b="true" sz="1950" strike="noStrike" u="none">
                  <a:solidFill>
                    <a:srgbClr val="9FB0C9"/>
                  </a:solidFill>
                  <a:latin typeface="Calibri (MS) Bold"/>
                  <a:ea typeface="Calibri (MS) Bold"/>
                  <a:cs typeface="Calibri (MS) Bold"/>
                  <a:sym typeface="Calibri (MS) Bold"/>
                </a:rPr>
                <a:t>5 règles</a:t>
              </a:r>
            </a:p>
          </p:txBody>
        </p:sp>
      </p:grpSp>
      <p:grpSp>
        <p:nvGrpSpPr>
          <p:cNvPr name="Group 58" id="58"/>
          <p:cNvGrpSpPr/>
          <p:nvPr/>
        </p:nvGrpSpPr>
        <p:grpSpPr>
          <a:xfrm rot="0">
            <a:off x="12412980" y="5486400"/>
            <a:ext cx="4732020" cy="1645920"/>
            <a:chOff x="0" y="0"/>
            <a:chExt cx="6309360" cy="2194560"/>
          </a:xfrm>
        </p:grpSpPr>
        <p:sp>
          <p:nvSpPr>
            <p:cNvPr name="Freeform 59" id="59"/>
            <p:cNvSpPr/>
            <p:nvPr/>
          </p:nvSpPr>
          <p:spPr>
            <a:xfrm flipH="false" flipV="false" rot="0">
              <a:off x="0" y="0"/>
              <a:ext cx="6309360" cy="2194560"/>
            </a:xfrm>
            <a:custGeom>
              <a:avLst/>
              <a:gdLst/>
              <a:ahLst/>
              <a:cxnLst/>
              <a:rect r="r" b="b" t="t" l="l"/>
              <a:pathLst>
                <a:path h="2194560" w="6309360">
                  <a:moveTo>
                    <a:pt x="0" y="0"/>
                  </a:moveTo>
                  <a:lnTo>
                    <a:pt x="6309360" y="0"/>
                  </a:lnTo>
                  <a:lnTo>
                    <a:pt x="6309360" y="2194560"/>
                  </a:lnTo>
                  <a:lnTo>
                    <a:pt x="0" y="2194560"/>
                  </a:lnTo>
                  <a:close/>
                </a:path>
              </a:pathLst>
            </a:custGeom>
            <a:blipFill>
              <a:blip r:embed="rId2">
                <a:alphaModFix amt="0"/>
              </a:blip>
              <a:stretch>
                <a:fillRect l="0" t="-6019" r="0" b="-6019"/>
              </a:stretch>
            </a:blipFill>
          </p:spPr>
        </p:sp>
        <p:sp>
          <p:nvSpPr>
            <p:cNvPr name="TextBox 60" id="60"/>
            <p:cNvSpPr txBox="true"/>
            <p:nvPr/>
          </p:nvSpPr>
          <p:spPr>
            <a:xfrm>
              <a:off x="0" y="-28575"/>
              <a:ext cx="6309360" cy="2223135"/>
            </a:xfrm>
            <a:prstGeom prst="rect">
              <a:avLst/>
            </a:prstGeom>
          </p:spPr>
          <p:txBody>
            <a:bodyPr anchor="ctr" rtlCol="false" tIns="0" lIns="0" bIns="0" rIns="0"/>
            <a:lstStyle/>
            <a:p>
              <a:pPr algn="l" marL="0" indent="0" lvl="0">
                <a:lnSpc>
                  <a:spcPts val="1980"/>
                </a:lnSpc>
                <a:spcBef>
                  <a:spcPct val="0"/>
                </a:spcBef>
              </a:pPr>
              <a:r>
                <a:rPr lang="en-US" sz="1650" strike="noStrike" u="none">
                  <a:solidFill>
                    <a:srgbClr val="9FB0C9"/>
                  </a:solidFill>
                  <a:latin typeface="Calibri (MS)"/>
                  <a:ea typeface="Calibri (MS)"/>
                  <a:cs typeface="Calibri (MS)"/>
                  <a:sym typeface="Calibri (MS)"/>
                </a:rPr>
                <a:t>Valide la sortie d’anomalies ML — plage de confiance, plausibilité et seuils.</a:t>
              </a:r>
            </a:p>
          </p:txBody>
        </p:sp>
      </p:grpSp>
      <p:grpSp>
        <p:nvGrpSpPr>
          <p:cNvPr name="Group 61" id="61"/>
          <p:cNvGrpSpPr/>
          <p:nvPr/>
        </p:nvGrpSpPr>
        <p:grpSpPr>
          <a:xfrm rot="0">
            <a:off x="822960" y="8023860"/>
            <a:ext cx="16596360" cy="685800"/>
            <a:chOff x="0" y="0"/>
            <a:chExt cx="22128480" cy="914400"/>
          </a:xfrm>
        </p:grpSpPr>
        <p:sp>
          <p:nvSpPr>
            <p:cNvPr name="Freeform 62" id="62"/>
            <p:cNvSpPr/>
            <p:nvPr/>
          </p:nvSpPr>
          <p:spPr>
            <a:xfrm flipH="false" flipV="false" rot="0">
              <a:off x="0" y="0"/>
              <a:ext cx="22128480" cy="914400"/>
            </a:xfrm>
            <a:custGeom>
              <a:avLst/>
              <a:gdLst/>
              <a:ahLst/>
              <a:cxnLst/>
              <a:rect r="r" b="b" t="t" l="l"/>
              <a:pathLst>
                <a:path h="914400" w="22128480">
                  <a:moveTo>
                    <a:pt x="0" y="0"/>
                  </a:moveTo>
                  <a:lnTo>
                    <a:pt x="22128480" y="0"/>
                  </a:lnTo>
                  <a:lnTo>
                    <a:pt x="22128480" y="914400"/>
                  </a:lnTo>
                  <a:lnTo>
                    <a:pt x="0" y="914400"/>
                  </a:lnTo>
                  <a:close/>
                </a:path>
              </a:pathLst>
            </a:custGeom>
            <a:blipFill>
              <a:blip r:embed="rId2">
                <a:alphaModFix amt="0"/>
              </a:blip>
              <a:stretch>
                <a:fillRect l="0" t="-421537" r="0" b="-421537"/>
              </a:stretch>
            </a:blipFill>
          </p:spPr>
        </p:sp>
        <p:sp>
          <p:nvSpPr>
            <p:cNvPr name="TextBox 63" id="63"/>
            <p:cNvSpPr txBox="true"/>
            <p:nvPr/>
          </p:nvSpPr>
          <p:spPr>
            <a:xfrm>
              <a:off x="0" y="-28575"/>
              <a:ext cx="22128480" cy="942975"/>
            </a:xfrm>
            <a:prstGeom prst="rect">
              <a:avLst/>
            </a:prstGeom>
          </p:spPr>
          <p:txBody>
            <a:bodyPr anchor="ctr" rtlCol="false" tIns="0" lIns="0" bIns="0" rIns="0"/>
            <a:lstStyle/>
            <a:p>
              <a:pPr algn="ctr" marL="0" indent="0" lvl="0">
                <a:lnSpc>
                  <a:spcPts val="1980"/>
                </a:lnSpc>
                <a:spcBef>
                  <a:spcPct val="0"/>
                </a:spcBef>
              </a:pPr>
              <a:r>
                <a:rPr lang="en-US" sz="1650" strike="noStrike" u="none">
                  <a:solidFill>
                    <a:srgbClr val="00E5C7"/>
                  </a:solidFill>
                  <a:latin typeface="Calibri (MS)"/>
                  <a:ea typeface="Calibri (MS)"/>
                  <a:cs typeface="Calibri (MS)"/>
                  <a:sym typeface="Calibri (MS)"/>
                </a:rPr>
                <a:t>RuleResult — réussite/échec et détails d’une règle      ·      QualityReport — synthèse agrégée des réussites/échecs + JSON      ·      DataQualityError — arrête le pipeline avec tous les diagnostics</a:t>
              </a:r>
            </a:p>
          </p:txBody>
        </p:sp>
      </p:grpSp>
      <p:grpSp>
        <p:nvGrpSpPr>
          <p:cNvPr name="Group 64" id="64"/>
          <p:cNvGrpSpPr/>
          <p:nvPr/>
        </p:nvGrpSpPr>
        <p:grpSpPr>
          <a:xfrm rot="0">
            <a:off x="685800" y="9710928"/>
            <a:ext cx="10972800" cy="411480"/>
            <a:chOff x="0" y="0"/>
            <a:chExt cx="14630400" cy="548640"/>
          </a:xfrm>
        </p:grpSpPr>
        <p:sp>
          <p:nvSpPr>
            <p:cNvPr name="Freeform 65" id="6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6" id="66"/>
            <p:cNvSpPr txBox="true"/>
            <p:nvPr/>
          </p:nvSpPr>
          <p:spPr>
            <a:xfrm>
              <a:off x="0" y="-28575"/>
              <a:ext cx="14630400" cy="577215"/>
            </a:xfrm>
            <a:prstGeom prst="rect">
              <a:avLst/>
            </a:prstGeom>
          </p:spPr>
          <p:txBody>
            <a:bodyPr anchor="ctr" rtlCol="false" tIns="0" lIns="0" bIns="0" rIns="0"/>
            <a:lstStyle/>
            <a:p>
              <a:pPr algn="l" marL="0" indent="0" lvl="0">
                <a:lnSpc>
                  <a:spcPts val="1620"/>
                </a:lnSpc>
                <a:spcBef>
                  <a:spcPct val="0"/>
                </a:spcBef>
              </a:pPr>
              <a:r>
                <a:rPr lang="en-US" sz="1350" spc="149" strike="noStrike" u="none">
                  <a:solidFill>
                    <a:srgbClr val="6E84A6"/>
                  </a:solidFill>
                  <a:latin typeface="Calibri (MS)"/>
                  <a:ea typeface="Calibri (MS)"/>
                  <a:cs typeface="Calibri (MS)"/>
                  <a:sym typeface="Calibri (MS)"/>
                </a:rPr>
                <a:t>PLATEFORME MLSECOPS · STRATÉGIE DE QUALITÉ DES DONNÉES &amp; DE TESTS</a:t>
              </a:r>
            </a:p>
          </p:txBody>
        </p:sp>
      </p:grpSp>
      <p:grpSp>
        <p:nvGrpSpPr>
          <p:cNvPr name="Group 67" id="67"/>
          <p:cNvGrpSpPr/>
          <p:nvPr/>
        </p:nvGrpSpPr>
        <p:grpSpPr>
          <a:xfrm rot="0">
            <a:off x="16500348" y="9710928"/>
            <a:ext cx="1097280" cy="411480"/>
            <a:chOff x="0" y="0"/>
            <a:chExt cx="1463040" cy="548640"/>
          </a:xfrm>
        </p:grpSpPr>
        <p:sp>
          <p:nvSpPr>
            <p:cNvPr name="Freeform 68" id="68"/>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69" id="69"/>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13 / 32</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marL="0" indent="0" lvl="0">
                <a:lnSpc>
                  <a:spcPts val="2250"/>
                </a:lnSpc>
                <a:spcBef>
                  <a:spcPct val="0"/>
                </a:spcBef>
              </a:pPr>
              <a:r>
                <a:rPr lang="en-US" b="true" sz="1875" spc="300" strike="noStrike" u="none">
                  <a:solidFill>
                    <a:srgbClr val="00E5C7"/>
                  </a:solidFill>
                  <a:latin typeface="Calibri (MS) Bold"/>
                  <a:ea typeface="Calibri (MS) Bold"/>
                  <a:cs typeface="Calibri (MS) Bold"/>
                  <a:sym typeface="Calibri (MS) Bold"/>
                </a:rPr>
                <a:t>QUALITÉ DES DONNÉES &amp; TESTS</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marL="0" indent="0" lvl="0">
                <a:lnSpc>
                  <a:spcPts val="1800"/>
                </a:lnSpc>
                <a:spcBef>
                  <a:spcPct val="0"/>
                </a:spcBef>
              </a:pPr>
              <a:r>
                <a:rPr lang="en-US" b="true" sz="1500" spc="225" strike="noStrike" u="none">
                  <a:solidFill>
                    <a:srgbClr val="00E5C7"/>
                  </a:solidFill>
                  <a:latin typeface="Calibri (MS) Bold"/>
                  <a:ea typeface="Calibri (MS) Bold"/>
                  <a:cs typeface="Calibri (MS) Bold"/>
                  <a:sym typeface="Calibri (MS) Bold"/>
                </a:rPr>
                <a:t>INTERVENANT 4</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marL="0" indent="0" lvl="0">
                <a:lnSpc>
                  <a:spcPts val="1889"/>
                </a:lnSpc>
                <a:spcBef>
                  <a:spcPct val="0"/>
                </a:spcBef>
              </a:pPr>
              <a:r>
                <a:rPr lang="en-US" sz="1575" strike="noStrike" u="none">
                  <a:solidFill>
                    <a:srgbClr val="9FB0C9"/>
                  </a:solidFill>
                  <a:latin typeface="Calibri (MS)"/>
                  <a:ea typeface="Calibri (MS)"/>
                  <a:cs typeface="Calibri (MS)"/>
                  <a:sym typeface="Calibri (MS)"/>
                </a:rPr>
                <a:t>Hamza Rbib — QA / Testeur</a:t>
              </a:r>
            </a:p>
          </p:txBody>
        </p:sp>
      </p:grpSp>
      <p:grpSp>
        <p:nvGrpSpPr>
          <p:cNvPr name="Group 11" id="11"/>
          <p:cNvGrpSpPr/>
          <p:nvPr/>
        </p:nvGrpSpPr>
        <p:grpSpPr>
          <a:xfrm rot="0">
            <a:off x="727267" y="96969"/>
            <a:ext cx="16596360" cy="6411813"/>
            <a:chOff x="0" y="0"/>
            <a:chExt cx="22128480" cy="8549084"/>
          </a:xfrm>
        </p:grpSpPr>
        <p:sp>
          <p:nvSpPr>
            <p:cNvPr name="Freeform 12" id="12"/>
            <p:cNvSpPr/>
            <p:nvPr/>
          </p:nvSpPr>
          <p:spPr>
            <a:xfrm flipH="false" flipV="false" rot="0">
              <a:off x="0" y="0"/>
              <a:ext cx="22128480" cy="8549084"/>
            </a:xfrm>
            <a:custGeom>
              <a:avLst/>
              <a:gdLst/>
              <a:ahLst/>
              <a:cxnLst/>
              <a:rect r="r" b="b" t="t" l="l"/>
              <a:pathLst>
                <a:path h="8549084" w="22128480">
                  <a:moveTo>
                    <a:pt x="0" y="0"/>
                  </a:moveTo>
                  <a:lnTo>
                    <a:pt x="22128480" y="0"/>
                  </a:lnTo>
                  <a:lnTo>
                    <a:pt x="22128480" y="8549084"/>
                  </a:lnTo>
                  <a:lnTo>
                    <a:pt x="0" y="8549084"/>
                  </a:lnTo>
                  <a:close/>
                </a:path>
              </a:pathLst>
            </a:custGeom>
            <a:blipFill>
              <a:blip r:embed="rId2">
                <a:alphaModFix amt="0"/>
              </a:blip>
              <a:stretch>
                <a:fillRect l="0" t="-40274" r="0" b="39403"/>
              </a:stretch>
            </a:blipFill>
          </p:spPr>
        </p:sp>
        <p:sp>
          <p:nvSpPr>
            <p:cNvPr name="TextBox 13" id="13"/>
            <p:cNvSpPr txBox="true"/>
            <p:nvPr/>
          </p:nvSpPr>
          <p:spPr>
            <a:xfrm>
              <a:off x="0" y="-9525"/>
              <a:ext cx="22128480" cy="8558609"/>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Règles</a:t>
              </a:r>
              <a:r>
                <a:rPr lang="en-US" sz="4800" b="true">
                  <a:solidFill>
                    <a:srgbClr val="FFFFFF"/>
                  </a:solidFill>
                  <a:latin typeface="Cambria Bold"/>
                  <a:ea typeface="Cambria Bold"/>
                  <a:cs typeface="Cambria Bold"/>
                  <a:sym typeface="Cambria Bold"/>
                </a:rPr>
                <a:t> de validation des données et application du schéma</a:t>
              </a:r>
            </a:p>
            <a:p>
              <a:pPr algn="l">
                <a:lnSpc>
                  <a:spcPts val="5759"/>
                </a:lnSpc>
              </a:pPr>
            </a:p>
            <a:p>
              <a:pPr algn="l">
                <a:lnSpc>
                  <a:spcPts val="5759"/>
                </a:lnSpc>
              </a:pPr>
            </a:p>
            <a:p>
              <a:pPr algn="l">
                <a:lnSpc>
                  <a:spcPts val="5759"/>
                </a:lnSpc>
              </a:pPr>
            </a:p>
            <a:p>
              <a:pPr algn="l">
                <a:lnSpc>
                  <a:spcPts val="5759"/>
                </a:lnSpc>
              </a:pPr>
            </a:p>
          </p:txBody>
        </p:sp>
      </p:grpSp>
      <p:grpSp>
        <p:nvGrpSpPr>
          <p:cNvPr name="Group 14" id="14"/>
          <p:cNvGrpSpPr/>
          <p:nvPr/>
        </p:nvGrpSpPr>
        <p:grpSpPr>
          <a:xfrm rot="0">
            <a:off x="822960" y="2674620"/>
            <a:ext cx="1097280" cy="411480"/>
            <a:chOff x="0" y="0"/>
            <a:chExt cx="1463040" cy="548640"/>
          </a:xfrm>
        </p:grpSpPr>
        <p:sp>
          <p:nvSpPr>
            <p:cNvPr name="Freeform 15" id="15"/>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16" id="16"/>
            <p:cNvSpPr txBox="true"/>
            <p:nvPr/>
          </p:nvSpPr>
          <p:spPr>
            <a:xfrm>
              <a:off x="0" y="-38100"/>
              <a:ext cx="1463040" cy="586740"/>
            </a:xfrm>
            <a:prstGeom prst="rect">
              <a:avLst/>
            </a:prstGeom>
          </p:spPr>
          <p:txBody>
            <a:bodyPr anchor="ctr" rtlCol="false" tIns="0" lIns="0" bIns="0" rIns="0"/>
            <a:lstStyle/>
            <a:p>
              <a:pPr algn="l" marL="0" indent="0" lvl="0">
                <a:lnSpc>
                  <a:spcPts val="1800"/>
                </a:lnSpc>
                <a:spcBef>
                  <a:spcPct val="0"/>
                </a:spcBef>
              </a:pPr>
              <a:r>
                <a:rPr lang="en-US" b="true" sz="1500" spc="150" strike="noStrike" u="none">
                  <a:solidFill>
                    <a:srgbClr val="00E5C7"/>
                  </a:solidFill>
                  <a:latin typeface="Calibri (MS) Bold"/>
                  <a:ea typeface="Calibri (MS) Bold"/>
                  <a:cs typeface="Calibri (MS) Bold"/>
                  <a:sym typeface="Calibri (MS) Bold"/>
                </a:rPr>
                <a:t>ID</a:t>
              </a:r>
            </a:p>
          </p:txBody>
        </p:sp>
      </p:grpSp>
      <p:grpSp>
        <p:nvGrpSpPr>
          <p:cNvPr name="Group 17" id="17"/>
          <p:cNvGrpSpPr/>
          <p:nvPr/>
        </p:nvGrpSpPr>
        <p:grpSpPr>
          <a:xfrm rot="0">
            <a:off x="2057400" y="2674620"/>
            <a:ext cx="2331720" cy="411480"/>
            <a:chOff x="0" y="0"/>
            <a:chExt cx="3108960" cy="548640"/>
          </a:xfrm>
        </p:grpSpPr>
        <p:sp>
          <p:nvSpPr>
            <p:cNvPr name="Freeform 18" id="18"/>
            <p:cNvSpPr/>
            <p:nvPr/>
          </p:nvSpPr>
          <p:spPr>
            <a:xfrm flipH="false" flipV="false" rot="0">
              <a:off x="0" y="0"/>
              <a:ext cx="3108960" cy="548640"/>
            </a:xfrm>
            <a:custGeom>
              <a:avLst/>
              <a:gdLst/>
              <a:ahLst/>
              <a:cxnLst/>
              <a:rect r="r" b="b" t="t" l="l"/>
              <a:pathLst>
                <a:path h="548640" w="3108960">
                  <a:moveTo>
                    <a:pt x="0" y="0"/>
                  </a:moveTo>
                  <a:lnTo>
                    <a:pt x="3108960" y="0"/>
                  </a:lnTo>
                  <a:lnTo>
                    <a:pt x="3108960" y="548640"/>
                  </a:lnTo>
                  <a:lnTo>
                    <a:pt x="0" y="548640"/>
                  </a:lnTo>
                  <a:close/>
                </a:path>
              </a:pathLst>
            </a:custGeom>
            <a:blipFill>
              <a:blip r:embed="rId2">
                <a:alphaModFix amt="0"/>
              </a:blip>
              <a:stretch>
                <a:fillRect l="0" t="-60415" r="0" b="-60415"/>
              </a:stretch>
            </a:blipFill>
          </p:spPr>
        </p:sp>
        <p:sp>
          <p:nvSpPr>
            <p:cNvPr name="TextBox 19" id="19"/>
            <p:cNvSpPr txBox="true"/>
            <p:nvPr/>
          </p:nvSpPr>
          <p:spPr>
            <a:xfrm>
              <a:off x="0" y="-38100"/>
              <a:ext cx="3108960" cy="586740"/>
            </a:xfrm>
            <a:prstGeom prst="rect">
              <a:avLst/>
            </a:prstGeom>
          </p:spPr>
          <p:txBody>
            <a:bodyPr anchor="ctr" rtlCol="false" tIns="0" lIns="0" bIns="0" rIns="0"/>
            <a:lstStyle/>
            <a:p>
              <a:pPr algn="l" marL="0" indent="0" lvl="0">
                <a:lnSpc>
                  <a:spcPts val="1800"/>
                </a:lnSpc>
                <a:spcBef>
                  <a:spcPct val="0"/>
                </a:spcBef>
              </a:pPr>
              <a:r>
                <a:rPr lang="en-US" b="true" sz="1500" spc="150" strike="noStrike" u="none">
                  <a:solidFill>
                    <a:srgbClr val="00E5C7"/>
                  </a:solidFill>
                  <a:latin typeface="Calibri (MS) Bold"/>
                  <a:ea typeface="Calibri (MS) Bold"/>
                  <a:cs typeface="Calibri (MS) Bold"/>
                  <a:sym typeface="Calibri (MS) Bold"/>
                </a:rPr>
                <a:t>CATÉGORIE</a:t>
              </a:r>
            </a:p>
          </p:txBody>
        </p:sp>
      </p:grpSp>
      <p:grpSp>
        <p:nvGrpSpPr>
          <p:cNvPr name="Group 20" id="20"/>
          <p:cNvGrpSpPr/>
          <p:nvPr/>
        </p:nvGrpSpPr>
        <p:grpSpPr>
          <a:xfrm rot="0">
            <a:off x="4526280" y="2674620"/>
            <a:ext cx="3771900" cy="411480"/>
            <a:chOff x="0" y="0"/>
            <a:chExt cx="5029200" cy="548640"/>
          </a:xfrm>
        </p:grpSpPr>
        <p:sp>
          <p:nvSpPr>
            <p:cNvPr name="Freeform 21" id="21"/>
            <p:cNvSpPr/>
            <p:nvPr/>
          </p:nvSpPr>
          <p:spPr>
            <a:xfrm flipH="false" flipV="false" rot="0">
              <a:off x="0" y="0"/>
              <a:ext cx="5029200" cy="548640"/>
            </a:xfrm>
            <a:custGeom>
              <a:avLst/>
              <a:gdLst/>
              <a:ahLst/>
              <a:cxnLst/>
              <a:rect r="r" b="b" t="t" l="l"/>
              <a:pathLst>
                <a:path h="548640" w="5029200">
                  <a:moveTo>
                    <a:pt x="0" y="0"/>
                  </a:moveTo>
                  <a:lnTo>
                    <a:pt x="5029200" y="0"/>
                  </a:lnTo>
                  <a:lnTo>
                    <a:pt x="5029200" y="548640"/>
                  </a:lnTo>
                  <a:lnTo>
                    <a:pt x="0" y="548640"/>
                  </a:lnTo>
                  <a:close/>
                </a:path>
              </a:pathLst>
            </a:custGeom>
            <a:blipFill>
              <a:blip r:embed="rId2">
                <a:alphaModFix amt="0"/>
              </a:blip>
              <a:stretch>
                <a:fillRect l="0" t="-128612" r="0" b="-128612"/>
              </a:stretch>
            </a:blipFill>
          </p:spPr>
        </p:sp>
        <p:sp>
          <p:nvSpPr>
            <p:cNvPr name="TextBox 22" id="22"/>
            <p:cNvSpPr txBox="true"/>
            <p:nvPr/>
          </p:nvSpPr>
          <p:spPr>
            <a:xfrm>
              <a:off x="0" y="-38100"/>
              <a:ext cx="5029200" cy="586740"/>
            </a:xfrm>
            <a:prstGeom prst="rect">
              <a:avLst/>
            </a:prstGeom>
          </p:spPr>
          <p:txBody>
            <a:bodyPr anchor="ctr" rtlCol="false" tIns="0" lIns="0" bIns="0" rIns="0"/>
            <a:lstStyle/>
            <a:p>
              <a:pPr algn="l" marL="0" indent="0" lvl="0">
                <a:lnSpc>
                  <a:spcPts val="1800"/>
                </a:lnSpc>
                <a:spcBef>
                  <a:spcPct val="0"/>
                </a:spcBef>
              </a:pPr>
              <a:r>
                <a:rPr lang="en-US" b="true" sz="1500" spc="150" strike="noStrike" u="none">
                  <a:solidFill>
                    <a:srgbClr val="00E5C7"/>
                  </a:solidFill>
                  <a:latin typeface="Calibri (MS) Bold"/>
                  <a:ea typeface="Calibri (MS) Bold"/>
                  <a:cs typeface="Calibri (MS) Bold"/>
                  <a:sym typeface="Calibri (MS) Bold"/>
                </a:rPr>
                <a:t>RÈGLE</a:t>
              </a:r>
            </a:p>
          </p:txBody>
        </p:sp>
      </p:grpSp>
      <p:grpSp>
        <p:nvGrpSpPr>
          <p:cNvPr name="Group 23" id="23"/>
          <p:cNvGrpSpPr/>
          <p:nvPr/>
        </p:nvGrpSpPr>
        <p:grpSpPr>
          <a:xfrm rot="0">
            <a:off x="8503920" y="2674620"/>
            <a:ext cx="8435340" cy="411480"/>
            <a:chOff x="0" y="0"/>
            <a:chExt cx="11247120" cy="548640"/>
          </a:xfrm>
        </p:grpSpPr>
        <p:sp>
          <p:nvSpPr>
            <p:cNvPr name="Freeform 24" id="24"/>
            <p:cNvSpPr/>
            <p:nvPr/>
          </p:nvSpPr>
          <p:spPr>
            <a:xfrm flipH="false" flipV="false" rot="0">
              <a:off x="0" y="0"/>
              <a:ext cx="11247120" cy="548640"/>
            </a:xfrm>
            <a:custGeom>
              <a:avLst/>
              <a:gdLst/>
              <a:ahLst/>
              <a:cxnLst/>
              <a:rect r="r" b="b" t="t" l="l"/>
              <a:pathLst>
                <a:path h="548640" w="11247120">
                  <a:moveTo>
                    <a:pt x="0" y="0"/>
                  </a:moveTo>
                  <a:lnTo>
                    <a:pt x="11247120" y="0"/>
                  </a:lnTo>
                  <a:lnTo>
                    <a:pt x="11247120" y="548640"/>
                  </a:lnTo>
                  <a:lnTo>
                    <a:pt x="0" y="548640"/>
                  </a:lnTo>
                  <a:close/>
                </a:path>
              </a:pathLst>
            </a:custGeom>
            <a:blipFill>
              <a:blip r:embed="rId2">
                <a:alphaModFix amt="0"/>
              </a:blip>
              <a:stretch>
                <a:fillRect l="0" t="-349443" r="0" b="-349443"/>
              </a:stretch>
            </a:blipFill>
          </p:spPr>
        </p:sp>
        <p:sp>
          <p:nvSpPr>
            <p:cNvPr name="TextBox 25" id="25"/>
            <p:cNvSpPr txBox="true"/>
            <p:nvPr/>
          </p:nvSpPr>
          <p:spPr>
            <a:xfrm>
              <a:off x="0" y="-38100"/>
              <a:ext cx="11247120" cy="586740"/>
            </a:xfrm>
            <a:prstGeom prst="rect">
              <a:avLst/>
            </a:prstGeom>
          </p:spPr>
          <p:txBody>
            <a:bodyPr anchor="ctr" rtlCol="false" tIns="0" lIns="0" bIns="0" rIns="0"/>
            <a:lstStyle/>
            <a:p>
              <a:pPr algn="l" marL="0" indent="0" lvl="0">
                <a:lnSpc>
                  <a:spcPts val="1800"/>
                </a:lnSpc>
                <a:spcBef>
                  <a:spcPct val="0"/>
                </a:spcBef>
              </a:pPr>
              <a:r>
                <a:rPr lang="en-US" b="true" sz="1500" spc="150" strike="noStrike" u="none">
                  <a:solidFill>
                    <a:srgbClr val="00E5C7"/>
                  </a:solidFill>
                  <a:latin typeface="Calibri (MS) Bold"/>
                  <a:ea typeface="Calibri (MS) Bold"/>
                  <a:cs typeface="Calibri (MS) Bold"/>
                  <a:sym typeface="Calibri (MS) Bold"/>
                </a:rPr>
                <a:t>DESCRIPTION</a:t>
              </a:r>
            </a:p>
          </p:txBody>
        </p:sp>
      </p:grpSp>
      <p:sp>
        <p:nvSpPr>
          <p:cNvPr name="AutoShape 26" id="26"/>
          <p:cNvSpPr/>
          <p:nvPr/>
        </p:nvSpPr>
        <p:spPr>
          <a:xfrm rot="4020">
            <a:off x="813425" y="3108770"/>
            <a:ext cx="16203940" cy="0"/>
          </a:xfrm>
          <a:prstGeom prst="line">
            <a:avLst/>
          </a:prstGeom>
          <a:ln cap="rnd" w="9525">
            <a:solidFill>
              <a:srgbClr val="1E3358"/>
            </a:solidFill>
            <a:prstDash val="solid"/>
            <a:headEnd type="none" len="sm" w="sm"/>
            <a:tailEnd type="none" len="sm" w="sm"/>
          </a:ln>
        </p:spPr>
      </p:sp>
      <p:grpSp>
        <p:nvGrpSpPr>
          <p:cNvPr name="Group 27" id="27"/>
          <p:cNvGrpSpPr/>
          <p:nvPr/>
        </p:nvGrpSpPr>
        <p:grpSpPr>
          <a:xfrm rot="0">
            <a:off x="754380" y="3250692"/>
            <a:ext cx="16322040" cy="548640"/>
            <a:chOff x="0" y="0"/>
            <a:chExt cx="21762720" cy="731520"/>
          </a:xfrm>
        </p:grpSpPr>
        <p:sp>
          <p:nvSpPr>
            <p:cNvPr name="Freeform 28" id="28"/>
            <p:cNvSpPr/>
            <p:nvPr/>
          </p:nvSpPr>
          <p:spPr>
            <a:xfrm flipH="false" flipV="false" rot="0">
              <a:off x="0" y="0"/>
              <a:ext cx="21762720" cy="731520"/>
            </a:xfrm>
            <a:custGeom>
              <a:avLst/>
              <a:gdLst/>
              <a:ahLst/>
              <a:cxnLst/>
              <a:rect r="r" b="b" t="t" l="l"/>
              <a:pathLst>
                <a:path h="731520" w="21762720">
                  <a:moveTo>
                    <a:pt x="0" y="0"/>
                  </a:moveTo>
                  <a:lnTo>
                    <a:pt x="21762720" y="0"/>
                  </a:lnTo>
                  <a:lnTo>
                    <a:pt x="21762720" y="731520"/>
                  </a:lnTo>
                  <a:lnTo>
                    <a:pt x="0" y="731520"/>
                  </a:lnTo>
                  <a:close/>
                </a:path>
              </a:pathLst>
            </a:custGeom>
            <a:solidFill>
              <a:srgbClr val="0F2038"/>
            </a:solidFill>
          </p:spPr>
        </p:sp>
      </p:grpSp>
      <p:grpSp>
        <p:nvGrpSpPr>
          <p:cNvPr name="Group 29" id="29"/>
          <p:cNvGrpSpPr/>
          <p:nvPr/>
        </p:nvGrpSpPr>
        <p:grpSpPr>
          <a:xfrm rot="0">
            <a:off x="822960" y="3291840"/>
            <a:ext cx="1097280" cy="480060"/>
            <a:chOff x="0" y="0"/>
            <a:chExt cx="1463040" cy="640080"/>
          </a:xfrm>
        </p:grpSpPr>
        <p:sp>
          <p:nvSpPr>
            <p:cNvPr name="Freeform 30" id="30"/>
            <p:cNvSpPr/>
            <p:nvPr/>
          </p:nvSpPr>
          <p:spPr>
            <a:xfrm flipH="false" flipV="false" rot="0">
              <a:off x="0" y="0"/>
              <a:ext cx="1463040" cy="640080"/>
            </a:xfrm>
            <a:custGeom>
              <a:avLst/>
              <a:gdLst/>
              <a:ahLst/>
              <a:cxnLst/>
              <a:rect r="r" b="b" t="t" l="l"/>
              <a:pathLst>
                <a:path h="640080" w="1463040">
                  <a:moveTo>
                    <a:pt x="0" y="0"/>
                  </a:moveTo>
                  <a:lnTo>
                    <a:pt x="1463040" y="0"/>
                  </a:lnTo>
                  <a:lnTo>
                    <a:pt x="1463040" y="640080"/>
                  </a:lnTo>
                  <a:lnTo>
                    <a:pt x="0" y="640080"/>
                  </a:lnTo>
                  <a:close/>
                </a:path>
              </a:pathLst>
            </a:custGeom>
            <a:blipFill>
              <a:blip r:embed="rId2">
                <a:alphaModFix amt="0"/>
              </a:blip>
              <a:stretch>
                <a:fillRect l="-6132" t="0" r="-6132" b="0"/>
              </a:stretch>
            </a:blipFill>
          </p:spPr>
        </p:sp>
        <p:sp>
          <p:nvSpPr>
            <p:cNvPr name="TextBox 31" id="31"/>
            <p:cNvSpPr txBox="true"/>
            <p:nvPr/>
          </p:nvSpPr>
          <p:spPr>
            <a:xfrm>
              <a:off x="0" y="-28575"/>
              <a:ext cx="1463040" cy="668655"/>
            </a:xfrm>
            <a:prstGeom prst="rect">
              <a:avLst/>
            </a:prstGeom>
          </p:spPr>
          <p:txBody>
            <a:bodyPr anchor="ctr" rtlCol="false" tIns="0" lIns="0" bIns="0" rIns="0"/>
            <a:lstStyle/>
            <a:p>
              <a:pPr algn="l">
                <a:lnSpc>
                  <a:spcPts val="1889"/>
                </a:lnSpc>
              </a:pPr>
              <a:r>
                <a:rPr lang="en-US" sz="1575" b="true">
                  <a:solidFill>
                    <a:srgbClr val="00E5C7"/>
                  </a:solidFill>
                  <a:latin typeface="Consolas Bold"/>
                  <a:ea typeface="Consolas Bold"/>
                  <a:cs typeface="Consolas Bold"/>
                  <a:sym typeface="Consolas Bold"/>
                </a:rPr>
                <a:t>C2</a:t>
              </a:r>
            </a:p>
          </p:txBody>
        </p:sp>
      </p:grpSp>
      <p:grpSp>
        <p:nvGrpSpPr>
          <p:cNvPr name="Group 32" id="32"/>
          <p:cNvGrpSpPr/>
          <p:nvPr/>
        </p:nvGrpSpPr>
        <p:grpSpPr>
          <a:xfrm rot="0">
            <a:off x="2057400" y="3291840"/>
            <a:ext cx="2331720" cy="480060"/>
            <a:chOff x="0" y="0"/>
            <a:chExt cx="3108960" cy="640080"/>
          </a:xfrm>
        </p:grpSpPr>
        <p:sp>
          <p:nvSpPr>
            <p:cNvPr name="Freeform 33" id="33"/>
            <p:cNvSpPr/>
            <p:nvPr/>
          </p:nvSpPr>
          <p:spPr>
            <a:xfrm flipH="false" flipV="false" rot="0">
              <a:off x="0" y="0"/>
              <a:ext cx="3108960" cy="640080"/>
            </a:xfrm>
            <a:custGeom>
              <a:avLst/>
              <a:gdLst/>
              <a:ahLst/>
              <a:cxnLst/>
              <a:rect r="r" b="b" t="t" l="l"/>
              <a:pathLst>
                <a:path h="640080" w="3108960">
                  <a:moveTo>
                    <a:pt x="0" y="0"/>
                  </a:moveTo>
                  <a:lnTo>
                    <a:pt x="3108960" y="0"/>
                  </a:lnTo>
                  <a:lnTo>
                    <a:pt x="3108960" y="640080"/>
                  </a:lnTo>
                  <a:lnTo>
                    <a:pt x="0" y="640080"/>
                  </a:lnTo>
                  <a:close/>
                </a:path>
              </a:pathLst>
            </a:custGeom>
            <a:blipFill>
              <a:blip r:embed="rId2">
                <a:alphaModFix amt="0"/>
              </a:blip>
              <a:stretch>
                <a:fillRect l="0" t="-44641" r="0" b="-44641"/>
              </a:stretch>
            </a:blipFill>
          </p:spPr>
        </p:sp>
        <p:sp>
          <p:nvSpPr>
            <p:cNvPr name="TextBox 34" id="34"/>
            <p:cNvSpPr txBox="true"/>
            <p:nvPr/>
          </p:nvSpPr>
          <p:spPr>
            <a:xfrm>
              <a:off x="0" y="-19050"/>
              <a:ext cx="3108960" cy="659130"/>
            </a:xfrm>
            <a:prstGeom prst="rect">
              <a:avLst/>
            </a:prstGeom>
          </p:spPr>
          <p:txBody>
            <a:bodyPr anchor="ctr" rtlCol="false" tIns="0" lIns="0" bIns="0" rIns="0"/>
            <a:lstStyle/>
            <a:p>
              <a:pPr algn="l" marL="0" indent="0" lvl="0">
                <a:lnSpc>
                  <a:spcPts val="1889"/>
                </a:lnSpc>
                <a:spcBef>
                  <a:spcPct val="0"/>
                </a:spcBef>
              </a:pPr>
              <a:r>
                <a:rPr lang="en-US" sz="1575" strike="noStrike" u="none">
                  <a:solidFill>
                    <a:srgbClr val="9FB0C9"/>
                  </a:solidFill>
                  <a:latin typeface="Calibri (MS)"/>
                  <a:ea typeface="Calibri (MS)"/>
                  <a:cs typeface="Calibri (MS)"/>
                  <a:sym typeface="Calibri (MS)"/>
                </a:rPr>
                <a:t>Complétude</a:t>
              </a:r>
            </a:p>
          </p:txBody>
        </p:sp>
      </p:grpSp>
      <p:grpSp>
        <p:nvGrpSpPr>
          <p:cNvPr name="Group 35" id="35"/>
          <p:cNvGrpSpPr/>
          <p:nvPr/>
        </p:nvGrpSpPr>
        <p:grpSpPr>
          <a:xfrm rot="0">
            <a:off x="4526280" y="3291840"/>
            <a:ext cx="3771900" cy="480060"/>
            <a:chOff x="0" y="0"/>
            <a:chExt cx="5029200" cy="640080"/>
          </a:xfrm>
        </p:grpSpPr>
        <p:sp>
          <p:nvSpPr>
            <p:cNvPr name="Freeform 36" id="36"/>
            <p:cNvSpPr/>
            <p:nvPr/>
          </p:nvSpPr>
          <p:spPr>
            <a:xfrm flipH="false" flipV="false" rot="0">
              <a:off x="0" y="0"/>
              <a:ext cx="5029200" cy="640080"/>
            </a:xfrm>
            <a:custGeom>
              <a:avLst/>
              <a:gdLst/>
              <a:ahLst/>
              <a:cxnLst/>
              <a:rect r="r" b="b" t="t" l="l"/>
              <a:pathLst>
                <a:path h="640080" w="5029200">
                  <a:moveTo>
                    <a:pt x="0" y="0"/>
                  </a:moveTo>
                  <a:lnTo>
                    <a:pt x="5029200" y="0"/>
                  </a:lnTo>
                  <a:lnTo>
                    <a:pt x="5029200" y="640080"/>
                  </a:lnTo>
                  <a:lnTo>
                    <a:pt x="0" y="640080"/>
                  </a:lnTo>
                  <a:close/>
                </a:path>
              </a:pathLst>
            </a:custGeom>
            <a:blipFill>
              <a:blip r:embed="rId2">
                <a:alphaModFix amt="0"/>
              </a:blip>
              <a:stretch>
                <a:fillRect l="0" t="-103096" r="0" b="-103096"/>
              </a:stretch>
            </a:blipFill>
          </p:spPr>
        </p:sp>
        <p:sp>
          <p:nvSpPr>
            <p:cNvPr name="TextBox 37" id="37"/>
            <p:cNvSpPr txBox="true"/>
            <p:nvPr/>
          </p:nvSpPr>
          <p:spPr>
            <a:xfrm>
              <a:off x="0" y="-38100"/>
              <a:ext cx="5029200" cy="678180"/>
            </a:xfrm>
            <a:prstGeom prst="rect">
              <a:avLst/>
            </a:prstGeom>
          </p:spPr>
          <p:txBody>
            <a:bodyPr anchor="ctr" rtlCol="false" tIns="0" lIns="0" bIns="0" rIns="0"/>
            <a:lstStyle/>
            <a:p>
              <a:pPr algn="l">
                <a:lnSpc>
                  <a:spcPts val="1800"/>
                </a:lnSpc>
              </a:pPr>
              <a:r>
                <a:rPr lang="en-US" sz="1500">
                  <a:solidFill>
                    <a:srgbClr val="FFFFFF"/>
                  </a:solidFill>
                  <a:latin typeface="Consolas"/>
                  <a:ea typeface="Consolas"/>
                  <a:cs typeface="Consolas"/>
                  <a:sym typeface="Consolas"/>
                </a:rPr>
                <a:t>column_count_match</a:t>
              </a:r>
            </a:p>
          </p:txBody>
        </p:sp>
      </p:grpSp>
      <p:grpSp>
        <p:nvGrpSpPr>
          <p:cNvPr name="Group 38" id="38"/>
          <p:cNvGrpSpPr/>
          <p:nvPr/>
        </p:nvGrpSpPr>
        <p:grpSpPr>
          <a:xfrm rot="0">
            <a:off x="8503920" y="3291840"/>
            <a:ext cx="8435340" cy="480060"/>
            <a:chOff x="0" y="0"/>
            <a:chExt cx="11247120" cy="640080"/>
          </a:xfrm>
        </p:grpSpPr>
        <p:sp>
          <p:nvSpPr>
            <p:cNvPr name="Freeform 39" id="39"/>
            <p:cNvSpPr/>
            <p:nvPr/>
          </p:nvSpPr>
          <p:spPr>
            <a:xfrm flipH="false" flipV="false" rot="0">
              <a:off x="0" y="0"/>
              <a:ext cx="11247120" cy="640080"/>
            </a:xfrm>
            <a:custGeom>
              <a:avLst/>
              <a:gdLst/>
              <a:ahLst/>
              <a:cxnLst/>
              <a:rect r="r" b="b" t="t" l="l"/>
              <a:pathLst>
                <a:path h="640080" w="11247120">
                  <a:moveTo>
                    <a:pt x="0" y="0"/>
                  </a:moveTo>
                  <a:lnTo>
                    <a:pt x="11247120" y="0"/>
                  </a:lnTo>
                  <a:lnTo>
                    <a:pt x="11247120" y="640080"/>
                  </a:lnTo>
                  <a:lnTo>
                    <a:pt x="0" y="640080"/>
                  </a:lnTo>
                  <a:close/>
                </a:path>
              </a:pathLst>
            </a:custGeom>
            <a:blipFill>
              <a:blip r:embed="rId2">
                <a:alphaModFix amt="0"/>
              </a:blip>
              <a:stretch>
                <a:fillRect l="0" t="-292379" r="0" b="-292379"/>
              </a:stretch>
            </a:blipFill>
          </p:spPr>
        </p:sp>
        <p:sp>
          <p:nvSpPr>
            <p:cNvPr name="TextBox 40" id="40"/>
            <p:cNvSpPr txBox="true"/>
            <p:nvPr/>
          </p:nvSpPr>
          <p:spPr>
            <a:xfrm>
              <a:off x="0" y="-19050"/>
              <a:ext cx="11247120" cy="659130"/>
            </a:xfrm>
            <a:prstGeom prst="rect">
              <a:avLst/>
            </a:prstGeom>
          </p:spPr>
          <p:txBody>
            <a:bodyPr anchor="ctr" rtlCol="false" tIns="0" lIns="0" bIns="0" rIns="0"/>
            <a:lstStyle/>
            <a:p>
              <a:pPr algn="l" marL="0" indent="0" lvl="0">
                <a:lnSpc>
                  <a:spcPts val="1889"/>
                </a:lnSpc>
                <a:spcBef>
                  <a:spcPct val="0"/>
                </a:spcBef>
              </a:pPr>
              <a:r>
                <a:rPr lang="en-US" sz="1575" strike="noStrike" u="none">
                  <a:solidFill>
                    <a:srgbClr val="9FB0C9"/>
                  </a:solidFill>
                  <a:latin typeface="Calibri (MS)"/>
                  <a:ea typeface="Calibri (MS)"/>
                  <a:cs typeface="Calibri (MS)"/>
                  <a:sym typeface="Calibri (MS)"/>
                </a:rPr>
                <a:t>Exactement 79 colonnes requises</a:t>
              </a:r>
            </a:p>
          </p:txBody>
        </p:sp>
      </p:grpSp>
      <p:grpSp>
        <p:nvGrpSpPr>
          <p:cNvPr name="Group 41" id="41"/>
          <p:cNvGrpSpPr/>
          <p:nvPr/>
        </p:nvGrpSpPr>
        <p:grpSpPr>
          <a:xfrm rot="0">
            <a:off x="822960" y="3895344"/>
            <a:ext cx="1097280" cy="480060"/>
            <a:chOff x="0" y="0"/>
            <a:chExt cx="1463040" cy="640080"/>
          </a:xfrm>
        </p:grpSpPr>
        <p:sp>
          <p:nvSpPr>
            <p:cNvPr name="Freeform 42" id="42"/>
            <p:cNvSpPr/>
            <p:nvPr/>
          </p:nvSpPr>
          <p:spPr>
            <a:xfrm flipH="false" flipV="false" rot="0">
              <a:off x="0" y="0"/>
              <a:ext cx="1463040" cy="640080"/>
            </a:xfrm>
            <a:custGeom>
              <a:avLst/>
              <a:gdLst/>
              <a:ahLst/>
              <a:cxnLst/>
              <a:rect r="r" b="b" t="t" l="l"/>
              <a:pathLst>
                <a:path h="640080" w="1463040">
                  <a:moveTo>
                    <a:pt x="0" y="0"/>
                  </a:moveTo>
                  <a:lnTo>
                    <a:pt x="1463040" y="0"/>
                  </a:lnTo>
                  <a:lnTo>
                    <a:pt x="1463040" y="640080"/>
                  </a:lnTo>
                  <a:lnTo>
                    <a:pt x="0" y="640080"/>
                  </a:lnTo>
                  <a:close/>
                </a:path>
              </a:pathLst>
            </a:custGeom>
            <a:blipFill>
              <a:blip r:embed="rId2">
                <a:alphaModFix amt="0"/>
              </a:blip>
              <a:stretch>
                <a:fillRect l="-6132" t="0" r="-6132" b="0"/>
              </a:stretch>
            </a:blipFill>
          </p:spPr>
        </p:sp>
        <p:sp>
          <p:nvSpPr>
            <p:cNvPr name="TextBox 43" id="43"/>
            <p:cNvSpPr txBox="true"/>
            <p:nvPr/>
          </p:nvSpPr>
          <p:spPr>
            <a:xfrm>
              <a:off x="0" y="-28575"/>
              <a:ext cx="1463040" cy="668655"/>
            </a:xfrm>
            <a:prstGeom prst="rect">
              <a:avLst/>
            </a:prstGeom>
          </p:spPr>
          <p:txBody>
            <a:bodyPr anchor="ctr" rtlCol="false" tIns="0" lIns="0" bIns="0" rIns="0"/>
            <a:lstStyle/>
            <a:p>
              <a:pPr algn="l">
                <a:lnSpc>
                  <a:spcPts val="1889"/>
                </a:lnSpc>
              </a:pPr>
              <a:r>
                <a:rPr lang="en-US" sz="1575" b="true">
                  <a:solidFill>
                    <a:srgbClr val="00E5C7"/>
                  </a:solidFill>
                  <a:latin typeface="Consolas Bold"/>
                  <a:ea typeface="Consolas Bold"/>
                  <a:cs typeface="Consolas Bold"/>
                  <a:sym typeface="Consolas Bold"/>
                </a:rPr>
                <a:t>C4</a:t>
              </a:r>
            </a:p>
          </p:txBody>
        </p:sp>
      </p:grpSp>
      <p:grpSp>
        <p:nvGrpSpPr>
          <p:cNvPr name="Group 44" id="44"/>
          <p:cNvGrpSpPr/>
          <p:nvPr/>
        </p:nvGrpSpPr>
        <p:grpSpPr>
          <a:xfrm rot="0">
            <a:off x="2057400" y="3895344"/>
            <a:ext cx="2331720" cy="480060"/>
            <a:chOff x="0" y="0"/>
            <a:chExt cx="3108960" cy="640080"/>
          </a:xfrm>
        </p:grpSpPr>
        <p:sp>
          <p:nvSpPr>
            <p:cNvPr name="Freeform 45" id="45"/>
            <p:cNvSpPr/>
            <p:nvPr/>
          </p:nvSpPr>
          <p:spPr>
            <a:xfrm flipH="false" flipV="false" rot="0">
              <a:off x="0" y="0"/>
              <a:ext cx="3108960" cy="640080"/>
            </a:xfrm>
            <a:custGeom>
              <a:avLst/>
              <a:gdLst/>
              <a:ahLst/>
              <a:cxnLst/>
              <a:rect r="r" b="b" t="t" l="l"/>
              <a:pathLst>
                <a:path h="640080" w="3108960">
                  <a:moveTo>
                    <a:pt x="0" y="0"/>
                  </a:moveTo>
                  <a:lnTo>
                    <a:pt x="3108960" y="0"/>
                  </a:lnTo>
                  <a:lnTo>
                    <a:pt x="3108960" y="640080"/>
                  </a:lnTo>
                  <a:lnTo>
                    <a:pt x="0" y="640080"/>
                  </a:lnTo>
                  <a:close/>
                </a:path>
              </a:pathLst>
            </a:custGeom>
            <a:blipFill>
              <a:blip r:embed="rId2">
                <a:alphaModFix amt="0"/>
              </a:blip>
              <a:stretch>
                <a:fillRect l="0" t="-44641" r="0" b="-44641"/>
              </a:stretch>
            </a:blipFill>
          </p:spPr>
        </p:sp>
        <p:sp>
          <p:nvSpPr>
            <p:cNvPr name="TextBox 46" id="46"/>
            <p:cNvSpPr txBox="true"/>
            <p:nvPr/>
          </p:nvSpPr>
          <p:spPr>
            <a:xfrm>
              <a:off x="0" y="-19050"/>
              <a:ext cx="3108960" cy="659130"/>
            </a:xfrm>
            <a:prstGeom prst="rect">
              <a:avLst/>
            </a:prstGeom>
          </p:spPr>
          <p:txBody>
            <a:bodyPr anchor="ctr" rtlCol="false" tIns="0" lIns="0" bIns="0" rIns="0"/>
            <a:lstStyle/>
            <a:p>
              <a:pPr algn="l" marL="0" indent="0" lvl="0">
                <a:lnSpc>
                  <a:spcPts val="1889"/>
                </a:lnSpc>
                <a:spcBef>
                  <a:spcPct val="0"/>
                </a:spcBef>
              </a:pPr>
              <a:r>
                <a:rPr lang="en-US" sz="1575" strike="noStrike" u="none">
                  <a:solidFill>
                    <a:srgbClr val="9FB0C9"/>
                  </a:solidFill>
                  <a:latin typeface="Calibri (MS)"/>
                  <a:ea typeface="Calibri (MS)"/>
                  <a:cs typeface="Calibri (MS)"/>
                  <a:sym typeface="Calibri (MS)"/>
                </a:rPr>
                <a:t>Complétude</a:t>
              </a:r>
            </a:p>
          </p:txBody>
        </p:sp>
      </p:grpSp>
      <p:grpSp>
        <p:nvGrpSpPr>
          <p:cNvPr name="Group 47" id="47"/>
          <p:cNvGrpSpPr/>
          <p:nvPr/>
        </p:nvGrpSpPr>
        <p:grpSpPr>
          <a:xfrm rot="0">
            <a:off x="4526280" y="3895344"/>
            <a:ext cx="3771900" cy="480060"/>
            <a:chOff x="0" y="0"/>
            <a:chExt cx="5029200" cy="640080"/>
          </a:xfrm>
        </p:grpSpPr>
        <p:sp>
          <p:nvSpPr>
            <p:cNvPr name="Freeform 48" id="48"/>
            <p:cNvSpPr/>
            <p:nvPr/>
          </p:nvSpPr>
          <p:spPr>
            <a:xfrm flipH="false" flipV="false" rot="0">
              <a:off x="0" y="0"/>
              <a:ext cx="5029200" cy="640080"/>
            </a:xfrm>
            <a:custGeom>
              <a:avLst/>
              <a:gdLst/>
              <a:ahLst/>
              <a:cxnLst/>
              <a:rect r="r" b="b" t="t" l="l"/>
              <a:pathLst>
                <a:path h="640080" w="5029200">
                  <a:moveTo>
                    <a:pt x="0" y="0"/>
                  </a:moveTo>
                  <a:lnTo>
                    <a:pt x="5029200" y="0"/>
                  </a:lnTo>
                  <a:lnTo>
                    <a:pt x="5029200" y="640080"/>
                  </a:lnTo>
                  <a:lnTo>
                    <a:pt x="0" y="640080"/>
                  </a:lnTo>
                  <a:close/>
                </a:path>
              </a:pathLst>
            </a:custGeom>
            <a:blipFill>
              <a:blip r:embed="rId2">
                <a:alphaModFix amt="0"/>
              </a:blip>
              <a:stretch>
                <a:fillRect l="0" t="-103096" r="0" b="-103096"/>
              </a:stretch>
            </a:blipFill>
          </p:spPr>
        </p:sp>
        <p:sp>
          <p:nvSpPr>
            <p:cNvPr name="TextBox 49" id="49"/>
            <p:cNvSpPr txBox="true"/>
            <p:nvPr/>
          </p:nvSpPr>
          <p:spPr>
            <a:xfrm>
              <a:off x="0" y="-38100"/>
              <a:ext cx="5029200" cy="678180"/>
            </a:xfrm>
            <a:prstGeom prst="rect">
              <a:avLst/>
            </a:prstGeom>
          </p:spPr>
          <p:txBody>
            <a:bodyPr anchor="ctr" rtlCol="false" tIns="0" lIns="0" bIns="0" rIns="0"/>
            <a:lstStyle/>
            <a:p>
              <a:pPr algn="l">
                <a:lnSpc>
                  <a:spcPts val="1800"/>
                </a:lnSpc>
              </a:pPr>
              <a:r>
                <a:rPr lang="en-US" sz="1500">
                  <a:solidFill>
                    <a:srgbClr val="FFFFFF"/>
                  </a:solidFill>
                  <a:latin typeface="Consolas"/>
                  <a:ea typeface="Consolas"/>
                  <a:cs typeface="Consolas"/>
                  <a:sym typeface="Consolas"/>
                </a:rPr>
                <a:t>label_null_rate</a:t>
              </a:r>
            </a:p>
          </p:txBody>
        </p:sp>
      </p:grpSp>
      <p:grpSp>
        <p:nvGrpSpPr>
          <p:cNvPr name="Group 50" id="50"/>
          <p:cNvGrpSpPr/>
          <p:nvPr/>
        </p:nvGrpSpPr>
        <p:grpSpPr>
          <a:xfrm rot="0">
            <a:off x="8503920" y="3895344"/>
            <a:ext cx="8435340" cy="480060"/>
            <a:chOff x="0" y="0"/>
            <a:chExt cx="11247120" cy="640080"/>
          </a:xfrm>
        </p:grpSpPr>
        <p:sp>
          <p:nvSpPr>
            <p:cNvPr name="Freeform 51" id="51"/>
            <p:cNvSpPr/>
            <p:nvPr/>
          </p:nvSpPr>
          <p:spPr>
            <a:xfrm flipH="false" flipV="false" rot="0">
              <a:off x="0" y="0"/>
              <a:ext cx="11247120" cy="640080"/>
            </a:xfrm>
            <a:custGeom>
              <a:avLst/>
              <a:gdLst/>
              <a:ahLst/>
              <a:cxnLst/>
              <a:rect r="r" b="b" t="t" l="l"/>
              <a:pathLst>
                <a:path h="640080" w="11247120">
                  <a:moveTo>
                    <a:pt x="0" y="0"/>
                  </a:moveTo>
                  <a:lnTo>
                    <a:pt x="11247120" y="0"/>
                  </a:lnTo>
                  <a:lnTo>
                    <a:pt x="11247120" y="640080"/>
                  </a:lnTo>
                  <a:lnTo>
                    <a:pt x="0" y="640080"/>
                  </a:lnTo>
                  <a:close/>
                </a:path>
              </a:pathLst>
            </a:custGeom>
            <a:blipFill>
              <a:blip r:embed="rId2">
                <a:alphaModFix amt="0"/>
              </a:blip>
              <a:stretch>
                <a:fillRect l="0" t="-292379" r="0" b="-292379"/>
              </a:stretch>
            </a:blipFill>
          </p:spPr>
        </p:sp>
        <p:sp>
          <p:nvSpPr>
            <p:cNvPr name="TextBox 52" id="52"/>
            <p:cNvSpPr txBox="true"/>
            <p:nvPr/>
          </p:nvSpPr>
          <p:spPr>
            <a:xfrm>
              <a:off x="0" y="-19050"/>
              <a:ext cx="11247120" cy="659130"/>
            </a:xfrm>
            <a:prstGeom prst="rect">
              <a:avLst/>
            </a:prstGeom>
          </p:spPr>
          <p:txBody>
            <a:bodyPr anchor="ctr" rtlCol="false" tIns="0" lIns="0" bIns="0" rIns="0"/>
            <a:lstStyle/>
            <a:p>
              <a:pPr algn="l" marL="0" indent="0" lvl="0">
                <a:lnSpc>
                  <a:spcPts val="1889"/>
                </a:lnSpc>
                <a:spcBef>
                  <a:spcPct val="0"/>
                </a:spcBef>
              </a:pPr>
              <a:r>
                <a:rPr lang="en-US" sz="1575" strike="noStrike" u="none">
                  <a:solidFill>
                    <a:srgbClr val="9FB0C9"/>
                  </a:solidFill>
                  <a:latin typeface="Calibri (MS)"/>
                  <a:ea typeface="Calibri (MS)"/>
                  <a:cs typeface="Calibri (MS)"/>
                  <a:sym typeface="Calibri (MS)"/>
                </a:rPr>
                <a:t>Taux de valeurs nulles du label ≤ 5 %</a:t>
              </a:r>
            </a:p>
          </p:txBody>
        </p:sp>
      </p:grpSp>
      <p:grpSp>
        <p:nvGrpSpPr>
          <p:cNvPr name="Group 53" id="53"/>
          <p:cNvGrpSpPr/>
          <p:nvPr/>
        </p:nvGrpSpPr>
        <p:grpSpPr>
          <a:xfrm rot="0">
            <a:off x="754380" y="4457700"/>
            <a:ext cx="16322040" cy="548640"/>
            <a:chOff x="0" y="0"/>
            <a:chExt cx="21762720" cy="731520"/>
          </a:xfrm>
        </p:grpSpPr>
        <p:sp>
          <p:nvSpPr>
            <p:cNvPr name="Freeform 54" id="54"/>
            <p:cNvSpPr/>
            <p:nvPr/>
          </p:nvSpPr>
          <p:spPr>
            <a:xfrm flipH="false" flipV="false" rot="0">
              <a:off x="0" y="0"/>
              <a:ext cx="21762720" cy="731520"/>
            </a:xfrm>
            <a:custGeom>
              <a:avLst/>
              <a:gdLst/>
              <a:ahLst/>
              <a:cxnLst/>
              <a:rect r="r" b="b" t="t" l="l"/>
              <a:pathLst>
                <a:path h="731520" w="21762720">
                  <a:moveTo>
                    <a:pt x="0" y="0"/>
                  </a:moveTo>
                  <a:lnTo>
                    <a:pt x="21762720" y="0"/>
                  </a:lnTo>
                  <a:lnTo>
                    <a:pt x="21762720" y="731520"/>
                  </a:lnTo>
                  <a:lnTo>
                    <a:pt x="0" y="731520"/>
                  </a:lnTo>
                  <a:close/>
                </a:path>
              </a:pathLst>
            </a:custGeom>
            <a:solidFill>
              <a:srgbClr val="0F2038"/>
            </a:solidFill>
          </p:spPr>
        </p:sp>
      </p:grpSp>
      <p:grpSp>
        <p:nvGrpSpPr>
          <p:cNvPr name="Group 55" id="55"/>
          <p:cNvGrpSpPr/>
          <p:nvPr/>
        </p:nvGrpSpPr>
        <p:grpSpPr>
          <a:xfrm rot="0">
            <a:off x="822960" y="4498848"/>
            <a:ext cx="1097280" cy="480060"/>
            <a:chOff x="0" y="0"/>
            <a:chExt cx="1463040" cy="640080"/>
          </a:xfrm>
        </p:grpSpPr>
        <p:sp>
          <p:nvSpPr>
            <p:cNvPr name="Freeform 56" id="56"/>
            <p:cNvSpPr/>
            <p:nvPr/>
          </p:nvSpPr>
          <p:spPr>
            <a:xfrm flipH="false" flipV="false" rot="0">
              <a:off x="0" y="0"/>
              <a:ext cx="1463040" cy="640080"/>
            </a:xfrm>
            <a:custGeom>
              <a:avLst/>
              <a:gdLst/>
              <a:ahLst/>
              <a:cxnLst/>
              <a:rect r="r" b="b" t="t" l="l"/>
              <a:pathLst>
                <a:path h="640080" w="1463040">
                  <a:moveTo>
                    <a:pt x="0" y="0"/>
                  </a:moveTo>
                  <a:lnTo>
                    <a:pt x="1463040" y="0"/>
                  </a:lnTo>
                  <a:lnTo>
                    <a:pt x="1463040" y="640080"/>
                  </a:lnTo>
                  <a:lnTo>
                    <a:pt x="0" y="640080"/>
                  </a:lnTo>
                  <a:close/>
                </a:path>
              </a:pathLst>
            </a:custGeom>
            <a:blipFill>
              <a:blip r:embed="rId2">
                <a:alphaModFix amt="0"/>
              </a:blip>
              <a:stretch>
                <a:fillRect l="-6132" t="0" r="-6132" b="0"/>
              </a:stretch>
            </a:blipFill>
          </p:spPr>
        </p:sp>
        <p:sp>
          <p:nvSpPr>
            <p:cNvPr name="TextBox 57" id="57"/>
            <p:cNvSpPr txBox="true"/>
            <p:nvPr/>
          </p:nvSpPr>
          <p:spPr>
            <a:xfrm>
              <a:off x="0" y="-28575"/>
              <a:ext cx="1463040" cy="668655"/>
            </a:xfrm>
            <a:prstGeom prst="rect">
              <a:avLst/>
            </a:prstGeom>
          </p:spPr>
          <p:txBody>
            <a:bodyPr anchor="ctr" rtlCol="false" tIns="0" lIns="0" bIns="0" rIns="0"/>
            <a:lstStyle/>
            <a:p>
              <a:pPr algn="l">
                <a:lnSpc>
                  <a:spcPts val="1889"/>
                </a:lnSpc>
              </a:pPr>
              <a:r>
                <a:rPr lang="en-US" sz="1575" b="true">
                  <a:solidFill>
                    <a:srgbClr val="4C7CFF"/>
                  </a:solidFill>
                  <a:latin typeface="Consolas Bold"/>
                  <a:ea typeface="Consolas Bold"/>
                  <a:cs typeface="Consolas Bold"/>
                  <a:sym typeface="Consolas Bold"/>
                </a:rPr>
                <a:t>V1</a:t>
              </a:r>
            </a:p>
          </p:txBody>
        </p:sp>
      </p:grpSp>
      <p:grpSp>
        <p:nvGrpSpPr>
          <p:cNvPr name="Group 58" id="58"/>
          <p:cNvGrpSpPr/>
          <p:nvPr/>
        </p:nvGrpSpPr>
        <p:grpSpPr>
          <a:xfrm rot="0">
            <a:off x="2057400" y="4498848"/>
            <a:ext cx="2331720" cy="480060"/>
            <a:chOff x="0" y="0"/>
            <a:chExt cx="3108960" cy="640080"/>
          </a:xfrm>
        </p:grpSpPr>
        <p:sp>
          <p:nvSpPr>
            <p:cNvPr name="Freeform 59" id="59"/>
            <p:cNvSpPr/>
            <p:nvPr/>
          </p:nvSpPr>
          <p:spPr>
            <a:xfrm flipH="false" flipV="false" rot="0">
              <a:off x="0" y="0"/>
              <a:ext cx="3108960" cy="640080"/>
            </a:xfrm>
            <a:custGeom>
              <a:avLst/>
              <a:gdLst/>
              <a:ahLst/>
              <a:cxnLst/>
              <a:rect r="r" b="b" t="t" l="l"/>
              <a:pathLst>
                <a:path h="640080" w="3108960">
                  <a:moveTo>
                    <a:pt x="0" y="0"/>
                  </a:moveTo>
                  <a:lnTo>
                    <a:pt x="3108960" y="0"/>
                  </a:lnTo>
                  <a:lnTo>
                    <a:pt x="3108960" y="640080"/>
                  </a:lnTo>
                  <a:lnTo>
                    <a:pt x="0" y="640080"/>
                  </a:lnTo>
                  <a:close/>
                </a:path>
              </a:pathLst>
            </a:custGeom>
            <a:blipFill>
              <a:blip r:embed="rId2">
                <a:alphaModFix amt="0"/>
              </a:blip>
              <a:stretch>
                <a:fillRect l="0" t="-44641" r="0" b="-44641"/>
              </a:stretch>
            </a:blipFill>
          </p:spPr>
        </p:sp>
        <p:sp>
          <p:nvSpPr>
            <p:cNvPr name="TextBox 60" id="60"/>
            <p:cNvSpPr txBox="true"/>
            <p:nvPr/>
          </p:nvSpPr>
          <p:spPr>
            <a:xfrm>
              <a:off x="0" y="-19050"/>
              <a:ext cx="3108960" cy="659130"/>
            </a:xfrm>
            <a:prstGeom prst="rect">
              <a:avLst/>
            </a:prstGeom>
          </p:spPr>
          <p:txBody>
            <a:bodyPr anchor="ctr" rtlCol="false" tIns="0" lIns="0" bIns="0" rIns="0"/>
            <a:lstStyle/>
            <a:p>
              <a:pPr algn="l" marL="0" indent="0" lvl="0">
                <a:lnSpc>
                  <a:spcPts val="1889"/>
                </a:lnSpc>
                <a:spcBef>
                  <a:spcPct val="0"/>
                </a:spcBef>
              </a:pPr>
              <a:r>
                <a:rPr lang="en-US" sz="1575" strike="noStrike" u="none">
                  <a:solidFill>
                    <a:srgbClr val="9FB0C9"/>
                  </a:solidFill>
                  <a:latin typeface="Calibri (MS)"/>
                  <a:ea typeface="Calibri (MS)"/>
                  <a:cs typeface="Calibri (MS)"/>
                  <a:sym typeface="Calibri (MS)"/>
                </a:rPr>
                <a:t>Validité</a:t>
              </a:r>
            </a:p>
          </p:txBody>
        </p:sp>
      </p:grpSp>
      <p:grpSp>
        <p:nvGrpSpPr>
          <p:cNvPr name="Group 61" id="61"/>
          <p:cNvGrpSpPr/>
          <p:nvPr/>
        </p:nvGrpSpPr>
        <p:grpSpPr>
          <a:xfrm rot="0">
            <a:off x="4526280" y="4498848"/>
            <a:ext cx="3771900" cy="480060"/>
            <a:chOff x="0" y="0"/>
            <a:chExt cx="5029200" cy="640080"/>
          </a:xfrm>
        </p:grpSpPr>
        <p:sp>
          <p:nvSpPr>
            <p:cNvPr name="Freeform 62" id="62"/>
            <p:cNvSpPr/>
            <p:nvPr/>
          </p:nvSpPr>
          <p:spPr>
            <a:xfrm flipH="false" flipV="false" rot="0">
              <a:off x="0" y="0"/>
              <a:ext cx="5029200" cy="640080"/>
            </a:xfrm>
            <a:custGeom>
              <a:avLst/>
              <a:gdLst/>
              <a:ahLst/>
              <a:cxnLst/>
              <a:rect r="r" b="b" t="t" l="l"/>
              <a:pathLst>
                <a:path h="640080" w="5029200">
                  <a:moveTo>
                    <a:pt x="0" y="0"/>
                  </a:moveTo>
                  <a:lnTo>
                    <a:pt x="5029200" y="0"/>
                  </a:lnTo>
                  <a:lnTo>
                    <a:pt x="5029200" y="640080"/>
                  </a:lnTo>
                  <a:lnTo>
                    <a:pt x="0" y="640080"/>
                  </a:lnTo>
                  <a:close/>
                </a:path>
              </a:pathLst>
            </a:custGeom>
            <a:blipFill>
              <a:blip r:embed="rId2">
                <a:alphaModFix amt="0"/>
              </a:blip>
              <a:stretch>
                <a:fillRect l="0" t="-103096" r="0" b="-103096"/>
              </a:stretch>
            </a:blipFill>
          </p:spPr>
        </p:sp>
        <p:sp>
          <p:nvSpPr>
            <p:cNvPr name="TextBox 63" id="63"/>
            <p:cNvSpPr txBox="true"/>
            <p:nvPr/>
          </p:nvSpPr>
          <p:spPr>
            <a:xfrm>
              <a:off x="0" y="-38100"/>
              <a:ext cx="5029200" cy="678180"/>
            </a:xfrm>
            <a:prstGeom prst="rect">
              <a:avLst/>
            </a:prstGeom>
          </p:spPr>
          <p:txBody>
            <a:bodyPr anchor="ctr" rtlCol="false" tIns="0" lIns="0" bIns="0" rIns="0"/>
            <a:lstStyle/>
            <a:p>
              <a:pPr algn="l">
                <a:lnSpc>
                  <a:spcPts val="1800"/>
                </a:lnSpc>
              </a:pPr>
              <a:r>
                <a:rPr lang="en-US" sz="1500">
                  <a:solidFill>
                    <a:srgbClr val="FFFFFF"/>
                  </a:solidFill>
                  <a:latin typeface="Consolas"/>
                  <a:ea typeface="Consolas"/>
                  <a:cs typeface="Consolas"/>
                  <a:sym typeface="Consolas"/>
                </a:rPr>
                <a:t>port_range_valid</a:t>
              </a:r>
            </a:p>
          </p:txBody>
        </p:sp>
      </p:grpSp>
      <p:grpSp>
        <p:nvGrpSpPr>
          <p:cNvPr name="Group 64" id="64"/>
          <p:cNvGrpSpPr/>
          <p:nvPr/>
        </p:nvGrpSpPr>
        <p:grpSpPr>
          <a:xfrm rot="0">
            <a:off x="8503920" y="4498848"/>
            <a:ext cx="8435340" cy="480060"/>
            <a:chOff x="0" y="0"/>
            <a:chExt cx="11247120" cy="640080"/>
          </a:xfrm>
        </p:grpSpPr>
        <p:sp>
          <p:nvSpPr>
            <p:cNvPr name="Freeform 65" id="65"/>
            <p:cNvSpPr/>
            <p:nvPr/>
          </p:nvSpPr>
          <p:spPr>
            <a:xfrm flipH="false" flipV="false" rot="0">
              <a:off x="0" y="0"/>
              <a:ext cx="11247120" cy="640080"/>
            </a:xfrm>
            <a:custGeom>
              <a:avLst/>
              <a:gdLst/>
              <a:ahLst/>
              <a:cxnLst/>
              <a:rect r="r" b="b" t="t" l="l"/>
              <a:pathLst>
                <a:path h="640080" w="11247120">
                  <a:moveTo>
                    <a:pt x="0" y="0"/>
                  </a:moveTo>
                  <a:lnTo>
                    <a:pt x="11247120" y="0"/>
                  </a:lnTo>
                  <a:lnTo>
                    <a:pt x="11247120" y="640080"/>
                  </a:lnTo>
                  <a:lnTo>
                    <a:pt x="0" y="640080"/>
                  </a:lnTo>
                  <a:close/>
                </a:path>
              </a:pathLst>
            </a:custGeom>
            <a:blipFill>
              <a:blip r:embed="rId2">
                <a:alphaModFix amt="0"/>
              </a:blip>
              <a:stretch>
                <a:fillRect l="0" t="-292379" r="0" b="-292379"/>
              </a:stretch>
            </a:blipFill>
          </p:spPr>
        </p:sp>
        <p:sp>
          <p:nvSpPr>
            <p:cNvPr name="TextBox 66" id="66"/>
            <p:cNvSpPr txBox="true"/>
            <p:nvPr/>
          </p:nvSpPr>
          <p:spPr>
            <a:xfrm>
              <a:off x="0" y="-19050"/>
              <a:ext cx="11247120" cy="659130"/>
            </a:xfrm>
            <a:prstGeom prst="rect">
              <a:avLst/>
            </a:prstGeom>
          </p:spPr>
          <p:txBody>
            <a:bodyPr anchor="ctr" rtlCol="false" tIns="0" lIns="0" bIns="0" rIns="0"/>
            <a:lstStyle/>
            <a:p>
              <a:pPr algn="l" marL="0" indent="0" lvl="0">
                <a:lnSpc>
                  <a:spcPts val="1889"/>
                </a:lnSpc>
                <a:spcBef>
                  <a:spcPct val="0"/>
                </a:spcBef>
              </a:pPr>
              <a:r>
                <a:rPr lang="en-US" sz="1575" strike="noStrike" u="none">
                  <a:solidFill>
                    <a:srgbClr val="9FB0C9"/>
                  </a:solidFill>
                  <a:latin typeface="Calibri (MS)"/>
                  <a:ea typeface="Calibri (MS)"/>
                  <a:cs typeface="Calibri (MS)"/>
                  <a:sym typeface="Calibri (MS)"/>
                </a:rPr>
                <a:t>Ports dans [0, 65535]</a:t>
              </a:r>
            </a:p>
          </p:txBody>
        </p:sp>
      </p:grpSp>
      <p:grpSp>
        <p:nvGrpSpPr>
          <p:cNvPr name="Group 67" id="67"/>
          <p:cNvGrpSpPr/>
          <p:nvPr/>
        </p:nvGrpSpPr>
        <p:grpSpPr>
          <a:xfrm rot="0">
            <a:off x="822960" y="5102352"/>
            <a:ext cx="1097280" cy="480060"/>
            <a:chOff x="0" y="0"/>
            <a:chExt cx="1463040" cy="640080"/>
          </a:xfrm>
        </p:grpSpPr>
        <p:sp>
          <p:nvSpPr>
            <p:cNvPr name="Freeform 68" id="68"/>
            <p:cNvSpPr/>
            <p:nvPr/>
          </p:nvSpPr>
          <p:spPr>
            <a:xfrm flipH="false" flipV="false" rot="0">
              <a:off x="0" y="0"/>
              <a:ext cx="1463040" cy="640080"/>
            </a:xfrm>
            <a:custGeom>
              <a:avLst/>
              <a:gdLst/>
              <a:ahLst/>
              <a:cxnLst/>
              <a:rect r="r" b="b" t="t" l="l"/>
              <a:pathLst>
                <a:path h="640080" w="1463040">
                  <a:moveTo>
                    <a:pt x="0" y="0"/>
                  </a:moveTo>
                  <a:lnTo>
                    <a:pt x="1463040" y="0"/>
                  </a:lnTo>
                  <a:lnTo>
                    <a:pt x="1463040" y="640080"/>
                  </a:lnTo>
                  <a:lnTo>
                    <a:pt x="0" y="640080"/>
                  </a:lnTo>
                  <a:close/>
                </a:path>
              </a:pathLst>
            </a:custGeom>
            <a:blipFill>
              <a:blip r:embed="rId2">
                <a:alphaModFix amt="0"/>
              </a:blip>
              <a:stretch>
                <a:fillRect l="-6132" t="0" r="-6132" b="0"/>
              </a:stretch>
            </a:blipFill>
          </p:spPr>
        </p:sp>
        <p:sp>
          <p:nvSpPr>
            <p:cNvPr name="TextBox 69" id="69"/>
            <p:cNvSpPr txBox="true"/>
            <p:nvPr/>
          </p:nvSpPr>
          <p:spPr>
            <a:xfrm>
              <a:off x="0" y="-28575"/>
              <a:ext cx="1463040" cy="668655"/>
            </a:xfrm>
            <a:prstGeom prst="rect">
              <a:avLst/>
            </a:prstGeom>
          </p:spPr>
          <p:txBody>
            <a:bodyPr anchor="ctr" rtlCol="false" tIns="0" lIns="0" bIns="0" rIns="0"/>
            <a:lstStyle/>
            <a:p>
              <a:pPr algn="l">
                <a:lnSpc>
                  <a:spcPts val="1889"/>
                </a:lnSpc>
              </a:pPr>
              <a:r>
                <a:rPr lang="en-US" sz="1575" b="true">
                  <a:solidFill>
                    <a:srgbClr val="4C7CFF"/>
                  </a:solidFill>
                  <a:latin typeface="Consolas Bold"/>
                  <a:ea typeface="Consolas Bold"/>
                  <a:cs typeface="Consolas Bold"/>
                  <a:sym typeface="Consolas Bold"/>
                </a:rPr>
                <a:t>V3</a:t>
              </a:r>
            </a:p>
          </p:txBody>
        </p:sp>
      </p:grpSp>
      <p:grpSp>
        <p:nvGrpSpPr>
          <p:cNvPr name="Group 70" id="70"/>
          <p:cNvGrpSpPr/>
          <p:nvPr/>
        </p:nvGrpSpPr>
        <p:grpSpPr>
          <a:xfrm rot="0">
            <a:off x="2057400" y="5102352"/>
            <a:ext cx="2331720" cy="480060"/>
            <a:chOff x="0" y="0"/>
            <a:chExt cx="3108960" cy="640080"/>
          </a:xfrm>
        </p:grpSpPr>
        <p:sp>
          <p:nvSpPr>
            <p:cNvPr name="Freeform 71" id="71"/>
            <p:cNvSpPr/>
            <p:nvPr/>
          </p:nvSpPr>
          <p:spPr>
            <a:xfrm flipH="false" flipV="false" rot="0">
              <a:off x="0" y="0"/>
              <a:ext cx="3108960" cy="640080"/>
            </a:xfrm>
            <a:custGeom>
              <a:avLst/>
              <a:gdLst/>
              <a:ahLst/>
              <a:cxnLst/>
              <a:rect r="r" b="b" t="t" l="l"/>
              <a:pathLst>
                <a:path h="640080" w="3108960">
                  <a:moveTo>
                    <a:pt x="0" y="0"/>
                  </a:moveTo>
                  <a:lnTo>
                    <a:pt x="3108960" y="0"/>
                  </a:lnTo>
                  <a:lnTo>
                    <a:pt x="3108960" y="640080"/>
                  </a:lnTo>
                  <a:lnTo>
                    <a:pt x="0" y="640080"/>
                  </a:lnTo>
                  <a:close/>
                </a:path>
              </a:pathLst>
            </a:custGeom>
            <a:blipFill>
              <a:blip r:embed="rId2">
                <a:alphaModFix amt="0"/>
              </a:blip>
              <a:stretch>
                <a:fillRect l="0" t="-44641" r="0" b="-44641"/>
              </a:stretch>
            </a:blipFill>
          </p:spPr>
        </p:sp>
        <p:sp>
          <p:nvSpPr>
            <p:cNvPr name="TextBox 72" id="72"/>
            <p:cNvSpPr txBox="true"/>
            <p:nvPr/>
          </p:nvSpPr>
          <p:spPr>
            <a:xfrm>
              <a:off x="0" y="-19050"/>
              <a:ext cx="3108960" cy="659130"/>
            </a:xfrm>
            <a:prstGeom prst="rect">
              <a:avLst/>
            </a:prstGeom>
          </p:spPr>
          <p:txBody>
            <a:bodyPr anchor="ctr" rtlCol="false" tIns="0" lIns="0" bIns="0" rIns="0"/>
            <a:lstStyle/>
            <a:p>
              <a:pPr algn="l" marL="0" indent="0" lvl="0">
                <a:lnSpc>
                  <a:spcPts val="1889"/>
                </a:lnSpc>
                <a:spcBef>
                  <a:spcPct val="0"/>
                </a:spcBef>
              </a:pPr>
              <a:r>
                <a:rPr lang="en-US" sz="1575" strike="noStrike" u="none">
                  <a:solidFill>
                    <a:srgbClr val="9FB0C9"/>
                  </a:solidFill>
                  <a:latin typeface="Calibri (MS)"/>
                  <a:ea typeface="Calibri (MS)"/>
                  <a:cs typeface="Calibri (MS)"/>
                  <a:sym typeface="Calibri (MS)"/>
                </a:rPr>
                <a:t>Validité</a:t>
              </a:r>
            </a:p>
          </p:txBody>
        </p:sp>
      </p:grpSp>
      <p:grpSp>
        <p:nvGrpSpPr>
          <p:cNvPr name="Group 73" id="73"/>
          <p:cNvGrpSpPr/>
          <p:nvPr/>
        </p:nvGrpSpPr>
        <p:grpSpPr>
          <a:xfrm rot="0">
            <a:off x="4526280" y="5102352"/>
            <a:ext cx="3771900" cy="480060"/>
            <a:chOff x="0" y="0"/>
            <a:chExt cx="5029200" cy="640080"/>
          </a:xfrm>
        </p:grpSpPr>
        <p:sp>
          <p:nvSpPr>
            <p:cNvPr name="Freeform 74" id="74"/>
            <p:cNvSpPr/>
            <p:nvPr/>
          </p:nvSpPr>
          <p:spPr>
            <a:xfrm flipH="false" flipV="false" rot="0">
              <a:off x="0" y="0"/>
              <a:ext cx="5029200" cy="640080"/>
            </a:xfrm>
            <a:custGeom>
              <a:avLst/>
              <a:gdLst/>
              <a:ahLst/>
              <a:cxnLst/>
              <a:rect r="r" b="b" t="t" l="l"/>
              <a:pathLst>
                <a:path h="640080" w="5029200">
                  <a:moveTo>
                    <a:pt x="0" y="0"/>
                  </a:moveTo>
                  <a:lnTo>
                    <a:pt x="5029200" y="0"/>
                  </a:lnTo>
                  <a:lnTo>
                    <a:pt x="5029200" y="640080"/>
                  </a:lnTo>
                  <a:lnTo>
                    <a:pt x="0" y="640080"/>
                  </a:lnTo>
                  <a:close/>
                </a:path>
              </a:pathLst>
            </a:custGeom>
            <a:blipFill>
              <a:blip r:embed="rId2">
                <a:alphaModFix amt="0"/>
              </a:blip>
              <a:stretch>
                <a:fillRect l="0" t="-103096" r="0" b="-103096"/>
              </a:stretch>
            </a:blipFill>
          </p:spPr>
        </p:sp>
        <p:sp>
          <p:nvSpPr>
            <p:cNvPr name="TextBox 75" id="75"/>
            <p:cNvSpPr txBox="true"/>
            <p:nvPr/>
          </p:nvSpPr>
          <p:spPr>
            <a:xfrm>
              <a:off x="0" y="-38100"/>
              <a:ext cx="5029200" cy="678180"/>
            </a:xfrm>
            <a:prstGeom prst="rect">
              <a:avLst/>
            </a:prstGeom>
          </p:spPr>
          <p:txBody>
            <a:bodyPr anchor="ctr" rtlCol="false" tIns="0" lIns="0" bIns="0" rIns="0"/>
            <a:lstStyle/>
            <a:p>
              <a:pPr algn="l">
                <a:lnSpc>
                  <a:spcPts val="1800"/>
                </a:lnSpc>
              </a:pPr>
              <a:r>
                <a:rPr lang="en-US" sz="1500">
                  <a:solidFill>
                    <a:srgbClr val="FFFFFF"/>
                  </a:solidFill>
                  <a:latin typeface="Consolas"/>
                  <a:ea typeface="Consolas"/>
                  <a:cs typeface="Consolas"/>
                  <a:sym typeface="Consolas"/>
                </a:rPr>
                <a:t>no_infinite_values</a:t>
              </a:r>
            </a:p>
          </p:txBody>
        </p:sp>
      </p:grpSp>
      <p:grpSp>
        <p:nvGrpSpPr>
          <p:cNvPr name="Group 76" id="76"/>
          <p:cNvGrpSpPr/>
          <p:nvPr/>
        </p:nvGrpSpPr>
        <p:grpSpPr>
          <a:xfrm rot="0">
            <a:off x="8503920" y="5102352"/>
            <a:ext cx="8435340" cy="480060"/>
            <a:chOff x="0" y="0"/>
            <a:chExt cx="11247120" cy="640080"/>
          </a:xfrm>
        </p:grpSpPr>
        <p:sp>
          <p:nvSpPr>
            <p:cNvPr name="Freeform 77" id="77"/>
            <p:cNvSpPr/>
            <p:nvPr/>
          </p:nvSpPr>
          <p:spPr>
            <a:xfrm flipH="false" flipV="false" rot="0">
              <a:off x="0" y="0"/>
              <a:ext cx="11247120" cy="640080"/>
            </a:xfrm>
            <a:custGeom>
              <a:avLst/>
              <a:gdLst/>
              <a:ahLst/>
              <a:cxnLst/>
              <a:rect r="r" b="b" t="t" l="l"/>
              <a:pathLst>
                <a:path h="640080" w="11247120">
                  <a:moveTo>
                    <a:pt x="0" y="0"/>
                  </a:moveTo>
                  <a:lnTo>
                    <a:pt x="11247120" y="0"/>
                  </a:lnTo>
                  <a:lnTo>
                    <a:pt x="11247120" y="640080"/>
                  </a:lnTo>
                  <a:lnTo>
                    <a:pt x="0" y="640080"/>
                  </a:lnTo>
                  <a:close/>
                </a:path>
              </a:pathLst>
            </a:custGeom>
            <a:blipFill>
              <a:blip r:embed="rId2">
                <a:alphaModFix amt="0"/>
              </a:blip>
              <a:stretch>
                <a:fillRect l="0" t="-292379" r="0" b="-292379"/>
              </a:stretch>
            </a:blipFill>
          </p:spPr>
        </p:sp>
        <p:sp>
          <p:nvSpPr>
            <p:cNvPr name="TextBox 78" id="78"/>
            <p:cNvSpPr txBox="true"/>
            <p:nvPr/>
          </p:nvSpPr>
          <p:spPr>
            <a:xfrm>
              <a:off x="0" y="-19050"/>
              <a:ext cx="11247120" cy="659130"/>
            </a:xfrm>
            <a:prstGeom prst="rect">
              <a:avLst/>
            </a:prstGeom>
          </p:spPr>
          <p:txBody>
            <a:bodyPr anchor="ctr" rtlCol="false" tIns="0" lIns="0" bIns="0" rIns="0"/>
            <a:lstStyle/>
            <a:p>
              <a:pPr algn="l" marL="0" indent="0" lvl="0">
                <a:lnSpc>
                  <a:spcPts val="1889"/>
                </a:lnSpc>
                <a:spcBef>
                  <a:spcPct val="0"/>
                </a:spcBef>
              </a:pPr>
              <a:r>
                <a:rPr lang="en-US" sz="1575" strike="noStrike" u="none">
                  <a:solidFill>
                    <a:srgbClr val="9FB0C9"/>
                  </a:solidFill>
                  <a:latin typeface="Calibri (MS)"/>
                  <a:ea typeface="Calibri (MS)"/>
                  <a:cs typeface="Calibri (MS)"/>
                  <a:sym typeface="Calibri (MS)"/>
                </a:rPr>
                <a:t>Aucune valeur ±∞ dans les colonnes numériques</a:t>
              </a:r>
            </a:p>
          </p:txBody>
        </p:sp>
      </p:grpSp>
      <p:grpSp>
        <p:nvGrpSpPr>
          <p:cNvPr name="Group 79" id="79"/>
          <p:cNvGrpSpPr/>
          <p:nvPr/>
        </p:nvGrpSpPr>
        <p:grpSpPr>
          <a:xfrm rot="0">
            <a:off x="754380" y="5664708"/>
            <a:ext cx="16322040" cy="548640"/>
            <a:chOff x="0" y="0"/>
            <a:chExt cx="21762720" cy="731520"/>
          </a:xfrm>
        </p:grpSpPr>
        <p:sp>
          <p:nvSpPr>
            <p:cNvPr name="Freeform 80" id="80"/>
            <p:cNvSpPr/>
            <p:nvPr/>
          </p:nvSpPr>
          <p:spPr>
            <a:xfrm flipH="false" flipV="false" rot="0">
              <a:off x="0" y="0"/>
              <a:ext cx="21762720" cy="731520"/>
            </a:xfrm>
            <a:custGeom>
              <a:avLst/>
              <a:gdLst/>
              <a:ahLst/>
              <a:cxnLst/>
              <a:rect r="r" b="b" t="t" l="l"/>
              <a:pathLst>
                <a:path h="731520" w="21762720">
                  <a:moveTo>
                    <a:pt x="0" y="0"/>
                  </a:moveTo>
                  <a:lnTo>
                    <a:pt x="21762720" y="0"/>
                  </a:lnTo>
                  <a:lnTo>
                    <a:pt x="21762720" y="731520"/>
                  </a:lnTo>
                  <a:lnTo>
                    <a:pt x="0" y="731520"/>
                  </a:lnTo>
                  <a:close/>
                </a:path>
              </a:pathLst>
            </a:custGeom>
            <a:solidFill>
              <a:srgbClr val="0F2038"/>
            </a:solidFill>
          </p:spPr>
        </p:sp>
      </p:grpSp>
      <p:grpSp>
        <p:nvGrpSpPr>
          <p:cNvPr name="Group 81" id="81"/>
          <p:cNvGrpSpPr/>
          <p:nvPr/>
        </p:nvGrpSpPr>
        <p:grpSpPr>
          <a:xfrm rot="0">
            <a:off x="822960" y="5705856"/>
            <a:ext cx="1097280" cy="480060"/>
            <a:chOff x="0" y="0"/>
            <a:chExt cx="1463040" cy="640080"/>
          </a:xfrm>
        </p:grpSpPr>
        <p:sp>
          <p:nvSpPr>
            <p:cNvPr name="Freeform 82" id="82"/>
            <p:cNvSpPr/>
            <p:nvPr/>
          </p:nvSpPr>
          <p:spPr>
            <a:xfrm flipH="false" flipV="false" rot="0">
              <a:off x="0" y="0"/>
              <a:ext cx="1463040" cy="640080"/>
            </a:xfrm>
            <a:custGeom>
              <a:avLst/>
              <a:gdLst/>
              <a:ahLst/>
              <a:cxnLst/>
              <a:rect r="r" b="b" t="t" l="l"/>
              <a:pathLst>
                <a:path h="640080" w="1463040">
                  <a:moveTo>
                    <a:pt x="0" y="0"/>
                  </a:moveTo>
                  <a:lnTo>
                    <a:pt x="1463040" y="0"/>
                  </a:lnTo>
                  <a:lnTo>
                    <a:pt x="1463040" y="640080"/>
                  </a:lnTo>
                  <a:lnTo>
                    <a:pt x="0" y="640080"/>
                  </a:lnTo>
                  <a:close/>
                </a:path>
              </a:pathLst>
            </a:custGeom>
            <a:blipFill>
              <a:blip r:embed="rId2">
                <a:alphaModFix amt="0"/>
              </a:blip>
              <a:stretch>
                <a:fillRect l="-6132" t="0" r="-6132" b="0"/>
              </a:stretch>
            </a:blipFill>
          </p:spPr>
        </p:sp>
        <p:sp>
          <p:nvSpPr>
            <p:cNvPr name="TextBox 83" id="83"/>
            <p:cNvSpPr txBox="true"/>
            <p:nvPr/>
          </p:nvSpPr>
          <p:spPr>
            <a:xfrm>
              <a:off x="0" y="-28575"/>
              <a:ext cx="1463040" cy="668655"/>
            </a:xfrm>
            <a:prstGeom prst="rect">
              <a:avLst/>
            </a:prstGeom>
          </p:spPr>
          <p:txBody>
            <a:bodyPr anchor="ctr" rtlCol="false" tIns="0" lIns="0" bIns="0" rIns="0"/>
            <a:lstStyle/>
            <a:p>
              <a:pPr algn="l">
                <a:lnSpc>
                  <a:spcPts val="1889"/>
                </a:lnSpc>
              </a:pPr>
              <a:r>
                <a:rPr lang="en-US" sz="1575" b="true">
                  <a:solidFill>
                    <a:srgbClr val="4C7CFF"/>
                  </a:solidFill>
                  <a:latin typeface="Consolas Bold"/>
                  <a:ea typeface="Consolas Bold"/>
                  <a:cs typeface="Consolas Bold"/>
                  <a:sym typeface="Consolas Bold"/>
                </a:rPr>
                <a:t>V4</a:t>
              </a:r>
            </a:p>
          </p:txBody>
        </p:sp>
      </p:grpSp>
      <p:grpSp>
        <p:nvGrpSpPr>
          <p:cNvPr name="Group 84" id="84"/>
          <p:cNvGrpSpPr/>
          <p:nvPr/>
        </p:nvGrpSpPr>
        <p:grpSpPr>
          <a:xfrm rot="0">
            <a:off x="2057400" y="5705856"/>
            <a:ext cx="2331720" cy="480060"/>
            <a:chOff x="0" y="0"/>
            <a:chExt cx="3108960" cy="640080"/>
          </a:xfrm>
        </p:grpSpPr>
        <p:sp>
          <p:nvSpPr>
            <p:cNvPr name="Freeform 85" id="85"/>
            <p:cNvSpPr/>
            <p:nvPr/>
          </p:nvSpPr>
          <p:spPr>
            <a:xfrm flipH="false" flipV="false" rot="0">
              <a:off x="0" y="0"/>
              <a:ext cx="3108960" cy="640080"/>
            </a:xfrm>
            <a:custGeom>
              <a:avLst/>
              <a:gdLst/>
              <a:ahLst/>
              <a:cxnLst/>
              <a:rect r="r" b="b" t="t" l="l"/>
              <a:pathLst>
                <a:path h="640080" w="3108960">
                  <a:moveTo>
                    <a:pt x="0" y="0"/>
                  </a:moveTo>
                  <a:lnTo>
                    <a:pt x="3108960" y="0"/>
                  </a:lnTo>
                  <a:lnTo>
                    <a:pt x="3108960" y="640080"/>
                  </a:lnTo>
                  <a:lnTo>
                    <a:pt x="0" y="640080"/>
                  </a:lnTo>
                  <a:close/>
                </a:path>
              </a:pathLst>
            </a:custGeom>
            <a:blipFill>
              <a:blip r:embed="rId2">
                <a:alphaModFix amt="0"/>
              </a:blip>
              <a:stretch>
                <a:fillRect l="0" t="-44641" r="0" b="-44641"/>
              </a:stretch>
            </a:blipFill>
          </p:spPr>
        </p:sp>
        <p:sp>
          <p:nvSpPr>
            <p:cNvPr name="TextBox 86" id="86"/>
            <p:cNvSpPr txBox="true"/>
            <p:nvPr/>
          </p:nvSpPr>
          <p:spPr>
            <a:xfrm>
              <a:off x="0" y="-19050"/>
              <a:ext cx="3108960" cy="659130"/>
            </a:xfrm>
            <a:prstGeom prst="rect">
              <a:avLst/>
            </a:prstGeom>
          </p:spPr>
          <p:txBody>
            <a:bodyPr anchor="ctr" rtlCol="false" tIns="0" lIns="0" bIns="0" rIns="0"/>
            <a:lstStyle/>
            <a:p>
              <a:pPr algn="l" marL="0" indent="0" lvl="0">
                <a:lnSpc>
                  <a:spcPts val="1889"/>
                </a:lnSpc>
                <a:spcBef>
                  <a:spcPct val="0"/>
                </a:spcBef>
              </a:pPr>
              <a:r>
                <a:rPr lang="en-US" sz="1575" strike="noStrike" u="none">
                  <a:solidFill>
                    <a:srgbClr val="9FB0C9"/>
                  </a:solidFill>
                  <a:latin typeface="Calibri (MS)"/>
                  <a:ea typeface="Calibri (MS)"/>
                  <a:cs typeface="Calibri (MS)"/>
                  <a:sym typeface="Calibri (MS)"/>
                </a:rPr>
                <a:t>Validité</a:t>
              </a:r>
            </a:p>
          </p:txBody>
        </p:sp>
      </p:grpSp>
      <p:grpSp>
        <p:nvGrpSpPr>
          <p:cNvPr name="Group 87" id="87"/>
          <p:cNvGrpSpPr/>
          <p:nvPr/>
        </p:nvGrpSpPr>
        <p:grpSpPr>
          <a:xfrm rot="0">
            <a:off x="4526280" y="5705856"/>
            <a:ext cx="3771900" cy="480060"/>
            <a:chOff x="0" y="0"/>
            <a:chExt cx="5029200" cy="640080"/>
          </a:xfrm>
        </p:grpSpPr>
        <p:sp>
          <p:nvSpPr>
            <p:cNvPr name="Freeform 88" id="88"/>
            <p:cNvSpPr/>
            <p:nvPr/>
          </p:nvSpPr>
          <p:spPr>
            <a:xfrm flipH="false" flipV="false" rot="0">
              <a:off x="0" y="0"/>
              <a:ext cx="5029200" cy="640080"/>
            </a:xfrm>
            <a:custGeom>
              <a:avLst/>
              <a:gdLst/>
              <a:ahLst/>
              <a:cxnLst/>
              <a:rect r="r" b="b" t="t" l="l"/>
              <a:pathLst>
                <a:path h="640080" w="5029200">
                  <a:moveTo>
                    <a:pt x="0" y="0"/>
                  </a:moveTo>
                  <a:lnTo>
                    <a:pt x="5029200" y="0"/>
                  </a:lnTo>
                  <a:lnTo>
                    <a:pt x="5029200" y="640080"/>
                  </a:lnTo>
                  <a:lnTo>
                    <a:pt x="0" y="640080"/>
                  </a:lnTo>
                  <a:close/>
                </a:path>
              </a:pathLst>
            </a:custGeom>
            <a:blipFill>
              <a:blip r:embed="rId2">
                <a:alphaModFix amt="0"/>
              </a:blip>
              <a:stretch>
                <a:fillRect l="0" t="-103096" r="0" b="-103096"/>
              </a:stretch>
            </a:blipFill>
          </p:spPr>
        </p:sp>
        <p:sp>
          <p:nvSpPr>
            <p:cNvPr name="TextBox 89" id="89"/>
            <p:cNvSpPr txBox="true"/>
            <p:nvPr/>
          </p:nvSpPr>
          <p:spPr>
            <a:xfrm>
              <a:off x="0" y="-38100"/>
              <a:ext cx="5029200" cy="678180"/>
            </a:xfrm>
            <a:prstGeom prst="rect">
              <a:avLst/>
            </a:prstGeom>
          </p:spPr>
          <p:txBody>
            <a:bodyPr anchor="ctr" rtlCol="false" tIns="0" lIns="0" bIns="0" rIns="0"/>
            <a:lstStyle/>
            <a:p>
              <a:pPr algn="l">
                <a:lnSpc>
                  <a:spcPts val="1800"/>
                </a:lnSpc>
              </a:pPr>
              <a:r>
                <a:rPr lang="en-US" sz="1500">
                  <a:solidFill>
                    <a:srgbClr val="FFFFFF"/>
                  </a:solidFill>
                  <a:latin typeface="Consolas"/>
                  <a:ea typeface="Consolas"/>
                  <a:cs typeface="Consolas"/>
                  <a:sym typeface="Consolas"/>
                </a:rPr>
                <a:t>non_negative_numerics</a:t>
              </a:r>
            </a:p>
          </p:txBody>
        </p:sp>
      </p:grpSp>
      <p:grpSp>
        <p:nvGrpSpPr>
          <p:cNvPr name="Group 90" id="90"/>
          <p:cNvGrpSpPr/>
          <p:nvPr/>
        </p:nvGrpSpPr>
        <p:grpSpPr>
          <a:xfrm rot="0">
            <a:off x="8503920" y="5705856"/>
            <a:ext cx="8435340" cy="480060"/>
            <a:chOff x="0" y="0"/>
            <a:chExt cx="11247120" cy="640080"/>
          </a:xfrm>
        </p:grpSpPr>
        <p:sp>
          <p:nvSpPr>
            <p:cNvPr name="Freeform 91" id="91"/>
            <p:cNvSpPr/>
            <p:nvPr/>
          </p:nvSpPr>
          <p:spPr>
            <a:xfrm flipH="false" flipV="false" rot="0">
              <a:off x="0" y="0"/>
              <a:ext cx="11247120" cy="640080"/>
            </a:xfrm>
            <a:custGeom>
              <a:avLst/>
              <a:gdLst/>
              <a:ahLst/>
              <a:cxnLst/>
              <a:rect r="r" b="b" t="t" l="l"/>
              <a:pathLst>
                <a:path h="640080" w="11247120">
                  <a:moveTo>
                    <a:pt x="0" y="0"/>
                  </a:moveTo>
                  <a:lnTo>
                    <a:pt x="11247120" y="0"/>
                  </a:lnTo>
                  <a:lnTo>
                    <a:pt x="11247120" y="640080"/>
                  </a:lnTo>
                  <a:lnTo>
                    <a:pt x="0" y="640080"/>
                  </a:lnTo>
                  <a:close/>
                </a:path>
              </a:pathLst>
            </a:custGeom>
            <a:blipFill>
              <a:blip r:embed="rId2">
                <a:alphaModFix amt="0"/>
              </a:blip>
              <a:stretch>
                <a:fillRect l="0" t="-292379" r="0" b="-292379"/>
              </a:stretch>
            </a:blipFill>
          </p:spPr>
        </p:sp>
        <p:sp>
          <p:nvSpPr>
            <p:cNvPr name="TextBox 92" id="92"/>
            <p:cNvSpPr txBox="true"/>
            <p:nvPr/>
          </p:nvSpPr>
          <p:spPr>
            <a:xfrm>
              <a:off x="0" y="-19050"/>
              <a:ext cx="11247120" cy="659130"/>
            </a:xfrm>
            <a:prstGeom prst="rect">
              <a:avLst/>
            </a:prstGeom>
          </p:spPr>
          <p:txBody>
            <a:bodyPr anchor="ctr" rtlCol="false" tIns="0" lIns="0" bIns="0" rIns="0"/>
            <a:lstStyle/>
            <a:p>
              <a:pPr algn="l" marL="0" indent="0" lvl="0">
                <a:lnSpc>
                  <a:spcPts val="1889"/>
                </a:lnSpc>
                <a:spcBef>
                  <a:spcPct val="0"/>
                </a:spcBef>
              </a:pPr>
              <a:r>
                <a:rPr lang="en-US" sz="1575" strike="noStrike" u="none">
                  <a:solidFill>
                    <a:srgbClr val="9FB0C9"/>
                  </a:solidFill>
                  <a:latin typeface="Calibri (MS)"/>
                  <a:ea typeface="Calibri (MS)"/>
                  <a:cs typeface="Calibri (MS)"/>
                  <a:sym typeface="Calibri (MS)"/>
                </a:rPr>
                <a:t>Colonnes de paquets/de flux ≥ 0</a:t>
              </a:r>
            </a:p>
          </p:txBody>
        </p:sp>
      </p:grpSp>
      <p:grpSp>
        <p:nvGrpSpPr>
          <p:cNvPr name="Group 93" id="93"/>
          <p:cNvGrpSpPr/>
          <p:nvPr/>
        </p:nvGrpSpPr>
        <p:grpSpPr>
          <a:xfrm rot="0">
            <a:off x="822960" y="6309360"/>
            <a:ext cx="1097280" cy="480060"/>
            <a:chOff x="0" y="0"/>
            <a:chExt cx="1463040" cy="640080"/>
          </a:xfrm>
        </p:grpSpPr>
        <p:sp>
          <p:nvSpPr>
            <p:cNvPr name="Freeform 94" id="94"/>
            <p:cNvSpPr/>
            <p:nvPr/>
          </p:nvSpPr>
          <p:spPr>
            <a:xfrm flipH="false" flipV="false" rot="0">
              <a:off x="0" y="0"/>
              <a:ext cx="1463040" cy="640080"/>
            </a:xfrm>
            <a:custGeom>
              <a:avLst/>
              <a:gdLst/>
              <a:ahLst/>
              <a:cxnLst/>
              <a:rect r="r" b="b" t="t" l="l"/>
              <a:pathLst>
                <a:path h="640080" w="1463040">
                  <a:moveTo>
                    <a:pt x="0" y="0"/>
                  </a:moveTo>
                  <a:lnTo>
                    <a:pt x="1463040" y="0"/>
                  </a:lnTo>
                  <a:lnTo>
                    <a:pt x="1463040" y="640080"/>
                  </a:lnTo>
                  <a:lnTo>
                    <a:pt x="0" y="640080"/>
                  </a:lnTo>
                  <a:close/>
                </a:path>
              </a:pathLst>
            </a:custGeom>
            <a:blipFill>
              <a:blip r:embed="rId2">
                <a:alphaModFix amt="0"/>
              </a:blip>
              <a:stretch>
                <a:fillRect l="-6132" t="0" r="-6132" b="0"/>
              </a:stretch>
            </a:blipFill>
          </p:spPr>
        </p:sp>
        <p:sp>
          <p:nvSpPr>
            <p:cNvPr name="TextBox 95" id="95"/>
            <p:cNvSpPr txBox="true"/>
            <p:nvPr/>
          </p:nvSpPr>
          <p:spPr>
            <a:xfrm>
              <a:off x="0" y="-28575"/>
              <a:ext cx="1463040" cy="668655"/>
            </a:xfrm>
            <a:prstGeom prst="rect">
              <a:avLst/>
            </a:prstGeom>
          </p:spPr>
          <p:txBody>
            <a:bodyPr anchor="ctr" rtlCol="false" tIns="0" lIns="0" bIns="0" rIns="0"/>
            <a:lstStyle/>
            <a:p>
              <a:pPr algn="l">
                <a:lnSpc>
                  <a:spcPts val="1889"/>
                </a:lnSpc>
              </a:pPr>
              <a:r>
                <a:rPr lang="en-US" sz="1575" b="true">
                  <a:solidFill>
                    <a:srgbClr val="FFB020"/>
                  </a:solidFill>
                  <a:latin typeface="Consolas Bold"/>
                  <a:ea typeface="Consolas Bold"/>
                  <a:cs typeface="Consolas Bold"/>
                  <a:sym typeface="Consolas Bold"/>
                </a:rPr>
                <a:t>I1</a:t>
              </a:r>
            </a:p>
          </p:txBody>
        </p:sp>
      </p:grpSp>
      <p:grpSp>
        <p:nvGrpSpPr>
          <p:cNvPr name="Group 96" id="96"/>
          <p:cNvGrpSpPr/>
          <p:nvPr/>
        </p:nvGrpSpPr>
        <p:grpSpPr>
          <a:xfrm rot="0">
            <a:off x="2057400" y="6309360"/>
            <a:ext cx="2331720" cy="480060"/>
            <a:chOff x="0" y="0"/>
            <a:chExt cx="3108960" cy="640080"/>
          </a:xfrm>
        </p:grpSpPr>
        <p:sp>
          <p:nvSpPr>
            <p:cNvPr name="Freeform 97" id="97"/>
            <p:cNvSpPr/>
            <p:nvPr/>
          </p:nvSpPr>
          <p:spPr>
            <a:xfrm flipH="false" flipV="false" rot="0">
              <a:off x="0" y="0"/>
              <a:ext cx="3108960" cy="640080"/>
            </a:xfrm>
            <a:custGeom>
              <a:avLst/>
              <a:gdLst/>
              <a:ahLst/>
              <a:cxnLst/>
              <a:rect r="r" b="b" t="t" l="l"/>
              <a:pathLst>
                <a:path h="640080" w="3108960">
                  <a:moveTo>
                    <a:pt x="0" y="0"/>
                  </a:moveTo>
                  <a:lnTo>
                    <a:pt x="3108960" y="0"/>
                  </a:lnTo>
                  <a:lnTo>
                    <a:pt x="3108960" y="640080"/>
                  </a:lnTo>
                  <a:lnTo>
                    <a:pt x="0" y="640080"/>
                  </a:lnTo>
                  <a:close/>
                </a:path>
              </a:pathLst>
            </a:custGeom>
            <a:blipFill>
              <a:blip r:embed="rId2">
                <a:alphaModFix amt="0"/>
              </a:blip>
              <a:stretch>
                <a:fillRect l="0" t="-44641" r="0" b="-44641"/>
              </a:stretch>
            </a:blipFill>
          </p:spPr>
        </p:sp>
        <p:sp>
          <p:nvSpPr>
            <p:cNvPr name="TextBox 98" id="98"/>
            <p:cNvSpPr txBox="true"/>
            <p:nvPr/>
          </p:nvSpPr>
          <p:spPr>
            <a:xfrm>
              <a:off x="0" y="-19050"/>
              <a:ext cx="3108960" cy="659130"/>
            </a:xfrm>
            <a:prstGeom prst="rect">
              <a:avLst/>
            </a:prstGeom>
          </p:spPr>
          <p:txBody>
            <a:bodyPr anchor="ctr" rtlCol="false" tIns="0" lIns="0" bIns="0" rIns="0"/>
            <a:lstStyle/>
            <a:p>
              <a:pPr algn="l" marL="0" indent="0" lvl="0">
                <a:lnSpc>
                  <a:spcPts val="1889"/>
                </a:lnSpc>
                <a:spcBef>
                  <a:spcPct val="0"/>
                </a:spcBef>
              </a:pPr>
              <a:r>
                <a:rPr lang="en-US" sz="1575" strike="noStrike" u="none">
                  <a:solidFill>
                    <a:srgbClr val="9FB0C9"/>
                  </a:solidFill>
                  <a:latin typeface="Calibri (MS)"/>
                  <a:ea typeface="Calibri (MS)"/>
                  <a:cs typeface="Calibri (MS)"/>
                  <a:sym typeface="Calibri (MS)"/>
                </a:rPr>
                <a:t>Intégrité</a:t>
              </a:r>
            </a:p>
          </p:txBody>
        </p:sp>
      </p:grpSp>
      <p:grpSp>
        <p:nvGrpSpPr>
          <p:cNvPr name="Group 99" id="99"/>
          <p:cNvGrpSpPr/>
          <p:nvPr/>
        </p:nvGrpSpPr>
        <p:grpSpPr>
          <a:xfrm rot="0">
            <a:off x="4526280" y="6309360"/>
            <a:ext cx="3771900" cy="480060"/>
            <a:chOff x="0" y="0"/>
            <a:chExt cx="5029200" cy="640080"/>
          </a:xfrm>
        </p:grpSpPr>
        <p:sp>
          <p:nvSpPr>
            <p:cNvPr name="Freeform 100" id="100"/>
            <p:cNvSpPr/>
            <p:nvPr/>
          </p:nvSpPr>
          <p:spPr>
            <a:xfrm flipH="false" flipV="false" rot="0">
              <a:off x="0" y="0"/>
              <a:ext cx="5029200" cy="640080"/>
            </a:xfrm>
            <a:custGeom>
              <a:avLst/>
              <a:gdLst/>
              <a:ahLst/>
              <a:cxnLst/>
              <a:rect r="r" b="b" t="t" l="l"/>
              <a:pathLst>
                <a:path h="640080" w="5029200">
                  <a:moveTo>
                    <a:pt x="0" y="0"/>
                  </a:moveTo>
                  <a:lnTo>
                    <a:pt x="5029200" y="0"/>
                  </a:lnTo>
                  <a:lnTo>
                    <a:pt x="5029200" y="640080"/>
                  </a:lnTo>
                  <a:lnTo>
                    <a:pt x="0" y="640080"/>
                  </a:lnTo>
                  <a:close/>
                </a:path>
              </a:pathLst>
            </a:custGeom>
            <a:blipFill>
              <a:blip r:embed="rId2">
                <a:alphaModFix amt="0"/>
              </a:blip>
              <a:stretch>
                <a:fillRect l="0" t="-103096" r="0" b="-103096"/>
              </a:stretch>
            </a:blipFill>
          </p:spPr>
        </p:sp>
        <p:sp>
          <p:nvSpPr>
            <p:cNvPr name="TextBox 101" id="101"/>
            <p:cNvSpPr txBox="true"/>
            <p:nvPr/>
          </p:nvSpPr>
          <p:spPr>
            <a:xfrm>
              <a:off x="0" y="-38100"/>
              <a:ext cx="5029200" cy="678180"/>
            </a:xfrm>
            <a:prstGeom prst="rect">
              <a:avLst/>
            </a:prstGeom>
          </p:spPr>
          <p:txBody>
            <a:bodyPr anchor="ctr" rtlCol="false" tIns="0" lIns="0" bIns="0" rIns="0"/>
            <a:lstStyle/>
            <a:p>
              <a:pPr algn="l">
                <a:lnSpc>
                  <a:spcPts val="1800"/>
                </a:lnSpc>
              </a:pPr>
              <a:r>
                <a:rPr lang="en-US" sz="1500">
                  <a:solidFill>
                    <a:srgbClr val="FFFFFF"/>
                  </a:solidFill>
                  <a:latin typeface="Consolas"/>
                  <a:ea typeface="Consolas"/>
                  <a:cs typeface="Consolas"/>
                  <a:sym typeface="Consolas"/>
                </a:rPr>
                <a:t>duplicate_row_rate</a:t>
              </a:r>
            </a:p>
          </p:txBody>
        </p:sp>
      </p:grpSp>
      <p:grpSp>
        <p:nvGrpSpPr>
          <p:cNvPr name="Group 102" id="102"/>
          <p:cNvGrpSpPr/>
          <p:nvPr/>
        </p:nvGrpSpPr>
        <p:grpSpPr>
          <a:xfrm rot="0">
            <a:off x="8503920" y="6309360"/>
            <a:ext cx="8435340" cy="480060"/>
            <a:chOff x="0" y="0"/>
            <a:chExt cx="11247120" cy="640080"/>
          </a:xfrm>
        </p:grpSpPr>
        <p:sp>
          <p:nvSpPr>
            <p:cNvPr name="Freeform 103" id="103"/>
            <p:cNvSpPr/>
            <p:nvPr/>
          </p:nvSpPr>
          <p:spPr>
            <a:xfrm flipH="false" flipV="false" rot="0">
              <a:off x="0" y="0"/>
              <a:ext cx="11247120" cy="640080"/>
            </a:xfrm>
            <a:custGeom>
              <a:avLst/>
              <a:gdLst/>
              <a:ahLst/>
              <a:cxnLst/>
              <a:rect r="r" b="b" t="t" l="l"/>
              <a:pathLst>
                <a:path h="640080" w="11247120">
                  <a:moveTo>
                    <a:pt x="0" y="0"/>
                  </a:moveTo>
                  <a:lnTo>
                    <a:pt x="11247120" y="0"/>
                  </a:lnTo>
                  <a:lnTo>
                    <a:pt x="11247120" y="640080"/>
                  </a:lnTo>
                  <a:lnTo>
                    <a:pt x="0" y="640080"/>
                  </a:lnTo>
                  <a:close/>
                </a:path>
              </a:pathLst>
            </a:custGeom>
            <a:blipFill>
              <a:blip r:embed="rId2">
                <a:alphaModFix amt="0"/>
              </a:blip>
              <a:stretch>
                <a:fillRect l="0" t="-292379" r="0" b="-292379"/>
              </a:stretch>
            </a:blipFill>
          </p:spPr>
        </p:sp>
        <p:sp>
          <p:nvSpPr>
            <p:cNvPr name="TextBox 104" id="104"/>
            <p:cNvSpPr txBox="true"/>
            <p:nvPr/>
          </p:nvSpPr>
          <p:spPr>
            <a:xfrm>
              <a:off x="0" y="-19050"/>
              <a:ext cx="11247120" cy="659130"/>
            </a:xfrm>
            <a:prstGeom prst="rect">
              <a:avLst/>
            </a:prstGeom>
          </p:spPr>
          <p:txBody>
            <a:bodyPr anchor="ctr" rtlCol="false" tIns="0" lIns="0" bIns="0" rIns="0"/>
            <a:lstStyle/>
            <a:p>
              <a:pPr algn="l" marL="0" indent="0" lvl="0">
                <a:lnSpc>
                  <a:spcPts val="1889"/>
                </a:lnSpc>
                <a:spcBef>
                  <a:spcPct val="0"/>
                </a:spcBef>
              </a:pPr>
              <a:r>
                <a:rPr lang="en-US" sz="1575" strike="noStrike" u="none">
                  <a:solidFill>
                    <a:srgbClr val="9FB0C9"/>
                  </a:solidFill>
                  <a:latin typeface="Calibri (MS)"/>
                  <a:ea typeface="Calibri (MS)"/>
                  <a:cs typeface="Calibri (MS)"/>
                  <a:sym typeface="Calibri (MS)"/>
                </a:rPr>
                <a:t>Ratio de doublons ≤ 5 %</a:t>
              </a:r>
            </a:p>
          </p:txBody>
        </p:sp>
      </p:grpSp>
      <p:grpSp>
        <p:nvGrpSpPr>
          <p:cNvPr name="Group 105" id="105"/>
          <p:cNvGrpSpPr/>
          <p:nvPr/>
        </p:nvGrpSpPr>
        <p:grpSpPr>
          <a:xfrm rot="0">
            <a:off x="754380" y="6871716"/>
            <a:ext cx="16322040" cy="548640"/>
            <a:chOff x="0" y="0"/>
            <a:chExt cx="21762720" cy="731520"/>
          </a:xfrm>
        </p:grpSpPr>
        <p:sp>
          <p:nvSpPr>
            <p:cNvPr name="Freeform 106" id="106"/>
            <p:cNvSpPr/>
            <p:nvPr/>
          </p:nvSpPr>
          <p:spPr>
            <a:xfrm flipH="false" flipV="false" rot="0">
              <a:off x="0" y="0"/>
              <a:ext cx="21762720" cy="731520"/>
            </a:xfrm>
            <a:custGeom>
              <a:avLst/>
              <a:gdLst/>
              <a:ahLst/>
              <a:cxnLst/>
              <a:rect r="r" b="b" t="t" l="l"/>
              <a:pathLst>
                <a:path h="731520" w="21762720">
                  <a:moveTo>
                    <a:pt x="0" y="0"/>
                  </a:moveTo>
                  <a:lnTo>
                    <a:pt x="21762720" y="0"/>
                  </a:lnTo>
                  <a:lnTo>
                    <a:pt x="21762720" y="731520"/>
                  </a:lnTo>
                  <a:lnTo>
                    <a:pt x="0" y="731520"/>
                  </a:lnTo>
                  <a:close/>
                </a:path>
              </a:pathLst>
            </a:custGeom>
            <a:solidFill>
              <a:srgbClr val="0F2038"/>
            </a:solidFill>
          </p:spPr>
        </p:sp>
      </p:grpSp>
      <p:grpSp>
        <p:nvGrpSpPr>
          <p:cNvPr name="Group 107" id="107"/>
          <p:cNvGrpSpPr/>
          <p:nvPr/>
        </p:nvGrpSpPr>
        <p:grpSpPr>
          <a:xfrm rot="0">
            <a:off x="822960" y="6912864"/>
            <a:ext cx="1097280" cy="480060"/>
            <a:chOff x="0" y="0"/>
            <a:chExt cx="1463040" cy="640080"/>
          </a:xfrm>
        </p:grpSpPr>
        <p:sp>
          <p:nvSpPr>
            <p:cNvPr name="Freeform 108" id="108"/>
            <p:cNvSpPr/>
            <p:nvPr/>
          </p:nvSpPr>
          <p:spPr>
            <a:xfrm flipH="false" flipV="false" rot="0">
              <a:off x="0" y="0"/>
              <a:ext cx="1463040" cy="640080"/>
            </a:xfrm>
            <a:custGeom>
              <a:avLst/>
              <a:gdLst/>
              <a:ahLst/>
              <a:cxnLst/>
              <a:rect r="r" b="b" t="t" l="l"/>
              <a:pathLst>
                <a:path h="640080" w="1463040">
                  <a:moveTo>
                    <a:pt x="0" y="0"/>
                  </a:moveTo>
                  <a:lnTo>
                    <a:pt x="1463040" y="0"/>
                  </a:lnTo>
                  <a:lnTo>
                    <a:pt x="1463040" y="640080"/>
                  </a:lnTo>
                  <a:lnTo>
                    <a:pt x="0" y="640080"/>
                  </a:lnTo>
                  <a:close/>
                </a:path>
              </a:pathLst>
            </a:custGeom>
            <a:blipFill>
              <a:blip r:embed="rId2">
                <a:alphaModFix amt="0"/>
              </a:blip>
              <a:stretch>
                <a:fillRect l="-6132" t="0" r="-6132" b="0"/>
              </a:stretch>
            </a:blipFill>
          </p:spPr>
        </p:sp>
        <p:sp>
          <p:nvSpPr>
            <p:cNvPr name="TextBox 109" id="109"/>
            <p:cNvSpPr txBox="true"/>
            <p:nvPr/>
          </p:nvSpPr>
          <p:spPr>
            <a:xfrm>
              <a:off x="0" y="-28575"/>
              <a:ext cx="1463040" cy="668655"/>
            </a:xfrm>
            <a:prstGeom prst="rect">
              <a:avLst/>
            </a:prstGeom>
          </p:spPr>
          <p:txBody>
            <a:bodyPr anchor="ctr" rtlCol="false" tIns="0" lIns="0" bIns="0" rIns="0"/>
            <a:lstStyle/>
            <a:p>
              <a:pPr algn="l">
                <a:lnSpc>
                  <a:spcPts val="1889"/>
                </a:lnSpc>
              </a:pPr>
              <a:r>
                <a:rPr lang="en-US" sz="1575" b="true">
                  <a:solidFill>
                    <a:srgbClr val="FFB020"/>
                  </a:solidFill>
                  <a:latin typeface="Consolas Bold"/>
                  <a:ea typeface="Consolas Bold"/>
                  <a:cs typeface="Consolas Bold"/>
                  <a:sym typeface="Consolas Bold"/>
                </a:rPr>
                <a:t>I2</a:t>
              </a:r>
            </a:p>
          </p:txBody>
        </p:sp>
      </p:grpSp>
      <p:grpSp>
        <p:nvGrpSpPr>
          <p:cNvPr name="Group 110" id="110"/>
          <p:cNvGrpSpPr/>
          <p:nvPr/>
        </p:nvGrpSpPr>
        <p:grpSpPr>
          <a:xfrm rot="0">
            <a:off x="2057400" y="6912864"/>
            <a:ext cx="2331720" cy="480060"/>
            <a:chOff x="0" y="0"/>
            <a:chExt cx="3108960" cy="640080"/>
          </a:xfrm>
        </p:grpSpPr>
        <p:sp>
          <p:nvSpPr>
            <p:cNvPr name="Freeform 111" id="111"/>
            <p:cNvSpPr/>
            <p:nvPr/>
          </p:nvSpPr>
          <p:spPr>
            <a:xfrm flipH="false" flipV="false" rot="0">
              <a:off x="0" y="0"/>
              <a:ext cx="3108960" cy="640080"/>
            </a:xfrm>
            <a:custGeom>
              <a:avLst/>
              <a:gdLst/>
              <a:ahLst/>
              <a:cxnLst/>
              <a:rect r="r" b="b" t="t" l="l"/>
              <a:pathLst>
                <a:path h="640080" w="3108960">
                  <a:moveTo>
                    <a:pt x="0" y="0"/>
                  </a:moveTo>
                  <a:lnTo>
                    <a:pt x="3108960" y="0"/>
                  </a:lnTo>
                  <a:lnTo>
                    <a:pt x="3108960" y="640080"/>
                  </a:lnTo>
                  <a:lnTo>
                    <a:pt x="0" y="640080"/>
                  </a:lnTo>
                  <a:close/>
                </a:path>
              </a:pathLst>
            </a:custGeom>
            <a:blipFill>
              <a:blip r:embed="rId2">
                <a:alphaModFix amt="0"/>
              </a:blip>
              <a:stretch>
                <a:fillRect l="0" t="-44641" r="0" b="-44641"/>
              </a:stretch>
            </a:blipFill>
          </p:spPr>
        </p:sp>
        <p:sp>
          <p:nvSpPr>
            <p:cNvPr name="TextBox 112" id="112"/>
            <p:cNvSpPr txBox="true"/>
            <p:nvPr/>
          </p:nvSpPr>
          <p:spPr>
            <a:xfrm>
              <a:off x="0" y="-19050"/>
              <a:ext cx="3108960" cy="659130"/>
            </a:xfrm>
            <a:prstGeom prst="rect">
              <a:avLst/>
            </a:prstGeom>
          </p:spPr>
          <p:txBody>
            <a:bodyPr anchor="ctr" rtlCol="false" tIns="0" lIns="0" bIns="0" rIns="0"/>
            <a:lstStyle/>
            <a:p>
              <a:pPr algn="l" marL="0" indent="0" lvl="0">
                <a:lnSpc>
                  <a:spcPts val="1889"/>
                </a:lnSpc>
                <a:spcBef>
                  <a:spcPct val="0"/>
                </a:spcBef>
              </a:pPr>
              <a:r>
                <a:rPr lang="en-US" sz="1575" strike="noStrike" u="none">
                  <a:solidFill>
                    <a:srgbClr val="9FB0C9"/>
                  </a:solidFill>
                  <a:latin typeface="Calibri (MS)"/>
                  <a:ea typeface="Calibri (MS)"/>
                  <a:cs typeface="Calibri (MS)"/>
                  <a:sym typeface="Calibri (MS)"/>
                </a:rPr>
                <a:t>Intégrité</a:t>
              </a:r>
            </a:p>
          </p:txBody>
        </p:sp>
      </p:grpSp>
      <p:grpSp>
        <p:nvGrpSpPr>
          <p:cNvPr name="Group 113" id="113"/>
          <p:cNvGrpSpPr/>
          <p:nvPr/>
        </p:nvGrpSpPr>
        <p:grpSpPr>
          <a:xfrm rot="0">
            <a:off x="4526280" y="6912864"/>
            <a:ext cx="3771900" cy="480060"/>
            <a:chOff x="0" y="0"/>
            <a:chExt cx="5029200" cy="640080"/>
          </a:xfrm>
        </p:grpSpPr>
        <p:sp>
          <p:nvSpPr>
            <p:cNvPr name="Freeform 114" id="114"/>
            <p:cNvSpPr/>
            <p:nvPr/>
          </p:nvSpPr>
          <p:spPr>
            <a:xfrm flipH="false" flipV="false" rot="0">
              <a:off x="0" y="0"/>
              <a:ext cx="5029200" cy="640080"/>
            </a:xfrm>
            <a:custGeom>
              <a:avLst/>
              <a:gdLst/>
              <a:ahLst/>
              <a:cxnLst/>
              <a:rect r="r" b="b" t="t" l="l"/>
              <a:pathLst>
                <a:path h="640080" w="5029200">
                  <a:moveTo>
                    <a:pt x="0" y="0"/>
                  </a:moveTo>
                  <a:lnTo>
                    <a:pt x="5029200" y="0"/>
                  </a:lnTo>
                  <a:lnTo>
                    <a:pt x="5029200" y="640080"/>
                  </a:lnTo>
                  <a:lnTo>
                    <a:pt x="0" y="640080"/>
                  </a:lnTo>
                  <a:close/>
                </a:path>
              </a:pathLst>
            </a:custGeom>
            <a:blipFill>
              <a:blip r:embed="rId2">
                <a:alphaModFix amt="0"/>
              </a:blip>
              <a:stretch>
                <a:fillRect l="0" t="-103096" r="0" b="-103096"/>
              </a:stretch>
            </a:blipFill>
          </p:spPr>
        </p:sp>
        <p:sp>
          <p:nvSpPr>
            <p:cNvPr name="TextBox 115" id="115"/>
            <p:cNvSpPr txBox="true"/>
            <p:nvPr/>
          </p:nvSpPr>
          <p:spPr>
            <a:xfrm>
              <a:off x="0" y="-38100"/>
              <a:ext cx="5029200" cy="678180"/>
            </a:xfrm>
            <a:prstGeom prst="rect">
              <a:avLst/>
            </a:prstGeom>
          </p:spPr>
          <p:txBody>
            <a:bodyPr anchor="ctr" rtlCol="false" tIns="0" lIns="0" bIns="0" rIns="0"/>
            <a:lstStyle/>
            <a:p>
              <a:pPr algn="l">
                <a:lnSpc>
                  <a:spcPts val="1800"/>
                </a:lnSpc>
              </a:pPr>
              <a:r>
                <a:rPr lang="en-US" sz="1500">
                  <a:solidFill>
                    <a:srgbClr val="FFFFFF"/>
                  </a:solidFill>
                  <a:latin typeface="Consolas"/>
                  <a:ea typeface="Consolas"/>
                  <a:cs typeface="Consolas"/>
                  <a:sym typeface="Consolas"/>
                </a:rPr>
                <a:t>schema_column_match</a:t>
              </a:r>
            </a:p>
          </p:txBody>
        </p:sp>
      </p:grpSp>
      <p:grpSp>
        <p:nvGrpSpPr>
          <p:cNvPr name="Group 116" id="116"/>
          <p:cNvGrpSpPr/>
          <p:nvPr/>
        </p:nvGrpSpPr>
        <p:grpSpPr>
          <a:xfrm rot="0">
            <a:off x="8503920" y="6912864"/>
            <a:ext cx="8435340" cy="480060"/>
            <a:chOff x="0" y="0"/>
            <a:chExt cx="11247120" cy="640080"/>
          </a:xfrm>
        </p:grpSpPr>
        <p:sp>
          <p:nvSpPr>
            <p:cNvPr name="Freeform 117" id="117"/>
            <p:cNvSpPr/>
            <p:nvPr/>
          </p:nvSpPr>
          <p:spPr>
            <a:xfrm flipH="false" flipV="false" rot="0">
              <a:off x="0" y="0"/>
              <a:ext cx="11247120" cy="640080"/>
            </a:xfrm>
            <a:custGeom>
              <a:avLst/>
              <a:gdLst/>
              <a:ahLst/>
              <a:cxnLst/>
              <a:rect r="r" b="b" t="t" l="l"/>
              <a:pathLst>
                <a:path h="640080" w="11247120">
                  <a:moveTo>
                    <a:pt x="0" y="0"/>
                  </a:moveTo>
                  <a:lnTo>
                    <a:pt x="11247120" y="0"/>
                  </a:lnTo>
                  <a:lnTo>
                    <a:pt x="11247120" y="640080"/>
                  </a:lnTo>
                  <a:lnTo>
                    <a:pt x="0" y="640080"/>
                  </a:lnTo>
                  <a:close/>
                </a:path>
              </a:pathLst>
            </a:custGeom>
            <a:blipFill>
              <a:blip r:embed="rId2">
                <a:alphaModFix amt="0"/>
              </a:blip>
              <a:stretch>
                <a:fillRect l="0" t="-292379" r="0" b="-292379"/>
              </a:stretch>
            </a:blipFill>
          </p:spPr>
        </p:sp>
        <p:sp>
          <p:nvSpPr>
            <p:cNvPr name="TextBox 118" id="118"/>
            <p:cNvSpPr txBox="true"/>
            <p:nvPr/>
          </p:nvSpPr>
          <p:spPr>
            <a:xfrm>
              <a:off x="0" y="-19050"/>
              <a:ext cx="11247120" cy="659130"/>
            </a:xfrm>
            <a:prstGeom prst="rect">
              <a:avLst/>
            </a:prstGeom>
          </p:spPr>
          <p:txBody>
            <a:bodyPr anchor="ctr" rtlCol="false" tIns="0" lIns="0" bIns="0" rIns="0"/>
            <a:lstStyle/>
            <a:p>
              <a:pPr algn="l" marL="0" indent="0" lvl="0">
                <a:lnSpc>
                  <a:spcPts val="1889"/>
                </a:lnSpc>
                <a:spcBef>
                  <a:spcPct val="0"/>
                </a:spcBef>
              </a:pPr>
              <a:r>
                <a:rPr lang="en-US" sz="1575" strike="noStrike" u="none">
                  <a:solidFill>
                    <a:srgbClr val="9FB0C9"/>
                  </a:solidFill>
                  <a:latin typeface="Calibri (MS)"/>
                  <a:ea typeface="Calibri (MS)"/>
                  <a:cs typeface="Calibri (MS)"/>
                  <a:sym typeface="Calibri (MS)"/>
                </a:rPr>
                <a:t>Les colonnes correspondent au schéma CICIDS2017</a:t>
              </a:r>
            </a:p>
          </p:txBody>
        </p:sp>
      </p:grpSp>
      <p:grpSp>
        <p:nvGrpSpPr>
          <p:cNvPr name="Group 119" id="119"/>
          <p:cNvGrpSpPr/>
          <p:nvPr/>
        </p:nvGrpSpPr>
        <p:grpSpPr>
          <a:xfrm rot="0">
            <a:off x="813435" y="7712583"/>
            <a:ext cx="16615410" cy="1459230"/>
            <a:chOff x="0" y="0"/>
            <a:chExt cx="22153880" cy="1945640"/>
          </a:xfrm>
        </p:grpSpPr>
        <p:sp>
          <p:nvSpPr>
            <p:cNvPr name="Freeform 120" id="120"/>
            <p:cNvSpPr/>
            <p:nvPr/>
          </p:nvSpPr>
          <p:spPr>
            <a:xfrm flipH="false" flipV="false" rot="0">
              <a:off x="0" y="0"/>
              <a:ext cx="22153880" cy="1945640"/>
            </a:xfrm>
            <a:custGeom>
              <a:avLst/>
              <a:gdLst/>
              <a:ahLst/>
              <a:cxnLst/>
              <a:rect r="r" b="b" t="t" l="l"/>
              <a:pathLst>
                <a:path h="1945640" w="22153880">
                  <a:moveTo>
                    <a:pt x="0" y="148209"/>
                  </a:moveTo>
                  <a:cubicBezTo>
                    <a:pt x="0" y="66421"/>
                    <a:pt x="66421" y="0"/>
                    <a:pt x="148209" y="0"/>
                  </a:cubicBezTo>
                  <a:lnTo>
                    <a:pt x="22005671" y="0"/>
                  </a:lnTo>
                  <a:cubicBezTo>
                    <a:pt x="22087585" y="0"/>
                    <a:pt x="22153880" y="66421"/>
                    <a:pt x="22153880" y="148209"/>
                  </a:cubicBezTo>
                  <a:lnTo>
                    <a:pt x="22153880" y="1797431"/>
                  </a:lnTo>
                  <a:cubicBezTo>
                    <a:pt x="22153880" y="1879346"/>
                    <a:pt x="22087460" y="1945640"/>
                    <a:pt x="22005671" y="1945640"/>
                  </a:cubicBezTo>
                  <a:lnTo>
                    <a:pt x="148209" y="1945640"/>
                  </a:lnTo>
                  <a:cubicBezTo>
                    <a:pt x="66421" y="1945640"/>
                    <a:pt x="0" y="1879219"/>
                    <a:pt x="0" y="1797431"/>
                  </a:cubicBezTo>
                  <a:close/>
                </a:path>
              </a:pathLst>
            </a:custGeom>
            <a:solidFill>
              <a:srgbClr val="13294A"/>
            </a:solidFill>
            <a:ln w="19050" cap="sq">
              <a:solidFill>
                <a:srgbClr val="1E3358"/>
              </a:solidFill>
              <a:prstDash val="solid"/>
              <a:miter/>
            </a:ln>
          </p:spPr>
        </p:sp>
      </p:grpSp>
      <p:grpSp>
        <p:nvGrpSpPr>
          <p:cNvPr name="Group 121" id="121"/>
          <p:cNvGrpSpPr/>
          <p:nvPr/>
        </p:nvGrpSpPr>
        <p:grpSpPr>
          <a:xfrm rot="0">
            <a:off x="1234440" y="7955280"/>
            <a:ext cx="15773400" cy="960120"/>
            <a:chOff x="0" y="0"/>
            <a:chExt cx="21031200" cy="1280160"/>
          </a:xfrm>
        </p:grpSpPr>
        <p:sp>
          <p:nvSpPr>
            <p:cNvPr name="Freeform 122" id="122"/>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2">
                <a:alphaModFix amt="0"/>
              </a:blip>
              <a:stretch>
                <a:fillRect l="0" t="-270111" r="0" b="-270111"/>
              </a:stretch>
            </a:blipFill>
          </p:spPr>
        </p:sp>
        <p:sp>
          <p:nvSpPr>
            <p:cNvPr name="TextBox 123" id="123"/>
            <p:cNvSpPr txBox="true"/>
            <p:nvPr/>
          </p:nvSpPr>
          <p:spPr>
            <a:xfrm>
              <a:off x="0" y="-38100"/>
              <a:ext cx="21031200" cy="1318260"/>
            </a:xfrm>
            <a:prstGeom prst="rect">
              <a:avLst/>
            </a:prstGeom>
          </p:spPr>
          <p:txBody>
            <a:bodyPr anchor="ctr" rtlCol="false" tIns="0" lIns="0" bIns="0" rIns="0"/>
            <a:lstStyle/>
            <a:p>
              <a:pPr algn="l" marL="0" indent="0" lvl="0">
                <a:lnSpc>
                  <a:spcPts val="2070"/>
                </a:lnSpc>
                <a:spcBef>
                  <a:spcPct val="0"/>
                </a:spcBef>
              </a:pPr>
              <a:r>
                <a:rPr lang="en-US" sz="1725" i="true" strike="noStrike" u="none">
                  <a:solidFill>
                    <a:srgbClr val="00E5C7"/>
                  </a:solidFill>
                  <a:latin typeface="Calibri (MS) Italics"/>
                  <a:ea typeface="Calibri (MS) Italics"/>
                  <a:cs typeface="Calibri (MS) Italics"/>
                  <a:sym typeface="Calibri (MS) Italics"/>
                </a:rPr>
                <a:t>12 règles valident les CSV bruts avant l’ingestion · la sortie d’inférence vérifie en plus la plage de confiance [0,1], la version du modèle et un seuil d’anomalie de 0,80.</a:t>
              </a:r>
            </a:p>
          </p:txBody>
        </p:sp>
      </p:grpSp>
      <p:grpSp>
        <p:nvGrpSpPr>
          <p:cNvPr name="Group 124" id="124"/>
          <p:cNvGrpSpPr/>
          <p:nvPr/>
        </p:nvGrpSpPr>
        <p:grpSpPr>
          <a:xfrm rot="0">
            <a:off x="685800" y="9710928"/>
            <a:ext cx="10972800" cy="411480"/>
            <a:chOff x="0" y="0"/>
            <a:chExt cx="14630400" cy="548640"/>
          </a:xfrm>
        </p:grpSpPr>
        <p:sp>
          <p:nvSpPr>
            <p:cNvPr name="Freeform 125" id="12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126" id="126"/>
            <p:cNvSpPr txBox="true"/>
            <p:nvPr/>
          </p:nvSpPr>
          <p:spPr>
            <a:xfrm>
              <a:off x="0" y="-28575"/>
              <a:ext cx="14630400" cy="577215"/>
            </a:xfrm>
            <a:prstGeom prst="rect">
              <a:avLst/>
            </a:prstGeom>
          </p:spPr>
          <p:txBody>
            <a:bodyPr anchor="ctr" rtlCol="false" tIns="0" lIns="0" bIns="0" rIns="0"/>
            <a:lstStyle/>
            <a:p>
              <a:pPr algn="l" marL="0" indent="0" lvl="0">
                <a:lnSpc>
                  <a:spcPts val="1620"/>
                </a:lnSpc>
                <a:spcBef>
                  <a:spcPct val="0"/>
                </a:spcBef>
              </a:pPr>
              <a:r>
                <a:rPr lang="en-US" sz="1350" spc="149" strike="noStrike" u="none">
                  <a:solidFill>
                    <a:srgbClr val="6E84A6"/>
                  </a:solidFill>
                  <a:latin typeface="Calibri (MS)"/>
                  <a:ea typeface="Calibri (MS)"/>
                  <a:cs typeface="Calibri (MS)"/>
                  <a:sym typeface="Calibri (MS)"/>
                </a:rPr>
                <a:t>PLATEFORME MLSECOPS · STRATÉGIE DE QUALITÉ DES DONNÉES &amp; DE TESTS</a:t>
              </a:r>
            </a:p>
          </p:txBody>
        </p:sp>
      </p:grpSp>
      <p:grpSp>
        <p:nvGrpSpPr>
          <p:cNvPr name="Group 127" id="127"/>
          <p:cNvGrpSpPr/>
          <p:nvPr/>
        </p:nvGrpSpPr>
        <p:grpSpPr>
          <a:xfrm rot="0">
            <a:off x="16500348" y="9710928"/>
            <a:ext cx="1097280" cy="411480"/>
            <a:chOff x="0" y="0"/>
            <a:chExt cx="1463040" cy="548640"/>
          </a:xfrm>
        </p:grpSpPr>
        <p:sp>
          <p:nvSpPr>
            <p:cNvPr name="Freeform 128" id="128"/>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129" id="129"/>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14 / 32</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marL="0" indent="0" lvl="0">
                <a:lnSpc>
                  <a:spcPts val="2250"/>
                </a:lnSpc>
                <a:spcBef>
                  <a:spcPct val="0"/>
                </a:spcBef>
              </a:pPr>
              <a:r>
                <a:rPr lang="en-US" b="true" sz="1875" spc="300" strike="noStrike" u="none">
                  <a:solidFill>
                    <a:srgbClr val="00E5C7"/>
                  </a:solidFill>
                  <a:latin typeface="Calibri (MS) Bold"/>
                  <a:ea typeface="Calibri (MS) Bold"/>
                  <a:cs typeface="Calibri (MS) Bold"/>
                  <a:sym typeface="Calibri (MS) Bold"/>
                </a:rPr>
                <a:t>QUALITÉ DES DONNÉES &amp; TESTS</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marL="0" indent="0" lvl="0">
                <a:lnSpc>
                  <a:spcPts val="1800"/>
                </a:lnSpc>
                <a:spcBef>
                  <a:spcPct val="0"/>
                </a:spcBef>
              </a:pPr>
              <a:r>
                <a:rPr lang="en-US" b="true" sz="1500" spc="225" strike="noStrike" u="none">
                  <a:solidFill>
                    <a:srgbClr val="00E5C7"/>
                  </a:solidFill>
                  <a:latin typeface="Calibri (MS) Bold"/>
                  <a:ea typeface="Calibri (MS) Bold"/>
                  <a:cs typeface="Calibri (MS) Bold"/>
                  <a:sym typeface="Calibri (MS) Bold"/>
                </a:rPr>
                <a:t>INTERVENANT 4</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marL="0" indent="0" lvl="0">
                <a:lnSpc>
                  <a:spcPts val="1889"/>
                </a:lnSpc>
                <a:spcBef>
                  <a:spcPct val="0"/>
                </a:spcBef>
              </a:pPr>
              <a:r>
                <a:rPr lang="en-US" sz="1575" strike="noStrike" u="none">
                  <a:solidFill>
                    <a:srgbClr val="9FB0C9"/>
                  </a:solidFill>
                  <a:latin typeface="Calibri (MS)"/>
                  <a:ea typeface="Calibri (MS)"/>
                  <a:cs typeface="Calibri (MS)"/>
                  <a:sym typeface="Calibri (MS)"/>
                </a:rPr>
                <a:t>Hamza Rbib — QA / Testeur</a:t>
              </a:r>
            </a:p>
          </p:txBody>
        </p:sp>
      </p:grpSp>
      <p:grpSp>
        <p:nvGrpSpPr>
          <p:cNvPr name="Group 11" id="11"/>
          <p:cNvGrpSpPr/>
          <p:nvPr/>
        </p:nvGrpSpPr>
        <p:grpSpPr>
          <a:xfrm rot="0">
            <a:off x="845820" y="385227"/>
            <a:ext cx="16596360" cy="3516213"/>
            <a:chOff x="0" y="0"/>
            <a:chExt cx="22128480" cy="4688284"/>
          </a:xfrm>
        </p:grpSpPr>
        <p:sp>
          <p:nvSpPr>
            <p:cNvPr name="Freeform 12" id="12"/>
            <p:cNvSpPr/>
            <p:nvPr/>
          </p:nvSpPr>
          <p:spPr>
            <a:xfrm flipH="false" flipV="false" rot="0">
              <a:off x="0" y="0"/>
              <a:ext cx="22128480" cy="4688284"/>
            </a:xfrm>
            <a:custGeom>
              <a:avLst/>
              <a:gdLst/>
              <a:ahLst/>
              <a:cxnLst/>
              <a:rect r="r" b="b" t="t" l="l"/>
              <a:pathLst>
                <a:path h="4688284" w="22128480">
                  <a:moveTo>
                    <a:pt x="0" y="0"/>
                  </a:moveTo>
                  <a:lnTo>
                    <a:pt x="22128480" y="0"/>
                  </a:lnTo>
                  <a:lnTo>
                    <a:pt x="22128480" y="4688284"/>
                  </a:lnTo>
                  <a:lnTo>
                    <a:pt x="0" y="4688284"/>
                  </a:lnTo>
                  <a:close/>
                </a:path>
              </a:pathLst>
            </a:custGeom>
            <a:blipFill>
              <a:blip r:embed="rId2">
                <a:alphaModFix amt="0"/>
              </a:blip>
              <a:stretch>
                <a:fillRect l="0" t="-73439" r="0" b="-10497"/>
              </a:stretch>
            </a:blipFill>
          </p:spPr>
        </p:sp>
        <p:sp>
          <p:nvSpPr>
            <p:cNvPr name="TextBox 13" id="13"/>
            <p:cNvSpPr txBox="true"/>
            <p:nvPr/>
          </p:nvSpPr>
          <p:spPr>
            <a:xfrm>
              <a:off x="0" y="-9525"/>
              <a:ext cx="22128480" cy="4697809"/>
            </a:xfrm>
            <a:prstGeom prst="rect">
              <a:avLst/>
            </a:prstGeom>
          </p:spPr>
          <p:txBody>
            <a:bodyPr anchor="ctr" rtlCol="false" tIns="0" lIns="0" bIns="0" rIns="0"/>
            <a:lstStyle/>
            <a:p>
              <a:pPr algn="l" marL="0" indent="0" lvl="0">
                <a:lnSpc>
                  <a:spcPts val="5759"/>
                </a:lnSpc>
                <a:spcBef>
                  <a:spcPct val="0"/>
                </a:spcBef>
              </a:pPr>
              <a:r>
                <a:rPr lang="en-US" b="true" sz="4800" strike="noStrike" u="none">
                  <a:solidFill>
                    <a:srgbClr val="FFFFFF"/>
                  </a:solidFill>
                  <a:latin typeface="Cambria Bold"/>
                  <a:ea typeface="Cambria Bold"/>
                  <a:cs typeface="Cambria Bold"/>
                  <a:sym typeface="Cambria Bold"/>
                </a:rPr>
                <a:t>Suite de tests automatisés — Pytest</a:t>
              </a:r>
            </a:p>
          </p:txBody>
        </p:sp>
      </p:grpSp>
      <p:grpSp>
        <p:nvGrpSpPr>
          <p:cNvPr name="Group 14" id="14"/>
          <p:cNvGrpSpPr/>
          <p:nvPr/>
        </p:nvGrpSpPr>
        <p:grpSpPr>
          <a:xfrm rot="0">
            <a:off x="1399651" y="2606040"/>
            <a:ext cx="4114800" cy="1028700"/>
            <a:chOff x="0" y="0"/>
            <a:chExt cx="5486400" cy="1371600"/>
          </a:xfrm>
        </p:grpSpPr>
        <p:sp>
          <p:nvSpPr>
            <p:cNvPr name="Freeform 15" id="15"/>
            <p:cNvSpPr/>
            <p:nvPr/>
          </p:nvSpPr>
          <p:spPr>
            <a:xfrm flipH="false" flipV="false" rot="0">
              <a:off x="0" y="0"/>
              <a:ext cx="5486400" cy="1371600"/>
            </a:xfrm>
            <a:custGeom>
              <a:avLst/>
              <a:gdLst/>
              <a:ahLst/>
              <a:cxnLst/>
              <a:rect r="r" b="b" t="t" l="l"/>
              <a:pathLst>
                <a:path h="1371600" w="5486400">
                  <a:moveTo>
                    <a:pt x="0" y="0"/>
                  </a:moveTo>
                  <a:lnTo>
                    <a:pt x="5486400" y="0"/>
                  </a:lnTo>
                  <a:lnTo>
                    <a:pt x="5486400" y="1371600"/>
                  </a:lnTo>
                  <a:lnTo>
                    <a:pt x="0" y="1371600"/>
                  </a:lnTo>
                  <a:close/>
                </a:path>
              </a:pathLst>
            </a:custGeom>
            <a:blipFill>
              <a:blip r:embed="rId2">
                <a:alphaModFix amt="0"/>
              </a:blip>
              <a:stretch>
                <a:fillRect l="0" t="-27940" r="0" b="-27940"/>
              </a:stretch>
            </a:blipFill>
          </p:spPr>
        </p:sp>
        <p:sp>
          <p:nvSpPr>
            <p:cNvPr name="TextBox 16" id="16"/>
            <p:cNvSpPr txBox="true"/>
            <p:nvPr/>
          </p:nvSpPr>
          <p:spPr>
            <a:xfrm>
              <a:off x="0" y="-9525"/>
              <a:ext cx="5486400" cy="1381125"/>
            </a:xfrm>
            <a:prstGeom prst="rect">
              <a:avLst/>
            </a:prstGeom>
          </p:spPr>
          <p:txBody>
            <a:bodyPr anchor="ctr" rtlCol="false" tIns="0" lIns="0" bIns="0" rIns="0"/>
            <a:lstStyle/>
            <a:p>
              <a:pPr algn="l">
                <a:lnSpc>
                  <a:spcPts val="7200"/>
                </a:lnSpc>
              </a:pPr>
              <a:r>
                <a:rPr lang="en-US" sz="6000" b="true">
                  <a:solidFill>
                    <a:srgbClr val="00E5C7"/>
                  </a:solidFill>
                  <a:latin typeface="Cambria Bold"/>
                  <a:ea typeface="Cambria Bold"/>
                  <a:cs typeface="Cambria Bold"/>
                  <a:sym typeface="Cambria Bold"/>
                </a:rPr>
                <a:t>537</a:t>
              </a:r>
            </a:p>
          </p:txBody>
        </p:sp>
      </p:grpSp>
      <p:grpSp>
        <p:nvGrpSpPr>
          <p:cNvPr name="Group 17" id="17"/>
          <p:cNvGrpSpPr/>
          <p:nvPr/>
        </p:nvGrpSpPr>
        <p:grpSpPr>
          <a:xfrm rot="0">
            <a:off x="822960" y="3593592"/>
            <a:ext cx="4114800" cy="685800"/>
            <a:chOff x="0" y="0"/>
            <a:chExt cx="5486400" cy="914400"/>
          </a:xfrm>
        </p:grpSpPr>
        <p:sp>
          <p:nvSpPr>
            <p:cNvPr name="Freeform 18" id="18"/>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2">
                <a:alphaModFix amt="0"/>
              </a:blip>
              <a:stretch>
                <a:fillRect l="0" t="-66910" r="0" b="-66910"/>
              </a:stretch>
            </a:blipFill>
          </p:spPr>
        </p:sp>
        <p:sp>
          <p:nvSpPr>
            <p:cNvPr name="TextBox 19" id="19"/>
            <p:cNvSpPr txBox="true"/>
            <p:nvPr/>
          </p:nvSpPr>
          <p:spPr>
            <a:xfrm>
              <a:off x="0" y="-19050"/>
              <a:ext cx="5486400" cy="933450"/>
            </a:xfrm>
            <a:prstGeom prst="rect">
              <a:avLst/>
            </a:prstGeom>
          </p:spPr>
          <p:txBody>
            <a:bodyPr anchor="ctr" rtlCol="false" tIns="0" lIns="0" bIns="0" rIns="0"/>
            <a:lstStyle/>
            <a:p>
              <a:pPr algn="l" marL="0" indent="0" lvl="0">
                <a:lnSpc>
                  <a:spcPts val="1889"/>
                </a:lnSpc>
                <a:spcBef>
                  <a:spcPct val="0"/>
                </a:spcBef>
              </a:pPr>
              <a:r>
                <a:rPr lang="en-US" sz="1575" spc="150" strike="noStrike" u="none">
                  <a:solidFill>
                    <a:srgbClr val="9FB0C9"/>
                  </a:solidFill>
                  <a:latin typeface="Calibri (MS)"/>
                  <a:ea typeface="Calibri (MS)"/>
                  <a:cs typeface="Calibri (MS)"/>
                  <a:sym typeface="Calibri (MS)"/>
                </a:rPr>
                <a:t>LIGNES DE CODE DE TEST</a:t>
              </a:r>
            </a:p>
          </p:txBody>
        </p:sp>
      </p:grpSp>
      <p:grpSp>
        <p:nvGrpSpPr>
          <p:cNvPr name="Group 20" id="20"/>
          <p:cNvGrpSpPr/>
          <p:nvPr/>
        </p:nvGrpSpPr>
        <p:grpSpPr>
          <a:xfrm rot="0">
            <a:off x="6007608" y="2606040"/>
            <a:ext cx="4114800" cy="1028700"/>
            <a:chOff x="0" y="0"/>
            <a:chExt cx="5486400" cy="1371600"/>
          </a:xfrm>
        </p:grpSpPr>
        <p:sp>
          <p:nvSpPr>
            <p:cNvPr name="Freeform 21" id="21"/>
            <p:cNvSpPr/>
            <p:nvPr/>
          </p:nvSpPr>
          <p:spPr>
            <a:xfrm flipH="false" flipV="false" rot="0">
              <a:off x="0" y="0"/>
              <a:ext cx="5486400" cy="1371600"/>
            </a:xfrm>
            <a:custGeom>
              <a:avLst/>
              <a:gdLst/>
              <a:ahLst/>
              <a:cxnLst/>
              <a:rect r="r" b="b" t="t" l="l"/>
              <a:pathLst>
                <a:path h="1371600" w="5486400">
                  <a:moveTo>
                    <a:pt x="0" y="0"/>
                  </a:moveTo>
                  <a:lnTo>
                    <a:pt x="5486400" y="0"/>
                  </a:lnTo>
                  <a:lnTo>
                    <a:pt x="5486400" y="1371600"/>
                  </a:lnTo>
                  <a:lnTo>
                    <a:pt x="0" y="1371600"/>
                  </a:lnTo>
                  <a:close/>
                </a:path>
              </a:pathLst>
            </a:custGeom>
            <a:blipFill>
              <a:blip r:embed="rId2">
                <a:alphaModFix amt="0"/>
              </a:blip>
              <a:stretch>
                <a:fillRect l="0" t="-27940" r="0" b="-27940"/>
              </a:stretch>
            </a:blipFill>
          </p:spPr>
        </p:sp>
        <p:sp>
          <p:nvSpPr>
            <p:cNvPr name="TextBox 22" id="22"/>
            <p:cNvSpPr txBox="true"/>
            <p:nvPr/>
          </p:nvSpPr>
          <p:spPr>
            <a:xfrm>
              <a:off x="0" y="-9525"/>
              <a:ext cx="5486400" cy="1381125"/>
            </a:xfrm>
            <a:prstGeom prst="rect">
              <a:avLst/>
            </a:prstGeom>
          </p:spPr>
          <p:txBody>
            <a:bodyPr anchor="ctr" rtlCol="false" tIns="0" lIns="0" bIns="0" rIns="0"/>
            <a:lstStyle/>
            <a:p>
              <a:pPr algn="l">
                <a:lnSpc>
                  <a:spcPts val="7200"/>
                </a:lnSpc>
              </a:pPr>
              <a:r>
                <a:rPr lang="en-US" sz="6000" b="true">
                  <a:solidFill>
                    <a:srgbClr val="4C7CFF"/>
                  </a:solidFill>
                  <a:latin typeface="Cambria Bold"/>
                  <a:ea typeface="Cambria Bold"/>
                  <a:cs typeface="Cambria Bold"/>
                  <a:sym typeface="Cambria Bold"/>
                </a:rPr>
                <a:t>27</a:t>
              </a:r>
            </a:p>
          </p:txBody>
        </p:sp>
      </p:grpSp>
      <p:grpSp>
        <p:nvGrpSpPr>
          <p:cNvPr name="Group 23" id="23"/>
          <p:cNvGrpSpPr/>
          <p:nvPr/>
        </p:nvGrpSpPr>
        <p:grpSpPr>
          <a:xfrm rot="0">
            <a:off x="5074920" y="3593592"/>
            <a:ext cx="4114800" cy="685800"/>
            <a:chOff x="0" y="0"/>
            <a:chExt cx="5486400" cy="914400"/>
          </a:xfrm>
        </p:grpSpPr>
        <p:sp>
          <p:nvSpPr>
            <p:cNvPr name="Freeform 24" id="24"/>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2">
                <a:alphaModFix amt="0"/>
              </a:blip>
              <a:stretch>
                <a:fillRect l="0" t="-66910" r="0" b="-66910"/>
              </a:stretch>
            </a:blipFill>
          </p:spPr>
        </p:sp>
        <p:sp>
          <p:nvSpPr>
            <p:cNvPr name="TextBox 25" id="25"/>
            <p:cNvSpPr txBox="true"/>
            <p:nvPr/>
          </p:nvSpPr>
          <p:spPr>
            <a:xfrm>
              <a:off x="0" y="-19050"/>
              <a:ext cx="5486400" cy="933450"/>
            </a:xfrm>
            <a:prstGeom prst="rect">
              <a:avLst/>
            </a:prstGeom>
          </p:spPr>
          <p:txBody>
            <a:bodyPr anchor="ctr" rtlCol="false" tIns="0" lIns="0" bIns="0" rIns="0"/>
            <a:lstStyle/>
            <a:p>
              <a:pPr algn="l" marL="0" indent="0" lvl="0">
                <a:lnSpc>
                  <a:spcPts val="1889"/>
                </a:lnSpc>
                <a:spcBef>
                  <a:spcPct val="0"/>
                </a:spcBef>
              </a:pPr>
              <a:r>
                <a:rPr lang="en-US" sz="1575" spc="150" strike="noStrike" u="none">
                  <a:solidFill>
                    <a:srgbClr val="9FB0C9"/>
                  </a:solidFill>
                  <a:latin typeface="Calibri (MS)"/>
                  <a:ea typeface="Calibri (MS)"/>
                  <a:cs typeface="Calibri (MS)"/>
                  <a:sym typeface="Calibri (MS)"/>
                </a:rPr>
                <a:t>NOMBRE TOTAL DE CAS DE TEST</a:t>
              </a:r>
            </a:p>
          </p:txBody>
        </p:sp>
      </p:grpSp>
      <p:grpSp>
        <p:nvGrpSpPr>
          <p:cNvPr name="Group 26" id="26"/>
          <p:cNvGrpSpPr/>
          <p:nvPr/>
        </p:nvGrpSpPr>
        <p:grpSpPr>
          <a:xfrm rot="0">
            <a:off x="9769457" y="2606040"/>
            <a:ext cx="4114800" cy="1028700"/>
            <a:chOff x="0" y="0"/>
            <a:chExt cx="5486400" cy="1371600"/>
          </a:xfrm>
        </p:grpSpPr>
        <p:sp>
          <p:nvSpPr>
            <p:cNvPr name="Freeform 27" id="27"/>
            <p:cNvSpPr/>
            <p:nvPr/>
          </p:nvSpPr>
          <p:spPr>
            <a:xfrm flipH="false" flipV="false" rot="0">
              <a:off x="0" y="0"/>
              <a:ext cx="5486400" cy="1371600"/>
            </a:xfrm>
            <a:custGeom>
              <a:avLst/>
              <a:gdLst/>
              <a:ahLst/>
              <a:cxnLst/>
              <a:rect r="r" b="b" t="t" l="l"/>
              <a:pathLst>
                <a:path h="1371600" w="5486400">
                  <a:moveTo>
                    <a:pt x="0" y="0"/>
                  </a:moveTo>
                  <a:lnTo>
                    <a:pt x="5486400" y="0"/>
                  </a:lnTo>
                  <a:lnTo>
                    <a:pt x="5486400" y="1371600"/>
                  </a:lnTo>
                  <a:lnTo>
                    <a:pt x="0" y="1371600"/>
                  </a:lnTo>
                  <a:close/>
                </a:path>
              </a:pathLst>
            </a:custGeom>
            <a:blipFill>
              <a:blip r:embed="rId2">
                <a:alphaModFix amt="0"/>
              </a:blip>
              <a:stretch>
                <a:fillRect l="0" t="-27940" r="0" b="-27940"/>
              </a:stretch>
            </a:blipFill>
          </p:spPr>
        </p:sp>
        <p:sp>
          <p:nvSpPr>
            <p:cNvPr name="TextBox 28" id="28"/>
            <p:cNvSpPr txBox="true"/>
            <p:nvPr/>
          </p:nvSpPr>
          <p:spPr>
            <a:xfrm>
              <a:off x="0" y="-9525"/>
              <a:ext cx="5486400" cy="1381125"/>
            </a:xfrm>
            <a:prstGeom prst="rect">
              <a:avLst/>
            </a:prstGeom>
          </p:spPr>
          <p:txBody>
            <a:bodyPr anchor="ctr" rtlCol="false" tIns="0" lIns="0" bIns="0" rIns="0"/>
            <a:lstStyle/>
            <a:p>
              <a:pPr algn="l">
                <a:lnSpc>
                  <a:spcPts val="7200"/>
                </a:lnSpc>
              </a:pPr>
              <a:r>
                <a:rPr lang="en-US" sz="6000" b="true">
                  <a:solidFill>
                    <a:srgbClr val="FFB020"/>
                  </a:solidFill>
                  <a:latin typeface="Cambria Bold"/>
                  <a:ea typeface="Cambria Bold"/>
                  <a:cs typeface="Cambria Bold"/>
                  <a:sym typeface="Cambria Bold"/>
                </a:rPr>
                <a:t>4</a:t>
              </a:r>
            </a:p>
          </p:txBody>
        </p:sp>
      </p:grpSp>
      <p:grpSp>
        <p:nvGrpSpPr>
          <p:cNvPr name="Group 29" id="29"/>
          <p:cNvGrpSpPr/>
          <p:nvPr/>
        </p:nvGrpSpPr>
        <p:grpSpPr>
          <a:xfrm rot="0">
            <a:off x="9326880" y="3593592"/>
            <a:ext cx="4114800" cy="685800"/>
            <a:chOff x="0" y="0"/>
            <a:chExt cx="5486400" cy="914400"/>
          </a:xfrm>
        </p:grpSpPr>
        <p:sp>
          <p:nvSpPr>
            <p:cNvPr name="Freeform 30" id="30"/>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2">
                <a:alphaModFix amt="0"/>
              </a:blip>
              <a:stretch>
                <a:fillRect l="0" t="-66910" r="0" b="-66910"/>
              </a:stretch>
            </a:blipFill>
          </p:spPr>
        </p:sp>
        <p:sp>
          <p:nvSpPr>
            <p:cNvPr name="TextBox 31" id="31"/>
            <p:cNvSpPr txBox="true"/>
            <p:nvPr/>
          </p:nvSpPr>
          <p:spPr>
            <a:xfrm>
              <a:off x="0" y="-19050"/>
              <a:ext cx="5486400" cy="933450"/>
            </a:xfrm>
            <a:prstGeom prst="rect">
              <a:avLst/>
            </a:prstGeom>
          </p:spPr>
          <p:txBody>
            <a:bodyPr anchor="ctr" rtlCol="false" tIns="0" lIns="0" bIns="0" rIns="0"/>
            <a:lstStyle/>
            <a:p>
              <a:pPr algn="l" marL="0" indent="0" lvl="0">
                <a:lnSpc>
                  <a:spcPts val="1889"/>
                </a:lnSpc>
                <a:spcBef>
                  <a:spcPct val="0"/>
                </a:spcBef>
              </a:pPr>
              <a:r>
                <a:rPr lang="en-US" sz="1575" spc="150" strike="noStrike" u="none">
                  <a:solidFill>
                    <a:srgbClr val="9FB0C9"/>
                  </a:solidFill>
                  <a:latin typeface="Calibri (MS)"/>
                  <a:ea typeface="Calibri (MS)"/>
                  <a:cs typeface="Calibri (MS)"/>
                  <a:sym typeface="Calibri (MS)"/>
                </a:rPr>
                <a:t>CLASSES DE TEST</a:t>
              </a:r>
            </a:p>
          </p:txBody>
        </p:sp>
      </p:grpSp>
      <p:grpSp>
        <p:nvGrpSpPr>
          <p:cNvPr name="Group 32" id="32"/>
          <p:cNvGrpSpPr/>
          <p:nvPr/>
        </p:nvGrpSpPr>
        <p:grpSpPr>
          <a:xfrm rot="0">
            <a:off x="813435" y="4311015"/>
            <a:ext cx="16615410" cy="1184910"/>
            <a:chOff x="0" y="0"/>
            <a:chExt cx="22153880" cy="1579880"/>
          </a:xfrm>
        </p:grpSpPr>
        <p:sp>
          <p:nvSpPr>
            <p:cNvPr name="Freeform 33" id="33"/>
            <p:cNvSpPr/>
            <p:nvPr/>
          </p:nvSpPr>
          <p:spPr>
            <a:xfrm flipH="false" flipV="false" rot="0">
              <a:off x="0" y="0"/>
              <a:ext cx="22153879" cy="1579880"/>
            </a:xfrm>
            <a:custGeom>
              <a:avLst/>
              <a:gdLst/>
              <a:ahLst/>
              <a:cxnLst/>
              <a:rect r="r" b="b" t="t" l="l"/>
              <a:pathLst>
                <a:path h="1579880" w="22153879">
                  <a:moveTo>
                    <a:pt x="0" y="148717"/>
                  </a:moveTo>
                  <a:cubicBezTo>
                    <a:pt x="0" y="66548"/>
                    <a:pt x="66548" y="0"/>
                    <a:pt x="148717" y="0"/>
                  </a:cubicBezTo>
                  <a:lnTo>
                    <a:pt x="22005162" y="0"/>
                  </a:lnTo>
                  <a:cubicBezTo>
                    <a:pt x="22087331" y="0"/>
                    <a:pt x="22153879" y="66548"/>
                    <a:pt x="22153879" y="148717"/>
                  </a:cubicBezTo>
                  <a:lnTo>
                    <a:pt x="22153879" y="1431163"/>
                  </a:lnTo>
                  <a:cubicBezTo>
                    <a:pt x="22153879" y="1513332"/>
                    <a:pt x="22087331" y="1579880"/>
                    <a:pt x="22005162" y="1579880"/>
                  </a:cubicBezTo>
                  <a:lnTo>
                    <a:pt x="148717" y="1579880"/>
                  </a:lnTo>
                  <a:cubicBezTo>
                    <a:pt x="66548" y="1579880"/>
                    <a:pt x="0" y="1513332"/>
                    <a:pt x="0" y="1431163"/>
                  </a:cubicBezTo>
                  <a:close/>
                </a:path>
              </a:pathLst>
            </a:custGeom>
            <a:solidFill>
              <a:srgbClr val="0F2038"/>
            </a:solidFill>
            <a:ln w="19050" cap="sq">
              <a:solidFill>
                <a:srgbClr val="1E3358"/>
              </a:solidFill>
              <a:prstDash val="solid"/>
              <a:miter/>
            </a:ln>
          </p:spPr>
        </p:sp>
      </p:grpSp>
      <p:grpSp>
        <p:nvGrpSpPr>
          <p:cNvPr name="Group 34" id="34"/>
          <p:cNvGrpSpPr/>
          <p:nvPr/>
        </p:nvGrpSpPr>
        <p:grpSpPr>
          <a:xfrm rot="0">
            <a:off x="1234440" y="4485132"/>
            <a:ext cx="6172200" cy="480060"/>
            <a:chOff x="0" y="0"/>
            <a:chExt cx="8229600" cy="640080"/>
          </a:xfrm>
        </p:grpSpPr>
        <p:sp>
          <p:nvSpPr>
            <p:cNvPr name="Freeform 35" id="35"/>
            <p:cNvSpPr/>
            <p:nvPr/>
          </p:nvSpPr>
          <p:spPr>
            <a:xfrm flipH="false" flipV="false" rot="0">
              <a:off x="0" y="0"/>
              <a:ext cx="8229600" cy="640080"/>
            </a:xfrm>
            <a:custGeom>
              <a:avLst/>
              <a:gdLst/>
              <a:ahLst/>
              <a:cxnLst/>
              <a:rect r="r" b="b" t="t" l="l"/>
              <a:pathLst>
                <a:path h="640080" w="8229600">
                  <a:moveTo>
                    <a:pt x="0" y="0"/>
                  </a:moveTo>
                  <a:lnTo>
                    <a:pt x="8229600" y="0"/>
                  </a:lnTo>
                  <a:lnTo>
                    <a:pt x="8229600" y="640080"/>
                  </a:lnTo>
                  <a:lnTo>
                    <a:pt x="0" y="640080"/>
                  </a:lnTo>
                  <a:close/>
                </a:path>
              </a:pathLst>
            </a:custGeom>
            <a:blipFill>
              <a:blip r:embed="rId2">
                <a:alphaModFix amt="0"/>
              </a:blip>
              <a:stretch>
                <a:fillRect l="0" t="-200521" r="0" b="-200521"/>
              </a:stretch>
            </a:blipFill>
          </p:spPr>
        </p:sp>
        <p:sp>
          <p:nvSpPr>
            <p:cNvPr name="TextBox 36" id="36"/>
            <p:cNvSpPr txBox="true"/>
            <p:nvPr/>
          </p:nvSpPr>
          <p:spPr>
            <a:xfrm>
              <a:off x="0" y="-38100"/>
              <a:ext cx="8229600" cy="678180"/>
            </a:xfrm>
            <a:prstGeom prst="rect">
              <a:avLst/>
            </a:prstGeom>
          </p:spPr>
          <p:txBody>
            <a:bodyPr anchor="ctr" rtlCol="false" tIns="0" lIns="0" bIns="0" rIns="0"/>
            <a:lstStyle/>
            <a:p>
              <a:pPr algn="l">
                <a:lnSpc>
                  <a:spcPts val="2160"/>
                </a:lnSpc>
              </a:pPr>
              <a:r>
                <a:rPr lang="en-US" sz="1800" b="true">
                  <a:solidFill>
                    <a:srgbClr val="FFFFFF"/>
                  </a:solidFill>
                  <a:latin typeface="Consolas Bold"/>
                  <a:ea typeface="Consolas Bold"/>
                  <a:cs typeface="Consolas Bold"/>
                  <a:sym typeface="Consolas Bold"/>
                </a:rPr>
                <a:t>TestValidateRawCSV</a:t>
              </a:r>
            </a:p>
          </p:txBody>
        </p:sp>
      </p:grpSp>
      <p:grpSp>
        <p:nvGrpSpPr>
          <p:cNvPr name="Group 37" id="37"/>
          <p:cNvGrpSpPr/>
          <p:nvPr/>
        </p:nvGrpSpPr>
        <p:grpSpPr>
          <a:xfrm rot="0">
            <a:off x="7602855" y="4667631"/>
            <a:ext cx="1335786" cy="457962"/>
            <a:chOff x="0" y="0"/>
            <a:chExt cx="1781048" cy="610616"/>
          </a:xfrm>
        </p:grpSpPr>
        <p:sp>
          <p:nvSpPr>
            <p:cNvPr name="Freeform 38" id="38"/>
            <p:cNvSpPr/>
            <p:nvPr/>
          </p:nvSpPr>
          <p:spPr>
            <a:xfrm flipH="false" flipV="false" rot="0">
              <a:off x="0" y="0"/>
              <a:ext cx="1781048" cy="610616"/>
            </a:xfrm>
            <a:custGeom>
              <a:avLst/>
              <a:gdLst/>
              <a:ahLst/>
              <a:cxnLst/>
              <a:rect r="r" b="b" t="t" l="l"/>
              <a:pathLst>
                <a:path h="610616" w="1781048">
                  <a:moveTo>
                    <a:pt x="0" y="305308"/>
                  </a:moveTo>
                  <a:cubicBezTo>
                    <a:pt x="0" y="136652"/>
                    <a:pt x="136652" y="0"/>
                    <a:pt x="305308" y="0"/>
                  </a:cubicBezTo>
                  <a:lnTo>
                    <a:pt x="1475740" y="0"/>
                  </a:lnTo>
                  <a:cubicBezTo>
                    <a:pt x="1644396" y="0"/>
                    <a:pt x="1781048" y="136652"/>
                    <a:pt x="1781048" y="305308"/>
                  </a:cubicBezTo>
                  <a:cubicBezTo>
                    <a:pt x="1781048" y="473964"/>
                    <a:pt x="1644396" y="610616"/>
                    <a:pt x="1475740" y="610616"/>
                  </a:cubicBezTo>
                  <a:lnTo>
                    <a:pt x="305308" y="610616"/>
                  </a:lnTo>
                  <a:cubicBezTo>
                    <a:pt x="136652" y="610616"/>
                    <a:pt x="0" y="473964"/>
                    <a:pt x="0" y="305308"/>
                  </a:cubicBezTo>
                  <a:close/>
                </a:path>
              </a:pathLst>
            </a:custGeom>
            <a:solidFill>
              <a:srgbClr val="13294A"/>
            </a:solidFill>
            <a:ln w="19050" cap="sq">
              <a:solidFill>
                <a:srgbClr val="00E5C7"/>
              </a:solidFill>
              <a:prstDash val="solid"/>
              <a:miter/>
            </a:ln>
          </p:spPr>
        </p:sp>
      </p:grpSp>
      <p:grpSp>
        <p:nvGrpSpPr>
          <p:cNvPr name="Group 39" id="39"/>
          <p:cNvGrpSpPr/>
          <p:nvPr/>
        </p:nvGrpSpPr>
        <p:grpSpPr>
          <a:xfrm rot="0">
            <a:off x="7612380" y="4663440"/>
            <a:ext cx="1316736" cy="466344"/>
            <a:chOff x="0" y="0"/>
            <a:chExt cx="1755648" cy="621792"/>
          </a:xfrm>
        </p:grpSpPr>
        <p:sp>
          <p:nvSpPr>
            <p:cNvPr name="Freeform 40" id="40"/>
            <p:cNvSpPr/>
            <p:nvPr/>
          </p:nvSpPr>
          <p:spPr>
            <a:xfrm flipH="false" flipV="false" rot="0">
              <a:off x="0" y="0"/>
              <a:ext cx="1755648" cy="621792"/>
            </a:xfrm>
            <a:custGeom>
              <a:avLst/>
              <a:gdLst/>
              <a:ahLst/>
              <a:cxnLst/>
              <a:rect r="r" b="b" t="t" l="l"/>
              <a:pathLst>
                <a:path h="621792" w="1755648">
                  <a:moveTo>
                    <a:pt x="0" y="0"/>
                  </a:moveTo>
                  <a:lnTo>
                    <a:pt x="1755648" y="0"/>
                  </a:lnTo>
                  <a:lnTo>
                    <a:pt x="1755648" y="621792"/>
                  </a:lnTo>
                  <a:lnTo>
                    <a:pt x="0" y="621792"/>
                  </a:lnTo>
                  <a:close/>
                </a:path>
              </a:pathLst>
            </a:custGeom>
            <a:blipFill>
              <a:blip r:embed="rId2">
                <a:alphaModFix amt="0"/>
              </a:blip>
              <a:stretch>
                <a:fillRect l="0" t="-5016" r="0" b="-5016"/>
              </a:stretch>
            </a:blipFill>
          </p:spPr>
        </p:sp>
        <p:sp>
          <p:nvSpPr>
            <p:cNvPr name="TextBox 41" id="41"/>
            <p:cNvSpPr txBox="true"/>
            <p:nvPr/>
          </p:nvSpPr>
          <p:spPr>
            <a:xfrm>
              <a:off x="0" y="-38100"/>
              <a:ext cx="1755648" cy="659892"/>
            </a:xfrm>
            <a:prstGeom prst="rect">
              <a:avLst/>
            </a:prstGeom>
          </p:spPr>
          <p:txBody>
            <a:bodyPr anchor="ctr" rtlCol="false" tIns="0" lIns="0" bIns="0" rIns="0"/>
            <a:lstStyle/>
            <a:p>
              <a:pPr algn="ctr" marL="0" indent="0" lvl="0">
                <a:lnSpc>
                  <a:spcPts val="1800"/>
                </a:lnSpc>
                <a:spcBef>
                  <a:spcPct val="0"/>
                </a:spcBef>
              </a:pPr>
              <a:r>
                <a:rPr lang="en-US" b="true" sz="1500" strike="noStrike" u="none">
                  <a:solidFill>
                    <a:srgbClr val="00E5C7"/>
                  </a:solidFill>
                  <a:latin typeface="Calibri (MS) Bold"/>
                  <a:ea typeface="Calibri (MS) Bold"/>
                  <a:cs typeface="Calibri (MS) Bold"/>
                  <a:sym typeface="Calibri (MS) Bold"/>
                </a:rPr>
                <a:t>11 tests</a:t>
              </a:r>
            </a:p>
          </p:txBody>
        </p:sp>
      </p:grpSp>
      <p:grpSp>
        <p:nvGrpSpPr>
          <p:cNvPr name="Group 42" id="42"/>
          <p:cNvGrpSpPr/>
          <p:nvPr/>
        </p:nvGrpSpPr>
        <p:grpSpPr>
          <a:xfrm rot="0">
            <a:off x="8983980" y="4485132"/>
            <a:ext cx="8092440" cy="822960"/>
            <a:chOff x="0" y="0"/>
            <a:chExt cx="10789920" cy="1097280"/>
          </a:xfrm>
        </p:grpSpPr>
        <p:sp>
          <p:nvSpPr>
            <p:cNvPr name="Freeform 43" id="43"/>
            <p:cNvSpPr/>
            <p:nvPr/>
          </p:nvSpPr>
          <p:spPr>
            <a:xfrm flipH="false" flipV="false" rot="0">
              <a:off x="0" y="0"/>
              <a:ext cx="10789920" cy="1097280"/>
            </a:xfrm>
            <a:custGeom>
              <a:avLst/>
              <a:gdLst/>
              <a:ahLst/>
              <a:cxnLst/>
              <a:rect r="r" b="b" t="t" l="l"/>
              <a:pathLst>
                <a:path h="1097280" w="10789920">
                  <a:moveTo>
                    <a:pt x="0" y="0"/>
                  </a:moveTo>
                  <a:lnTo>
                    <a:pt x="10789920" y="0"/>
                  </a:lnTo>
                  <a:lnTo>
                    <a:pt x="10789920" y="1097280"/>
                  </a:lnTo>
                  <a:lnTo>
                    <a:pt x="0" y="1097280"/>
                  </a:lnTo>
                  <a:close/>
                </a:path>
              </a:pathLst>
            </a:custGeom>
            <a:blipFill>
              <a:blip r:embed="rId2">
                <a:alphaModFix amt="0"/>
              </a:blip>
              <a:stretch>
                <a:fillRect l="0" t="-141602" r="0" b="-141602"/>
              </a:stretch>
            </a:blipFill>
          </p:spPr>
        </p:sp>
        <p:sp>
          <p:nvSpPr>
            <p:cNvPr name="TextBox 44" id="44"/>
            <p:cNvSpPr txBox="true"/>
            <p:nvPr/>
          </p:nvSpPr>
          <p:spPr>
            <a:xfrm>
              <a:off x="0" y="-38100"/>
              <a:ext cx="10789920" cy="1135380"/>
            </a:xfrm>
            <a:prstGeom prst="rect">
              <a:avLst/>
            </a:prstGeom>
          </p:spPr>
          <p:txBody>
            <a:bodyPr anchor="ctr" rtlCol="false" tIns="0" lIns="0" bIns="0" rIns="0"/>
            <a:lstStyle/>
            <a:p>
              <a:pPr algn="l" marL="0" indent="0" lvl="0">
                <a:lnSpc>
                  <a:spcPts val="1709"/>
                </a:lnSpc>
                <a:spcBef>
                  <a:spcPct val="0"/>
                </a:spcBef>
              </a:pPr>
              <a:r>
                <a:rPr lang="en-US" sz="1425" strike="noStrike" u="none">
                  <a:solidFill>
                    <a:srgbClr val="9FB0C9"/>
                  </a:solidFill>
                  <a:latin typeface="Calibri (MS)"/>
                  <a:ea typeface="Calibri (MS)"/>
                  <a:cs typeface="Calibri (MS)"/>
                  <a:sym typeface="Calibri (MS)"/>
                </a:rPr>
                <a:t>Données valides, trames vides, nombre de colonnes incorrect, colonnes critiques manquantes, taux de valeurs nulles élevé, ports invalides, labels inconnus, valeurs infinies/négatives.</a:t>
              </a:r>
            </a:p>
          </p:txBody>
        </p:sp>
      </p:grpSp>
      <p:grpSp>
        <p:nvGrpSpPr>
          <p:cNvPr name="Group 45" id="45"/>
          <p:cNvGrpSpPr/>
          <p:nvPr/>
        </p:nvGrpSpPr>
        <p:grpSpPr>
          <a:xfrm rot="0">
            <a:off x="813435" y="5641467"/>
            <a:ext cx="16615410" cy="1184910"/>
            <a:chOff x="0" y="0"/>
            <a:chExt cx="22153880" cy="1579880"/>
          </a:xfrm>
        </p:grpSpPr>
        <p:sp>
          <p:nvSpPr>
            <p:cNvPr name="Freeform 46" id="46"/>
            <p:cNvSpPr/>
            <p:nvPr/>
          </p:nvSpPr>
          <p:spPr>
            <a:xfrm flipH="false" flipV="false" rot="0">
              <a:off x="0" y="0"/>
              <a:ext cx="22153879" cy="1579880"/>
            </a:xfrm>
            <a:custGeom>
              <a:avLst/>
              <a:gdLst/>
              <a:ahLst/>
              <a:cxnLst/>
              <a:rect r="r" b="b" t="t" l="l"/>
              <a:pathLst>
                <a:path h="1579880" w="22153879">
                  <a:moveTo>
                    <a:pt x="0" y="148717"/>
                  </a:moveTo>
                  <a:cubicBezTo>
                    <a:pt x="0" y="66548"/>
                    <a:pt x="66548" y="0"/>
                    <a:pt x="148717" y="0"/>
                  </a:cubicBezTo>
                  <a:lnTo>
                    <a:pt x="22005162" y="0"/>
                  </a:lnTo>
                  <a:cubicBezTo>
                    <a:pt x="22087331" y="0"/>
                    <a:pt x="22153879" y="66548"/>
                    <a:pt x="22153879" y="148717"/>
                  </a:cubicBezTo>
                  <a:lnTo>
                    <a:pt x="22153879" y="1431163"/>
                  </a:lnTo>
                  <a:cubicBezTo>
                    <a:pt x="22153879" y="1513332"/>
                    <a:pt x="22087331" y="1579880"/>
                    <a:pt x="22005162" y="1579880"/>
                  </a:cubicBezTo>
                  <a:lnTo>
                    <a:pt x="148717" y="1579880"/>
                  </a:lnTo>
                  <a:cubicBezTo>
                    <a:pt x="66548" y="1579880"/>
                    <a:pt x="0" y="1513332"/>
                    <a:pt x="0" y="1431163"/>
                  </a:cubicBezTo>
                  <a:close/>
                </a:path>
              </a:pathLst>
            </a:custGeom>
            <a:solidFill>
              <a:srgbClr val="0F2038"/>
            </a:solidFill>
            <a:ln w="19050" cap="sq">
              <a:solidFill>
                <a:srgbClr val="1E3358"/>
              </a:solidFill>
              <a:prstDash val="solid"/>
              <a:miter/>
            </a:ln>
          </p:spPr>
        </p:sp>
      </p:grpSp>
      <p:grpSp>
        <p:nvGrpSpPr>
          <p:cNvPr name="Group 47" id="47"/>
          <p:cNvGrpSpPr/>
          <p:nvPr/>
        </p:nvGrpSpPr>
        <p:grpSpPr>
          <a:xfrm rot="0">
            <a:off x="1234440" y="5815584"/>
            <a:ext cx="6172200" cy="480060"/>
            <a:chOff x="0" y="0"/>
            <a:chExt cx="8229600" cy="640080"/>
          </a:xfrm>
        </p:grpSpPr>
        <p:sp>
          <p:nvSpPr>
            <p:cNvPr name="Freeform 48" id="48"/>
            <p:cNvSpPr/>
            <p:nvPr/>
          </p:nvSpPr>
          <p:spPr>
            <a:xfrm flipH="false" flipV="false" rot="0">
              <a:off x="0" y="0"/>
              <a:ext cx="8229600" cy="640080"/>
            </a:xfrm>
            <a:custGeom>
              <a:avLst/>
              <a:gdLst/>
              <a:ahLst/>
              <a:cxnLst/>
              <a:rect r="r" b="b" t="t" l="l"/>
              <a:pathLst>
                <a:path h="640080" w="8229600">
                  <a:moveTo>
                    <a:pt x="0" y="0"/>
                  </a:moveTo>
                  <a:lnTo>
                    <a:pt x="8229600" y="0"/>
                  </a:lnTo>
                  <a:lnTo>
                    <a:pt x="8229600" y="640080"/>
                  </a:lnTo>
                  <a:lnTo>
                    <a:pt x="0" y="640080"/>
                  </a:lnTo>
                  <a:close/>
                </a:path>
              </a:pathLst>
            </a:custGeom>
            <a:blipFill>
              <a:blip r:embed="rId2">
                <a:alphaModFix amt="0"/>
              </a:blip>
              <a:stretch>
                <a:fillRect l="0" t="-200521" r="0" b="-200521"/>
              </a:stretch>
            </a:blipFill>
          </p:spPr>
        </p:sp>
        <p:sp>
          <p:nvSpPr>
            <p:cNvPr name="TextBox 49" id="49"/>
            <p:cNvSpPr txBox="true"/>
            <p:nvPr/>
          </p:nvSpPr>
          <p:spPr>
            <a:xfrm>
              <a:off x="0" y="-38100"/>
              <a:ext cx="8229600" cy="678180"/>
            </a:xfrm>
            <a:prstGeom prst="rect">
              <a:avLst/>
            </a:prstGeom>
          </p:spPr>
          <p:txBody>
            <a:bodyPr anchor="ctr" rtlCol="false" tIns="0" lIns="0" bIns="0" rIns="0"/>
            <a:lstStyle/>
            <a:p>
              <a:pPr algn="l">
                <a:lnSpc>
                  <a:spcPts val="2160"/>
                </a:lnSpc>
              </a:pPr>
              <a:r>
                <a:rPr lang="en-US" sz="1800" b="true">
                  <a:solidFill>
                    <a:srgbClr val="FFFFFF"/>
                  </a:solidFill>
                  <a:latin typeface="Consolas Bold"/>
                  <a:ea typeface="Consolas Bold"/>
                  <a:cs typeface="Consolas Bold"/>
                  <a:sym typeface="Consolas Bold"/>
                </a:rPr>
                <a:t>TestValidateCleanedRecords</a:t>
              </a:r>
            </a:p>
          </p:txBody>
        </p:sp>
      </p:grpSp>
      <p:grpSp>
        <p:nvGrpSpPr>
          <p:cNvPr name="Group 50" id="50"/>
          <p:cNvGrpSpPr/>
          <p:nvPr/>
        </p:nvGrpSpPr>
        <p:grpSpPr>
          <a:xfrm rot="0">
            <a:off x="7602855" y="5998083"/>
            <a:ext cx="1219200" cy="457962"/>
            <a:chOff x="0" y="0"/>
            <a:chExt cx="1625600" cy="610616"/>
          </a:xfrm>
        </p:grpSpPr>
        <p:sp>
          <p:nvSpPr>
            <p:cNvPr name="Freeform 51" id="51"/>
            <p:cNvSpPr/>
            <p:nvPr/>
          </p:nvSpPr>
          <p:spPr>
            <a:xfrm flipH="false" flipV="false" rot="0">
              <a:off x="0" y="0"/>
              <a:ext cx="1625600" cy="610616"/>
            </a:xfrm>
            <a:custGeom>
              <a:avLst/>
              <a:gdLst/>
              <a:ahLst/>
              <a:cxnLst/>
              <a:rect r="r" b="b" t="t" l="l"/>
              <a:pathLst>
                <a:path h="610616" w="1625600">
                  <a:moveTo>
                    <a:pt x="0" y="305308"/>
                  </a:moveTo>
                  <a:cubicBezTo>
                    <a:pt x="0" y="136652"/>
                    <a:pt x="136652" y="0"/>
                    <a:pt x="305308" y="0"/>
                  </a:cubicBezTo>
                  <a:lnTo>
                    <a:pt x="1320292" y="0"/>
                  </a:lnTo>
                  <a:cubicBezTo>
                    <a:pt x="1488948" y="0"/>
                    <a:pt x="1625600" y="136652"/>
                    <a:pt x="1625600" y="305308"/>
                  </a:cubicBezTo>
                  <a:cubicBezTo>
                    <a:pt x="1625600" y="473964"/>
                    <a:pt x="1488948" y="610616"/>
                    <a:pt x="1320292" y="610616"/>
                  </a:cubicBezTo>
                  <a:lnTo>
                    <a:pt x="305308" y="610616"/>
                  </a:lnTo>
                  <a:cubicBezTo>
                    <a:pt x="136652" y="610616"/>
                    <a:pt x="0" y="473964"/>
                    <a:pt x="0" y="305308"/>
                  </a:cubicBezTo>
                  <a:close/>
                </a:path>
              </a:pathLst>
            </a:custGeom>
            <a:solidFill>
              <a:srgbClr val="13294A"/>
            </a:solidFill>
            <a:ln w="19050" cap="sq">
              <a:solidFill>
                <a:srgbClr val="00E5C7"/>
              </a:solidFill>
              <a:prstDash val="solid"/>
              <a:miter/>
            </a:ln>
          </p:spPr>
        </p:sp>
      </p:grpSp>
      <p:grpSp>
        <p:nvGrpSpPr>
          <p:cNvPr name="Group 52" id="52"/>
          <p:cNvGrpSpPr/>
          <p:nvPr/>
        </p:nvGrpSpPr>
        <p:grpSpPr>
          <a:xfrm rot="0">
            <a:off x="7612380" y="5993892"/>
            <a:ext cx="1200150" cy="466344"/>
            <a:chOff x="0" y="0"/>
            <a:chExt cx="1600200" cy="621792"/>
          </a:xfrm>
        </p:grpSpPr>
        <p:sp>
          <p:nvSpPr>
            <p:cNvPr name="Freeform 53" id="53"/>
            <p:cNvSpPr/>
            <p:nvPr/>
          </p:nvSpPr>
          <p:spPr>
            <a:xfrm flipH="false" flipV="false" rot="0">
              <a:off x="0" y="0"/>
              <a:ext cx="1600200" cy="621792"/>
            </a:xfrm>
            <a:custGeom>
              <a:avLst/>
              <a:gdLst/>
              <a:ahLst/>
              <a:cxnLst/>
              <a:rect r="r" b="b" t="t" l="l"/>
              <a:pathLst>
                <a:path h="621792" w="1600200">
                  <a:moveTo>
                    <a:pt x="0" y="0"/>
                  </a:moveTo>
                  <a:lnTo>
                    <a:pt x="1600200" y="0"/>
                  </a:lnTo>
                  <a:lnTo>
                    <a:pt x="1600200" y="621792"/>
                  </a:lnTo>
                  <a:lnTo>
                    <a:pt x="0" y="621792"/>
                  </a:lnTo>
                  <a:close/>
                </a:path>
              </a:pathLst>
            </a:custGeom>
            <a:blipFill>
              <a:blip r:embed="rId2">
                <a:alphaModFix amt="0"/>
              </a:blip>
              <a:stretch>
                <a:fillRect l="0" t="-145" r="0" b="-145"/>
              </a:stretch>
            </a:blipFill>
          </p:spPr>
        </p:sp>
        <p:sp>
          <p:nvSpPr>
            <p:cNvPr name="TextBox 54" id="54"/>
            <p:cNvSpPr txBox="true"/>
            <p:nvPr/>
          </p:nvSpPr>
          <p:spPr>
            <a:xfrm>
              <a:off x="0" y="-38100"/>
              <a:ext cx="1600200" cy="659892"/>
            </a:xfrm>
            <a:prstGeom prst="rect">
              <a:avLst/>
            </a:prstGeom>
          </p:spPr>
          <p:txBody>
            <a:bodyPr anchor="ctr" rtlCol="false" tIns="0" lIns="0" bIns="0" rIns="0"/>
            <a:lstStyle/>
            <a:p>
              <a:pPr algn="ctr" marL="0" indent="0" lvl="0">
                <a:lnSpc>
                  <a:spcPts val="1800"/>
                </a:lnSpc>
                <a:spcBef>
                  <a:spcPct val="0"/>
                </a:spcBef>
              </a:pPr>
              <a:r>
                <a:rPr lang="en-US" b="true" sz="1500" strike="noStrike" u="none">
                  <a:solidFill>
                    <a:srgbClr val="00E5C7"/>
                  </a:solidFill>
                  <a:latin typeface="Calibri (MS) Bold"/>
                  <a:ea typeface="Calibri (MS) Bold"/>
                  <a:cs typeface="Calibri (MS) Bold"/>
                  <a:sym typeface="Calibri (MS) Bold"/>
                </a:rPr>
                <a:t>5 tests</a:t>
              </a:r>
            </a:p>
          </p:txBody>
        </p:sp>
      </p:grpSp>
      <p:grpSp>
        <p:nvGrpSpPr>
          <p:cNvPr name="Group 55" id="55"/>
          <p:cNvGrpSpPr/>
          <p:nvPr/>
        </p:nvGrpSpPr>
        <p:grpSpPr>
          <a:xfrm rot="0">
            <a:off x="8983980" y="5815584"/>
            <a:ext cx="8092440" cy="822960"/>
            <a:chOff x="0" y="0"/>
            <a:chExt cx="10789920" cy="1097280"/>
          </a:xfrm>
        </p:grpSpPr>
        <p:sp>
          <p:nvSpPr>
            <p:cNvPr name="Freeform 56" id="56"/>
            <p:cNvSpPr/>
            <p:nvPr/>
          </p:nvSpPr>
          <p:spPr>
            <a:xfrm flipH="false" flipV="false" rot="0">
              <a:off x="0" y="0"/>
              <a:ext cx="10789920" cy="1097280"/>
            </a:xfrm>
            <a:custGeom>
              <a:avLst/>
              <a:gdLst/>
              <a:ahLst/>
              <a:cxnLst/>
              <a:rect r="r" b="b" t="t" l="l"/>
              <a:pathLst>
                <a:path h="1097280" w="10789920">
                  <a:moveTo>
                    <a:pt x="0" y="0"/>
                  </a:moveTo>
                  <a:lnTo>
                    <a:pt x="10789920" y="0"/>
                  </a:lnTo>
                  <a:lnTo>
                    <a:pt x="10789920" y="1097280"/>
                  </a:lnTo>
                  <a:lnTo>
                    <a:pt x="0" y="1097280"/>
                  </a:lnTo>
                  <a:close/>
                </a:path>
              </a:pathLst>
            </a:custGeom>
            <a:blipFill>
              <a:blip r:embed="rId2">
                <a:alphaModFix amt="0"/>
              </a:blip>
              <a:stretch>
                <a:fillRect l="0" t="-141602" r="0" b="-141602"/>
              </a:stretch>
            </a:blipFill>
          </p:spPr>
        </p:sp>
        <p:sp>
          <p:nvSpPr>
            <p:cNvPr name="TextBox 57" id="57"/>
            <p:cNvSpPr txBox="true"/>
            <p:nvPr/>
          </p:nvSpPr>
          <p:spPr>
            <a:xfrm>
              <a:off x="0" y="-38100"/>
              <a:ext cx="10789920" cy="1135380"/>
            </a:xfrm>
            <a:prstGeom prst="rect">
              <a:avLst/>
            </a:prstGeom>
          </p:spPr>
          <p:txBody>
            <a:bodyPr anchor="ctr" rtlCol="false" tIns="0" lIns="0" bIns="0" rIns="0"/>
            <a:lstStyle/>
            <a:p>
              <a:pPr algn="l" marL="0" indent="0" lvl="0">
                <a:lnSpc>
                  <a:spcPts val="1709"/>
                </a:lnSpc>
                <a:spcBef>
                  <a:spcPct val="0"/>
                </a:spcBef>
              </a:pPr>
              <a:r>
                <a:rPr lang="en-US" sz="1425" strike="noStrike" u="none">
                  <a:solidFill>
                    <a:srgbClr val="9FB0C9"/>
                  </a:solidFill>
                  <a:latin typeface="Calibri (MS)"/>
                  <a:ea typeface="Calibri (MS)"/>
                  <a:cs typeface="Calibri (MS)"/>
                  <a:sym typeface="Calibri (MS)"/>
                </a:rPr>
                <a:t>Enregistrements valides, enregistrements vides, clés critiques manquantes, clés non normalisées, ports invalides, enregistrements corrompus.</a:t>
              </a:r>
            </a:p>
          </p:txBody>
        </p:sp>
      </p:grpSp>
      <p:grpSp>
        <p:nvGrpSpPr>
          <p:cNvPr name="Group 58" id="58"/>
          <p:cNvGrpSpPr/>
          <p:nvPr/>
        </p:nvGrpSpPr>
        <p:grpSpPr>
          <a:xfrm rot="0">
            <a:off x="813435" y="6971919"/>
            <a:ext cx="16615410" cy="1184910"/>
            <a:chOff x="0" y="0"/>
            <a:chExt cx="22153880" cy="1579880"/>
          </a:xfrm>
        </p:grpSpPr>
        <p:sp>
          <p:nvSpPr>
            <p:cNvPr name="Freeform 59" id="59"/>
            <p:cNvSpPr/>
            <p:nvPr/>
          </p:nvSpPr>
          <p:spPr>
            <a:xfrm flipH="false" flipV="false" rot="0">
              <a:off x="0" y="0"/>
              <a:ext cx="22153879" cy="1579880"/>
            </a:xfrm>
            <a:custGeom>
              <a:avLst/>
              <a:gdLst/>
              <a:ahLst/>
              <a:cxnLst/>
              <a:rect r="r" b="b" t="t" l="l"/>
              <a:pathLst>
                <a:path h="1579880" w="22153879">
                  <a:moveTo>
                    <a:pt x="0" y="148717"/>
                  </a:moveTo>
                  <a:cubicBezTo>
                    <a:pt x="0" y="66548"/>
                    <a:pt x="66548" y="0"/>
                    <a:pt x="148717" y="0"/>
                  </a:cubicBezTo>
                  <a:lnTo>
                    <a:pt x="22005162" y="0"/>
                  </a:lnTo>
                  <a:cubicBezTo>
                    <a:pt x="22087331" y="0"/>
                    <a:pt x="22153879" y="66548"/>
                    <a:pt x="22153879" y="148717"/>
                  </a:cubicBezTo>
                  <a:lnTo>
                    <a:pt x="22153879" y="1431163"/>
                  </a:lnTo>
                  <a:cubicBezTo>
                    <a:pt x="22153879" y="1513332"/>
                    <a:pt x="22087331" y="1579880"/>
                    <a:pt x="22005162" y="1579880"/>
                  </a:cubicBezTo>
                  <a:lnTo>
                    <a:pt x="148717" y="1579880"/>
                  </a:lnTo>
                  <a:cubicBezTo>
                    <a:pt x="66548" y="1579880"/>
                    <a:pt x="0" y="1513332"/>
                    <a:pt x="0" y="1431163"/>
                  </a:cubicBezTo>
                  <a:close/>
                </a:path>
              </a:pathLst>
            </a:custGeom>
            <a:solidFill>
              <a:srgbClr val="0F2038"/>
            </a:solidFill>
            <a:ln w="19050" cap="sq">
              <a:solidFill>
                <a:srgbClr val="1E3358"/>
              </a:solidFill>
              <a:prstDash val="solid"/>
              <a:miter/>
            </a:ln>
          </p:spPr>
        </p:sp>
      </p:grpSp>
      <p:grpSp>
        <p:nvGrpSpPr>
          <p:cNvPr name="Group 60" id="60"/>
          <p:cNvGrpSpPr/>
          <p:nvPr/>
        </p:nvGrpSpPr>
        <p:grpSpPr>
          <a:xfrm rot="0">
            <a:off x="1234440" y="7146036"/>
            <a:ext cx="6172200" cy="480060"/>
            <a:chOff x="0" y="0"/>
            <a:chExt cx="8229600" cy="640080"/>
          </a:xfrm>
        </p:grpSpPr>
        <p:sp>
          <p:nvSpPr>
            <p:cNvPr name="Freeform 61" id="61"/>
            <p:cNvSpPr/>
            <p:nvPr/>
          </p:nvSpPr>
          <p:spPr>
            <a:xfrm flipH="false" flipV="false" rot="0">
              <a:off x="0" y="0"/>
              <a:ext cx="8229600" cy="640080"/>
            </a:xfrm>
            <a:custGeom>
              <a:avLst/>
              <a:gdLst/>
              <a:ahLst/>
              <a:cxnLst/>
              <a:rect r="r" b="b" t="t" l="l"/>
              <a:pathLst>
                <a:path h="640080" w="8229600">
                  <a:moveTo>
                    <a:pt x="0" y="0"/>
                  </a:moveTo>
                  <a:lnTo>
                    <a:pt x="8229600" y="0"/>
                  </a:lnTo>
                  <a:lnTo>
                    <a:pt x="8229600" y="640080"/>
                  </a:lnTo>
                  <a:lnTo>
                    <a:pt x="0" y="640080"/>
                  </a:lnTo>
                  <a:close/>
                </a:path>
              </a:pathLst>
            </a:custGeom>
            <a:blipFill>
              <a:blip r:embed="rId2">
                <a:alphaModFix amt="0"/>
              </a:blip>
              <a:stretch>
                <a:fillRect l="0" t="-200521" r="0" b="-200521"/>
              </a:stretch>
            </a:blipFill>
          </p:spPr>
        </p:sp>
        <p:sp>
          <p:nvSpPr>
            <p:cNvPr name="TextBox 62" id="62"/>
            <p:cNvSpPr txBox="true"/>
            <p:nvPr/>
          </p:nvSpPr>
          <p:spPr>
            <a:xfrm>
              <a:off x="0" y="-38100"/>
              <a:ext cx="8229600" cy="678180"/>
            </a:xfrm>
            <a:prstGeom prst="rect">
              <a:avLst/>
            </a:prstGeom>
          </p:spPr>
          <p:txBody>
            <a:bodyPr anchor="ctr" rtlCol="false" tIns="0" lIns="0" bIns="0" rIns="0"/>
            <a:lstStyle/>
            <a:p>
              <a:pPr algn="l">
                <a:lnSpc>
                  <a:spcPts val="2160"/>
                </a:lnSpc>
              </a:pPr>
              <a:r>
                <a:rPr lang="en-US" sz="1800" b="true">
                  <a:solidFill>
                    <a:srgbClr val="FFFFFF"/>
                  </a:solidFill>
                  <a:latin typeface="Consolas Bold"/>
                  <a:ea typeface="Consolas Bold"/>
                  <a:cs typeface="Consolas Bold"/>
                  <a:sym typeface="Consolas Bold"/>
                </a:rPr>
                <a:t>TestValidateInferenceOutput</a:t>
              </a:r>
            </a:p>
          </p:txBody>
        </p:sp>
      </p:grpSp>
      <p:grpSp>
        <p:nvGrpSpPr>
          <p:cNvPr name="Group 63" id="63"/>
          <p:cNvGrpSpPr/>
          <p:nvPr/>
        </p:nvGrpSpPr>
        <p:grpSpPr>
          <a:xfrm rot="0">
            <a:off x="7602855" y="7328535"/>
            <a:ext cx="1219200" cy="457962"/>
            <a:chOff x="0" y="0"/>
            <a:chExt cx="1625600" cy="610616"/>
          </a:xfrm>
        </p:grpSpPr>
        <p:sp>
          <p:nvSpPr>
            <p:cNvPr name="Freeform 64" id="64"/>
            <p:cNvSpPr/>
            <p:nvPr/>
          </p:nvSpPr>
          <p:spPr>
            <a:xfrm flipH="false" flipV="false" rot="0">
              <a:off x="0" y="0"/>
              <a:ext cx="1625600" cy="610616"/>
            </a:xfrm>
            <a:custGeom>
              <a:avLst/>
              <a:gdLst/>
              <a:ahLst/>
              <a:cxnLst/>
              <a:rect r="r" b="b" t="t" l="l"/>
              <a:pathLst>
                <a:path h="610616" w="1625600">
                  <a:moveTo>
                    <a:pt x="0" y="305308"/>
                  </a:moveTo>
                  <a:cubicBezTo>
                    <a:pt x="0" y="136652"/>
                    <a:pt x="136652" y="0"/>
                    <a:pt x="305308" y="0"/>
                  </a:cubicBezTo>
                  <a:lnTo>
                    <a:pt x="1320292" y="0"/>
                  </a:lnTo>
                  <a:cubicBezTo>
                    <a:pt x="1488948" y="0"/>
                    <a:pt x="1625600" y="136652"/>
                    <a:pt x="1625600" y="305308"/>
                  </a:cubicBezTo>
                  <a:cubicBezTo>
                    <a:pt x="1625600" y="473964"/>
                    <a:pt x="1488948" y="610616"/>
                    <a:pt x="1320292" y="610616"/>
                  </a:cubicBezTo>
                  <a:lnTo>
                    <a:pt x="305308" y="610616"/>
                  </a:lnTo>
                  <a:cubicBezTo>
                    <a:pt x="136652" y="610616"/>
                    <a:pt x="0" y="473964"/>
                    <a:pt x="0" y="305308"/>
                  </a:cubicBezTo>
                  <a:close/>
                </a:path>
              </a:pathLst>
            </a:custGeom>
            <a:solidFill>
              <a:srgbClr val="13294A"/>
            </a:solidFill>
            <a:ln w="19050" cap="sq">
              <a:solidFill>
                <a:srgbClr val="00E5C7"/>
              </a:solidFill>
              <a:prstDash val="solid"/>
              <a:miter/>
            </a:ln>
          </p:spPr>
        </p:sp>
      </p:grpSp>
      <p:grpSp>
        <p:nvGrpSpPr>
          <p:cNvPr name="Group 65" id="65"/>
          <p:cNvGrpSpPr/>
          <p:nvPr/>
        </p:nvGrpSpPr>
        <p:grpSpPr>
          <a:xfrm rot="0">
            <a:off x="7612380" y="7324344"/>
            <a:ext cx="1200150" cy="466344"/>
            <a:chOff x="0" y="0"/>
            <a:chExt cx="1600200" cy="621792"/>
          </a:xfrm>
        </p:grpSpPr>
        <p:sp>
          <p:nvSpPr>
            <p:cNvPr name="Freeform 66" id="66"/>
            <p:cNvSpPr/>
            <p:nvPr/>
          </p:nvSpPr>
          <p:spPr>
            <a:xfrm flipH="false" flipV="false" rot="0">
              <a:off x="0" y="0"/>
              <a:ext cx="1600200" cy="621792"/>
            </a:xfrm>
            <a:custGeom>
              <a:avLst/>
              <a:gdLst/>
              <a:ahLst/>
              <a:cxnLst/>
              <a:rect r="r" b="b" t="t" l="l"/>
              <a:pathLst>
                <a:path h="621792" w="1600200">
                  <a:moveTo>
                    <a:pt x="0" y="0"/>
                  </a:moveTo>
                  <a:lnTo>
                    <a:pt x="1600200" y="0"/>
                  </a:lnTo>
                  <a:lnTo>
                    <a:pt x="1600200" y="621792"/>
                  </a:lnTo>
                  <a:lnTo>
                    <a:pt x="0" y="621792"/>
                  </a:lnTo>
                  <a:close/>
                </a:path>
              </a:pathLst>
            </a:custGeom>
            <a:blipFill>
              <a:blip r:embed="rId2">
                <a:alphaModFix amt="0"/>
              </a:blip>
              <a:stretch>
                <a:fillRect l="0" t="-145" r="0" b="-145"/>
              </a:stretch>
            </a:blipFill>
          </p:spPr>
        </p:sp>
        <p:sp>
          <p:nvSpPr>
            <p:cNvPr name="TextBox 67" id="67"/>
            <p:cNvSpPr txBox="true"/>
            <p:nvPr/>
          </p:nvSpPr>
          <p:spPr>
            <a:xfrm>
              <a:off x="0" y="-38100"/>
              <a:ext cx="1600200" cy="659892"/>
            </a:xfrm>
            <a:prstGeom prst="rect">
              <a:avLst/>
            </a:prstGeom>
          </p:spPr>
          <p:txBody>
            <a:bodyPr anchor="ctr" rtlCol="false" tIns="0" lIns="0" bIns="0" rIns="0"/>
            <a:lstStyle/>
            <a:p>
              <a:pPr algn="ctr" marL="0" indent="0" lvl="0">
                <a:lnSpc>
                  <a:spcPts val="1800"/>
                </a:lnSpc>
                <a:spcBef>
                  <a:spcPct val="0"/>
                </a:spcBef>
              </a:pPr>
              <a:r>
                <a:rPr lang="en-US" b="true" sz="1500" strike="noStrike" u="none">
                  <a:solidFill>
                    <a:srgbClr val="00E5C7"/>
                  </a:solidFill>
                  <a:latin typeface="Calibri (MS) Bold"/>
                  <a:ea typeface="Calibri (MS) Bold"/>
                  <a:cs typeface="Calibri (MS) Bold"/>
                  <a:sym typeface="Calibri (MS) Bold"/>
                </a:rPr>
                <a:t>8 tests</a:t>
              </a:r>
            </a:p>
          </p:txBody>
        </p:sp>
      </p:grpSp>
      <p:grpSp>
        <p:nvGrpSpPr>
          <p:cNvPr name="Group 68" id="68"/>
          <p:cNvGrpSpPr/>
          <p:nvPr/>
        </p:nvGrpSpPr>
        <p:grpSpPr>
          <a:xfrm rot="0">
            <a:off x="8983980" y="7146036"/>
            <a:ext cx="8092440" cy="822960"/>
            <a:chOff x="0" y="0"/>
            <a:chExt cx="10789920" cy="1097280"/>
          </a:xfrm>
        </p:grpSpPr>
        <p:sp>
          <p:nvSpPr>
            <p:cNvPr name="Freeform 69" id="69"/>
            <p:cNvSpPr/>
            <p:nvPr/>
          </p:nvSpPr>
          <p:spPr>
            <a:xfrm flipH="false" flipV="false" rot="0">
              <a:off x="0" y="0"/>
              <a:ext cx="10789920" cy="1097280"/>
            </a:xfrm>
            <a:custGeom>
              <a:avLst/>
              <a:gdLst/>
              <a:ahLst/>
              <a:cxnLst/>
              <a:rect r="r" b="b" t="t" l="l"/>
              <a:pathLst>
                <a:path h="1097280" w="10789920">
                  <a:moveTo>
                    <a:pt x="0" y="0"/>
                  </a:moveTo>
                  <a:lnTo>
                    <a:pt x="10789920" y="0"/>
                  </a:lnTo>
                  <a:lnTo>
                    <a:pt x="10789920" y="1097280"/>
                  </a:lnTo>
                  <a:lnTo>
                    <a:pt x="0" y="1097280"/>
                  </a:lnTo>
                  <a:close/>
                </a:path>
              </a:pathLst>
            </a:custGeom>
            <a:blipFill>
              <a:blip r:embed="rId2">
                <a:alphaModFix amt="0"/>
              </a:blip>
              <a:stretch>
                <a:fillRect l="0" t="-141602" r="0" b="-141602"/>
              </a:stretch>
            </a:blipFill>
          </p:spPr>
        </p:sp>
        <p:sp>
          <p:nvSpPr>
            <p:cNvPr name="TextBox 70" id="70"/>
            <p:cNvSpPr txBox="true"/>
            <p:nvPr/>
          </p:nvSpPr>
          <p:spPr>
            <a:xfrm>
              <a:off x="0" y="-38100"/>
              <a:ext cx="10789920" cy="1135380"/>
            </a:xfrm>
            <a:prstGeom prst="rect">
              <a:avLst/>
            </a:prstGeom>
          </p:spPr>
          <p:txBody>
            <a:bodyPr anchor="ctr" rtlCol="false" tIns="0" lIns="0" bIns="0" rIns="0"/>
            <a:lstStyle/>
            <a:p>
              <a:pPr algn="l" marL="0" indent="0" lvl="0">
                <a:lnSpc>
                  <a:spcPts val="1709"/>
                </a:lnSpc>
                <a:spcBef>
                  <a:spcPct val="0"/>
                </a:spcBef>
              </a:pPr>
              <a:r>
                <a:rPr lang="en-US" sz="1425" strike="noStrike" u="none">
                  <a:solidFill>
                    <a:srgbClr val="9FB0C9"/>
                  </a:solidFill>
                  <a:latin typeface="Calibri (MS)"/>
                  <a:ea typeface="Calibri (MS)"/>
                  <a:cs typeface="Calibri (MS)"/>
                  <a:sym typeface="Calibri (MS)"/>
                </a:rPr>
                <a:t>Inférence valide, aucune anomalie, métadonnées ML manquantes, confiance hors plage, version du modèle vide, nombre d’anomalies invraisemblable.</a:t>
              </a:r>
            </a:p>
          </p:txBody>
        </p:sp>
      </p:grpSp>
      <p:grpSp>
        <p:nvGrpSpPr>
          <p:cNvPr name="Group 71" id="71"/>
          <p:cNvGrpSpPr/>
          <p:nvPr/>
        </p:nvGrpSpPr>
        <p:grpSpPr>
          <a:xfrm rot="0">
            <a:off x="813435" y="8302371"/>
            <a:ext cx="16615410" cy="1184910"/>
            <a:chOff x="0" y="0"/>
            <a:chExt cx="22153880" cy="1579880"/>
          </a:xfrm>
        </p:grpSpPr>
        <p:sp>
          <p:nvSpPr>
            <p:cNvPr name="Freeform 72" id="72"/>
            <p:cNvSpPr/>
            <p:nvPr/>
          </p:nvSpPr>
          <p:spPr>
            <a:xfrm flipH="false" flipV="false" rot="0">
              <a:off x="0" y="0"/>
              <a:ext cx="22153879" cy="1579880"/>
            </a:xfrm>
            <a:custGeom>
              <a:avLst/>
              <a:gdLst/>
              <a:ahLst/>
              <a:cxnLst/>
              <a:rect r="r" b="b" t="t" l="l"/>
              <a:pathLst>
                <a:path h="1579880" w="22153879">
                  <a:moveTo>
                    <a:pt x="0" y="148717"/>
                  </a:moveTo>
                  <a:cubicBezTo>
                    <a:pt x="0" y="66548"/>
                    <a:pt x="66548" y="0"/>
                    <a:pt x="148717" y="0"/>
                  </a:cubicBezTo>
                  <a:lnTo>
                    <a:pt x="22005162" y="0"/>
                  </a:lnTo>
                  <a:cubicBezTo>
                    <a:pt x="22087331" y="0"/>
                    <a:pt x="22153879" y="66548"/>
                    <a:pt x="22153879" y="148717"/>
                  </a:cubicBezTo>
                  <a:lnTo>
                    <a:pt x="22153879" y="1431163"/>
                  </a:lnTo>
                  <a:cubicBezTo>
                    <a:pt x="22153879" y="1513332"/>
                    <a:pt x="22087331" y="1579880"/>
                    <a:pt x="22005162" y="1579880"/>
                  </a:cubicBezTo>
                  <a:lnTo>
                    <a:pt x="148717" y="1579880"/>
                  </a:lnTo>
                  <a:cubicBezTo>
                    <a:pt x="66548" y="1579880"/>
                    <a:pt x="0" y="1513332"/>
                    <a:pt x="0" y="1431163"/>
                  </a:cubicBezTo>
                  <a:close/>
                </a:path>
              </a:pathLst>
            </a:custGeom>
            <a:solidFill>
              <a:srgbClr val="0F2038"/>
            </a:solidFill>
            <a:ln w="19050" cap="sq">
              <a:solidFill>
                <a:srgbClr val="1E3358"/>
              </a:solidFill>
              <a:prstDash val="solid"/>
              <a:miter/>
            </a:ln>
          </p:spPr>
        </p:sp>
      </p:grpSp>
      <p:grpSp>
        <p:nvGrpSpPr>
          <p:cNvPr name="Group 73" id="73"/>
          <p:cNvGrpSpPr/>
          <p:nvPr/>
        </p:nvGrpSpPr>
        <p:grpSpPr>
          <a:xfrm rot="0">
            <a:off x="1234440" y="8476488"/>
            <a:ext cx="6172200" cy="480060"/>
            <a:chOff x="0" y="0"/>
            <a:chExt cx="8229600" cy="640080"/>
          </a:xfrm>
        </p:grpSpPr>
        <p:sp>
          <p:nvSpPr>
            <p:cNvPr name="Freeform 74" id="74"/>
            <p:cNvSpPr/>
            <p:nvPr/>
          </p:nvSpPr>
          <p:spPr>
            <a:xfrm flipH="false" flipV="false" rot="0">
              <a:off x="0" y="0"/>
              <a:ext cx="8229600" cy="640080"/>
            </a:xfrm>
            <a:custGeom>
              <a:avLst/>
              <a:gdLst/>
              <a:ahLst/>
              <a:cxnLst/>
              <a:rect r="r" b="b" t="t" l="l"/>
              <a:pathLst>
                <a:path h="640080" w="8229600">
                  <a:moveTo>
                    <a:pt x="0" y="0"/>
                  </a:moveTo>
                  <a:lnTo>
                    <a:pt x="8229600" y="0"/>
                  </a:lnTo>
                  <a:lnTo>
                    <a:pt x="8229600" y="640080"/>
                  </a:lnTo>
                  <a:lnTo>
                    <a:pt x="0" y="640080"/>
                  </a:lnTo>
                  <a:close/>
                </a:path>
              </a:pathLst>
            </a:custGeom>
            <a:blipFill>
              <a:blip r:embed="rId2">
                <a:alphaModFix amt="0"/>
              </a:blip>
              <a:stretch>
                <a:fillRect l="0" t="-200521" r="0" b="-200521"/>
              </a:stretch>
            </a:blipFill>
          </p:spPr>
        </p:sp>
        <p:sp>
          <p:nvSpPr>
            <p:cNvPr name="TextBox 75" id="75"/>
            <p:cNvSpPr txBox="true"/>
            <p:nvPr/>
          </p:nvSpPr>
          <p:spPr>
            <a:xfrm>
              <a:off x="0" y="-38100"/>
              <a:ext cx="8229600" cy="678180"/>
            </a:xfrm>
            <a:prstGeom prst="rect">
              <a:avLst/>
            </a:prstGeom>
          </p:spPr>
          <p:txBody>
            <a:bodyPr anchor="ctr" rtlCol="false" tIns="0" lIns="0" bIns="0" rIns="0"/>
            <a:lstStyle/>
            <a:p>
              <a:pPr algn="l">
                <a:lnSpc>
                  <a:spcPts val="2160"/>
                </a:lnSpc>
              </a:pPr>
              <a:r>
                <a:rPr lang="en-US" sz="1800" b="true">
                  <a:solidFill>
                    <a:srgbClr val="FFFFFF"/>
                  </a:solidFill>
                  <a:latin typeface="Consolas Bold"/>
                  <a:ea typeface="Consolas Bold"/>
                  <a:cs typeface="Consolas Bold"/>
                  <a:sym typeface="Consolas Bold"/>
                </a:rPr>
                <a:t>TestQualityReportAndError</a:t>
              </a:r>
            </a:p>
          </p:txBody>
        </p:sp>
      </p:grpSp>
      <p:grpSp>
        <p:nvGrpSpPr>
          <p:cNvPr name="Group 76" id="76"/>
          <p:cNvGrpSpPr/>
          <p:nvPr/>
        </p:nvGrpSpPr>
        <p:grpSpPr>
          <a:xfrm rot="0">
            <a:off x="7602855" y="8658987"/>
            <a:ext cx="1219200" cy="457962"/>
            <a:chOff x="0" y="0"/>
            <a:chExt cx="1625600" cy="610616"/>
          </a:xfrm>
        </p:grpSpPr>
        <p:sp>
          <p:nvSpPr>
            <p:cNvPr name="Freeform 77" id="77"/>
            <p:cNvSpPr/>
            <p:nvPr/>
          </p:nvSpPr>
          <p:spPr>
            <a:xfrm flipH="false" flipV="false" rot="0">
              <a:off x="0" y="0"/>
              <a:ext cx="1625600" cy="610616"/>
            </a:xfrm>
            <a:custGeom>
              <a:avLst/>
              <a:gdLst/>
              <a:ahLst/>
              <a:cxnLst/>
              <a:rect r="r" b="b" t="t" l="l"/>
              <a:pathLst>
                <a:path h="610616" w="1625600">
                  <a:moveTo>
                    <a:pt x="0" y="305308"/>
                  </a:moveTo>
                  <a:cubicBezTo>
                    <a:pt x="0" y="136652"/>
                    <a:pt x="136652" y="0"/>
                    <a:pt x="305308" y="0"/>
                  </a:cubicBezTo>
                  <a:lnTo>
                    <a:pt x="1320292" y="0"/>
                  </a:lnTo>
                  <a:cubicBezTo>
                    <a:pt x="1488948" y="0"/>
                    <a:pt x="1625600" y="136652"/>
                    <a:pt x="1625600" y="305308"/>
                  </a:cubicBezTo>
                  <a:cubicBezTo>
                    <a:pt x="1625600" y="473964"/>
                    <a:pt x="1488948" y="610616"/>
                    <a:pt x="1320292" y="610616"/>
                  </a:cubicBezTo>
                  <a:lnTo>
                    <a:pt x="305308" y="610616"/>
                  </a:lnTo>
                  <a:cubicBezTo>
                    <a:pt x="136652" y="610616"/>
                    <a:pt x="0" y="473964"/>
                    <a:pt x="0" y="305308"/>
                  </a:cubicBezTo>
                  <a:close/>
                </a:path>
              </a:pathLst>
            </a:custGeom>
            <a:solidFill>
              <a:srgbClr val="13294A"/>
            </a:solidFill>
            <a:ln w="19050" cap="sq">
              <a:solidFill>
                <a:srgbClr val="00E5C7"/>
              </a:solidFill>
              <a:prstDash val="solid"/>
              <a:miter/>
            </a:ln>
          </p:spPr>
        </p:sp>
      </p:grpSp>
      <p:grpSp>
        <p:nvGrpSpPr>
          <p:cNvPr name="Group 78" id="78"/>
          <p:cNvGrpSpPr/>
          <p:nvPr/>
        </p:nvGrpSpPr>
        <p:grpSpPr>
          <a:xfrm rot="0">
            <a:off x="7612380" y="8654796"/>
            <a:ext cx="1200150" cy="466344"/>
            <a:chOff x="0" y="0"/>
            <a:chExt cx="1600200" cy="621792"/>
          </a:xfrm>
        </p:grpSpPr>
        <p:sp>
          <p:nvSpPr>
            <p:cNvPr name="Freeform 79" id="79"/>
            <p:cNvSpPr/>
            <p:nvPr/>
          </p:nvSpPr>
          <p:spPr>
            <a:xfrm flipH="false" flipV="false" rot="0">
              <a:off x="0" y="0"/>
              <a:ext cx="1600200" cy="621792"/>
            </a:xfrm>
            <a:custGeom>
              <a:avLst/>
              <a:gdLst/>
              <a:ahLst/>
              <a:cxnLst/>
              <a:rect r="r" b="b" t="t" l="l"/>
              <a:pathLst>
                <a:path h="621792" w="1600200">
                  <a:moveTo>
                    <a:pt x="0" y="0"/>
                  </a:moveTo>
                  <a:lnTo>
                    <a:pt x="1600200" y="0"/>
                  </a:lnTo>
                  <a:lnTo>
                    <a:pt x="1600200" y="621792"/>
                  </a:lnTo>
                  <a:lnTo>
                    <a:pt x="0" y="621792"/>
                  </a:lnTo>
                  <a:close/>
                </a:path>
              </a:pathLst>
            </a:custGeom>
            <a:blipFill>
              <a:blip r:embed="rId2">
                <a:alphaModFix amt="0"/>
              </a:blip>
              <a:stretch>
                <a:fillRect l="0" t="-145" r="0" b="-145"/>
              </a:stretch>
            </a:blipFill>
          </p:spPr>
        </p:sp>
        <p:sp>
          <p:nvSpPr>
            <p:cNvPr name="TextBox 80" id="80"/>
            <p:cNvSpPr txBox="true"/>
            <p:nvPr/>
          </p:nvSpPr>
          <p:spPr>
            <a:xfrm>
              <a:off x="0" y="-38100"/>
              <a:ext cx="1600200" cy="659892"/>
            </a:xfrm>
            <a:prstGeom prst="rect">
              <a:avLst/>
            </a:prstGeom>
          </p:spPr>
          <p:txBody>
            <a:bodyPr anchor="ctr" rtlCol="false" tIns="0" lIns="0" bIns="0" rIns="0"/>
            <a:lstStyle/>
            <a:p>
              <a:pPr algn="ctr" marL="0" indent="0" lvl="0">
                <a:lnSpc>
                  <a:spcPts val="1800"/>
                </a:lnSpc>
                <a:spcBef>
                  <a:spcPct val="0"/>
                </a:spcBef>
              </a:pPr>
              <a:r>
                <a:rPr lang="en-US" b="true" sz="1500" strike="noStrike" u="none">
                  <a:solidFill>
                    <a:srgbClr val="00E5C7"/>
                  </a:solidFill>
                  <a:latin typeface="Calibri (MS) Bold"/>
                  <a:ea typeface="Calibri (MS) Bold"/>
                  <a:cs typeface="Calibri (MS) Bold"/>
                  <a:sym typeface="Calibri (MS) Bold"/>
                </a:rPr>
                <a:t>3 tests</a:t>
              </a:r>
            </a:p>
          </p:txBody>
        </p:sp>
      </p:grpSp>
      <p:grpSp>
        <p:nvGrpSpPr>
          <p:cNvPr name="Group 81" id="81"/>
          <p:cNvGrpSpPr/>
          <p:nvPr/>
        </p:nvGrpSpPr>
        <p:grpSpPr>
          <a:xfrm rot="0">
            <a:off x="8983980" y="8476488"/>
            <a:ext cx="8092440" cy="822960"/>
            <a:chOff x="0" y="0"/>
            <a:chExt cx="10789920" cy="1097280"/>
          </a:xfrm>
        </p:grpSpPr>
        <p:sp>
          <p:nvSpPr>
            <p:cNvPr name="Freeform 82" id="82"/>
            <p:cNvSpPr/>
            <p:nvPr/>
          </p:nvSpPr>
          <p:spPr>
            <a:xfrm flipH="false" flipV="false" rot="0">
              <a:off x="0" y="0"/>
              <a:ext cx="10789920" cy="1097280"/>
            </a:xfrm>
            <a:custGeom>
              <a:avLst/>
              <a:gdLst/>
              <a:ahLst/>
              <a:cxnLst/>
              <a:rect r="r" b="b" t="t" l="l"/>
              <a:pathLst>
                <a:path h="1097280" w="10789920">
                  <a:moveTo>
                    <a:pt x="0" y="0"/>
                  </a:moveTo>
                  <a:lnTo>
                    <a:pt x="10789920" y="0"/>
                  </a:lnTo>
                  <a:lnTo>
                    <a:pt x="10789920" y="1097280"/>
                  </a:lnTo>
                  <a:lnTo>
                    <a:pt x="0" y="1097280"/>
                  </a:lnTo>
                  <a:close/>
                </a:path>
              </a:pathLst>
            </a:custGeom>
            <a:blipFill>
              <a:blip r:embed="rId2">
                <a:alphaModFix amt="0"/>
              </a:blip>
              <a:stretch>
                <a:fillRect l="0" t="-141602" r="0" b="-141602"/>
              </a:stretch>
            </a:blipFill>
          </p:spPr>
        </p:sp>
        <p:sp>
          <p:nvSpPr>
            <p:cNvPr name="TextBox 83" id="83"/>
            <p:cNvSpPr txBox="true"/>
            <p:nvPr/>
          </p:nvSpPr>
          <p:spPr>
            <a:xfrm>
              <a:off x="0" y="-38100"/>
              <a:ext cx="10789920" cy="1135380"/>
            </a:xfrm>
            <a:prstGeom prst="rect">
              <a:avLst/>
            </a:prstGeom>
          </p:spPr>
          <p:txBody>
            <a:bodyPr anchor="ctr" rtlCol="false" tIns="0" lIns="0" bIns="0" rIns="0"/>
            <a:lstStyle/>
            <a:p>
              <a:pPr algn="l" marL="0" indent="0" lvl="0">
                <a:lnSpc>
                  <a:spcPts val="1709"/>
                </a:lnSpc>
                <a:spcBef>
                  <a:spcPct val="0"/>
                </a:spcBef>
              </a:pPr>
              <a:r>
                <a:rPr lang="en-US" sz="1425" strike="noStrike" u="none">
                  <a:solidFill>
                    <a:srgbClr val="9FB0C9"/>
                  </a:solidFill>
                  <a:latin typeface="Calibri (MS)"/>
                  <a:ea typeface="Calibri (MS)"/>
                  <a:cs typeface="Calibri (MS)"/>
                  <a:sym typeface="Calibri (MS)"/>
                </a:rPr>
                <a:t>Contenu du résumé, sérialisation JSON du rapport et propagation des erreurs vers le pipeline.</a:t>
              </a:r>
            </a:p>
          </p:txBody>
        </p:sp>
      </p:grpSp>
      <p:grpSp>
        <p:nvGrpSpPr>
          <p:cNvPr name="Group 84" id="84"/>
          <p:cNvGrpSpPr/>
          <p:nvPr/>
        </p:nvGrpSpPr>
        <p:grpSpPr>
          <a:xfrm rot="0">
            <a:off x="685800" y="9710928"/>
            <a:ext cx="10972800" cy="411480"/>
            <a:chOff x="0" y="0"/>
            <a:chExt cx="14630400" cy="548640"/>
          </a:xfrm>
        </p:grpSpPr>
        <p:sp>
          <p:nvSpPr>
            <p:cNvPr name="Freeform 85" id="8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86" id="86"/>
            <p:cNvSpPr txBox="true"/>
            <p:nvPr/>
          </p:nvSpPr>
          <p:spPr>
            <a:xfrm>
              <a:off x="0" y="-28575"/>
              <a:ext cx="14630400" cy="577215"/>
            </a:xfrm>
            <a:prstGeom prst="rect">
              <a:avLst/>
            </a:prstGeom>
          </p:spPr>
          <p:txBody>
            <a:bodyPr anchor="ctr" rtlCol="false" tIns="0" lIns="0" bIns="0" rIns="0"/>
            <a:lstStyle/>
            <a:p>
              <a:pPr algn="l" marL="0" indent="0" lvl="0">
                <a:lnSpc>
                  <a:spcPts val="1620"/>
                </a:lnSpc>
                <a:spcBef>
                  <a:spcPct val="0"/>
                </a:spcBef>
              </a:pPr>
              <a:r>
                <a:rPr lang="en-US" sz="1350" spc="149" strike="noStrike" u="none">
                  <a:solidFill>
                    <a:srgbClr val="6E84A6"/>
                  </a:solidFill>
                  <a:latin typeface="Calibri (MS)"/>
                  <a:ea typeface="Calibri (MS)"/>
                  <a:cs typeface="Calibri (MS)"/>
                  <a:sym typeface="Calibri (MS)"/>
                </a:rPr>
                <a:t>PLATEFORME MLSECOPS · STRATÉGIE DE QUALITÉ DES DONNÉES &amp; DE TESTS</a:t>
              </a:r>
            </a:p>
          </p:txBody>
        </p:sp>
      </p:grpSp>
      <p:grpSp>
        <p:nvGrpSpPr>
          <p:cNvPr name="Group 87" id="87"/>
          <p:cNvGrpSpPr/>
          <p:nvPr/>
        </p:nvGrpSpPr>
        <p:grpSpPr>
          <a:xfrm rot="0">
            <a:off x="16500348" y="9710928"/>
            <a:ext cx="1097280" cy="411480"/>
            <a:chOff x="0" y="0"/>
            <a:chExt cx="1463040" cy="548640"/>
          </a:xfrm>
        </p:grpSpPr>
        <p:sp>
          <p:nvSpPr>
            <p:cNvPr name="Freeform 88" id="88"/>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89" id="89"/>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15 / 32</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marL="0" indent="0" lvl="0">
                <a:lnSpc>
                  <a:spcPts val="2250"/>
                </a:lnSpc>
                <a:spcBef>
                  <a:spcPct val="0"/>
                </a:spcBef>
              </a:pPr>
              <a:r>
                <a:rPr lang="en-US" b="true" sz="1875" spc="300" strike="noStrike" u="none">
                  <a:solidFill>
                    <a:srgbClr val="00E5C7"/>
                  </a:solidFill>
                  <a:latin typeface="Calibri (MS) Bold"/>
                  <a:ea typeface="Calibri (MS) Bold"/>
                  <a:cs typeface="Calibri (MS) Bold"/>
                  <a:sym typeface="Calibri (MS) Bold"/>
                </a:rPr>
                <a:t>QUALITÉ DES DONNÉES &amp; TESTS</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marL="0" indent="0" lvl="0">
                <a:lnSpc>
                  <a:spcPts val="1800"/>
                </a:lnSpc>
                <a:spcBef>
                  <a:spcPct val="0"/>
                </a:spcBef>
              </a:pPr>
              <a:r>
                <a:rPr lang="en-US" b="true" sz="1500" spc="225" strike="noStrike" u="none">
                  <a:solidFill>
                    <a:srgbClr val="00E5C7"/>
                  </a:solidFill>
                  <a:latin typeface="Calibri (MS) Bold"/>
                  <a:ea typeface="Calibri (MS) Bold"/>
                  <a:cs typeface="Calibri (MS) Bold"/>
                  <a:sym typeface="Calibri (MS) Bold"/>
                </a:rPr>
                <a:t>INTERVENANT 4</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marL="0" indent="0" lvl="0">
                <a:lnSpc>
                  <a:spcPts val="1889"/>
                </a:lnSpc>
                <a:spcBef>
                  <a:spcPct val="0"/>
                </a:spcBef>
              </a:pPr>
              <a:r>
                <a:rPr lang="en-US" sz="1575" strike="noStrike" u="none">
                  <a:solidFill>
                    <a:srgbClr val="9FB0C9"/>
                  </a:solidFill>
                  <a:latin typeface="Calibri (MS)"/>
                  <a:ea typeface="Calibri (MS)"/>
                  <a:cs typeface="Calibri (MS)"/>
                  <a:sym typeface="Calibri (MS)"/>
                </a:rPr>
                <a:t>Hamza Rbib — QA / Testeur</a:t>
              </a:r>
            </a:p>
          </p:txBody>
        </p:sp>
      </p:grpSp>
      <p:grpSp>
        <p:nvGrpSpPr>
          <p:cNvPr name="Group 11" id="11"/>
          <p:cNvGrpSpPr/>
          <p:nvPr/>
        </p:nvGrpSpPr>
        <p:grpSpPr>
          <a:xfrm rot="0">
            <a:off x="822960" y="198106"/>
            <a:ext cx="16556126" cy="3516213"/>
            <a:chOff x="0" y="0"/>
            <a:chExt cx="22074834" cy="4688284"/>
          </a:xfrm>
        </p:grpSpPr>
        <p:sp>
          <p:nvSpPr>
            <p:cNvPr name="Freeform 12" id="12"/>
            <p:cNvSpPr/>
            <p:nvPr/>
          </p:nvSpPr>
          <p:spPr>
            <a:xfrm flipH="false" flipV="false" rot="0">
              <a:off x="0" y="0"/>
              <a:ext cx="22074834" cy="4688284"/>
            </a:xfrm>
            <a:custGeom>
              <a:avLst/>
              <a:gdLst/>
              <a:ahLst/>
              <a:cxnLst/>
              <a:rect r="r" b="b" t="t" l="l"/>
              <a:pathLst>
                <a:path h="4688284" w="22074834">
                  <a:moveTo>
                    <a:pt x="0" y="0"/>
                  </a:moveTo>
                  <a:lnTo>
                    <a:pt x="22074834" y="0"/>
                  </a:lnTo>
                  <a:lnTo>
                    <a:pt x="22074834" y="4688284"/>
                  </a:lnTo>
                  <a:lnTo>
                    <a:pt x="0" y="4688284"/>
                  </a:lnTo>
                  <a:close/>
                </a:path>
              </a:pathLst>
            </a:custGeom>
            <a:blipFill>
              <a:blip r:embed="rId2">
                <a:alphaModFix amt="0"/>
              </a:blip>
              <a:stretch>
                <a:fillRect l="0" t="-73439" r="-243" b="-10497"/>
              </a:stretch>
            </a:blipFill>
          </p:spPr>
        </p:sp>
        <p:sp>
          <p:nvSpPr>
            <p:cNvPr name="TextBox 13" id="13"/>
            <p:cNvSpPr txBox="true"/>
            <p:nvPr/>
          </p:nvSpPr>
          <p:spPr>
            <a:xfrm>
              <a:off x="0" y="-9525"/>
              <a:ext cx="22074834" cy="4697809"/>
            </a:xfrm>
            <a:prstGeom prst="rect">
              <a:avLst/>
            </a:prstGeom>
          </p:spPr>
          <p:txBody>
            <a:bodyPr anchor="ctr" rtlCol="false" tIns="0" lIns="0" bIns="0" rIns="0"/>
            <a:lstStyle/>
            <a:p>
              <a:pPr algn="l" marL="0" indent="0" lvl="0">
                <a:lnSpc>
                  <a:spcPts val="5759"/>
                </a:lnSpc>
                <a:spcBef>
                  <a:spcPct val="0"/>
                </a:spcBef>
              </a:pPr>
              <a:r>
                <a:rPr lang="en-US" b="true" sz="4800" strike="noStrike" u="none">
                  <a:solidFill>
                    <a:srgbClr val="FFFFFF"/>
                  </a:solidFill>
                  <a:latin typeface="Cambria Bold"/>
                  <a:ea typeface="Cambria Bold"/>
                  <a:cs typeface="Cambria Bold"/>
                  <a:sym typeface="Cambria Bold"/>
                </a:rPr>
                <a:t>UAT &amp; quality gates automatisés</a:t>
              </a:r>
            </a:p>
          </p:txBody>
        </p:sp>
      </p:grpSp>
      <p:grpSp>
        <p:nvGrpSpPr>
          <p:cNvPr name="Group 14" id="14"/>
          <p:cNvGrpSpPr/>
          <p:nvPr/>
        </p:nvGrpSpPr>
        <p:grpSpPr>
          <a:xfrm rot="0">
            <a:off x="813435" y="2665095"/>
            <a:ext cx="8042910" cy="5916930"/>
            <a:chOff x="0" y="0"/>
            <a:chExt cx="10723880" cy="7889240"/>
          </a:xfrm>
        </p:grpSpPr>
        <p:sp>
          <p:nvSpPr>
            <p:cNvPr name="Freeform 15" id="15"/>
            <p:cNvSpPr/>
            <p:nvPr/>
          </p:nvSpPr>
          <p:spPr>
            <a:xfrm flipH="false" flipV="false" rot="0">
              <a:off x="0" y="0"/>
              <a:ext cx="10723880" cy="7889240"/>
            </a:xfrm>
            <a:custGeom>
              <a:avLst/>
              <a:gdLst/>
              <a:ahLst/>
              <a:cxnLst/>
              <a:rect r="r" b="b" t="t" l="l"/>
              <a:pathLst>
                <a:path h="7889240" w="10723880">
                  <a:moveTo>
                    <a:pt x="0" y="146685"/>
                  </a:moveTo>
                  <a:cubicBezTo>
                    <a:pt x="0" y="65659"/>
                    <a:pt x="65659" y="0"/>
                    <a:pt x="146685" y="0"/>
                  </a:cubicBezTo>
                  <a:lnTo>
                    <a:pt x="10577195" y="0"/>
                  </a:lnTo>
                  <a:cubicBezTo>
                    <a:pt x="10658221" y="0"/>
                    <a:pt x="10723880" y="65659"/>
                    <a:pt x="10723880" y="146685"/>
                  </a:cubicBezTo>
                  <a:lnTo>
                    <a:pt x="10723880" y="7742555"/>
                  </a:lnTo>
                  <a:cubicBezTo>
                    <a:pt x="10723880" y="7823581"/>
                    <a:pt x="10658221" y="7889240"/>
                    <a:pt x="10577195" y="7889240"/>
                  </a:cubicBezTo>
                  <a:lnTo>
                    <a:pt x="146685" y="7889240"/>
                  </a:lnTo>
                  <a:cubicBezTo>
                    <a:pt x="65659" y="7889240"/>
                    <a:pt x="0" y="7823581"/>
                    <a:pt x="0" y="7742555"/>
                  </a:cubicBezTo>
                  <a:close/>
                </a:path>
              </a:pathLst>
            </a:custGeom>
            <a:solidFill>
              <a:srgbClr val="0F2038"/>
            </a:solidFill>
            <a:ln w="19050" cap="sq">
              <a:solidFill>
                <a:srgbClr val="1E3358"/>
              </a:solidFill>
              <a:prstDash val="solid"/>
              <a:miter/>
            </a:ln>
          </p:spPr>
        </p:sp>
      </p:grpSp>
      <p:grpSp>
        <p:nvGrpSpPr>
          <p:cNvPr name="Group 16" id="16"/>
          <p:cNvGrpSpPr/>
          <p:nvPr/>
        </p:nvGrpSpPr>
        <p:grpSpPr>
          <a:xfrm rot="0">
            <a:off x="1234440" y="2948940"/>
            <a:ext cx="7132320" cy="411480"/>
            <a:chOff x="0" y="0"/>
            <a:chExt cx="9509760" cy="548640"/>
          </a:xfrm>
        </p:grpSpPr>
        <p:sp>
          <p:nvSpPr>
            <p:cNvPr name="Freeform 17" id="17"/>
            <p:cNvSpPr/>
            <p:nvPr/>
          </p:nvSpPr>
          <p:spPr>
            <a:xfrm flipH="false" flipV="false" rot="0">
              <a:off x="0" y="0"/>
              <a:ext cx="9509760" cy="548640"/>
            </a:xfrm>
            <a:custGeom>
              <a:avLst/>
              <a:gdLst/>
              <a:ahLst/>
              <a:cxnLst/>
              <a:rect r="r" b="b" t="t" l="l"/>
              <a:pathLst>
                <a:path h="548640" w="9509760">
                  <a:moveTo>
                    <a:pt x="0" y="0"/>
                  </a:moveTo>
                  <a:lnTo>
                    <a:pt x="9509760" y="0"/>
                  </a:lnTo>
                  <a:lnTo>
                    <a:pt x="9509760" y="548640"/>
                  </a:lnTo>
                  <a:lnTo>
                    <a:pt x="0" y="548640"/>
                  </a:lnTo>
                  <a:close/>
                </a:path>
              </a:pathLst>
            </a:custGeom>
            <a:blipFill>
              <a:blip r:embed="rId2">
                <a:alphaModFix amt="0"/>
              </a:blip>
              <a:stretch>
                <a:fillRect l="0" t="-287740" r="0" b="-287740"/>
              </a:stretch>
            </a:blipFill>
          </p:spPr>
        </p:sp>
        <p:sp>
          <p:nvSpPr>
            <p:cNvPr name="TextBox 18" id="18"/>
            <p:cNvSpPr txBox="true"/>
            <p:nvPr/>
          </p:nvSpPr>
          <p:spPr>
            <a:xfrm>
              <a:off x="0" y="-28575"/>
              <a:ext cx="9509760" cy="577215"/>
            </a:xfrm>
            <a:prstGeom prst="rect">
              <a:avLst/>
            </a:prstGeom>
          </p:spPr>
          <p:txBody>
            <a:bodyPr anchor="ctr" rtlCol="false" tIns="0" lIns="0" bIns="0" rIns="0"/>
            <a:lstStyle/>
            <a:p>
              <a:pPr algn="l" marL="0" indent="0" lvl="0">
                <a:lnSpc>
                  <a:spcPts val="1980"/>
                </a:lnSpc>
                <a:spcBef>
                  <a:spcPct val="0"/>
                </a:spcBef>
              </a:pPr>
              <a:r>
                <a:rPr lang="en-US" b="true" sz="1650" spc="150" strike="noStrike" u="none">
                  <a:solidFill>
                    <a:srgbClr val="00E5C7"/>
                  </a:solidFill>
                  <a:latin typeface="Calibri (MS) Bold"/>
                  <a:ea typeface="Calibri (MS) Bold"/>
                  <a:cs typeface="Calibri (MS) Bold"/>
                  <a:sym typeface="Calibri (MS) Bold"/>
                </a:rPr>
                <a:t>TESTS D’ACCEPTATION UTILISATEUR</a:t>
              </a:r>
            </a:p>
          </p:txBody>
        </p:sp>
      </p:grpSp>
      <p:sp>
        <p:nvSpPr>
          <p:cNvPr name="TextBox 19" id="19"/>
          <p:cNvSpPr txBox="true"/>
          <p:nvPr/>
        </p:nvSpPr>
        <p:spPr>
          <a:xfrm rot="0">
            <a:off x="1234440" y="3499485"/>
            <a:ext cx="7269480" cy="2614613"/>
          </a:xfrm>
          <a:prstGeom prst="rect">
            <a:avLst/>
          </a:prstGeom>
        </p:spPr>
        <p:txBody>
          <a:bodyPr anchor="t" rtlCol="false" tIns="0" lIns="0" bIns="0" rIns="0">
            <a:spAutoFit/>
          </a:bodyPr>
          <a:lstStyle/>
          <a:p>
            <a:pPr algn="l" marL="339328" indent="-169664" lvl="1">
              <a:lnSpc>
                <a:spcPts val="2587"/>
              </a:lnSpc>
              <a:spcBef>
                <a:spcPct val="0"/>
              </a:spcBef>
              <a:buFont typeface="Arial"/>
              <a:buChar char="•"/>
            </a:pPr>
            <a:r>
              <a:rPr lang="en-US" sz="1875" strike="noStrike" u="none">
                <a:solidFill>
                  <a:srgbClr val="9FB0C9"/>
                </a:solidFill>
                <a:latin typeface="Calibri (MS)"/>
                <a:ea typeface="Calibri (MS)"/>
                <a:cs typeface="Calibri (MS)"/>
                <a:sym typeface="Calibri (MS)"/>
              </a:rPr>
              <a:t>Méthodologie UAT manuelle appliquée aux workflows de données avant validation</a:t>
            </a:r>
          </a:p>
          <a:p>
            <a:pPr algn="l" marL="339328" indent="-169664" lvl="1">
              <a:lnSpc>
                <a:spcPts val="2587"/>
              </a:lnSpc>
              <a:spcBef>
                <a:spcPct val="0"/>
              </a:spcBef>
              <a:buFont typeface="Arial"/>
              <a:buChar char="•"/>
            </a:pPr>
            <a:r>
              <a:rPr lang="en-US" sz="1875" strike="noStrike" u="none">
                <a:solidFill>
                  <a:srgbClr val="9FB0C9"/>
                </a:solidFill>
                <a:latin typeface="Calibri (MS)"/>
                <a:ea typeface="Calibri (MS)"/>
                <a:cs typeface="Calibri (MS)"/>
                <a:sym typeface="Calibri (MS)"/>
              </a:rPr>
              <a:t>Les analystes valident le comportement de bout en bout sur des scénarios d’attaque réalistes</a:t>
            </a:r>
          </a:p>
          <a:p>
            <a:pPr algn="l" marL="339328" indent="-169664" lvl="1">
              <a:lnSpc>
                <a:spcPts val="2587"/>
              </a:lnSpc>
              <a:spcBef>
                <a:spcPct val="0"/>
              </a:spcBef>
              <a:buFont typeface="Arial"/>
              <a:buChar char="•"/>
            </a:pPr>
            <a:r>
              <a:rPr lang="en-US" sz="1875" strike="noStrike" u="none">
                <a:solidFill>
                  <a:srgbClr val="9FB0C9"/>
                </a:solidFill>
                <a:latin typeface="Calibri (MS)"/>
                <a:ea typeface="Calibri (MS)"/>
                <a:cs typeface="Calibri (MS)"/>
                <a:sym typeface="Calibri (MS)"/>
              </a:rPr>
              <a:t>Les résultats alimentent directement la suite de tests automatisés Pytest</a:t>
            </a:r>
          </a:p>
          <a:p>
            <a:pPr algn="l" marL="339328" indent="-169664" lvl="1">
              <a:lnSpc>
                <a:spcPts val="2587"/>
              </a:lnSpc>
              <a:spcBef>
                <a:spcPct val="0"/>
              </a:spcBef>
              <a:buFont typeface="Arial"/>
              <a:buChar char="•"/>
            </a:pPr>
            <a:r>
              <a:rPr lang="en-US" sz="1875" strike="noStrike" u="none">
                <a:solidFill>
                  <a:srgbClr val="9FB0C9"/>
                </a:solidFill>
                <a:latin typeface="Calibri (MS)"/>
                <a:ea typeface="Calibri (MS)"/>
                <a:cs typeface="Calibri (MS)"/>
                <a:sym typeface="Calibri (MS)"/>
              </a:rPr>
              <a:t>L’UAT fait le lien entre la validation technique et l’utilisabilité en conditions réelles</a:t>
            </a:r>
          </a:p>
        </p:txBody>
      </p:sp>
      <p:grpSp>
        <p:nvGrpSpPr>
          <p:cNvPr name="Group 20" id="20"/>
          <p:cNvGrpSpPr/>
          <p:nvPr/>
        </p:nvGrpSpPr>
        <p:grpSpPr>
          <a:xfrm rot="0">
            <a:off x="9111615" y="2665095"/>
            <a:ext cx="8317230" cy="5916930"/>
            <a:chOff x="0" y="0"/>
            <a:chExt cx="11089640" cy="7889240"/>
          </a:xfrm>
        </p:grpSpPr>
        <p:sp>
          <p:nvSpPr>
            <p:cNvPr name="Freeform 21" id="21"/>
            <p:cNvSpPr/>
            <p:nvPr/>
          </p:nvSpPr>
          <p:spPr>
            <a:xfrm flipH="false" flipV="false" rot="0">
              <a:off x="0" y="0"/>
              <a:ext cx="11089640" cy="7889240"/>
            </a:xfrm>
            <a:custGeom>
              <a:avLst/>
              <a:gdLst/>
              <a:ahLst/>
              <a:cxnLst/>
              <a:rect r="r" b="b" t="t" l="l"/>
              <a:pathLst>
                <a:path h="7889240" w="11089640">
                  <a:moveTo>
                    <a:pt x="0" y="146685"/>
                  </a:moveTo>
                  <a:cubicBezTo>
                    <a:pt x="0" y="65659"/>
                    <a:pt x="65659" y="0"/>
                    <a:pt x="146685" y="0"/>
                  </a:cubicBezTo>
                  <a:lnTo>
                    <a:pt x="10942955" y="0"/>
                  </a:lnTo>
                  <a:cubicBezTo>
                    <a:pt x="11023981" y="0"/>
                    <a:pt x="11089640" y="65659"/>
                    <a:pt x="11089640" y="146685"/>
                  </a:cubicBezTo>
                  <a:lnTo>
                    <a:pt x="11089640" y="7742555"/>
                  </a:lnTo>
                  <a:cubicBezTo>
                    <a:pt x="11089640" y="7823581"/>
                    <a:pt x="11023981" y="7889240"/>
                    <a:pt x="10942955" y="7889240"/>
                  </a:cubicBezTo>
                  <a:lnTo>
                    <a:pt x="146685" y="7889240"/>
                  </a:lnTo>
                  <a:cubicBezTo>
                    <a:pt x="65659" y="7889240"/>
                    <a:pt x="0" y="7823581"/>
                    <a:pt x="0" y="7742555"/>
                  </a:cubicBezTo>
                  <a:close/>
                </a:path>
              </a:pathLst>
            </a:custGeom>
            <a:solidFill>
              <a:srgbClr val="13294A"/>
            </a:solidFill>
            <a:ln w="19050" cap="sq">
              <a:solidFill>
                <a:srgbClr val="1E3358"/>
              </a:solidFill>
              <a:prstDash val="solid"/>
              <a:miter/>
            </a:ln>
          </p:spPr>
        </p:sp>
      </p:grpSp>
      <p:grpSp>
        <p:nvGrpSpPr>
          <p:cNvPr name="Group 22" id="22"/>
          <p:cNvGrpSpPr/>
          <p:nvPr/>
        </p:nvGrpSpPr>
        <p:grpSpPr>
          <a:xfrm rot="0">
            <a:off x="9532620" y="2948940"/>
            <a:ext cx="7406640" cy="411480"/>
            <a:chOff x="0" y="0"/>
            <a:chExt cx="9875520" cy="548640"/>
          </a:xfrm>
        </p:grpSpPr>
        <p:sp>
          <p:nvSpPr>
            <p:cNvPr name="Freeform 23" id="23"/>
            <p:cNvSpPr/>
            <p:nvPr/>
          </p:nvSpPr>
          <p:spPr>
            <a:xfrm flipH="false" flipV="false" rot="0">
              <a:off x="0" y="0"/>
              <a:ext cx="9875520" cy="548640"/>
            </a:xfrm>
            <a:custGeom>
              <a:avLst/>
              <a:gdLst/>
              <a:ahLst/>
              <a:cxnLst/>
              <a:rect r="r" b="b" t="t" l="l"/>
              <a:pathLst>
                <a:path h="548640" w="9875520">
                  <a:moveTo>
                    <a:pt x="0" y="0"/>
                  </a:moveTo>
                  <a:lnTo>
                    <a:pt x="9875520" y="0"/>
                  </a:lnTo>
                  <a:lnTo>
                    <a:pt x="9875520" y="548640"/>
                  </a:lnTo>
                  <a:lnTo>
                    <a:pt x="0" y="548640"/>
                  </a:lnTo>
                  <a:close/>
                </a:path>
              </a:pathLst>
            </a:custGeom>
            <a:blipFill>
              <a:blip r:embed="rId2">
                <a:alphaModFix amt="0"/>
              </a:blip>
              <a:stretch>
                <a:fillRect l="0" t="-300730" r="0" b="-300730"/>
              </a:stretch>
            </a:blipFill>
          </p:spPr>
        </p:sp>
        <p:sp>
          <p:nvSpPr>
            <p:cNvPr name="TextBox 24" id="24"/>
            <p:cNvSpPr txBox="true"/>
            <p:nvPr/>
          </p:nvSpPr>
          <p:spPr>
            <a:xfrm>
              <a:off x="0" y="-28575"/>
              <a:ext cx="9875520" cy="577215"/>
            </a:xfrm>
            <a:prstGeom prst="rect">
              <a:avLst/>
            </a:prstGeom>
          </p:spPr>
          <p:txBody>
            <a:bodyPr anchor="ctr" rtlCol="false" tIns="0" lIns="0" bIns="0" rIns="0"/>
            <a:lstStyle/>
            <a:p>
              <a:pPr algn="l" marL="0" indent="0" lvl="0">
                <a:lnSpc>
                  <a:spcPts val="1980"/>
                </a:lnSpc>
                <a:spcBef>
                  <a:spcPct val="0"/>
                </a:spcBef>
              </a:pPr>
              <a:r>
                <a:rPr lang="en-US" b="true" sz="1650" spc="150" strike="noStrike" u="none">
                  <a:solidFill>
                    <a:srgbClr val="FF4B5C"/>
                  </a:solidFill>
                  <a:latin typeface="Calibri (MS) Bold"/>
                  <a:ea typeface="Calibri (MS) Bold"/>
                  <a:cs typeface="Calibri (MS) Bold"/>
                  <a:sym typeface="Calibri (MS) Bold"/>
                </a:rPr>
                <a:t>QUALITY GATES AUTOMATISÉS</a:t>
              </a:r>
            </a:p>
          </p:txBody>
        </p:sp>
      </p:grpSp>
      <p:grpSp>
        <p:nvGrpSpPr>
          <p:cNvPr name="Group 25" id="25"/>
          <p:cNvGrpSpPr/>
          <p:nvPr/>
        </p:nvGrpSpPr>
        <p:grpSpPr>
          <a:xfrm rot="0">
            <a:off x="9532620" y="3497580"/>
            <a:ext cx="7406640" cy="622139"/>
            <a:chOff x="0" y="0"/>
            <a:chExt cx="9875520" cy="829518"/>
          </a:xfrm>
        </p:grpSpPr>
        <p:sp>
          <p:nvSpPr>
            <p:cNvPr name="Freeform 26" id="26"/>
            <p:cNvSpPr/>
            <p:nvPr/>
          </p:nvSpPr>
          <p:spPr>
            <a:xfrm flipH="false" flipV="false" rot="0">
              <a:off x="0" y="0"/>
              <a:ext cx="9875520" cy="829518"/>
            </a:xfrm>
            <a:custGeom>
              <a:avLst/>
              <a:gdLst/>
              <a:ahLst/>
              <a:cxnLst/>
              <a:rect r="r" b="b" t="t" l="l"/>
              <a:pathLst>
                <a:path h="829518" w="9875520">
                  <a:moveTo>
                    <a:pt x="0" y="0"/>
                  </a:moveTo>
                  <a:lnTo>
                    <a:pt x="9875520" y="0"/>
                  </a:lnTo>
                  <a:lnTo>
                    <a:pt x="9875520" y="829518"/>
                  </a:lnTo>
                  <a:lnTo>
                    <a:pt x="0" y="829518"/>
                  </a:lnTo>
                  <a:close/>
                </a:path>
              </a:pathLst>
            </a:custGeom>
            <a:blipFill>
              <a:blip r:embed="rId2">
                <a:alphaModFix amt="0"/>
              </a:blip>
              <a:stretch>
                <a:fillRect l="0" t="-187878" r="0" b="-176064"/>
              </a:stretch>
            </a:blipFill>
          </p:spPr>
        </p:sp>
        <p:sp>
          <p:nvSpPr>
            <p:cNvPr name="TextBox 27" id="27"/>
            <p:cNvSpPr txBox="true"/>
            <p:nvPr/>
          </p:nvSpPr>
          <p:spPr>
            <a:xfrm>
              <a:off x="0" y="-38100"/>
              <a:ext cx="9875520" cy="867618"/>
            </a:xfrm>
            <a:prstGeom prst="rect">
              <a:avLst/>
            </a:prstGeom>
          </p:spPr>
          <p:txBody>
            <a:bodyPr anchor="ctr" rtlCol="false" tIns="0" lIns="0" bIns="0" rIns="0"/>
            <a:lstStyle/>
            <a:p>
              <a:pPr algn="l" marL="0" indent="0" lvl="0">
                <a:lnSpc>
                  <a:spcPts val="2160"/>
                </a:lnSpc>
                <a:spcBef>
                  <a:spcPct val="0"/>
                </a:spcBef>
              </a:pPr>
              <a:r>
                <a:rPr lang="en-US" sz="1800" i="true" strike="noStrike" u="none">
                  <a:solidFill>
                    <a:srgbClr val="9FB0C9"/>
                  </a:solidFill>
                  <a:latin typeface="Calibri (MS) Italics"/>
                  <a:ea typeface="Calibri (MS) Italics"/>
                  <a:cs typeface="Calibri (MS) Italics"/>
                  <a:sym typeface="Calibri (MS) Italics"/>
                </a:rPr>
                <a:t>L’exécution du pipeline s’arrête immédiatement en cas d’échec critique de validation.</a:t>
              </a:r>
            </a:p>
          </p:txBody>
        </p:sp>
      </p:grpSp>
      <p:grpSp>
        <p:nvGrpSpPr>
          <p:cNvPr name="Group 28" id="28"/>
          <p:cNvGrpSpPr/>
          <p:nvPr/>
        </p:nvGrpSpPr>
        <p:grpSpPr>
          <a:xfrm rot="0">
            <a:off x="9523095" y="4379595"/>
            <a:ext cx="3310890" cy="1390650"/>
            <a:chOff x="0" y="0"/>
            <a:chExt cx="4414520" cy="1854200"/>
          </a:xfrm>
        </p:grpSpPr>
        <p:sp>
          <p:nvSpPr>
            <p:cNvPr name="Freeform 29" id="29"/>
            <p:cNvSpPr/>
            <p:nvPr/>
          </p:nvSpPr>
          <p:spPr>
            <a:xfrm flipH="false" flipV="false" rot="0">
              <a:off x="0" y="0"/>
              <a:ext cx="4414520" cy="1854200"/>
            </a:xfrm>
            <a:custGeom>
              <a:avLst/>
              <a:gdLst/>
              <a:ahLst/>
              <a:cxnLst/>
              <a:rect r="r" b="b" t="t" l="l"/>
              <a:pathLst>
                <a:path h="1854200" w="4414520">
                  <a:moveTo>
                    <a:pt x="0" y="148336"/>
                  </a:moveTo>
                  <a:cubicBezTo>
                    <a:pt x="0" y="66421"/>
                    <a:pt x="66421" y="0"/>
                    <a:pt x="148336" y="0"/>
                  </a:cubicBezTo>
                  <a:lnTo>
                    <a:pt x="4266184" y="0"/>
                  </a:lnTo>
                  <a:cubicBezTo>
                    <a:pt x="4348099" y="0"/>
                    <a:pt x="4414520" y="66421"/>
                    <a:pt x="4414520" y="148336"/>
                  </a:cubicBezTo>
                  <a:lnTo>
                    <a:pt x="4414520" y="1705864"/>
                  </a:lnTo>
                  <a:cubicBezTo>
                    <a:pt x="4414520" y="1787779"/>
                    <a:pt x="4348099" y="1854200"/>
                    <a:pt x="4266184" y="1854200"/>
                  </a:cubicBezTo>
                  <a:lnTo>
                    <a:pt x="148336" y="1854200"/>
                  </a:lnTo>
                  <a:cubicBezTo>
                    <a:pt x="66421" y="1854200"/>
                    <a:pt x="0" y="1787779"/>
                    <a:pt x="0" y="1705864"/>
                  </a:cubicBezTo>
                  <a:close/>
                </a:path>
              </a:pathLst>
            </a:custGeom>
            <a:solidFill>
              <a:srgbClr val="0D2A1E"/>
            </a:solidFill>
            <a:ln w="19050" cap="sq">
              <a:solidFill>
                <a:srgbClr val="00E5C7"/>
              </a:solidFill>
              <a:prstDash val="solid"/>
              <a:miter/>
            </a:ln>
          </p:spPr>
        </p:sp>
      </p:grpSp>
      <p:grpSp>
        <p:nvGrpSpPr>
          <p:cNvPr name="Group 30" id="30"/>
          <p:cNvGrpSpPr/>
          <p:nvPr/>
        </p:nvGrpSpPr>
        <p:grpSpPr>
          <a:xfrm rot="0">
            <a:off x="9532620" y="4594860"/>
            <a:ext cx="3291840" cy="411480"/>
            <a:chOff x="0" y="0"/>
            <a:chExt cx="4389120" cy="548640"/>
          </a:xfrm>
        </p:grpSpPr>
        <p:sp>
          <p:nvSpPr>
            <p:cNvPr name="Freeform 31" id="31"/>
            <p:cNvSpPr/>
            <p:nvPr/>
          </p:nvSpPr>
          <p:spPr>
            <a:xfrm flipH="false" flipV="false" rot="0">
              <a:off x="0" y="0"/>
              <a:ext cx="4389120" cy="548640"/>
            </a:xfrm>
            <a:custGeom>
              <a:avLst/>
              <a:gdLst/>
              <a:ahLst/>
              <a:cxnLst/>
              <a:rect r="r" b="b" t="t" l="l"/>
              <a:pathLst>
                <a:path h="548640" w="4389120">
                  <a:moveTo>
                    <a:pt x="0" y="0"/>
                  </a:moveTo>
                  <a:lnTo>
                    <a:pt x="4389120" y="0"/>
                  </a:lnTo>
                  <a:lnTo>
                    <a:pt x="4389120" y="548640"/>
                  </a:lnTo>
                  <a:lnTo>
                    <a:pt x="0" y="548640"/>
                  </a:lnTo>
                  <a:close/>
                </a:path>
              </a:pathLst>
            </a:custGeom>
            <a:blipFill>
              <a:blip r:embed="rId2">
                <a:alphaModFix amt="0"/>
              </a:blip>
              <a:stretch>
                <a:fillRect l="0" t="-105880" r="0" b="-105880"/>
              </a:stretch>
            </a:blipFill>
          </p:spPr>
        </p:sp>
        <p:sp>
          <p:nvSpPr>
            <p:cNvPr name="TextBox 32" id="32"/>
            <p:cNvSpPr txBox="true"/>
            <p:nvPr/>
          </p:nvSpPr>
          <p:spPr>
            <a:xfrm>
              <a:off x="0" y="-38100"/>
              <a:ext cx="4389120" cy="586740"/>
            </a:xfrm>
            <a:prstGeom prst="rect">
              <a:avLst/>
            </a:prstGeom>
          </p:spPr>
          <p:txBody>
            <a:bodyPr anchor="ctr" rtlCol="false" tIns="0" lIns="0" bIns="0" rIns="0"/>
            <a:lstStyle/>
            <a:p>
              <a:pPr algn="ctr" marL="0" indent="0" lvl="0">
                <a:lnSpc>
                  <a:spcPts val="1800"/>
                </a:lnSpc>
                <a:spcBef>
                  <a:spcPct val="0"/>
                </a:spcBef>
              </a:pPr>
              <a:r>
                <a:rPr lang="en-US" b="true" sz="1500" strike="noStrike" u="none">
                  <a:solidFill>
                    <a:srgbClr val="00E5C7"/>
                  </a:solidFill>
                  <a:latin typeface="Calibri (MS) Bold"/>
                  <a:ea typeface="Calibri (MS) Bold"/>
                  <a:cs typeface="Calibri (MS) Bold"/>
                  <a:sym typeface="Calibri (MS) Bold"/>
                </a:rPr>
                <a:t>DONNÉES VALIDES</a:t>
              </a:r>
            </a:p>
          </p:txBody>
        </p:sp>
      </p:grpSp>
      <p:grpSp>
        <p:nvGrpSpPr>
          <p:cNvPr name="Group 33" id="33"/>
          <p:cNvGrpSpPr/>
          <p:nvPr/>
        </p:nvGrpSpPr>
        <p:grpSpPr>
          <a:xfrm rot="0">
            <a:off x="9532620" y="5074920"/>
            <a:ext cx="3291840" cy="548640"/>
            <a:chOff x="0" y="0"/>
            <a:chExt cx="4389120" cy="731520"/>
          </a:xfrm>
        </p:grpSpPr>
        <p:sp>
          <p:nvSpPr>
            <p:cNvPr name="Freeform 34" id="34"/>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2">
                <a:alphaModFix amt="0"/>
              </a:blip>
              <a:stretch>
                <a:fillRect l="0" t="-66910" r="0" b="-66910"/>
              </a:stretch>
            </a:blipFill>
          </p:spPr>
        </p:sp>
        <p:sp>
          <p:nvSpPr>
            <p:cNvPr name="TextBox 35" id="35"/>
            <p:cNvSpPr txBox="true"/>
            <p:nvPr/>
          </p:nvSpPr>
          <p:spPr>
            <a:xfrm>
              <a:off x="0" y="-38100"/>
              <a:ext cx="4389120" cy="769620"/>
            </a:xfrm>
            <a:prstGeom prst="rect">
              <a:avLst/>
            </a:prstGeom>
          </p:spPr>
          <p:txBody>
            <a:bodyPr anchor="ctr" rtlCol="false" tIns="0" lIns="0" bIns="0" rIns="0"/>
            <a:lstStyle/>
            <a:p>
              <a:pPr algn="ctr" marL="0" indent="0" lvl="0">
                <a:lnSpc>
                  <a:spcPts val="1709"/>
                </a:lnSpc>
                <a:spcBef>
                  <a:spcPct val="0"/>
                </a:spcBef>
              </a:pPr>
              <a:r>
                <a:rPr lang="en-US" sz="1425" strike="noStrike" u="none">
                  <a:solidFill>
                    <a:srgbClr val="9FB0C9"/>
                  </a:solidFill>
                  <a:latin typeface="Calibri (MS)"/>
                  <a:ea typeface="Calibri (MS)"/>
                  <a:cs typeface="Calibri (MS)"/>
                  <a:sym typeface="Calibri (MS)"/>
                </a:rPr>
                <a:t>→ le pipeline continue</a:t>
              </a:r>
            </a:p>
          </p:txBody>
        </p:sp>
      </p:grpSp>
      <p:grpSp>
        <p:nvGrpSpPr>
          <p:cNvPr name="Group 36" id="36"/>
          <p:cNvGrpSpPr/>
          <p:nvPr/>
        </p:nvGrpSpPr>
        <p:grpSpPr>
          <a:xfrm rot="0">
            <a:off x="13706475" y="4379595"/>
            <a:ext cx="3585210" cy="1390650"/>
            <a:chOff x="0" y="0"/>
            <a:chExt cx="4780280" cy="1854200"/>
          </a:xfrm>
        </p:grpSpPr>
        <p:sp>
          <p:nvSpPr>
            <p:cNvPr name="Freeform 37" id="37"/>
            <p:cNvSpPr/>
            <p:nvPr/>
          </p:nvSpPr>
          <p:spPr>
            <a:xfrm flipH="false" flipV="false" rot="0">
              <a:off x="0" y="0"/>
              <a:ext cx="4780280" cy="1854200"/>
            </a:xfrm>
            <a:custGeom>
              <a:avLst/>
              <a:gdLst/>
              <a:ahLst/>
              <a:cxnLst/>
              <a:rect r="r" b="b" t="t" l="l"/>
              <a:pathLst>
                <a:path h="1854200" w="4780280">
                  <a:moveTo>
                    <a:pt x="0" y="148336"/>
                  </a:moveTo>
                  <a:cubicBezTo>
                    <a:pt x="0" y="66421"/>
                    <a:pt x="66421" y="0"/>
                    <a:pt x="148336" y="0"/>
                  </a:cubicBezTo>
                  <a:lnTo>
                    <a:pt x="4631944" y="0"/>
                  </a:lnTo>
                  <a:cubicBezTo>
                    <a:pt x="4713859" y="0"/>
                    <a:pt x="4780280" y="66421"/>
                    <a:pt x="4780280" y="148336"/>
                  </a:cubicBezTo>
                  <a:lnTo>
                    <a:pt x="4780280" y="1705864"/>
                  </a:lnTo>
                  <a:cubicBezTo>
                    <a:pt x="4780280" y="1787779"/>
                    <a:pt x="4713859" y="1854200"/>
                    <a:pt x="4631944" y="1854200"/>
                  </a:cubicBezTo>
                  <a:lnTo>
                    <a:pt x="148336" y="1854200"/>
                  </a:lnTo>
                  <a:cubicBezTo>
                    <a:pt x="66421" y="1854200"/>
                    <a:pt x="0" y="1787779"/>
                    <a:pt x="0" y="1705864"/>
                  </a:cubicBezTo>
                  <a:close/>
                </a:path>
              </a:pathLst>
            </a:custGeom>
            <a:solidFill>
              <a:srgbClr val="2A0D14"/>
            </a:solidFill>
            <a:ln w="19050" cap="sq">
              <a:solidFill>
                <a:srgbClr val="FF4B5C"/>
              </a:solidFill>
              <a:prstDash val="solid"/>
              <a:miter/>
            </a:ln>
          </p:spPr>
        </p:sp>
      </p:grpSp>
      <p:grpSp>
        <p:nvGrpSpPr>
          <p:cNvPr name="Group 38" id="38"/>
          <p:cNvGrpSpPr/>
          <p:nvPr/>
        </p:nvGrpSpPr>
        <p:grpSpPr>
          <a:xfrm rot="0">
            <a:off x="13716000" y="4594860"/>
            <a:ext cx="3566160" cy="411480"/>
            <a:chOff x="0" y="0"/>
            <a:chExt cx="4754880" cy="548640"/>
          </a:xfrm>
        </p:grpSpPr>
        <p:sp>
          <p:nvSpPr>
            <p:cNvPr name="Freeform 39" id="39"/>
            <p:cNvSpPr/>
            <p:nvPr/>
          </p:nvSpPr>
          <p:spPr>
            <a:xfrm flipH="false" flipV="false" rot="0">
              <a:off x="0" y="0"/>
              <a:ext cx="4754880" cy="548640"/>
            </a:xfrm>
            <a:custGeom>
              <a:avLst/>
              <a:gdLst/>
              <a:ahLst/>
              <a:cxnLst/>
              <a:rect r="r" b="b" t="t" l="l"/>
              <a:pathLst>
                <a:path h="548640" w="4754880">
                  <a:moveTo>
                    <a:pt x="0" y="0"/>
                  </a:moveTo>
                  <a:lnTo>
                    <a:pt x="4754880" y="0"/>
                  </a:lnTo>
                  <a:lnTo>
                    <a:pt x="4754880" y="548640"/>
                  </a:lnTo>
                  <a:lnTo>
                    <a:pt x="0" y="548640"/>
                  </a:lnTo>
                  <a:close/>
                </a:path>
              </a:pathLst>
            </a:custGeom>
            <a:blipFill>
              <a:blip r:embed="rId2">
                <a:alphaModFix amt="0"/>
              </a:blip>
              <a:stretch>
                <a:fillRect l="0" t="-118870" r="0" b="-118870"/>
              </a:stretch>
            </a:blipFill>
          </p:spPr>
        </p:sp>
        <p:sp>
          <p:nvSpPr>
            <p:cNvPr name="TextBox 40" id="40"/>
            <p:cNvSpPr txBox="true"/>
            <p:nvPr/>
          </p:nvSpPr>
          <p:spPr>
            <a:xfrm>
              <a:off x="0" y="-38100"/>
              <a:ext cx="4754880" cy="586740"/>
            </a:xfrm>
            <a:prstGeom prst="rect">
              <a:avLst/>
            </a:prstGeom>
          </p:spPr>
          <p:txBody>
            <a:bodyPr anchor="ctr" rtlCol="false" tIns="0" lIns="0" bIns="0" rIns="0"/>
            <a:lstStyle/>
            <a:p>
              <a:pPr algn="ctr" marL="0" indent="0" lvl="0">
                <a:lnSpc>
                  <a:spcPts val="1800"/>
                </a:lnSpc>
                <a:spcBef>
                  <a:spcPct val="0"/>
                </a:spcBef>
              </a:pPr>
              <a:r>
                <a:rPr lang="en-US" b="true" sz="1500" strike="noStrike" u="none">
                  <a:solidFill>
                    <a:srgbClr val="FF4B5C"/>
                  </a:solidFill>
                  <a:latin typeface="Calibri (MS) Bold"/>
                  <a:ea typeface="Calibri (MS) Bold"/>
                  <a:cs typeface="Calibri (MS) Bold"/>
                  <a:sym typeface="Calibri (MS) Bold"/>
                </a:rPr>
                <a:t>DONNÉES INVALIDES</a:t>
              </a:r>
            </a:p>
          </p:txBody>
        </p:sp>
      </p:grpSp>
      <p:grpSp>
        <p:nvGrpSpPr>
          <p:cNvPr name="Group 41" id="41"/>
          <p:cNvGrpSpPr/>
          <p:nvPr/>
        </p:nvGrpSpPr>
        <p:grpSpPr>
          <a:xfrm rot="0">
            <a:off x="13716000" y="5074920"/>
            <a:ext cx="3566160" cy="548640"/>
            <a:chOff x="0" y="0"/>
            <a:chExt cx="4754880" cy="731520"/>
          </a:xfrm>
        </p:grpSpPr>
        <p:sp>
          <p:nvSpPr>
            <p:cNvPr name="Freeform 42" id="42"/>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2">
                <a:alphaModFix amt="0"/>
              </a:blip>
              <a:stretch>
                <a:fillRect l="0" t="-76652" r="0" b="-76652"/>
              </a:stretch>
            </a:blipFill>
          </p:spPr>
        </p:sp>
        <p:sp>
          <p:nvSpPr>
            <p:cNvPr name="TextBox 43" id="43"/>
            <p:cNvSpPr txBox="true"/>
            <p:nvPr/>
          </p:nvSpPr>
          <p:spPr>
            <a:xfrm>
              <a:off x="0" y="-38100"/>
              <a:ext cx="4754880" cy="769620"/>
            </a:xfrm>
            <a:prstGeom prst="rect">
              <a:avLst/>
            </a:prstGeom>
          </p:spPr>
          <p:txBody>
            <a:bodyPr anchor="ctr" rtlCol="false" tIns="0" lIns="0" bIns="0" rIns="0"/>
            <a:lstStyle/>
            <a:p>
              <a:pPr algn="ctr" marL="0" indent="0" lvl="0">
                <a:lnSpc>
                  <a:spcPts val="1709"/>
                </a:lnSpc>
                <a:spcBef>
                  <a:spcPct val="0"/>
                </a:spcBef>
              </a:pPr>
              <a:r>
                <a:rPr lang="en-US" sz="1425" strike="noStrike" u="none">
                  <a:solidFill>
                    <a:srgbClr val="9FB0C9"/>
                  </a:solidFill>
                  <a:latin typeface="Calibri (MS)"/>
                  <a:ea typeface="Calibri (MS)"/>
                  <a:cs typeface="Calibri (MS)"/>
                  <a:sym typeface="Calibri (MS)"/>
                </a:rPr>
                <a:t>→ pipeline arrêté, diagnostics consignés</a:t>
              </a:r>
            </a:p>
          </p:txBody>
        </p:sp>
      </p:grpSp>
      <p:sp>
        <p:nvSpPr>
          <p:cNvPr name="TextBox 44" id="44"/>
          <p:cNvSpPr txBox="true"/>
          <p:nvPr/>
        </p:nvSpPr>
        <p:spPr>
          <a:xfrm rot="0">
            <a:off x="9532620" y="6105525"/>
            <a:ext cx="7406640" cy="1208341"/>
          </a:xfrm>
          <a:prstGeom prst="rect">
            <a:avLst/>
          </a:prstGeom>
        </p:spPr>
        <p:txBody>
          <a:bodyPr anchor="t" rtlCol="false" tIns="0" lIns="0" bIns="0" rIns="0">
            <a:spAutoFit/>
          </a:bodyPr>
          <a:lstStyle/>
          <a:p>
            <a:pPr algn="l" marL="312182" indent="-156091" lvl="1">
              <a:lnSpc>
                <a:spcPts val="2380"/>
              </a:lnSpc>
              <a:spcBef>
                <a:spcPct val="0"/>
              </a:spcBef>
              <a:buFont typeface="Arial"/>
              <a:buChar char="•"/>
            </a:pPr>
            <a:r>
              <a:rPr lang="en-US" sz="1725" strike="noStrike" u="none">
                <a:solidFill>
                  <a:srgbClr val="9FB0C9"/>
                </a:solidFill>
                <a:latin typeface="Calibri (MS)"/>
                <a:ea typeface="Calibri (MS)"/>
                <a:cs typeface="Calibri (MS)"/>
                <a:sym typeface="Calibri (MS)"/>
              </a:rPr>
              <a:t>Le même mécanisme DataQualityError est utilisé dans les 3 étapes du pipeline</a:t>
            </a:r>
          </a:p>
          <a:p>
            <a:pPr algn="l" marL="312182" indent="-156091" lvl="1">
              <a:lnSpc>
                <a:spcPts val="2380"/>
              </a:lnSpc>
              <a:spcBef>
                <a:spcPct val="0"/>
              </a:spcBef>
              <a:buFont typeface="Arial"/>
              <a:buChar char="•"/>
            </a:pPr>
            <a:r>
              <a:rPr lang="en-US" sz="1725" strike="noStrike" u="none">
                <a:solidFill>
                  <a:srgbClr val="9FB0C9"/>
                </a:solidFill>
                <a:latin typeface="Calibri (MS)"/>
                <a:ea typeface="Calibri (MS)"/>
                <a:cs typeface="Calibri (MS)"/>
                <a:sym typeface="Calibri (MS)"/>
              </a:rPr>
              <a:t>Les assets Dagster exposent directement les diagnostics d’échec dans l’interface d’exécution</a:t>
            </a:r>
          </a:p>
          <a:p>
            <a:pPr algn="l" marL="312182" indent="-156091" lvl="1">
              <a:lnSpc>
                <a:spcPts val="2380"/>
              </a:lnSpc>
              <a:spcBef>
                <a:spcPct val="0"/>
              </a:spcBef>
              <a:buFont typeface="Arial"/>
              <a:buChar char="•"/>
            </a:pPr>
            <a:r>
              <a:rPr lang="en-US" sz="1725" strike="noStrike" u="none">
                <a:solidFill>
                  <a:srgbClr val="9FB0C9"/>
                </a:solidFill>
                <a:latin typeface="Calibri (MS)"/>
                <a:ea typeface="Calibri (MS)"/>
                <a:cs typeface="Calibri (MS)"/>
                <a:sym typeface="Calibri (MS)"/>
              </a:rPr>
              <a:t>Empêche le principe « garbage-in-garbage-out » d’atteindre le modèle entraîné</a:t>
            </a:r>
          </a:p>
        </p:txBody>
      </p:sp>
      <p:grpSp>
        <p:nvGrpSpPr>
          <p:cNvPr name="Group 45" id="45"/>
          <p:cNvGrpSpPr/>
          <p:nvPr/>
        </p:nvGrpSpPr>
        <p:grpSpPr>
          <a:xfrm rot="0">
            <a:off x="685800" y="9710928"/>
            <a:ext cx="10972800" cy="411480"/>
            <a:chOff x="0" y="0"/>
            <a:chExt cx="14630400" cy="548640"/>
          </a:xfrm>
        </p:grpSpPr>
        <p:sp>
          <p:nvSpPr>
            <p:cNvPr name="Freeform 46" id="4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47" id="47"/>
            <p:cNvSpPr txBox="true"/>
            <p:nvPr/>
          </p:nvSpPr>
          <p:spPr>
            <a:xfrm>
              <a:off x="0" y="-28575"/>
              <a:ext cx="14630400" cy="577215"/>
            </a:xfrm>
            <a:prstGeom prst="rect">
              <a:avLst/>
            </a:prstGeom>
          </p:spPr>
          <p:txBody>
            <a:bodyPr anchor="ctr" rtlCol="false" tIns="0" lIns="0" bIns="0" rIns="0"/>
            <a:lstStyle/>
            <a:p>
              <a:pPr algn="l" marL="0" indent="0" lvl="0">
                <a:lnSpc>
                  <a:spcPts val="1620"/>
                </a:lnSpc>
                <a:spcBef>
                  <a:spcPct val="0"/>
                </a:spcBef>
              </a:pPr>
              <a:r>
                <a:rPr lang="en-US" sz="1350" spc="149" strike="noStrike" u="none">
                  <a:solidFill>
                    <a:srgbClr val="6E84A6"/>
                  </a:solidFill>
                  <a:latin typeface="Calibri (MS)"/>
                  <a:ea typeface="Calibri (MS)"/>
                  <a:cs typeface="Calibri (MS)"/>
                  <a:sym typeface="Calibri (MS)"/>
                </a:rPr>
                <a:t>PLATEFORME MLSECOPS · STRATÉGIE DE QUALITÉ DES DONNÉES &amp; DE TESTS</a:t>
              </a:r>
            </a:p>
          </p:txBody>
        </p:sp>
      </p:grpSp>
      <p:grpSp>
        <p:nvGrpSpPr>
          <p:cNvPr name="Group 48" id="48"/>
          <p:cNvGrpSpPr/>
          <p:nvPr/>
        </p:nvGrpSpPr>
        <p:grpSpPr>
          <a:xfrm rot="0">
            <a:off x="16500348" y="9710928"/>
            <a:ext cx="1097280" cy="411480"/>
            <a:chOff x="0" y="0"/>
            <a:chExt cx="1463040" cy="548640"/>
          </a:xfrm>
        </p:grpSpPr>
        <p:sp>
          <p:nvSpPr>
            <p:cNvPr name="Freeform 49" id="49"/>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50" id="50"/>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16 / 32</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marL="0" indent="0" lvl="0">
                <a:lnSpc>
                  <a:spcPts val="2250"/>
                </a:lnSpc>
                <a:spcBef>
                  <a:spcPct val="0"/>
                </a:spcBef>
              </a:pPr>
              <a:r>
                <a:rPr lang="en-US" b="true" sz="1875" spc="300" strike="noStrike" u="none">
                  <a:solidFill>
                    <a:srgbClr val="00E5C7"/>
                  </a:solidFill>
                  <a:latin typeface="Calibri (MS) Bold"/>
                  <a:ea typeface="Calibri (MS) Bold"/>
                  <a:cs typeface="Calibri (MS) Bold"/>
                  <a:sym typeface="Calibri (MS) Bold"/>
                </a:rPr>
                <a:t>INGÉNIERIE ML &amp; EXPÉRIMENTATIONS</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marL="0" indent="0" lvl="0">
                <a:lnSpc>
                  <a:spcPts val="1800"/>
                </a:lnSpc>
                <a:spcBef>
                  <a:spcPct val="0"/>
                </a:spcBef>
              </a:pPr>
              <a:r>
                <a:rPr lang="en-US" b="true" sz="1500" spc="225" strike="noStrike" u="none">
                  <a:solidFill>
                    <a:srgbClr val="00E5C7"/>
                  </a:solidFill>
                  <a:latin typeface="Calibri (MS) Bold"/>
                  <a:ea typeface="Calibri (MS) Bold"/>
                  <a:cs typeface="Calibri (MS) Bold"/>
                  <a:sym typeface="Calibri (MS) Bold"/>
                </a:rPr>
                <a:t>INTERVENANT 5</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marL="0" indent="0" lvl="0">
                <a:lnSpc>
                  <a:spcPts val="1889"/>
                </a:lnSpc>
                <a:spcBef>
                  <a:spcPct val="0"/>
                </a:spcBef>
              </a:pPr>
              <a:r>
                <a:rPr lang="en-US" sz="1575" strike="noStrike" u="none">
                  <a:solidFill>
                    <a:srgbClr val="9FB0C9"/>
                  </a:solidFill>
                  <a:latin typeface="Calibri (MS)"/>
                  <a:ea typeface="Calibri (MS)"/>
                  <a:cs typeface="Calibri (MS)"/>
                  <a:sym typeface="Calibri (MS)"/>
                </a:rPr>
                <a:t>Abderrahamane Hassani — Ingénieur ML</a:t>
              </a:r>
            </a:p>
          </p:txBody>
        </p:sp>
      </p:grpSp>
      <p:grpSp>
        <p:nvGrpSpPr>
          <p:cNvPr name="Group 11" id="11"/>
          <p:cNvGrpSpPr/>
          <p:nvPr/>
        </p:nvGrpSpPr>
        <p:grpSpPr>
          <a:xfrm rot="0">
            <a:off x="729080" y="198106"/>
            <a:ext cx="16596360" cy="3516213"/>
            <a:chOff x="0" y="0"/>
            <a:chExt cx="22128480" cy="4688284"/>
          </a:xfrm>
        </p:grpSpPr>
        <p:sp>
          <p:nvSpPr>
            <p:cNvPr name="Freeform 12" id="12"/>
            <p:cNvSpPr/>
            <p:nvPr/>
          </p:nvSpPr>
          <p:spPr>
            <a:xfrm flipH="false" flipV="false" rot="0">
              <a:off x="0" y="0"/>
              <a:ext cx="22128480" cy="4688284"/>
            </a:xfrm>
            <a:custGeom>
              <a:avLst/>
              <a:gdLst/>
              <a:ahLst/>
              <a:cxnLst/>
              <a:rect r="r" b="b" t="t" l="l"/>
              <a:pathLst>
                <a:path h="4688284" w="22128480">
                  <a:moveTo>
                    <a:pt x="0" y="0"/>
                  </a:moveTo>
                  <a:lnTo>
                    <a:pt x="22128480" y="0"/>
                  </a:lnTo>
                  <a:lnTo>
                    <a:pt x="22128480" y="4688284"/>
                  </a:lnTo>
                  <a:lnTo>
                    <a:pt x="0" y="4688284"/>
                  </a:lnTo>
                  <a:close/>
                </a:path>
              </a:pathLst>
            </a:custGeom>
            <a:blipFill>
              <a:blip r:embed="rId2">
                <a:alphaModFix amt="0"/>
              </a:blip>
              <a:stretch>
                <a:fillRect l="0" t="-73439" r="0" b="-10497"/>
              </a:stretch>
            </a:blipFill>
          </p:spPr>
        </p:sp>
        <p:sp>
          <p:nvSpPr>
            <p:cNvPr name="TextBox 13" id="13"/>
            <p:cNvSpPr txBox="true"/>
            <p:nvPr/>
          </p:nvSpPr>
          <p:spPr>
            <a:xfrm>
              <a:off x="0" y="-9525"/>
              <a:ext cx="22128480" cy="4697809"/>
            </a:xfrm>
            <a:prstGeom prst="rect">
              <a:avLst/>
            </a:prstGeom>
          </p:spPr>
          <p:txBody>
            <a:bodyPr anchor="ctr" rtlCol="false" tIns="0" lIns="0" bIns="0" rIns="0"/>
            <a:lstStyle/>
            <a:p>
              <a:pPr algn="l" marL="0" indent="0" lvl="0">
                <a:lnSpc>
                  <a:spcPts val="5759"/>
                </a:lnSpc>
                <a:spcBef>
                  <a:spcPct val="0"/>
                </a:spcBef>
              </a:pPr>
              <a:r>
                <a:rPr lang="en-US" b="true" sz="4800" strike="noStrike" u="none">
                  <a:solidFill>
                    <a:srgbClr val="FFFFFF"/>
                  </a:solidFill>
                  <a:latin typeface="Cambria Bold"/>
                  <a:ea typeface="Cambria Bold"/>
                  <a:cs typeface="Cambria Bold"/>
                  <a:sym typeface="Cambria Bold"/>
                </a:rPr>
                <a:t>Feature engineering &amp; prévention des fuites</a:t>
              </a:r>
            </a:p>
          </p:txBody>
        </p:sp>
      </p:grpSp>
      <p:grpSp>
        <p:nvGrpSpPr>
          <p:cNvPr name="Group 14" id="14"/>
          <p:cNvGrpSpPr/>
          <p:nvPr/>
        </p:nvGrpSpPr>
        <p:grpSpPr>
          <a:xfrm rot="0">
            <a:off x="813435" y="2596515"/>
            <a:ext cx="4956810" cy="5916930"/>
            <a:chOff x="0" y="0"/>
            <a:chExt cx="6609080" cy="7889240"/>
          </a:xfrm>
        </p:grpSpPr>
        <p:sp>
          <p:nvSpPr>
            <p:cNvPr name="Freeform 15" id="15"/>
            <p:cNvSpPr/>
            <p:nvPr/>
          </p:nvSpPr>
          <p:spPr>
            <a:xfrm flipH="false" flipV="false" rot="0">
              <a:off x="0" y="0"/>
              <a:ext cx="6609080" cy="7889240"/>
            </a:xfrm>
            <a:custGeom>
              <a:avLst/>
              <a:gdLst/>
              <a:ahLst/>
              <a:cxnLst/>
              <a:rect r="r" b="b" t="t" l="l"/>
              <a:pathLst>
                <a:path h="7889240" w="6609080">
                  <a:moveTo>
                    <a:pt x="0" y="146812"/>
                  </a:moveTo>
                  <a:cubicBezTo>
                    <a:pt x="0" y="65786"/>
                    <a:pt x="65786" y="0"/>
                    <a:pt x="146812" y="0"/>
                  </a:cubicBezTo>
                  <a:lnTo>
                    <a:pt x="6462268" y="0"/>
                  </a:lnTo>
                  <a:cubicBezTo>
                    <a:pt x="6543421" y="0"/>
                    <a:pt x="6609080" y="65786"/>
                    <a:pt x="6609080" y="146812"/>
                  </a:cubicBezTo>
                  <a:lnTo>
                    <a:pt x="6609080" y="7742428"/>
                  </a:lnTo>
                  <a:cubicBezTo>
                    <a:pt x="6609080" y="7823581"/>
                    <a:pt x="6543294" y="7889240"/>
                    <a:pt x="6462268" y="7889240"/>
                  </a:cubicBezTo>
                  <a:lnTo>
                    <a:pt x="146812" y="7889240"/>
                  </a:lnTo>
                  <a:cubicBezTo>
                    <a:pt x="65786" y="7889240"/>
                    <a:pt x="0" y="7823454"/>
                    <a:pt x="0" y="7742428"/>
                  </a:cubicBezTo>
                  <a:close/>
                </a:path>
              </a:pathLst>
            </a:custGeom>
            <a:solidFill>
              <a:srgbClr val="0F2038"/>
            </a:solidFill>
            <a:ln w="19050" cap="sq">
              <a:solidFill>
                <a:srgbClr val="1E3358"/>
              </a:solidFill>
              <a:prstDash val="solid"/>
              <a:miter/>
            </a:ln>
          </p:spPr>
        </p:sp>
      </p:grpSp>
      <p:grpSp>
        <p:nvGrpSpPr>
          <p:cNvPr name="Group 16" id="16"/>
          <p:cNvGrpSpPr/>
          <p:nvPr/>
        </p:nvGrpSpPr>
        <p:grpSpPr>
          <a:xfrm rot="0">
            <a:off x="822960" y="3086100"/>
            <a:ext cx="4937760" cy="1234440"/>
            <a:chOff x="0" y="0"/>
            <a:chExt cx="6583680" cy="1645920"/>
          </a:xfrm>
        </p:grpSpPr>
        <p:sp>
          <p:nvSpPr>
            <p:cNvPr name="Freeform 17" id="17"/>
            <p:cNvSpPr/>
            <p:nvPr/>
          </p:nvSpPr>
          <p:spPr>
            <a:xfrm flipH="false" flipV="false" rot="0">
              <a:off x="0" y="0"/>
              <a:ext cx="6583680" cy="1645920"/>
            </a:xfrm>
            <a:custGeom>
              <a:avLst/>
              <a:gdLst/>
              <a:ahLst/>
              <a:cxnLst/>
              <a:rect r="r" b="b" t="t" l="l"/>
              <a:pathLst>
                <a:path h="1645920" w="6583680">
                  <a:moveTo>
                    <a:pt x="0" y="0"/>
                  </a:moveTo>
                  <a:lnTo>
                    <a:pt x="6583680" y="0"/>
                  </a:lnTo>
                  <a:lnTo>
                    <a:pt x="6583680" y="1645920"/>
                  </a:lnTo>
                  <a:lnTo>
                    <a:pt x="0" y="1645920"/>
                  </a:lnTo>
                  <a:close/>
                </a:path>
              </a:pathLst>
            </a:custGeom>
            <a:blipFill>
              <a:blip r:embed="rId2">
                <a:alphaModFix amt="0"/>
              </a:blip>
              <a:stretch>
                <a:fillRect l="0" t="-27940" r="0" b="-27940"/>
              </a:stretch>
            </a:blipFill>
          </p:spPr>
        </p:sp>
        <p:sp>
          <p:nvSpPr>
            <p:cNvPr name="TextBox 18" id="18"/>
            <p:cNvSpPr txBox="true"/>
            <p:nvPr/>
          </p:nvSpPr>
          <p:spPr>
            <a:xfrm>
              <a:off x="0" y="-9525"/>
              <a:ext cx="6583680" cy="1655445"/>
            </a:xfrm>
            <a:prstGeom prst="rect">
              <a:avLst/>
            </a:prstGeom>
          </p:spPr>
          <p:txBody>
            <a:bodyPr anchor="ctr" rtlCol="false" tIns="0" lIns="0" bIns="0" rIns="0"/>
            <a:lstStyle/>
            <a:p>
              <a:pPr algn="ctr">
                <a:lnSpc>
                  <a:spcPts val="8280"/>
                </a:lnSpc>
              </a:pPr>
              <a:r>
                <a:rPr lang="en-US" sz="6900" b="true">
                  <a:solidFill>
                    <a:srgbClr val="9FB0C9"/>
                  </a:solidFill>
                  <a:latin typeface="Cambria Bold"/>
                  <a:ea typeface="Cambria Bold"/>
                  <a:cs typeface="Cambria Bold"/>
                  <a:sym typeface="Cambria Bold"/>
                </a:rPr>
                <a:t>79</a:t>
              </a:r>
            </a:p>
          </p:txBody>
        </p:sp>
      </p:grpSp>
      <p:grpSp>
        <p:nvGrpSpPr>
          <p:cNvPr name="Group 19" id="19"/>
          <p:cNvGrpSpPr/>
          <p:nvPr/>
        </p:nvGrpSpPr>
        <p:grpSpPr>
          <a:xfrm rot="0">
            <a:off x="822960" y="4114800"/>
            <a:ext cx="4937760" cy="411480"/>
            <a:chOff x="0" y="0"/>
            <a:chExt cx="6583680" cy="548640"/>
          </a:xfrm>
        </p:grpSpPr>
        <p:sp>
          <p:nvSpPr>
            <p:cNvPr name="Freeform 20" id="20"/>
            <p:cNvSpPr/>
            <p:nvPr/>
          </p:nvSpPr>
          <p:spPr>
            <a:xfrm flipH="false" flipV="false" rot="0">
              <a:off x="0" y="0"/>
              <a:ext cx="6583680" cy="548640"/>
            </a:xfrm>
            <a:custGeom>
              <a:avLst/>
              <a:gdLst/>
              <a:ahLst/>
              <a:cxnLst/>
              <a:rect r="r" b="b" t="t" l="l"/>
              <a:pathLst>
                <a:path h="548640" w="6583680">
                  <a:moveTo>
                    <a:pt x="0" y="0"/>
                  </a:moveTo>
                  <a:lnTo>
                    <a:pt x="6583680" y="0"/>
                  </a:lnTo>
                  <a:lnTo>
                    <a:pt x="6583680" y="548640"/>
                  </a:lnTo>
                  <a:lnTo>
                    <a:pt x="0" y="548640"/>
                  </a:lnTo>
                  <a:close/>
                </a:path>
              </a:pathLst>
            </a:custGeom>
            <a:blipFill>
              <a:blip r:embed="rId2">
                <a:alphaModFix amt="0"/>
              </a:blip>
              <a:stretch>
                <a:fillRect l="0" t="-183820" r="0" b="-183820"/>
              </a:stretch>
            </a:blipFill>
          </p:spPr>
        </p:sp>
        <p:sp>
          <p:nvSpPr>
            <p:cNvPr name="TextBox 21" id="21"/>
            <p:cNvSpPr txBox="true"/>
            <p:nvPr/>
          </p:nvSpPr>
          <p:spPr>
            <a:xfrm>
              <a:off x="0" y="-19050"/>
              <a:ext cx="6583680" cy="567690"/>
            </a:xfrm>
            <a:prstGeom prst="rect">
              <a:avLst/>
            </a:prstGeom>
          </p:spPr>
          <p:txBody>
            <a:bodyPr anchor="ctr" rtlCol="false" tIns="0" lIns="0" bIns="0" rIns="0"/>
            <a:lstStyle/>
            <a:p>
              <a:pPr algn="ctr" marL="0" indent="0" lvl="0">
                <a:lnSpc>
                  <a:spcPts val="1889"/>
                </a:lnSpc>
                <a:spcBef>
                  <a:spcPct val="0"/>
                </a:spcBef>
              </a:pPr>
              <a:r>
                <a:rPr lang="en-US" sz="1575" spc="224" strike="noStrike" u="none">
                  <a:solidFill>
                    <a:srgbClr val="9FB0C9"/>
                  </a:solidFill>
                  <a:latin typeface="Calibri (MS)"/>
                  <a:ea typeface="Calibri (MS)"/>
                  <a:cs typeface="Calibri (MS)"/>
                  <a:sym typeface="Calibri (MS)"/>
                </a:rPr>
                <a:t>VARIABLES BRUTES</a:t>
              </a:r>
            </a:p>
          </p:txBody>
        </p:sp>
      </p:grpSp>
      <p:sp>
        <p:nvSpPr>
          <p:cNvPr name="AutoShape 22" id="22"/>
          <p:cNvSpPr/>
          <p:nvPr/>
        </p:nvSpPr>
        <p:spPr>
          <a:xfrm rot="21540">
            <a:off x="1773526" y="4795838"/>
            <a:ext cx="3036627" cy="0"/>
          </a:xfrm>
          <a:prstGeom prst="line">
            <a:avLst/>
          </a:prstGeom>
          <a:ln cap="rnd" w="9525">
            <a:solidFill>
              <a:srgbClr val="1E3358"/>
            </a:solidFill>
            <a:prstDash val="solid"/>
            <a:headEnd type="none" len="sm" w="sm"/>
            <a:tailEnd type="none" len="sm" w="sm"/>
          </a:ln>
        </p:spPr>
      </p:sp>
      <p:grpSp>
        <p:nvGrpSpPr>
          <p:cNvPr name="Group 23" id="23"/>
          <p:cNvGrpSpPr/>
          <p:nvPr/>
        </p:nvGrpSpPr>
        <p:grpSpPr>
          <a:xfrm rot="0">
            <a:off x="1380443" y="4608576"/>
            <a:ext cx="4251960" cy="1508760"/>
            <a:chOff x="0" y="0"/>
            <a:chExt cx="5669280" cy="2011680"/>
          </a:xfrm>
        </p:grpSpPr>
        <p:sp>
          <p:nvSpPr>
            <p:cNvPr name="Freeform 24" id="24"/>
            <p:cNvSpPr/>
            <p:nvPr/>
          </p:nvSpPr>
          <p:spPr>
            <a:xfrm flipH="false" flipV="false" rot="0">
              <a:off x="0" y="0"/>
              <a:ext cx="5669280" cy="2011680"/>
            </a:xfrm>
            <a:custGeom>
              <a:avLst/>
              <a:gdLst/>
              <a:ahLst/>
              <a:cxnLst/>
              <a:rect r="r" b="b" t="t" l="l"/>
              <a:pathLst>
                <a:path h="2011680" w="5669280">
                  <a:moveTo>
                    <a:pt x="0" y="0"/>
                  </a:moveTo>
                  <a:lnTo>
                    <a:pt x="5669280" y="0"/>
                  </a:lnTo>
                  <a:lnTo>
                    <a:pt x="5669280" y="2011680"/>
                  </a:lnTo>
                  <a:lnTo>
                    <a:pt x="0" y="2011680"/>
                  </a:lnTo>
                  <a:close/>
                </a:path>
              </a:pathLst>
            </a:custGeom>
            <a:blipFill>
              <a:blip r:embed="rId2">
                <a:alphaModFix amt="0"/>
              </a:blip>
              <a:stretch>
                <a:fillRect l="0" t="-4912" r="0" b="-4912"/>
              </a:stretch>
            </a:blipFill>
          </p:spPr>
        </p:sp>
        <p:sp>
          <p:nvSpPr>
            <p:cNvPr name="TextBox 25" id="25"/>
            <p:cNvSpPr txBox="true"/>
            <p:nvPr/>
          </p:nvSpPr>
          <p:spPr>
            <a:xfrm>
              <a:off x="0" y="-19050"/>
              <a:ext cx="5669280" cy="2030730"/>
            </a:xfrm>
            <a:prstGeom prst="rect">
              <a:avLst/>
            </a:prstGeom>
          </p:spPr>
          <p:txBody>
            <a:bodyPr anchor="ctr" rtlCol="false" tIns="0" lIns="0" bIns="0" rIns="0"/>
            <a:lstStyle/>
            <a:p>
              <a:pPr algn="ctr" marL="0" indent="0" lvl="0">
                <a:lnSpc>
                  <a:spcPts val="1889"/>
                </a:lnSpc>
                <a:spcBef>
                  <a:spcPct val="0"/>
                </a:spcBef>
              </a:pPr>
              <a:r>
                <a:rPr lang="en-US" sz="1575" strike="noStrike" u="none">
                  <a:solidFill>
                    <a:srgbClr val="FF4B5C"/>
                  </a:solidFill>
                  <a:latin typeface="Calibri (MS)"/>
                  <a:ea typeface="Calibri (MS)"/>
                  <a:cs typeface="Calibri (MS)"/>
                  <a:sym typeface="Calibri (MS)"/>
                </a:rPr>
                <a:t>Exclusion par deny-list :</a:t>
              </a:r>
            </a:p>
            <a:p>
              <a:pPr algn="ctr" marL="0" indent="0" lvl="0">
                <a:lnSpc>
                  <a:spcPts val="1889"/>
                </a:lnSpc>
                <a:spcBef>
                  <a:spcPct val="0"/>
                </a:spcBef>
              </a:pPr>
              <a:r>
                <a:rPr lang="en-US" sz="1575" strike="noStrike" u="none">
                  <a:solidFill>
                    <a:srgbClr val="FF4B5C"/>
                  </a:solidFill>
                  <a:latin typeface="Calibri (MS)"/>
                  <a:ea typeface="Calibri (MS)"/>
                  <a:cs typeface="Calibri (MS)"/>
                  <a:sym typeface="Calibri (MS)"/>
                </a:rPr>
                <a:t>identifiants, labels cibles,</a:t>
              </a:r>
            </a:p>
            <a:p>
              <a:pPr algn="ctr" marL="0" indent="0" lvl="0">
                <a:lnSpc>
                  <a:spcPts val="1889"/>
                </a:lnSpc>
                <a:spcBef>
                  <a:spcPct val="0"/>
                </a:spcBef>
              </a:pPr>
              <a:r>
                <a:rPr lang="en-US" sz="1575" strike="noStrike" u="none">
                  <a:solidFill>
                    <a:srgbClr val="FF4B5C"/>
                  </a:solidFill>
                  <a:latin typeface="Calibri (MS)"/>
                  <a:ea typeface="Calibri (MS)"/>
                  <a:cs typeface="Calibri (MS)"/>
                  <a:sym typeface="Calibri (MS)"/>
                </a:rPr>
                <a:t>colonnes de signature fuyantes</a:t>
              </a:r>
            </a:p>
          </p:txBody>
        </p:sp>
      </p:grpSp>
      <p:sp>
        <p:nvSpPr>
          <p:cNvPr name="AutoShape 26" id="26"/>
          <p:cNvSpPr/>
          <p:nvPr/>
        </p:nvSpPr>
        <p:spPr>
          <a:xfrm rot="21540">
            <a:off x="1773526" y="6647497"/>
            <a:ext cx="3036627" cy="0"/>
          </a:xfrm>
          <a:prstGeom prst="line">
            <a:avLst/>
          </a:prstGeom>
          <a:ln cap="rnd" w="9525">
            <a:solidFill>
              <a:srgbClr val="1E3358"/>
            </a:solidFill>
            <a:prstDash val="solid"/>
            <a:headEnd type="none" len="sm" w="sm"/>
            <a:tailEnd type="none" len="sm" w="sm"/>
          </a:ln>
        </p:spPr>
      </p:sp>
      <p:grpSp>
        <p:nvGrpSpPr>
          <p:cNvPr name="Group 27" id="27"/>
          <p:cNvGrpSpPr/>
          <p:nvPr/>
        </p:nvGrpSpPr>
        <p:grpSpPr>
          <a:xfrm rot="0">
            <a:off x="822960" y="6858000"/>
            <a:ext cx="4937760" cy="1234440"/>
            <a:chOff x="0" y="0"/>
            <a:chExt cx="6583680" cy="1645920"/>
          </a:xfrm>
        </p:grpSpPr>
        <p:sp>
          <p:nvSpPr>
            <p:cNvPr name="Freeform 28" id="28"/>
            <p:cNvSpPr/>
            <p:nvPr/>
          </p:nvSpPr>
          <p:spPr>
            <a:xfrm flipH="false" flipV="false" rot="0">
              <a:off x="0" y="0"/>
              <a:ext cx="6583680" cy="1645920"/>
            </a:xfrm>
            <a:custGeom>
              <a:avLst/>
              <a:gdLst/>
              <a:ahLst/>
              <a:cxnLst/>
              <a:rect r="r" b="b" t="t" l="l"/>
              <a:pathLst>
                <a:path h="1645920" w="6583680">
                  <a:moveTo>
                    <a:pt x="0" y="0"/>
                  </a:moveTo>
                  <a:lnTo>
                    <a:pt x="6583680" y="0"/>
                  </a:lnTo>
                  <a:lnTo>
                    <a:pt x="6583680" y="1645920"/>
                  </a:lnTo>
                  <a:lnTo>
                    <a:pt x="0" y="1645920"/>
                  </a:lnTo>
                  <a:close/>
                </a:path>
              </a:pathLst>
            </a:custGeom>
            <a:blipFill>
              <a:blip r:embed="rId2">
                <a:alphaModFix amt="0"/>
              </a:blip>
              <a:stretch>
                <a:fillRect l="0" t="-27940" r="0" b="-27940"/>
              </a:stretch>
            </a:blipFill>
          </p:spPr>
        </p:sp>
        <p:sp>
          <p:nvSpPr>
            <p:cNvPr name="TextBox 29" id="29"/>
            <p:cNvSpPr txBox="true"/>
            <p:nvPr/>
          </p:nvSpPr>
          <p:spPr>
            <a:xfrm>
              <a:off x="0" y="-9525"/>
              <a:ext cx="6583680" cy="1655445"/>
            </a:xfrm>
            <a:prstGeom prst="rect">
              <a:avLst/>
            </a:prstGeom>
          </p:spPr>
          <p:txBody>
            <a:bodyPr anchor="ctr" rtlCol="false" tIns="0" lIns="0" bIns="0" rIns="0"/>
            <a:lstStyle/>
            <a:p>
              <a:pPr algn="ctr">
                <a:lnSpc>
                  <a:spcPts val="8280"/>
                </a:lnSpc>
              </a:pPr>
              <a:r>
                <a:rPr lang="en-US" sz="6900" b="true">
                  <a:solidFill>
                    <a:srgbClr val="00E5C7"/>
                  </a:solidFill>
                  <a:latin typeface="Cambria Bold"/>
                  <a:ea typeface="Cambria Bold"/>
                  <a:cs typeface="Cambria Bold"/>
                  <a:sym typeface="Cambria Bold"/>
                </a:rPr>
                <a:t>33</a:t>
              </a:r>
            </a:p>
          </p:txBody>
        </p:sp>
      </p:grpSp>
      <p:grpSp>
        <p:nvGrpSpPr>
          <p:cNvPr name="Group 30" id="30"/>
          <p:cNvGrpSpPr/>
          <p:nvPr/>
        </p:nvGrpSpPr>
        <p:grpSpPr>
          <a:xfrm rot="0">
            <a:off x="822960" y="7886700"/>
            <a:ext cx="4937760" cy="411480"/>
            <a:chOff x="0" y="0"/>
            <a:chExt cx="6583680" cy="548640"/>
          </a:xfrm>
        </p:grpSpPr>
        <p:sp>
          <p:nvSpPr>
            <p:cNvPr name="Freeform 31" id="31"/>
            <p:cNvSpPr/>
            <p:nvPr/>
          </p:nvSpPr>
          <p:spPr>
            <a:xfrm flipH="false" flipV="false" rot="0">
              <a:off x="0" y="0"/>
              <a:ext cx="6583680" cy="548640"/>
            </a:xfrm>
            <a:custGeom>
              <a:avLst/>
              <a:gdLst/>
              <a:ahLst/>
              <a:cxnLst/>
              <a:rect r="r" b="b" t="t" l="l"/>
              <a:pathLst>
                <a:path h="548640" w="6583680">
                  <a:moveTo>
                    <a:pt x="0" y="0"/>
                  </a:moveTo>
                  <a:lnTo>
                    <a:pt x="6583680" y="0"/>
                  </a:lnTo>
                  <a:lnTo>
                    <a:pt x="6583680" y="548640"/>
                  </a:lnTo>
                  <a:lnTo>
                    <a:pt x="0" y="548640"/>
                  </a:lnTo>
                  <a:close/>
                </a:path>
              </a:pathLst>
            </a:custGeom>
            <a:blipFill>
              <a:blip r:embed="rId2">
                <a:alphaModFix amt="0"/>
              </a:blip>
              <a:stretch>
                <a:fillRect l="0" t="-183820" r="0" b="-183820"/>
              </a:stretch>
            </a:blipFill>
          </p:spPr>
        </p:sp>
        <p:sp>
          <p:nvSpPr>
            <p:cNvPr name="TextBox 32" id="32"/>
            <p:cNvSpPr txBox="true"/>
            <p:nvPr/>
          </p:nvSpPr>
          <p:spPr>
            <a:xfrm>
              <a:off x="0" y="-19050"/>
              <a:ext cx="6583680" cy="567690"/>
            </a:xfrm>
            <a:prstGeom prst="rect">
              <a:avLst/>
            </a:prstGeom>
          </p:spPr>
          <p:txBody>
            <a:bodyPr anchor="ctr" rtlCol="false" tIns="0" lIns="0" bIns="0" rIns="0"/>
            <a:lstStyle/>
            <a:p>
              <a:pPr algn="ctr" marL="0" indent="0" lvl="0">
                <a:lnSpc>
                  <a:spcPts val="1889"/>
                </a:lnSpc>
                <a:spcBef>
                  <a:spcPct val="0"/>
                </a:spcBef>
              </a:pPr>
              <a:r>
                <a:rPr lang="en-US" sz="1575" spc="224" strike="noStrike" u="none">
                  <a:solidFill>
                    <a:srgbClr val="00E5C7"/>
                  </a:solidFill>
                  <a:latin typeface="Calibri (MS)"/>
                  <a:ea typeface="Calibri (MS)"/>
                  <a:cs typeface="Calibri (MS)"/>
                  <a:sym typeface="Calibri (MS)"/>
                </a:rPr>
                <a:t>VARIABLES DU MODÈLE</a:t>
              </a:r>
            </a:p>
          </p:txBody>
        </p:sp>
      </p:grpSp>
      <p:grpSp>
        <p:nvGrpSpPr>
          <p:cNvPr name="Group 33" id="33"/>
          <p:cNvGrpSpPr/>
          <p:nvPr/>
        </p:nvGrpSpPr>
        <p:grpSpPr>
          <a:xfrm rot="0">
            <a:off x="6025515" y="2596515"/>
            <a:ext cx="10923270" cy="2762250"/>
            <a:chOff x="0" y="0"/>
            <a:chExt cx="14564360" cy="3683000"/>
          </a:xfrm>
        </p:grpSpPr>
        <p:sp>
          <p:nvSpPr>
            <p:cNvPr name="Freeform 34" id="34"/>
            <p:cNvSpPr/>
            <p:nvPr/>
          </p:nvSpPr>
          <p:spPr>
            <a:xfrm flipH="false" flipV="false" rot="0">
              <a:off x="0" y="0"/>
              <a:ext cx="14564359" cy="3683000"/>
            </a:xfrm>
            <a:custGeom>
              <a:avLst/>
              <a:gdLst/>
              <a:ahLst/>
              <a:cxnLst/>
              <a:rect r="r" b="b" t="t" l="l"/>
              <a:pathLst>
                <a:path h="3683000" w="14564359">
                  <a:moveTo>
                    <a:pt x="0" y="147320"/>
                  </a:moveTo>
                  <a:cubicBezTo>
                    <a:pt x="0" y="65913"/>
                    <a:pt x="65913" y="0"/>
                    <a:pt x="147320" y="0"/>
                  </a:cubicBezTo>
                  <a:lnTo>
                    <a:pt x="14417039" y="0"/>
                  </a:lnTo>
                  <a:cubicBezTo>
                    <a:pt x="14498447" y="0"/>
                    <a:pt x="14564359" y="65913"/>
                    <a:pt x="14564359" y="147320"/>
                  </a:cubicBezTo>
                  <a:lnTo>
                    <a:pt x="14564359" y="3535680"/>
                  </a:lnTo>
                  <a:cubicBezTo>
                    <a:pt x="14564359" y="3617087"/>
                    <a:pt x="14498447" y="3683000"/>
                    <a:pt x="14417039" y="3683000"/>
                  </a:cubicBezTo>
                  <a:lnTo>
                    <a:pt x="147320" y="3683000"/>
                  </a:lnTo>
                  <a:cubicBezTo>
                    <a:pt x="65913" y="3683000"/>
                    <a:pt x="0" y="3617087"/>
                    <a:pt x="0" y="3535680"/>
                  </a:cubicBezTo>
                  <a:close/>
                </a:path>
              </a:pathLst>
            </a:custGeom>
            <a:solidFill>
              <a:srgbClr val="13294A"/>
            </a:solidFill>
            <a:ln w="19050" cap="sq">
              <a:solidFill>
                <a:srgbClr val="1E3358"/>
              </a:solidFill>
              <a:prstDash val="solid"/>
              <a:miter/>
            </a:ln>
          </p:spPr>
        </p:sp>
      </p:grpSp>
      <p:grpSp>
        <p:nvGrpSpPr>
          <p:cNvPr name="Group 35" id="35"/>
          <p:cNvGrpSpPr/>
          <p:nvPr/>
        </p:nvGrpSpPr>
        <p:grpSpPr>
          <a:xfrm rot="0">
            <a:off x="6446520" y="2880360"/>
            <a:ext cx="10149840" cy="411480"/>
            <a:chOff x="0" y="0"/>
            <a:chExt cx="13533120" cy="548640"/>
          </a:xfrm>
        </p:grpSpPr>
        <p:sp>
          <p:nvSpPr>
            <p:cNvPr name="Freeform 36" id="36"/>
            <p:cNvSpPr/>
            <p:nvPr/>
          </p:nvSpPr>
          <p:spPr>
            <a:xfrm flipH="false" flipV="false" rot="0">
              <a:off x="0" y="0"/>
              <a:ext cx="13533120" cy="548640"/>
            </a:xfrm>
            <a:custGeom>
              <a:avLst/>
              <a:gdLst/>
              <a:ahLst/>
              <a:cxnLst/>
              <a:rect r="r" b="b" t="t" l="l"/>
              <a:pathLst>
                <a:path h="548640" w="13533120">
                  <a:moveTo>
                    <a:pt x="0" y="0"/>
                  </a:moveTo>
                  <a:lnTo>
                    <a:pt x="13533120" y="0"/>
                  </a:lnTo>
                  <a:lnTo>
                    <a:pt x="13533120" y="548640"/>
                  </a:lnTo>
                  <a:lnTo>
                    <a:pt x="0" y="548640"/>
                  </a:lnTo>
                  <a:close/>
                </a:path>
              </a:pathLst>
            </a:custGeom>
            <a:blipFill>
              <a:blip r:embed="rId2">
                <a:alphaModFix amt="0"/>
              </a:blip>
              <a:stretch>
                <a:fillRect l="0" t="-430630" r="0" b="-430630"/>
              </a:stretch>
            </a:blipFill>
          </p:spPr>
        </p:sp>
        <p:sp>
          <p:nvSpPr>
            <p:cNvPr name="TextBox 37" id="37"/>
            <p:cNvSpPr txBox="true"/>
            <p:nvPr/>
          </p:nvSpPr>
          <p:spPr>
            <a:xfrm>
              <a:off x="0" y="-19050"/>
              <a:ext cx="13533120" cy="567690"/>
            </a:xfrm>
            <a:prstGeom prst="rect">
              <a:avLst/>
            </a:prstGeom>
          </p:spPr>
          <p:txBody>
            <a:bodyPr anchor="ctr" rtlCol="false" tIns="0" lIns="0" bIns="0" rIns="0"/>
            <a:lstStyle/>
            <a:p>
              <a:pPr algn="l" marL="0" indent="0" lvl="0">
                <a:lnSpc>
                  <a:spcPts val="1889"/>
                </a:lnSpc>
                <a:spcBef>
                  <a:spcPct val="0"/>
                </a:spcBef>
              </a:pPr>
              <a:r>
                <a:rPr lang="en-US" b="true" sz="1575" spc="150" strike="noStrike" u="none">
                  <a:solidFill>
                    <a:srgbClr val="FF4B5C"/>
                  </a:solidFill>
                  <a:latin typeface="Calibri (MS) Bold"/>
                  <a:ea typeface="Calibri (MS) Bold"/>
                  <a:cs typeface="Calibri (MS) Bold"/>
                  <a:sym typeface="Calibri (MS) Bold"/>
                </a:rPr>
                <a:t>DENY-LIST ANTI-FUITE</a:t>
              </a:r>
            </a:p>
          </p:txBody>
        </p:sp>
      </p:grpSp>
      <p:grpSp>
        <p:nvGrpSpPr>
          <p:cNvPr name="Group 38" id="38"/>
          <p:cNvGrpSpPr/>
          <p:nvPr/>
        </p:nvGrpSpPr>
        <p:grpSpPr>
          <a:xfrm rot="0">
            <a:off x="6436995" y="3488055"/>
            <a:ext cx="1219200" cy="457962"/>
            <a:chOff x="0" y="0"/>
            <a:chExt cx="1625600" cy="610616"/>
          </a:xfrm>
        </p:grpSpPr>
        <p:sp>
          <p:nvSpPr>
            <p:cNvPr name="Freeform 39" id="39"/>
            <p:cNvSpPr/>
            <p:nvPr/>
          </p:nvSpPr>
          <p:spPr>
            <a:xfrm flipH="false" flipV="false" rot="0">
              <a:off x="0" y="0"/>
              <a:ext cx="1625600" cy="610616"/>
            </a:xfrm>
            <a:custGeom>
              <a:avLst/>
              <a:gdLst/>
              <a:ahLst/>
              <a:cxnLst/>
              <a:rect r="r" b="b" t="t" l="l"/>
              <a:pathLst>
                <a:path h="610616" w="1625600">
                  <a:moveTo>
                    <a:pt x="0" y="305308"/>
                  </a:moveTo>
                  <a:cubicBezTo>
                    <a:pt x="0" y="136652"/>
                    <a:pt x="136652" y="0"/>
                    <a:pt x="305308" y="0"/>
                  </a:cubicBezTo>
                  <a:lnTo>
                    <a:pt x="1320292" y="0"/>
                  </a:lnTo>
                  <a:cubicBezTo>
                    <a:pt x="1488948" y="0"/>
                    <a:pt x="1625600" y="136652"/>
                    <a:pt x="1625600" y="305308"/>
                  </a:cubicBezTo>
                  <a:cubicBezTo>
                    <a:pt x="1625600" y="473964"/>
                    <a:pt x="1488948" y="610616"/>
                    <a:pt x="1320292" y="610616"/>
                  </a:cubicBezTo>
                  <a:lnTo>
                    <a:pt x="305308" y="610616"/>
                  </a:lnTo>
                  <a:cubicBezTo>
                    <a:pt x="136652" y="610616"/>
                    <a:pt x="0" y="473964"/>
                    <a:pt x="0" y="305308"/>
                  </a:cubicBezTo>
                  <a:close/>
                </a:path>
              </a:pathLst>
            </a:custGeom>
            <a:solidFill>
              <a:srgbClr val="13294A"/>
            </a:solidFill>
            <a:ln w="19050" cap="sq">
              <a:solidFill>
                <a:srgbClr val="FF4B5C"/>
              </a:solidFill>
              <a:prstDash val="solid"/>
              <a:miter/>
            </a:ln>
          </p:spPr>
        </p:sp>
      </p:grpSp>
      <p:grpSp>
        <p:nvGrpSpPr>
          <p:cNvPr name="Group 40" id="40"/>
          <p:cNvGrpSpPr/>
          <p:nvPr/>
        </p:nvGrpSpPr>
        <p:grpSpPr>
          <a:xfrm rot="0">
            <a:off x="6446520" y="3483864"/>
            <a:ext cx="1200150" cy="466344"/>
            <a:chOff x="0" y="0"/>
            <a:chExt cx="1600200" cy="621792"/>
          </a:xfrm>
        </p:grpSpPr>
        <p:sp>
          <p:nvSpPr>
            <p:cNvPr name="Freeform 41" id="41"/>
            <p:cNvSpPr/>
            <p:nvPr/>
          </p:nvSpPr>
          <p:spPr>
            <a:xfrm flipH="false" flipV="false" rot="0">
              <a:off x="0" y="0"/>
              <a:ext cx="1600200" cy="621792"/>
            </a:xfrm>
            <a:custGeom>
              <a:avLst/>
              <a:gdLst/>
              <a:ahLst/>
              <a:cxnLst/>
              <a:rect r="r" b="b" t="t" l="l"/>
              <a:pathLst>
                <a:path h="621792" w="1600200">
                  <a:moveTo>
                    <a:pt x="0" y="0"/>
                  </a:moveTo>
                  <a:lnTo>
                    <a:pt x="1600200" y="0"/>
                  </a:lnTo>
                  <a:lnTo>
                    <a:pt x="1600200" y="621792"/>
                  </a:lnTo>
                  <a:lnTo>
                    <a:pt x="0" y="621792"/>
                  </a:lnTo>
                  <a:close/>
                </a:path>
              </a:pathLst>
            </a:custGeom>
            <a:blipFill>
              <a:blip r:embed="rId2">
                <a:alphaModFix amt="0"/>
              </a:blip>
              <a:stretch>
                <a:fillRect l="0" t="-145" r="0" b="-145"/>
              </a:stretch>
            </a:blipFill>
          </p:spPr>
        </p:sp>
        <p:sp>
          <p:nvSpPr>
            <p:cNvPr name="TextBox 42" id="42"/>
            <p:cNvSpPr txBox="true"/>
            <p:nvPr/>
          </p:nvSpPr>
          <p:spPr>
            <a:xfrm>
              <a:off x="0" y="-38100"/>
              <a:ext cx="1600200" cy="659892"/>
            </a:xfrm>
            <a:prstGeom prst="rect">
              <a:avLst/>
            </a:prstGeom>
          </p:spPr>
          <p:txBody>
            <a:bodyPr anchor="ctr" rtlCol="false" tIns="0" lIns="0" bIns="0" rIns="0"/>
            <a:lstStyle/>
            <a:p>
              <a:pPr algn="ctr">
                <a:lnSpc>
                  <a:spcPts val="1800"/>
                </a:lnSpc>
              </a:pPr>
              <a:r>
                <a:rPr lang="en-US" sz="1500" b="true">
                  <a:solidFill>
                    <a:srgbClr val="FF4B5C"/>
                  </a:solidFill>
                  <a:latin typeface="Calibri (MS) Bold"/>
                  <a:ea typeface="Calibri (MS) Bold"/>
                  <a:cs typeface="Calibri (MS) Bold"/>
                  <a:sym typeface="Calibri (MS) Bold"/>
                </a:rPr>
                <a:t>flow_id</a:t>
              </a:r>
            </a:p>
          </p:txBody>
        </p:sp>
      </p:grpSp>
      <p:grpSp>
        <p:nvGrpSpPr>
          <p:cNvPr name="Group 43" id="43"/>
          <p:cNvGrpSpPr/>
          <p:nvPr/>
        </p:nvGrpSpPr>
        <p:grpSpPr>
          <a:xfrm rot="0">
            <a:off x="7884033" y="3488055"/>
            <a:ext cx="1452372" cy="457962"/>
            <a:chOff x="0" y="0"/>
            <a:chExt cx="1936496" cy="610616"/>
          </a:xfrm>
        </p:grpSpPr>
        <p:sp>
          <p:nvSpPr>
            <p:cNvPr name="Freeform 44" id="44"/>
            <p:cNvSpPr/>
            <p:nvPr/>
          </p:nvSpPr>
          <p:spPr>
            <a:xfrm flipH="false" flipV="false" rot="0">
              <a:off x="0" y="0"/>
              <a:ext cx="1936496" cy="610616"/>
            </a:xfrm>
            <a:custGeom>
              <a:avLst/>
              <a:gdLst/>
              <a:ahLst/>
              <a:cxnLst/>
              <a:rect r="r" b="b" t="t" l="l"/>
              <a:pathLst>
                <a:path h="610616" w="1936496">
                  <a:moveTo>
                    <a:pt x="0" y="305308"/>
                  </a:moveTo>
                  <a:cubicBezTo>
                    <a:pt x="0" y="136652"/>
                    <a:pt x="136652" y="0"/>
                    <a:pt x="305308" y="0"/>
                  </a:cubicBezTo>
                  <a:lnTo>
                    <a:pt x="1631188" y="0"/>
                  </a:lnTo>
                  <a:cubicBezTo>
                    <a:pt x="1799844" y="0"/>
                    <a:pt x="1936496" y="136652"/>
                    <a:pt x="1936496" y="305308"/>
                  </a:cubicBezTo>
                  <a:cubicBezTo>
                    <a:pt x="1936496" y="473964"/>
                    <a:pt x="1799844" y="610616"/>
                    <a:pt x="1631188" y="610616"/>
                  </a:cubicBezTo>
                  <a:lnTo>
                    <a:pt x="305308" y="610616"/>
                  </a:lnTo>
                  <a:cubicBezTo>
                    <a:pt x="136652" y="610616"/>
                    <a:pt x="0" y="473964"/>
                    <a:pt x="0" y="305308"/>
                  </a:cubicBezTo>
                  <a:close/>
                </a:path>
              </a:pathLst>
            </a:custGeom>
            <a:solidFill>
              <a:srgbClr val="13294A"/>
            </a:solidFill>
            <a:ln w="19050" cap="sq">
              <a:solidFill>
                <a:srgbClr val="FF4B5C"/>
              </a:solidFill>
              <a:prstDash val="solid"/>
              <a:miter/>
            </a:ln>
          </p:spPr>
        </p:sp>
      </p:grpSp>
      <p:grpSp>
        <p:nvGrpSpPr>
          <p:cNvPr name="Group 45" id="45"/>
          <p:cNvGrpSpPr/>
          <p:nvPr/>
        </p:nvGrpSpPr>
        <p:grpSpPr>
          <a:xfrm rot="0">
            <a:off x="7893558" y="3483864"/>
            <a:ext cx="1433322" cy="466344"/>
            <a:chOff x="0" y="0"/>
            <a:chExt cx="1911096" cy="621792"/>
          </a:xfrm>
        </p:grpSpPr>
        <p:sp>
          <p:nvSpPr>
            <p:cNvPr name="Freeform 46" id="46"/>
            <p:cNvSpPr/>
            <p:nvPr/>
          </p:nvSpPr>
          <p:spPr>
            <a:xfrm flipH="false" flipV="false" rot="0">
              <a:off x="0" y="0"/>
              <a:ext cx="1911096" cy="621792"/>
            </a:xfrm>
            <a:custGeom>
              <a:avLst/>
              <a:gdLst/>
              <a:ahLst/>
              <a:cxnLst/>
              <a:rect r="r" b="b" t="t" l="l"/>
              <a:pathLst>
                <a:path h="621792" w="1911096">
                  <a:moveTo>
                    <a:pt x="0" y="0"/>
                  </a:moveTo>
                  <a:lnTo>
                    <a:pt x="1911096" y="0"/>
                  </a:lnTo>
                  <a:lnTo>
                    <a:pt x="1911096" y="621792"/>
                  </a:lnTo>
                  <a:lnTo>
                    <a:pt x="0" y="621792"/>
                  </a:lnTo>
                  <a:close/>
                </a:path>
              </a:pathLst>
            </a:custGeom>
            <a:blipFill>
              <a:blip r:embed="rId2">
                <a:alphaModFix amt="0"/>
              </a:blip>
              <a:stretch>
                <a:fillRect l="0" t="-9887" r="0" b="-9887"/>
              </a:stretch>
            </a:blipFill>
          </p:spPr>
        </p:sp>
        <p:sp>
          <p:nvSpPr>
            <p:cNvPr name="TextBox 47" id="47"/>
            <p:cNvSpPr txBox="true"/>
            <p:nvPr/>
          </p:nvSpPr>
          <p:spPr>
            <a:xfrm>
              <a:off x="0" y="-38100"/>
              <a:ext cx="1911096" cy="659892"/>
            </a:xfrm>
            <a:prstGeom prst="rect">
              <a:avLst/>
            </a:prstGeom>
          </p:spPr>
          <p:txBody>
            <a:bodyPr anchor="ctr" rtlCol="false" tIns="0" lIns="0" bIns="0" rIns="0"/>
            <a:lstStyle/>
            <a:p>
              <a:pPr algn="ctr">
                <a:lnSpc>
                  <a:spcPts val="1800"/>
                </a:lnSpc>
              </a:pPr>
              <a:r>
                <a:rPr lang="en-US" sz="1500" b="true">
                  <a:solidFill>
                    <a:srgbClr val="FF4B5C"/>
                  </a:solidFill>
                  <a:latin typeface="Calibri (MS) Bold"/>
                  <a:ea typeface="Calibri (MS) Bold"/>
                  <a:cs typeface="Calibri (MS) Bold"/>
                  <a:sym typeface="Calibri (MS) Bold"/>
                </a:rPr>
                <a:t>source_ip</a:t>
              </a:r>
            </a:p>
          </p:txBody>
        </p:sp>
      </p:grpSp>
      <p:grpSp>
        <p:nvGrpSpPr>
          <p:cNvPr name="Group 48" id="48"/>
          <p:cNvGrpSpPr/>
          <p:nvPr/>
        </p:nvGrpSpPr>
        <p:grpSpPr>
          <a:xfrm rot="0">
            <a:off x="9564243" y="3488055"/>
            <a:ext cx="1102614" cy="457962"/>
            <a:chOff x="0" y="0"/>
            <a:chExt cx="1470152" cy="610616"/>
          </a:xfrm>
        </p:grpSpPr>
        <p:sp>
          <p:nvSpPr>
            <p:cNvPr name="Freeform 49" id="49"/>
            <p:cNvSpPr/>
            <p:nvPr/>
          </p:nvSpPr>
          <p:spPr>
            <a:xfrm flipH="false" flipV="false" rot="0">
              <a:off x="0" y="0"/>
              <a:ext cx="1470152" cy="610616"/>
            </a:xfrm>
            <a:custGeom>
              <a:avLst/>
              <a:gdLst/>
              <a:ahLst/>
              <a:cxnLst/>
              <a:rect r="r" b="b" t="t" l="l"/>
              <a:pathLst>
                <a:path h="610616" w="1470152">
                  <a:moveTo>
                    <a:pt x="0" y="305308"/>
                  </a:moveTo>
                  <a:cubicBezTo>
                    <a:pt x="0" y="136652"/>
                    <a:pt x="136652" y="0"/>
                    <a:pt x="305308" y="0"/>
                  </a:cubicBezTo>
                  <a:lnTo>
                    <a:pt x="1164844" y="0"/>
                  </a:lnTo>
                  <a:cubicBezTo>
                    <a:pt x="1333500" y="0"/>
                    <a:pt x="1470152" y="136652"/>
                    <a:pt x="1470152" y="305308"/>
                  </a:cubicBezTo>
                  <a:cubicBezTo>
                    <a:pt x="1470152" y="473964"/>
                    <a:pt x="1333500" y="610616"/>
                    <a:pt x="1164844" y="610616"/>
                  </a:cubicBezTo>
                  <a:lnTo>
                    <a:pt x="305308" y="610616"/>
                  </a:lnTo>
                  <a:cubicBezTo>
                    <a:pt x="136652" y="610616"/>
                    <a:pt x="0" y="473964"/>
                    <a:pt x="0" y="305308"/>
                  </a:cubicBezTo>
                  <a:close/>
                </a:path>
              </a:pathLst>
            </a:custGeom>
            <a:solidFill>
              <a:srgbClr val="13294A"/>
            </a:solidFill>
            <a:ln w="19050" cap="sq">
              <a:solidFill>
                <a:srgbClr val="FF4B5C"/>
              </a:solidFill>
              <a:prstDash val="solid"/>
              <a:miter/>
            </a:ln>
          </p:spPr>
        </p:sp>
      </p:grpSp>
      <p:grpSp>
        <p:nvGrpSpPr>
          <p:cNvPr name="Group 50" id="50"/>
          <p:cNvGrpSpPr/>
          <p:nvPr/>
        </p:nvGrpSpPr>
        <p:grpSpPr>
          <a:xfrm rot="0">
            <a:off x="9573768" y="3483864"/>
            <a:ext cx="1083564" cy="466344"/>
            <a:chOff x="0" y="0"/>
            <a:chExt cx="1444752" cy="621792"/>
          </a:xfrm>
        </p:grpSpPr>
        <p:sp>
          <p:nvSpPr>
            <p:cNvPr name="Freeform 51" id="51"/>
            <p:cNvSpPr/>
            <p:nvPr/>
          </p:nvSpPr>
          <p:spPr>
            <a:xfrm flipH="false" flipV="false" rot="0">
              <a:off x="0" y="0"/>
              <a:ext cx="1444752" cy="621792"/>
            </a:xfrm>
            <a:custGeom>
              <a:avLst/>
              <a:gdLst/>
              <a:ahLst/>
              <a:cxnLst/>
              <a:rect r="r" b="b" t="t" l="l"/>
              <a:pathLst>
                <a:path h="621792" w="1444752">
                  <a:moveTo>
                    <a:pt x="0" y="0"/>
                  </a:moveTo>
                  <a:lnTo>
                    <a:pt x="1444752" y="0"/>
                  </a:lnTo>
                  <a:lnTo>
                    <a:pt x="1444752" y="621792"/>
                  </a:lnTo>
                  <a:lnTo>
                    <a:pt x="0" y="621792"/>
                  </a:lnTo>
                  <a:close/>
                </a:path>
              </a:pathLst>
            </a:custGeom>
            <a:blipFill>
              <a:blip r:embed="rId2">
                <a:alphaModFix amt="0"/>
              </a:blip>
              <a:stretch>
                <a:fillRect l="-5219" t="0" r="-5219" b="0"/>
              </a:stretch>
            </a:blipFill>
          </p:spPr>
        </p:sp>
        <p:sp>
          <p:nvSpPr>
            <p:cNvPr name="TextBox 52" id="52"/>
            <p:cNvSpPr txBox="true"/>
            <p:nvPr/>
          </p:nvSpPr>
          <p:spPr>
            <a:xfrm>
              <a:off x="0" y="-38100"/>
              <a:ext cx="1444752" cy="659892"/>
            </a:xfrm>
            <a:prstGeom prst="rect">
              <a:avLst/>
            </a:prstGeom>
          </p:spPr>
          <p:txBody>
            <a:bodyPr anchor="ctr" rtlCol="false" tIns="0" lIns="0" bIns="0" rIns="0"/>
            <a:lstStyle/>
            <a:p>
              <a:pPr algn="ctr">
                <a:lnSpc>
                  <a:spcPts val="1800"/>
                </a:lnSpc>
              </a:pPr>
              <a:r>
                <a:rPr lang="en-US" sz="1500" b="true">
                  <a:solidFill>
                    <a:srgbClr val="FF4B5C"/>
                  </a:solidFill>
                  <a:latin typeface="Calibri (MS) Bold"/>
                  <a:ea typeface="Calibri (MS) Bold"/>
                  <a:cs typeface="Calibri (MS) Bold"/>
                  <a:sym typeface="Calibri (MS) Bold"/>
                </a:rPr>
                <a:t>src_ip</a:t>
              </a:r>
            </a:p>
          </p:txBody>
        </p:sp>
      </p:grpSp>
      <p:grpSp>
        <p:nvGrpSpPr>
          <p:cNvPr name="Group 53" id="53"/>
          <p:cNvGrpSpPr/>
          <p:nvPr/>
        </p:nvGrpSpPr>
        <p:grpSpPr>
          <a:xfrm rot="0">
            <a:off x="10894695" y="3488055"/>
            <a:ext cx="1685544" cy="457962"/>
            <a:chOff x="0" y="0"/>
            <a:chExt cx="2247392" cy="610616"/>
          </a:xfrm>
        </p:grpSpPr>
        <p:sp>
          <p:nvSpPr>
            <p:cNvPr name="Freeform 54" id="54"/>
            <p:cNvSpPr/>
            <p:nvPr/>
          </p:nvSpPr>
          <p:spPr>
            <a:xfrm flipH="false" flipV="false" rot="0">
              <a:off x="0" y="0"/>
              <a:ext cx="2247392" cy="610616"/>
            </a:xfrm>
            <a:custGeom>
              <a:avLst/>
              <a:gdLst/>
              <a:ahLst/>
              <a:cxnLst/>
              <a:rect r="r" b="b" t="t" l="l"/>
              <a:pathLst>
                <a:path h="610616" w="2247392">
                  <a:moveTo>
                    <a:pt x="0" y="305308"/>
                  </a:moveTo>
                  <a:cubicBezTo>
                    <a:pt x="0" y="136652"/>
                    <a:pt x="136652" y="0"/>
                    <a:pt x="305308" y="0"/>
                  </a:cubicBezTo>
                  <a:lnTo>
                    <a:pt x="1942084" y="0"/>
                  </a:lnTo>
                  <a:cubicBezTo>
                    <a:pt x="2110740" y="0"/>
                    <a:pt x="2247392" y="136652"/>
                    <a:pt x="2247392" y="305308"/>
                  </a:cubicBezTo>
                  <a:cubicBezTo>
                    <a:pt x="2247392" y="473964"/>
                    <a:pt x="2110740" y="610616"/>
                    <a:pt x="1942084" y="610616"/>
                  </a:cubicBezTo>
                  <a:lnTo>
                    <a:pt x="305308" y="610616"/>
                  </a:lnTo>
                  <a:cubicBezTo>
                    <a:pt x="136652" y="610616"/>
                    <a:pt x="0" y="473964"/>
                    <a:pt x="0" y="305308"/>
                  </a:cubicBezTo>
                  <a:close/>
                </a:path>
              </a:pathLst>
            </a:custGeom>
            <a:solidFill>
              <a:srgbClr val="13294A"/>
            </a:solidFill>
            <a:ln w="19050" cap="sq">
              <a:solidFill>
                <a:srgbClr val="FF4B5C"/>
              </a:solidFill>
              <a:prstDash val="solid"/>
              <a:miter/>
            </a:ln>
          </p:spPr>
        </p:sp>
      </p:grpSp>
      <p:grpSp>
        <p:nvGrpSpPr>
          <p:cNvPr name="Group 55" id="55"/>
          <p:cNvGrpSpPr/>
          <p:nvPr/>
        </p:nvGrpSpPr>
        <p:grpSpPr>
          <a:xfrm rot="0">
            <a:off x="10904220" y="3483864"/>
            <a:ext cx="1666494" cy="466344"/>
            <a:chOff x="0" y="0"/>
            <a:chExt cx="2221992" cy="621792"/>
          </a:xfrm>
        </p:grpSpPr>
        <p:sp>
          <p:nvSpPr>
            <p:cNvPr name="Freeform 56" id="56"/>
            <p:cNvSpPr/>
            <p:nvPr/>
          </p:nvSpPr>
          <p:spPr>
            <a:xfrm flipH="false" flipV="false" rot="0">
              <a:off x="0" y="0"/>
              <a:ext cx="2221992" cy="621792"/>
            </a:xfrm>
            <a:custGeom>
              <a:avLst/>
              <a:gdLst/>
              <a:ahLst/>
              <a:cxnLst/>
              <a:rect r="r" b="b" t="t" l="l"/>
              <a:pathLst>
                <a:path h="621792" w="2221992">
                  <a:moveTo>
                    <a:pt x="0" y="0"/>
                  </a:moveTo>
                  <a:lnTo>
                    <a:pt x="2221992" y="0"/>
                  </a:lnTo>
                  <a:lnTo>
                    <a:pt x="2221992" y="621792"/>
                  </a:lnTo>
                  <a:lnTo>
                    <a:pt x="0" y="621792"/>
                  </a:lnTo>
                  <a:close/>
                </a:path>
              </a:pathLst>
            </a:custGeom>
            <a:blipFill>
              <a:blip r:embed="rId2">
                <a:alphaModFix amt="0"/>
              </a:blip>
              <a:stretch>
                <a:fillRect l="0" t="-19630" r="0" b="-19630"/>
              </a:stretch>
            </a:blipFill>
          </p:spPr>
        </p:sp>
        <p:sp>
          <p:nvSpPr>
            <p:cNvPr name="TextBox 57" id="57"/>
            <p:cNvSpPr txBox="true"/>
            <p:nvPr/>
          </p:nvSpPr>
          <p:spPr>
            <a:xfrm>
              <a:off x="0" y="-38100"/>
              <a:ext cx="2221992" cy="659892"/>
            </a:xfrm>
            <a:prstGeom prst="rect">
              <a:avLst/>
            </a:prstGeom>
          </p:spPr>
          <p:txBody>
            <a:bodyPr anchor="ctr" rtlCol="false" tIns="0" lIns="0" bIns="0" rIns="0"/>
            <a:lstStyle/>
            <a:p>
              <a:pPr algn="ctr">
                <a:lnSpc>
                  <a:spcPts val="1800"/>
                </a:lnSpc>
              </a:pPr>
              <a:r>
                <a:rPr lang="en-US" sz="1500" b="true">
                  <a:solidFill>
                    <a:srgbClr val="FF4B5C"/>
                  </a:solidFill>
                  <a:latin typeface="Calibri (MS) Bold"/>
                  <a:ea typeface="Calibri (MS) Bold"/>
                  <a:cs typeface="Calibri (MS) Bold"/>
                  <a:sym typeface="Calibri (MS) Bold"/>
                </a:rPr>
                <a:t>source_port</a:t>
              </a:r>
            </a:p>
          </p:txBody>
        </p:sp>
      </p:grpSp>
      <p:grpSp>
        <p:nvGrpSpPr>
          <p:cNvPr name="Group 58" id="58"/>
          <p:cNvGrpSpPr/>
          <p:nvPr/>
        </p:nvGrpSpPr>
        <p:grpSpPr>
          <a:xfrm rot="0">
            <a:off x="12808077" y="3488055"/>
            <a:ext cx="1335786" cy="457962"/>
            <a:chOff x="0" y="0"/>
            <a:chExt cx="1781048" cy="610616"/>
          </a:xfrm>
        </p:grpSpPr>
        <p:sp>
          <p:nvSpPr>
            <p:cNvPr name="Freeform 59" id="59"/>
            <p:cNvSpPr/>
            <p:nvPr/>
          </p:nvSpPr>
          <p:spPr>
            <a:xfrm flipH="false" flipV="false" rot="0">
              <a:off x="0" y="0"/>
              <a:ext cx="1781048" cy="610616"/>
            </a:xfrm>
            <a:custGeom>
              <a:avLst/>
              <a:gdLst/>
              <a:ahLst/>
              <a:cxnLst/>
              <a:rect r="r" b="b" t="t" l="l"/>
              <a:pathLst>
                <a:path h="610616" w="1781048">
                  <a:moveTo>
                    <a:pt x="0" y="305308"/>
                  </a:moveTo>
                  <a:cubicBezTo>
                    <a:pt x="0" y="136652"/>
                    <a:pt x="136652" y="0"/>
                    <a:pt x="305308" y="0"/>
                  </a:cubicBezTo>
                  <a:lnTo>
                    <a:pt x="1475740" y="0"/>
                  </a:lnTo>
                  <a:cubicBezTo>
                    <a:pt x="1644396" y="0"/>
                    <a:pt x="1781048" y="136652"/>
                    <a:pt x="1781048" y="305308"/>
                  </a:cubicBezTo>
                  <a:cubicBezTo>
                    <a:pt x="1781048" y="473964"/>
                    <a:pt x="1644396" y="610616"/>
                    <a:pt x="1475740" y="610616"/>
                  </a:cubicBezTo>
                  <a:lnTo>
                    <a:pt x="305308" y="610616"/>
                  </a:lnTo>
                  <a:cubicBezTo>
                    <a:pt x="136652" y="610616"/>
                    <a:pt x="0" y="473964"/>
                    <a:pt x="0" y="305308"/>
                  </a:cubicBezTo>
                  <a:close/>
                </a:path>
              </a:pathLst>
            </a:custGeom>
            <a:solidFill>
              <a:srgbClr val="13294A"/>
            </a:solidFill>
            <a:ln w="19050" cap="sq">
              <a:solidFill>
                <a:srgbClr val="FF4B5C"/>
              </a:solidFill>
              <a:prstDash val="solid"/>
              <a:miter/>
            </a:ln>
          </p:spPr>
        </p:sp>
      </p:grpSp>
      <p:grpSp>
        <p:nvGrpSpPr>
          <p:cNvPr name="Group 60" id="60"/>
          <p:cNvGrpSpPr/>
          <p:nvPr/>
        </p:nvGrpSpPr>
        <p:grpSpPr>
          <a:xfrm rot="0">
            <a:off x="12817602" y="3483864"/>
            <a:ext cx="1316736" cy="466344"/>
            <a:chOff x="0" y="0"/>
            <a:chExt cx="1755648" cy="621792"/>
          </a:xfrm>
        </p:grpSpPr>
        <p:sp>
          <p:nvSpPr>
            <p:cNvPr name="Freeform 61" id="61"/>
            <p:cNvSpPr/>
            <p:nvPr/>
          </p:nvSpPr>
          <p:spPr>
            <a:xfrm flipH="false" flipV="false" rot="0">
              <a:off x="0" y="0"/>
              <a:ext cx="1755648" cy="621792"/>
            </a:xfrm>
            <a:custGeom>
              <a:avLst/>
              <a:gdLst/>
              <a:ahLst/>
              <a:cxnLst/>
              <a:rect r="r" b="b" t="t" l="l"/>
              <a:pathLst>
                <a:path h="621792" w="1755648">
                  <a:moveTo>
                    <a:pt x="0" y="0"/>
                  </a:moveTo>
                  <a:lnTo>
                    <a:pt x="1755648" y="0"/>
                  </a:lnTo>
                  <a:lnTo>
                    <a:pt x="1755648" y="621792"/>
                  </a:lnTo>
                  <a:lnTo>
                    <a:pt x="0" y="621792"/>
                  </a:lnTo>
                  <a:close/>
                </a:path>
              </a:pathLst>
            </a:custGeom>
            <a:blipFill>
              <a:blip r:embed="rId2">
                <a:alphaModFix amt="0"/>
              </a:blip>
              <a:stretch>
                <a:fillRect l="0" t="-5016" r="0" b="-5016"/>
              </a:stretch>
            </a:blipFill>
          </p:spPr>
        </p:sp>
        <p:sp>
          <p:nvSpPr>
            <p:cNvPr name="TextBox 62" id="62"/>
            <p:cNvSpPr txBox="true"/>
            <p:nvPr/>
          </p:nvSpPr>
          <p:spPr>
            <a:xfrm>
              <a:off x="0" y="-38100"/>
              <a:ext cx="1755648" cy="659892"/>
            </a:xfrm>
            <a:prstGeom prst="rect">
              <a:avLst/>
            </a:prstGeom>
          </p:spPr>
          <p:txBody>
            <a:bodyPr anchor="ctr" rtlCol="false" tIns="0" lIns="0" bIns="0" rIns="0"/>
            <a:lstStyle/>
            <a:p>
              <a:pPr algn="ctr">
                <a:lnSpc>
                  <a:spcPts val="1800"/>
                </a:lnSpc>
              </a:pPr>
              <a:r>
                <a:rPr lang="en-US" sz="1500" b="true">
                  <a:solidFill>
                    <a:srgbClr val="FF4B5C"/>
                  </a:solidFill>
                  <a:latin typeface="Calibri (MS) Bold"/>
                  <a:ea typeface="Calibri (MS) Bold"/>
                  <a:cs typeface="Calibri (MS) Bold"/>
                  <a:sym typeface="Calibri (MS) Bold"/>
                </a:rPr>
                <a:t>src_port</a:t>
              </a:r>
            </a:p>
          </p:txBody>
        </p:sp>
      </p:grpSp>
      <p:grpSp>
        <p:nvGrpSpPr>
          <p:cNvPr name="Group 63" id="63"/>
          <p:cNvGrpSpPr/>
          <p:nvPr/>
        </p:nvGrpSpPr>
        <p:grpSpPr>
          <a:xfrm rot="0">
            <a:off x="6436995" y="4146423"/>
            <a:ext cx="2035302" cy="457962"/>
            <a:chOff x="0" y="0"/>
            <a:chExt cx="2713736" cy="610616"/>
          </a:xfrm>
        </p:grpSpPr>
        <p:sp>
          <p:nvSpPr>
            <p:cNvPr name="Freeform 64" id="64"/>
            <p:cNvSpPr/>
            <p:nvPr/>
          </p:nvSpPr>
          <p:spPr>
            <a:xfrm flipH="false" flipV="false" rot="0">
              <a:off x="0" y="0"/>
              <a:ext cx="2713736" cy="610616"/>
            </a:xfrm>
            <a:custGeom>
              <a:avLst/>
              <a:gdLst/>
              <a:ahLst/>
              <a:cxnLst/>
              <a:rect r="r" b="b" t="t" l="l"/>
              <a:pathLst>
                <a:path h="610616" w="2713736">
                  <a:moveTo>
                    <a:pt x="0" y="305308"/>
                  </a:moveTo>
                  <a:cubicBezTo>
                    <a:pt x="0" y="136652"/>
                    <a:pt x="136652" y="0"/>
                    <a:pt x="305308" y="0"/>
                  </a:cubicBezTo>
                  <a:lnTo>
                    <a:pt x="2408428" y="0"/>
                  </a:lnTo>
                  <a:cubicBezTo>
                    <a:pt x="2577084" y="0"/>
                    <a:pt x="2713736" y="136652"/>
                    <a:pt x="2713736" y="305308"/>
                  </a:cubicBezTo>
                  <a:cubicBezTo>
                    <a:pt x="2713736" y="473964"/>
                    <a:pt x="2577084" y="610616"/>
                    <a:pt x="2408428" y="610616"/>
                  </a:cubicBezTo>
                  <a:lnTo>
                    <a:pt x="305308" y="610616"/>
                  </a:lnTo>
                  <a:cubicBezTo>
                    <a:pt x="136652" y="610616"/>
                    <a:pt x="0" y="473964"/>
                    <a:pt x="0" y="305308"/>
                  </a:cubicBezTo>
                  <a:close/>
                </a:path>
              </a:pathLst>
            </a:custGeom>
            <a:solidFill>
              <a:srgbClr val="13294A"/>
            </a:solidFill>
            <a:ln w="19050" cap="sq">
              <a:solidFill>
                <a:srgbClr val="FF4B5C"/>
              </a:solidFill>
              <a:prstDash val="solid"/>
              <a:miter/>
            </a:ln>
          </p:spPr>
        </p:sp>
      </p:grpSp>
      <p:grpSp>
        <p:nvGrpSpPr>
          <p:cNvPr name="Group 65" id="65"/>
          <p:cNvGrpSpPr/>
          <p:nvPr/>
        </p:nvGrpSpPr>
        <p:grpSpPr>
          <a:xfrm rot="0">
            <a:off x="6446520" y="4142232"/>
            <a:ext cx="2016252" cy="466344"/>
            <a:chOff x="0" y="0"/>
            <a:chExt cx="2688336" cy="621792"/>
          </a:xfrm>
        </p:grpSpPr>
        <p:sp>
          <p:nvSpPr>
            <p:cNvPr name="Freeform 66" id="66"/>
            <p:cNvSpPr/>
            <p:nvPr/>
          </p:nvSpPr>
          <p:spPr>
            <a:xfrm flipH="false" flipV="false" rot="0">
              <a:off x="0" y="0"/>
              <a:ext cx="2688336" cy="621792"/>
            </a:xfrm>
            <a:custGeom>
              <a:avLst/>
              <a:gdLst/>
              <a:ahLst/>
              <a:cxnLst/>
              <a:rect r="r" b="b" t="t" l="l"/>
              <a:pathLst>
                <a:path h="621792" w="2688336">
                  <a:moveTo>
                    <a:pt x="0" y="0"/>
                  </a:moveTo>
                  <a:lnTo>
                    <a:pt x="2688336" y="0"/>
                  </a:lnTo>
                  <a:lnTo>
                    <a:pt x="2688336" y="621792"/>
                  </a:lnTo>
                  <a:lnTo>
                    <a:pt x="0" y="621792"/>
                  </a:lnTo>
                  <a:close/>
                </a:path>
              </a:pathLst>
            </a:custGeom>
            <a:blipFill>
              <a:blip r:embed="rId2">
                <a:alphaModFix amt="0"/>
              </a:blip>
              <a:stretch>
                <a:fillRect l="0" t="-34244" r="0" b="-34244"/>
              </a:stretch>
            </a:blipFill>
          </p:spPr>
        </p:sp>
        <p:sp>
          <p:nvSpPr>
            <p:cNvPr name="TextBox 67" id="67"/>
            <p:cNvSpPr txBox="true"/>
            <p:nvPr/>
          </p:nvSpPr>
          <p:spPr>
            <a:xfrm>
              <a:off x="0" y="-38100"/>
              <a:ext cx="2688336" cy="659892"/>
            </a:xfrm>
            <a:prstGeom prst="rect">
              <a:avLst/>
            </a:prstGeom>
          </p:spPr>
          <p:txBody>
            <a:bodyPr anchor="ctr" rtlCol="false" tIns="0" lIns="0" bIns="0" rIns="0"/>
            <a:lstStyle/>
            <a:p>
              <a:pPr algn="ctr">
                <a:lnSpc>
                  <a:spcPts val="1800"/>
                </a:lnSpc>
              </a:pPr>
              <a:r>
                <a:rPr lang="en-US" sz="1500" b="true">
                  <a:solidFill>
                    <a:srgbClr val="FF4B5C"/>
                  </a:solidFill>
                  <a:latin typeface="Calibri (MS) Bold"/>
                  <a:ea typeface="Calibri (MS) Bold"/>
                  <a:cs typeface="Calibri (MS) Bold"/>
                  <a:sym typeface="Calibri (MS) Bold"/>
                </a:rPr>
                <a:t>destination_ip</a:t>
              </a:r>
            </a:p>
          </p:txBody>
        </p:sp>
      </p:grpSp>
      <p:grpSp>
        <p:nvGrpSpPr>
          <p:cNvPr name="Group 68" id="68"/>
          <p:cNvGrpSpPr/>
          <p:nvPr/>
        </p:nvGrpSpPr>
        <p:grpSpPr>
          <a:xfrm rot="0">
            <a:off x="8700135" y="4146423"/>
            <a:ext cx="1102614" cy="457962"/>
            <a:chOff x="0" y="0"/>
            <a:chExt cx="1470152" cy="610616"/>
          </a:xfrm>
        </p:grpSpPr>
        <p:sp>
          <p:nvSpPr>
            <p:cNvPr name="Freeform 69" id="69"/>
            <p:cNvSpPr/>
            <p:nvPr/>
          </p:nvSpPr>
          <p:spPr>
            <a:xfrm flipH="false" flipV="false" rot="0">
              <a:off x="0" y="0"/>
              <a:ext cx="1470152" cy="610616"/>
            </a:xfrm>
            <a:custGeom>
              <a:avLst/>
              <a:gdLst/>
              <a:ahLst/>
              <a:cxnLst/>
              <a:rect r="r" b="b" t="t" l="l"/>
              <a:pathLst>
                <a:path h="610616" w="1470152">
                  <a:moveTo>
                    <a:pt x="0" y="305308"/>
                  </a:moveTo>
                  <a:cubicBezTo>
                    <a:pt x="0" y="136652"/>
                    <a:pt x="136652" y="0"/>
                    <a:pt x="305308" y="0"/>
                  </a:cubicBezTo>
                  <a:lnTo>
                    <a:pt x="1164844" y="0"/>
                  </a:lnTo>
                  <a:cubicBezTo>
                    <a:pt x="1333500" y="0"/>
                    <a:pt x="1470152" y="136652"/>
                    <a:pt x="1470152" y="305308"/>
                  </a:cubicBezTo>
                  <a:cubicBezTo>
                    <a:pt x="1470152" y="473964"/>
                    <a:pt x="1333500" y="610616"/>
                    <a:pt x="1164844" y="610616"/>
                  </a:cubicBezTo>
                  <a:lnTo>
                    <a:pt x="305308" y="610616"/>
                  </a:lnTo>
                  <a:cubicBezTo>
                    <a:pt x="136652" y="610616"/>
                    <a:pt x="0" y="473964"/>
                    <a:pt x="0" y="305308"/>
                  </a:cubicBezTo>
                  <a:close/>
                </a:path>
              </a:pathLst>
            </a:custGeom>
            <a:solidFill>
              <a:srgbClr val="13294A"/>
            </a:solidFill>
            <a:ln w="19050" cap="sq">
              <a:solidFill>
                <a:srgbClr val="FF4B5C"/>
              </a:solidFill>
              <a:prstDash val="solid"/>
              <a:miter/>
            </a:ln>
          </p:spPr>
        </p:sp>
      </p:grpSp>
      <p:grpSp>
        <p:nvGrpSpPr>
          <p:cNvPr name="Group 70" id="70"/>
          <p:cNvGrpSpPr/>
          <p:nvPr/>
        </p:nvGrpSpPr>
        <p:grpSpPr>
          <a:xfrm rot="0">
            <a:off x="8709660" y="4142232"/>
            <a:ext cx="1083564" cy="466344"/>
            <a:chOff x="0" y="0"/>
            <a:chExt cx="1444752" cy="621792"/>
          </a:xfrm>
        </p:grpSpPr>
        <p:sp>
          <p:nvSpPr>
            <p:cNvPr name="Freeform 71" id="71"/>
            <p:cNvSpPr/>
            <p:nvPr/>
          </p:nvSpPr>
          <p:spPr>
            <a:xfrm flipH="false" flipV="false" rot="0">
              <a:off x="0" y="0"/>
              <a:ext cx="1444752" cy="621792"/>
            </a:xfrm>
            <a:custGeom>
              <a:avLst/>
              <a:gdLst/>
              <a:ahLst/>
              <a:cxnLst/>
              <a:rect r="r" b="b" t="t" l="l"/>
              <a:pathLst>
                <a:path h="621792" w="1444752">
                  <a:moveTo>
                    <a:pt x="0" y="0"/>
                  </a:moveTo>
                  <a:lnTo>
                    <a:pt x="1444752" y="0"/>
                  </a:lnTo>
                  <a:lnTo>
                    <a:pt x="1444752" y="621792"/>
                  </a:lnTo>
                  <a:lnTo>
                    <a:pt x="0" y="621792"/>
                  </a:lnTo>
                  <a:close/>
                </a:path>
              </a:pathLst>
            </a:custGeom>
            <a:blipFill>
              <a:blip r:embed="rId2">
                <a:alphaModFix amt="0"/>
              </a:blip>
              <a:stretch>
                <a:fillRect l="-5219" t="0" r="-5219" b="0"/>
              </a:stretch>
            </a:blipFill>
          </p:spPr>
        </p:sp>
        <p:sp>
          <p:nvSpPr>
            <p:cNvPr name="TextBox 72" id="72"/>
            <p:cNvSpPr txBox="true"/>
            <p:nvPr/>
          </p:nvSpPr>
          <p:spPr>
            <a:xfrm>
              <a:off x="0" y="-38100"/>
              <a:ext cx="1444752" cy="659892"/>
            </a:xfrm>
            <a:prstGeom prst="rect">
              <a:avLst/>
            </a:prstGeom>
          </p:spPr>
          <p:txBody>
            <a:bodyPr anchor="ctr" rtlCol="false" tIns="0" lIns="0" bIns="0" rIns="0"/>
            <a:lstStyle/>
            <a:p>
              <a:pPr algn="ctr">
                <a:lnSpc>
                  <a:spcPts val="1800"/>
                </a:lnSpc>
              </a:pPr>
              <a:r>
                <a:rPr lang="en-US" sz="1500" b="true">
                  <a:solidFill>
                    <a:srgbClr val="FF4B5C"/>
                  </a:solidFill>
                  <a:latin typeface="Calibri (MS) Bold"/>
                  <a:ea typeface="Calibri (MS) Bold"/>
                  <a:cs typeface="Calibri (MS) Bold"/>
                  <a:sym typeface="Calibri (MS) Bold"/>
                </a:rPr>
                <a:t>dst_ip</a:t>
              </a:r>
            </a:p>
          </p:txBody>
        </p:sp>
      </p:grpSp>
      <p:grpSp>
        <p:nvGrpSpPr>
          <p:cNvPr name="Group 73" id="73"/>
          <p:cNvGrpSpPr/>
          <p:nvPr/>
        </p:nvGrpSpPr>
        <p:grpSpPr>
          <a:xfrm rot="0">
            <a:off x="10030587" y="4146423"/>
            <a:ext cx="1452372" cy="457962"/>
            <a:chOff x="0" y="0"/>
            <a:chExt cx="1936496" cy="610616"/>
          </a:xfrm>
        </p:grpSpPr>
        <p:sp>
          <p:nvSpPr>
            <p:cNvPr name="Freeform 74" id="74"/>
            <p:cNvSpPr/>
            <p:nvPr/>
          </p:nvSpPr>
          <p:spPr>
            <a:xfrm flipH="false" flipV="false" rot="0">
              <a:off x="0" y="0"/>
              <a:ext cx="1936496" cy="610616"/>
            </a:xfrm>
            <a:custGeom>
              <a:avLst/>
              <a:gdLst/>
              <a:ahLst/>
              <a:cxnLst/>
              <a:rect r="r" b="b" t="t" l="l"/>
              <a:pathLst>
                <a:path h="610616" w="1936496">
                  <a:moveTo>
                    <a:pt x="0" y="305308"/>
                  </a:moveTo>
                  <a:cubicBezTo>
                    <a:pt x="0" y="136652"/>
                    <a:pt x="136652" y="0"/>
                    <a:pt x="305308" y="0"/>
                  </a:cubicBezTo>
                  <a:lnTo>
                    <a:pt x="1631188" y="0"/>
                  </a:lnTo>
                  <a:cubicBezTo>
                    <a:pt x="1799844" y="0"/>
                    <a:pt x="1936496" y="136652"/>
                    <a:pt x="1936496" y="305308"/>
                  </a:cubicBezTo>
                  <a:cubicBezTo>
                    <a:pt x="1936496" y="473964"/>
                    <a:pt x="1799844" y="610616"/>
                    <a:pt x="1631188" y="610616"/>
                  </a:cubicBezTo>
                  <a:lnTo>
                    <a:pt x="305308" y="610616"/>
                  </a:lnTo>
                  <a:cubicBezTo>
                    <a:pt x="136652" y="610616"/>
                    <a:pt x="0" y="473964"/>
                    <a:pt x="0" y="305308"/>
                  </a:cubicBezTo>
                  <a:close/>
                </a:path>
              </a:pathLst>
            </a:custGeom>
            <a:solidFill>
              <a:srgbClr val="13294A"/>
            </a:solidFill>
            <a:ln w="19050" cap="sq">
              <a:solidFill>
                <a:srgbClr val="FF4B5C"/>
              </a:solidFill>
              <a:prstDash val="solid"/>
              <a:miter/>
            </a:ln>
          </p:spPr>
        </p:sp>
      </p:grpSp>
      <p:grpSp>
        <p:nvGrpSpPr>
          <p:cNvPr name="Group 75" id="75"/>
          <p:cNvGrpSpPr/>
          <p:nvPr/>
        </p:nvGrpSpPr>
        <p:grpSpPr>
          <a:xfrm rot="0">
            <a:off x="10040112" y="4142232"/>
            <a:ext cx="1433322" cy="466344"/>
            <a:chOff x="0" y="0"/>
            <a:chExt cx="1911096" cy="621792"/>
          </a:xfrm>
        </p:grpSpPr>
        <p:sp>
          <p:nvSpPr>
            <p:cNvPr name="Freeform 76" id="76"/>
            <p:cNvSpPr/>
            <p:nvPr/>
          </p:nvSpPr>
          <p:spPr>
            <a:xfrm flipH="false" flipV="false" rot="0">
              <a:off x="0" y="0"/>
              <a:ext cx="1911096" cy="621792"/>
            </a:xfrm>
            <a:custGeom>
              <a:avLst/>
              <a:gdLst/>
              <a:ahLst/>
              <a:cxnLst/>
              <a:rect r="r" b="b" t="t" l="l"/>
              <a:pathLst>
                <a:path h="621792" w="1911096">
                  <a:moveTo>
                    <a:pt x="0" y="0"/>
                  </a:moveTo>
                  <a:lnTo>
                    <a:pt x="1911096" y="0"/>
                  </a:lnTo>
                  <a:lnTo>
                    <a:pt x="1911096" y="621792"/>
                  </a:lnTo>
                  <a:lnTo>
                    <a:pt x="0" y="621792"/>
                  </a:lnTo>
                  <a:close/>
                </a:path>
              </a:pathLst>
            </a:custGeom>
            <a:blipFill>
              <a:blip r:embed="rId2">
                <a:alphaModFix amt="0"/>
              </a:blip>
              <a:stretch>
                <a:fillRect l="0" t="-9887" r="0" b="-9887"/>
              </a:stretch>
            </a:blipFill>
          </p:spPr>
        </p:sp>
        <p:sp>
          <p:nvSpPr>
            <p:cNvPr name="TextBox 77" id="77"/>
            <p:cNvSpPr txBox="true"/>
            <p:nvPr/>
          </p:nvSpPr>
          <p:spPr>
            <a:xfrm>
              <a:off x="0" y="-38100"/>
              <a:ext cx="1911096" cy="659892"/>
            </a:xfrm>
            <a:prstGeom prst="rect">
              <a:avLst/>
            </a:prstGeom>
          </p:spPr>
          <p:txBody>
            <a:bodyPr anchor="ctr" rtlCol="false" tIns="0" lIns="0" bIns="0" rIns="0"/>
            <a:lstStyle/>
            <a:p>
              <a:pPr algn="ctr">
                <a:lnSpc>
                  <a:spcPts val="1800"/>
                </a:lnSpc>
              </a:pPr>
              <a:r>
                <a:rPr lang="en-US" sz="1500" b="true">
                  <a:solidFill>
                    <a:srgbClr val="FF4B5C"/>
                  </a:solidFill>
                  <a:latin typeface="Calibri (MS) Bold"/>
                  <a:ea typeface="Calibri (MS) Bold"/>
                  <a:cs typeface="Calibri (MS) Bold"/>
                  <a:sym typeface="Calibri (MS) Bold"/>
                </a:rPr>
                <a:t>timestamp</a:t>
              </a:r>
            </a:p>
          </p:txBody>
        </p:sp>
      </p:grpSp>
      <p:grpSp>
        <p:nvGrpSpPr>
          <p:cNvPr name="Group 78" id="78"/>
          <p:cNvGrpSpPr/>
          <p:nvPr/>
        </p:nvGrpSpPr>
        <p:grpSpPr>
          <a:xfrm rot="0">
            <a:off x="11710797" y="4146423"/>
            <a:ext cx="986028" cy="457962"/>
            <a:chOff x="0" y="0"/>
            <a:chExt cx="1314704" cy="610616"/>
          </a:xfrm>
        </p:grpSpPr>
        <p:sp>
          <p:nvSpPr>
            <p:cNvPr name="Freeform 79" id="79"/>
            <p:cNvSpPr/>
            <p:nvPr/>
          </p:nvSpPr>
          <p:spPr>
            <a:xfrm flipH="false" flipV="false" rot="0">
              <a:off x="0" y="0"/>
              <a:ext cx="1314704" cy="610616"/>
            </a:xfrm>
            <a:custGeom>
              <a:avLst/>
              <a:gdLst/>
              <a:ahLst/>
              <a:cxnLst/>
              <a:rect r="r" b="b" t="t" l="l"/>
              <a:pathLst>
                <a:path h="610616" w="1314704">
                  <a:moveTo>
                    <a:pt x="0" y="305308"/>
                  </a:moveTo>
                  <a:cubicBezTo>
                    <a:pt x="0" y="136652"/>
                    <a:pt x="136652" y="0"/>
                    <a:pt x="305308" y="0"/>
                  </a:cubicBezTo>
                  <a:lnTo>
                    <a:pt x="1009396" y="0"/>
                  </a:lnTo>
                  <a:cubicBezTo>
                    <a:pt x="1178052" y="0"/>
                    <a:pt x="1314704" y="136652"/>
                    <a:pt x="1314704" y="305308"/>
                  </a:cubicBezTo>
                  <a:cubicBezTo>
                    <a:pt x="1314704" y="473964"/>
                    <a:pt x="1178052" y="610616"/>
                    <a:pt x="1009396" y="610616"/>
                  </a:cubicBezTo>
                  <a:lnTo>
                    <a:pt x="305308" y="610616"/>
                  </a:lnTo>
                  <a:cubicBezTo>
                    <a:pt x="136652" y="610616"/>
                    <a:pt x="0" y="473964"/>
                    <a:pt x="0" y="305308"/>
                  </a:cubicBezTo>
                  <a:close/>
                </a:path>
              </a:pathLst>
            </a:custGeom>
            <a:solidFill>
              <a:srgbClr val="13294A"/>
            </a:solidFill>
            <a:ln w="19050" cap="sq">
              <a:solidFill>
                <a:srgbClr val="FF4B5C"/>
              </a:solidFill>
              <a:prstDash val="solid"/>
              <a:miter/>
            </a:ln>
          </p:spPr>
        </p:sp>
      </p:grpSp>
      <p:grpSp>
        <p:nvGrpSpPr>
          <p:cNvPr name="Group 80" id="80"/>
          <p:cNvGrpSpPr/>
          <p:nvPr/>
        </p:nvGrpSpPr>
        <p:grpSpPr>
          <a:xfrm rot="0">
            <a:off x="11720322" y="4142232"/>
            <a:ext cx="966978" cy="466344"/>
            <a:chOff x="0" y="0"/>
            <a:chExt cx="1289304" cy="621792"/>
          </a:xfrm>
        </p:grpSpPr>
        <p:sp>
          <p:nvSpPr>
            <p:cNvPr name="Freeform 81" id="81"/>
            <p:cNvSpPr/>
            <p:nvPr/>
          </p:nvSpPr>
          <p:spPr>
            <a:xfrm flipH="false" flipV="false" rot="0">
              <a:off x="0" y="0"/>
              <a:ext cx="1289304" cy="621792"/>
            </a:xfrm>
            <a:custGeom>
              <a:avLst/>
              <a:gdLst/>
              <a:ahLst/>
              <a:cxnLst/>
              <a:rect r="r" b="b" t="t" l="l"/>
              <a:pathLst>
                <a:path h="621792" w="1289304">
                  <a:moveTo>
                    <a:pt x="0" y="0"/>
                  </a:moveTo>
                  <a:lnTo>
                    <a:pt x="1289304" y="0"/>
                  </a:lnTo>
                  <a:lnTo>
                    <a:pt x="1289304" y="621792"/>
                  </a:lnTo>
                  <a:lnTo>
                    <a:pt x="0" y="621792"/>
                  </a:lnTo>
                  <a:close/>
                </a:path>
              </a:pathLst>
            </a:custGeom>
            <a:blipFill>
              <a:blip r:embed="rId2">
                <a:alphaModFix amt="0"/>
              </a:blip>
              <a:stretch>
                <a:fillRect l="-11876" t="0" r="-11876" b="0"/>
              </a:stretch>
            </a:blipFill>
          </p:spPr>
        </p:sp>
        <p:sp>
          <p:nvSpPr>
            <p:cNvPr name="TextBox 82" id="82"/>
            <p:cNvSpPr txBox="true"/>
            <p:nvPr/>
          </p:nvSpPr>
          <p:spPr>
            <a:xfrm>
              <a:off x="0" y="-38100"/>
              <a:ext cx="1289304" cy="659892"/>
            </a:xfrm>
            <a:prstGeom prst="rect">
              <a:avLst/>
            </a:prstGeom>
          </p:spPr>
          <p:txBody>
            <a:bodyPr anchor="ctr" rtlCol="false" tIns="0" lIns="0" bIns="0" rIns="0"/>
            <a:lstStyle/>
            <a:p>
              <a:pPr algn="ctr">
                <a:lnSpc>
                  <a:spcPts val="1800"/>
                </a:lnSpc>
              </a:pPr>
              <a:r>
                <a:rPr lang="en-US" sz="1500" b="true">
                  <a:solidFill>
                    <a:srgbClr val="FF4B5C"/>
                  </a:solidFill>
                  <a:latin typeface="Calibri (MS) Bold"/>
                  <a:ea typeface="Calibri (MS) Bold"/>
                  <a:cs typeface="Calibri (MS) Bold"/>
                  <a:sym typeface="Calibri (MS) Bold"/>
                </a:rPr>
                <a:t>label</a:t>
              </a:r>
            </a:p>
          </p:txBody>
        </p:sp>
      </p:grpSp>
      <p:grpSp>
        <p:nvGrpSpPr>
          <p:cNvPr name="Group 83" id="83"/>
          <p:cNvGrpSpPr/>
          <p:nvPr/>
        </p:nvGrpSpPr>
        <p:grpSpPr>
          <a:xfrm rot="0">
            <a:off x="12924663" y="4146423"/>
            <a:ext cx="1452372" cy="457962"/>
            <a:chOff x="0" y="0"/>
            <a:chExt cx="1936496" cy="610616"/>
          </a:xfrm>
        </p:grpSpPr>
        <p:sp>
          <p:nvSpPr>
            <p:cNvPr name="Freeform 84" id="84"/>
            <p:cNvSpPr/>
            <p:nvPr/>
          </p:nvSpPr>
          <p:spPr>
            <a:xfrm flipH="false" flipV="false" rot="0">
              <a:off x="0" y="0"/>
              <a:ext cx="1936496" cy="610616"/>
            </a:xfrm>
            <a:custGeom>
              <a:avLst/>
              <a:gdLst/>
              <a:ahLst/>
              <a:cxnLst/>
              <a:rect r="r" b="b" t="t" l="l"/>
              <a:pathLst>
                <a:path h="610616" w="1936496">
                  <a:moveTo>
                    <a:pt x="0" y="305308"/>
                  </a:moveTo>
                  <a:cubicBezTo>
                    <a:pt x="0" y="136652"/>
                    <a:pt x="136652" y="0"/>
                    <a:pt x="305308" y="0"/>
                  </a:cubicBezTo>
                  <a:lnTo>
                    <a:pt x="1631188" y="0"/>
                  </a:lnTo>
                  <a:cubicBezTo>
                    <a:pt x="1799844" y="0"/>
                    <a:pt x="1936496" y="136652"/>
                    <a:pt x="1936496" y="305308"/>
                  </a:cubicBezTo>
                  <a:cubicBezTo>
                    <a:pt x="1936496" y="473964"/>
                    <a:pt x="1799844" y="610616"/>
                    <a:pt x="1631188" y="610616"/>
                  </a:cubicBezTo>
                  <a:lnTo>
                    <a:pt x="305308" y="610616"/>
                  </a:lnTo>
                  <a:cubicBezTo>
                    <a:pt x="136652" y="610616"/>
                    <a:pt x="0" y="473964"/>
                    <a:pt x="0" y="305308"/>
                  </a:cubicBezTo>
                  <a:close/>
                </a:path>
              </a:pathLst>
            </a:custGeom>
            <a:solidFill>
              <a:srgbClr val="13294A"/>
            </a:solidFill>
            <a:ln w="19050" cap="sq">
              <a:solidFill>
                <a:srgbClr val="FF4B5C"/>
              </a:solidFill>
              <a:prstDash val="solid"/>
              <a:miter/>
            </a:ln>
          </p:spPr>
        </p:sp>
      </p:grpSp>
      <p:grpSp>
        <p:nvGrpSpPr>
          <p:cNvPr name="Group 85" id="85"/>
          <p:cNvGrpSpPr/>
          <p:nvPr/>
        </p:nvGrpSpPr>
        <p:grpSpPr>
          <a:xfrm rot="0">
            <a:off x="12934188" y="4142232"/>
            <a:ext cx="1433322" cy="466344"/>
            <a:chOff x="0" y="0"/>
            <a:chExt cx="1911096" cy="621792"/>
          </a:xfrm>
        </p:grpSpPr>
        <p:sp>
          <p:nvSpPr>
            <p:cNvPr name="Freeform 86" id="86"/>
            <p:cNvSpPr/>
            <p:nvPr/>
          </p:nvSpPr>
          <p:spPr>
            <a:xfrm flipH="false" flipV="false" rot="0">
              <a:off x="0" y="0"/>
              <a:ext cx="1911096" cy="621792"/>
            </a:xfrm>
            <a:custGeom>
              <a:avLst/>
              <a:gdLst/>
              <a:ahLst/>
              <a:cxnLst/>
              <a:rect r="r" b="b" t="t" l="l"/>
              <a:pathLst>
                <a:path h="621792" w="1911096">
                  <a:moveTo>
                    <a:pt x="0" y="0"/>
                  </a:moveTo>
                  <a:lnTo>
                    <a:pt x="1911096" y="0"/>
                  </a:lnTo>
                  <a:lnTo>
                    <a:pt x="1911096" y="621792"/>
                  </a:lnTo>
                  <a:lnTo>
                    <a:pt x="0" y="621792"/>
                  </a:lnTo>
                  <a:close/>
                </a:path>
              </a:pathLst>
            </a:custGeom>
            <a:blipFill>
              <a:blip r:embed="rId2">
                <a:alphaModFix amt="0"/>
              </a:blip>
              <a:stretch>
                <a:fillRect l="0" t="-9887" r="0" b="-9887"/>
              </a:stretch>
            </a:blipFill>
          </p:spPr>
        </p:sp>
        <p:sp>
          <p:nvSpPr>
            <p:cNvPr name="TextBox 87" id="87"/>
            <p:cNvSpPr txBox="true"/>
            <p:nvPr/>
          </p:nvSpPr>
          <p:spPr>
            <a:xfrm>
              <a:off x="0" y="-38100"/>
              <a:ext cx="1911096" cy="659892"/>
            </a:xfrm>
            <a:prstGeom prst="rect">
              <a:avLst/>
            </a:prstGeom>
          </p:spPr>
          <p:txBody>
            <a:bodyPr anchor="ctr" rtlCol="false" tIns="0" lIns="0" bIns="0" rIns="0"/>
            <a:lstStyle/>
            <a:p>
              <a:pPr algn="ctr">
                <a:lnSpc>
                  <a:spcPts val="1800"/>
                </a:lnSpc>
              </a:pPr>
              <a:r>
                <a:rPr lang="en-US" sz="1500" b="true">
                  <a:solidFill>
                    <a:srgbClr val="FF4B5C"/>
                  </a:solidFill>
                  <a:latin typeface="Calibri (MS) Bold"/>
                  <a:ea typeface="Calibri (MS) Bold"/>
                  <a:cs typeface="Calibri (MS) Bold"/>
                  <a:sym typeface="Calibri (MS) Bold"/>
                </a:rPr>
                <a:t>is_attack</a:t>
              </a:r>
            </a:p>
          </p:txBody>
        </p:sp>
      </p:grpSp>
      <p:grpSp>
        <p:nvGrpSpPr>
          <p:cNvPr name="Group 88" id="88"/>
          <p:cNvGrpSpPr/>
          <p:nvPr/>
        </p:nvGrpSpPr>
        <p:grpSpPr>
          <a:xfrm rot="0">
            <a:off x="6446520" y="4800600"/>
            <a:ext cx="10149840" cy="548640"/>
            <a:chOff x="0" y="0"/>
            <a:chExt cx="13533120" cy="731520"/>
          </a:xfrm>
        </p:grpSpPr>
        <p:sp>
          <p:nvSpPr>
            <p:cNvPr name="Freeform 89" id="89"/>
            <p:cNvSpPr/>
            <p:nvPr/>
          </p:nvSpPr>
          <p:spPr>
            <a:xfrm flipH="false" flipV="false" rot="0">
              <a:off x="0" y="0"/>
              <a:ext cx="13533120" cy="731520"/>
            </a:xfrm>
            <a:custGeom>
              <a:avLst/>
              <a:gdLst/>
              <a:ahLst/>
              <a:cxnLst/>
              <a:rect r="r" b="b" t="t" l="l"/>
              <a:pathLst>
                <a:path h="731520" w="13533120">
                  <a:moveTo>
                    <a:pt x="0" y="0"/>
                  </a:moveTo>
                  <a:lnTo>
                    <a:pt x="13533120" y="0"/>
                  </a:lnTo>
                  <a:lnTo>
                    <a:pt x="13533120" y="731520"/>
                  </a:lnTo>
                  <a:lnTo>
                    <a:pt x="0" y="731520"/>
                  </a:lnTo>
                  <a:close/>
                </a:path>
              </a:pathLst>
            </a:custGeom>
            <a:blipFill>
              <a:blip r:embed="rId2">
                <a:alphaModFix amt="0"/>
              </a:blip>
              <a:stretch>
                <a:fillRect l="0" t="-310473" r="0" b="-310473"/>
              </a:stretch>
            </a:blipFill>
          </p:spPr>
        </p:sp>
        <p:sp>
          <p:nvSpPr>
            <p:cNvPr name="TextBox 90" id="90"/>
            <p:cNvSpPr txBox="true"/>
            <p:nvPr/>
          </p:nvSpPr>
          <p:spPr>
            <a:xfrm>
              <a:off x="0" y="-38100"/>
              <a:ext cx="13533120" cy="769620"/>
            </a:xfrm>
            <a:prstGeom prst="rect">
              <a:avLst/>
            </a:prstGeom>
          </p:spPr>
          <p:txBody>
            <a:bodyPr anchor="ctr" rtlCol="false" tIns="0" lIns="0" bIns="0" rIns="0"/>
            <a:lstStyle/>
            <a:p>
              <a:pPr algn="l" marL="0" indent="0" lvl="0">
                <a:lnSpc>
                  <a:spcPts val="1800"/>
                </a:lnSpc>
                <a:spcBef>
                  <a:spcPct val="0"/>
                </a:spcBef>
              </a:pPr>
              <a:r>
                <a:rPr lang="en-US" sz="1500" i="true" strike="noStrike" u="none">
                  <a:solidFill>
                    <a:srgbClr val="9FB0C9"/>
                  </a:solidFill>
                  <a:latin typeface="Calibri (MS) Italics"/>
                  <a:ea typeface="Calibri (MS) Italics"/>
                  <a:cs typeface="Calibri (MS) Italics"/>
                  <a:sym typeface="Calibri (MS) Italics"/>
                </a:rPr>
                <a:t>Exclusion explicite de colonnes — même si les données brutes atteignent l’extraction des variables avec des colonnes inattendues, les champs sensibles sont supprimés.</a:t>
              </a:r>
            </a:p>
          </p:txBody>
        </p:sp>
      </p:grpSp>
      <p:grpSp>
        <p:nvGrpSpPr>
          <p:cNvPr name="Group 91" id="91"/>
          <p:cNvGrpSpPr/>
          <p:nvPr/>
        </p:nvGrpSpPr>
        <p:grpSpPr>
          <a:xfrm rot="0">
            <a:off x="6025515" y="5614035"/>
            <a:ext cx="10923270" cy="2899410"/>
            <a:chOff x="0" y="0"/>
            <a:chExt cx="14564360" cy="3865880"/>
          </a:xfrm>
        </p:grpSpPr>
        <p:sp>
          <p:nvSpPr>
            <p:cNvPr name="Freeform 92" id="92"/>
            <p:cNvSpPr/>
            <p:nvPr/>
          </p:nvSpPr>
          <p:spPr>
            <a:xfrm flipH="false" flipV="false" rot="0">
              <a:off x="0" y="0"/>
              <a:ext cx="14564359" cy="3865880"/>
            </a:xfrm>
            <a:custGeom>
              <a:avLst/>
              <a:gdLst/>
              <a:ahLst/>
              <a:cxnLst/>
              <a:rect r="r" b="b" t="t" l="l"/>
              <a:pathLst>
                <a:path h="3865880" w="14564359">
                  <a:moveTo>
                    <a:pt x="0" y="147320"/>
                  </a:moveTo>
                  <a:cubicBezTo>
                    <a:pt x="0" y="65913"/>
                    <a:pt x="65913" y="0"/>
                    <a:pt x="147320" y="0"/>
                  </a:cubicBezTo>
                  <a:lnTo>
                    <a:pt x="14417039" y="0"/>
                  </a:lnTo>
                  <a:cubicBezTo>
                    <a:pt x="14498447" y="0"/>
                    <a:pt x="14564359" y="65913"/>
                    <a:pt x="14564359" y="147320"/>
                  </a:cubicBezTo>
                  <a:lnTo>
                    <a:pt x="14564359" y="3718560"/>
                  </a:lnTo>
                  <a:cubicBezTo>
                    <a:pt x="14564359" y="3799967"/>
                    <a:pt x="14498447" y="3865880"/>
                    <a:pt x="14417039" y="3865880"/>
                  </a:cubicBezTo>
                  <a:lnTo>
                    <a:pt x="147320" y="3865880"/>
                  </a:lnTo>
                  <a:cubicBezTo>
                    <a:pt x="65913" y="3865880"/>
                    <a:pt x="0" y="3799967"/>
                    <a:pt x="0" y="3718560"/>
                  </a:cubicBezTo>
                  <a:close/>
                </a:path>
              </a:pathLst>
            </a:custGeom>
            <a:solidFill>
              <a:srgbClr val="0F2038"/>
            </a:solidFill>
            <a:ln w="19050" cap="sq">
              <a:solidFill>
                <a:srgbClr val="1E3358"/>
              </a:solidFill>
              <a:prstDash val="solid"/>
              <a:miter/>
            </a:ln>
          </p:spPr>
        </p:sp>
      </p:grpSp>
      <p:grpSp>
        <p:nvGrpSpPr>
          <p:cNvPr name="Group 93" id="93"/>
          <p:cNvGrpSpPr/>
          <p:nvPr/>
        </p:nvGrpSpPr>
        <p:grpSpPr>
          <a:xfrm rot="0">
            <a:off x="6446520" y="5897880"/>
            <a:ext cx="10149840" cy="411480"/>
            <a:chOff x="0" y="0"/>
            <a:chExt cx="13533120" cy="548640"/>
          </a:xfrm>
        </p:grpSpPr>
        <p:sp>
          <p:nvSpPr>
            <p:cNvPr name="Freeform 94" id="94"/>
            <p:cNvSpPr/>
            <p:nvPr/>
          </p:nvSpPr>
          <p:spPr>
            <a:xfrm flipH="false" flipV="false" rot="0">
              <a:off x="0" y="0"/>
              <a:ext cx="13533120" cy="548640"/>
            </a:xfrm>
            <a:custGeom>
              <a:avLst/>
              <a:gdLst/>
              <a:ahLst/>
              <a:cxnLst/>
              <a:rect r="r" b="b" t="t" l="l"/>
              <a:pathLst>
                <a:path h="548640" w="13533120">
                  <a:moveTo>
                    <a:pt x="0" y="0"/>
                  </a:moveTo>
                  <a:lnTo>
                    <a:pt x="13533120" y="0"/>
                  </a:lnTo>
                  <a:lnTo>
                    <a:pt x="13533120" y="548640"/>
                  </a:lnTo>
                  <a:lnTo>
                    <a:pt x="0" y="548640"/>
                  </a:lnTo>
                  <a:close/>
                </a:path>
              </a:pathLst>
            </a:custGeom>
            <a:blipFill>
              <a:blip r:embed="rId2">
                <a:alphaModFix amt="0"/>
              </a:blip>
              <a:stretch>
                <a:fillRect l="0" t="-430630" r="0" b="-430630"/>
              </a:stretch>
            </a:blipFill>
          </p:spPr>
        </p:sp>
        <p:sp>
          <p:nvSpPr>
            <p:cNvPr name="TextBox 95" id="95"/>
            <p:cNvSpPr txBox="true"/>
            <p:nvPr/>
          </p:nvSpPr>
          <p:spPr>
            <a:xfrm>
              <a:off x="0" y="-19050"/>
              <a:ext cx="13533120" cy="567690"/>
            </a:xfrm>
            <a:prstGeom prst="rect">
              <a:avLst/>
            </a:prstGeom>
          </p:spPr>
          <p:txBody>
            <a:bodyPr anchor="ctr" rtlCol="false" tIns="0" lIns="0" bIns="0" rIns="0"/>
            <a:lstStyle/>
            <a:p>
              <a:pPr algn="l" marL="0" indent="0" lvl="0">
                <a:lnSpc>
                  <a:spcPts val="1889"/>
                </a:lnSpc>
                <a:spcBef>
                  <a:spcPct val="0"/>
                </a:spcBef>
              </a:pPr>
              <a:r>
                <a:rPr lang="en-US" b="true" sz="1575" spc="150" strike="noStrike" u="none">
                  <a:solidFill>
                    <a:srgbClr val="00E5C7"/>
                  </a:solidFill>
                  <a:latin typeface="Calibri (MS) Bold"/>
                  <a:ea typeface="Calibri (MS) Bold"/>
                  <a:cs typeface="Calibri (MS) Bold"/>
                  <a:sym typeface="Calibri (MS) Bold"/>
                </a:rPr>
                <a:t>CRITÈRES DE SÉLECTION DES 33 VARIABLES</a:t>
              </a:r>
            </a:p>
          </p:txBody>
        </p:sp>
      </p:grpSp>
      <p:sp>
        <p:nvSpPr>
          <p:cNvPr name="TextBox 96" id="96"/>
          <p:cNvSpPr txBox="true"/>
          <p:nvPr/>
        </p:nvSpPr>
        <p:spPr>
          <a:xfrm rot="0">
            <a:off x="6446520" y="6311265"/>
            <a:ext cx="10149840" cy="913067"/>
          </a:xfrm>
          <a:prstGeom prst="rect">
            <a:avLst/>
          </a:prstGeom>
        </p:spPr>
        <p:txBody>
          <a:bodyPr anchor="t" rtlCol="false" tIns="0" lIns="0" bIns="0" rIns="0">
            <a:spAutoFit/>
          </a:bodyPr>
          <a:lstStyle/>
          <a:p>
            <a:pPr algn="l" marL="312182" indent="-156091" lvl="1">
              <a:lnSpc>
                <a:spcPts val="2380"/>
              </a:lnSpc>
              <a:spcBef>
                <a:spcPct val="0"/>
              </a:spcBef>
              <a:buFont typeface="Arial"/>
              <a:buChar char="•"/>
            </a:pPr>
            <a:r>
              <a:rPr lang="en-US" sz="1725" strike="noStrike" u="none">
                <a:solidFill>
                  <a:srgbClr val="9FB0C9"/>
                </a:solidFill>
                <a:latin typeface="Calibri (MS)"/>
                <a:ea typeface="Calibri (MS)"/>
                <a:cs typeface="Calibri (MS)"/>
                <a:sym typeface="Calibri (MS)"/>
              </a:rPr>
              <a:t>Statistiques de paquets, temps inter-arrivées, indicateurs TCP, métriques au niveau des flux</a:t>
            </a:r>
          </a:p>
          <a:p>
            <a:pPr algn="l" marL="312182" indent="-156091" lvl="1">
              <a:lnSpc>
                <a:spcPts val="2380"/>
              </a:lnSpc>
              <a:spcBef>
                <a:spcPct val="0"/>
              </a:spcBef>
              <a:buFont typeface="Arial"/>
              <a:buChar char="•"/>
            </a:pPr>
            <a:r>
              <a:rPr lang="en-US" sz="1725" strike="noStrike" u="none">
                <a:solidFill>
                  <a:srgbClr val="9FB0C9"/>
                </a:solidFill>
                <a:latin typeface="Calibri (MS)"/>
                <a:ea typeface="Calibri (MS)"/>
                <a:cs typeface="Calibri (MS)"/>
                <a:sym typeface="Calibri (MS)"/>
              </a:rPr>
              <a:t>L’analyse de corrélation supprime les variables redondantes et fortement corrélées</a:t>
            </a:r>
          </a:p>
          <a:p>
            <a:pPr algn="l" marL="312182" indent="-156091" lvl="1">
              <a:lnSpc>
                <a:spcPts val="2380"/>
              </a:lnSpc>
              <a:spcBef>
                <a:spcPct val="0"/>
              </a:spcBef>
              <a:buFont typeface="Arial"/>
              <a:buChar char="•"/>
            </a:pPr>
            <a:r>
              <a:rPr lang="en-US" sz="1725" strike="noStrike" u="none">
                <a:solidFill>
                  <a:srgbClr val="9FB0C9"/>
                </a:solidFill>
                <a:latin typeface="Calibri (MS)"/>
                <a:ea typeface="Calibri (MS)"/>
                <a:cs typeface="Calibri (MS)"/>
                <a:sym typeface="Calibri (MS)"/>
              </a:rPr>
              <a:t>Guidée par l’analyse exploratoire de la séparation entre variables d’attaques et variables bénignes</a:t>
            </a:r>
          </a:p>
        </p:txBody>
      </p:sp>
      <p:grpSp>
        <p:nvGrpSpPr>
          <p:cNvPr name="Group 97" id="97"/>
          <p:cNvGrpSpPr/>
          <p:nvPr/>
        </p:nvGrpSpPr>
        <p:grpSpPr>
          <a:xfrm rot="0">
            <a:off x="685800" y="9710928"/>
            <a:ext cx="10972800" cy="411480"/>
            <a:chOff x="0" y="0"/>
            <a:chExt cx="14630400" cy="548640"/>
          </a:xfrm>
        </p:grpSpPr>
        <p:sp>
          <p:nvSpPr>
            <p:cNvPr name="Freeform 98" id="9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99" id="99"/>
            <p:cNvSpPr txBox="true"/>
            <p:nvPr/>
          </p:nvSpPr>
          <p:spPr>
            <a:xfrm>
              <a:off x="0" y="-28575"/>
              <a:ext cx="14630400" cy="577215"/>
            </a:xfrm>
            <a:prstGeom prst="rect">
              <a:avLst/>
            </a:prstGeom>
          </p:spPr>
          <p:txBody>
            <a:bodyPr anchor="ctr" rtlCol="false" tIns="0" lIns="0" bIns="0" rIns="0"/>
            <a:lstStyle/>
            <a:p>
              <a:pPr algn="l" marL="0" indent="0" lvl="0">
                <a:lnSpc>
                  <a:spcPts val="1620"/>
                </a:lnSpc>
                <a:spcBef>
                  <a:spcPct val="0"/>
                </a:spcBef>
              </a:pPr>
              <a:r>
                <a:rPr lang="en-US" sz="1350" spc="149" strike="noStrike" u="none">
                  <a:solidFill>
                    <a:srgbClr val="6E84A6"/>
                  </a:solidFill>
                  <a:latin typeface="Calibri (MS)"/>
                  <a:ea typeface="Calibri (MS)"/>
                  <a:cs typeface="Calibri (MS)"/>
                  <a:sym typeface="Calibri (MS)"/>
                </a:rPr>
                <a:t>PLATEFORME MLSECOPS · INGÉNIERIE ML &amp; EXPÉRIMENTATIONS</a:t>
              </a:r>
            </a:p>
          </p:txBody>
        </p:sp>
      </p:grpSp>
      <p:grpSp>
        <p:nvGrpSpPr>
          <p:cNvPr name="Group 100" id="100"/>
          <p:cNvGrpSpPr/>
          <p:nvPr/>
        </p:nvGrpSpPr>
        <p:grpSpPr>
          <a:xfrm rot="0">
            <a:off x="16500348" y="9710928"/>
            <a:ext cx="1097280" cy="411480"/>
            <a:chOff x="0" y="0"/>
            <a:chExt cx="1463040" cy="548640"/>
          </a:xfrm>
        </p:grpSpPr>
        <p:sp>
          <p:nvSpPr>
            <p:cNvPr name="Freeform 101" id="101"/>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102" id="102"/>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17 / 32</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marL="0" indent="0" lvl="0">
                <a:lnSpc>
                  <a:spcPts val="2250"/>
                </a:lnSpc>
                <a:spcBef>
                  <a:spcPct val="0"/>
                </a:spcBef>
              </a:pPr>
              <a:r>
                <a:rPr lang="en-US" b="true" sz="1875" spc="300" strike="noStrike" u="none">
                  <a:solidFill>
                    <a:srgbClr val="00E5C7"/>
                  </a:solidFill>
                  <a:latin typeface="Calibri (MS) Bold"/>
                  <a:ea typeface="Calibri (MS) Bold"/>
                  <a:cs typeface="Calibri (MS) Bold"/>
                  <a:sym typeface="Calibri (MS) Bold"/>
                </a:rPr>
                <a:t>INGÉNIERIE ML &amp; EXPÉRIMENTATIONS</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marL="0" indent="0" lvl="0">
                <a:lnSpc>
                  <a:spcPts val="1800"/>
                </a:lnSpc>
                <a:spcBef>
                  <a:spcPct val="0"/>
                </a:spcBef>
              </a:pPr>
              <a:r>
                <a:rPr lang="en-US" b="true" sz="1500" spc="225" strike="noStrike" u="none">
                  <a:solidFill>
                    <a:srgbClr val="00E5C7"/>
                  </a:solidFill>
                  <a:latin typeface="Calibri (MS) Bold"/>
                  <a:ea typeface="Calibri (MS) Bold"/>
                  <a:cs typeface="Calibri (MS) Bold"/>
                  <a:sym typeface="Calibri (MS) Bold"/>
                </a:rPr>
                <a:t>INTERVENANT 5</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marL="0" indent="0" lvl="0">
                <a:lnSpc>
                  <a:spcPts val="1889"/>
                </a:lnSpc>
                <a:spcBef>
                  <a:spcPct val="0"/>
                </a:spcBef>
              </a:pPr>
              <a:r>
                <a:rPr lang="en-US" sz="1575" strike="noStrike" u="none">
                  <a:solidFill>
                    <a:srgbClr val="9FB0C9"/>
                  </a:solidFill>
                  <a:latin typeface="Calibri (MS)"/>
                  <a:ea typeface="Calibri (MS)"/>
                  <a:cs typeface="Calibri (MS)"/>
                  <a:sym typeface="Calibri (MS)"/>
                </a:rPr>
                <a:t>Abderrahamane Hassani — Ingénieur ML</a:t>
              </a:r>
            </a:p>
          </p:txBody>
        </p:sp>
      </p:grpSp>
      <p:grpSp>
        <p:nvGrpSpPr>
          <p:cNvPr name="Group 11" id="11"/>
          <p:cNvGrpSpPr/>
          <p:nvPr/>
        </p:nvGrpSpPr>
        <p:grpSpPr>
          <a:xfrm rot="0">
            <a:off x="786003" y="3023121"/>
            <a:ext cx="8111490" cy="5985510"/>
            <a:chOff x="0" y="0"/>
            <a:chExt cx="10815320" cy="7980680"/>
          </a:xfrm>
        </p:grpSpPr>
        <p:sp>
          <p:nvSpPr>
            <p:cNvPr name="Freeform 12" id="12"/>
            <p:cNvSpPr/>
            <p:nvPr/>
          </p:nvSpPr>
          <p:spPr>
            <a:xfrm flipH="false" flipV="false" rot="0">
              <a:off x="0" y="0"/>
              <a:ext cx="10815320" cy="7980680"/>
            </a:xfrm>
            <a:custGeom>
              <a:avLst/>
              <a:gdLst/>
              <a:ahLst/>
              <a:cxnLst/>
              <a:rect r="r" b="b" t="t" l="l"/>
              <a:pathLst>
                <a:path h="7980680" w="10815320">
                  <a:moveTo>
                    <a:pt x="0" y="146812"/>
                  </a:moveTo>
                  <a:cubicBezTo>
                    <a:pt x="0" y="65659"/>
                    <a:pt x="65659" y="0"/>
                    <a:pt x="146812" y="0"/>
                  </a:cubicBezTo>
                  <a:lnTo>
                    <a:pt x="10668508" y="0"/>
                  </a:lnTo>
                  <a:cubicBezTo>
                    <a:pt x="10749534" y="0"/>
                    <a:pt x="10815320" y="65659"/>
                    <a:pt x="10815320" y="146812"/>
                  </a:cubicBezTo>
                  <a:lnTo>
                    <a:pt x="10815320" y="7833868"/>
                  </a:lnTo>
                  <a:cubicBezTo>
                    <a:pt x="10815320" y="7914894"/>
                    <a:pt x="10749661" y="7980680"/>
                    <a:pt x="10668508" y="7980680"/>
                  </a:cubicBezTo>
                  <a:lnTo>
                    <a:pt x="146812" y="7980680"/>
                  </a:lnTo>
                  <a:cubicBezTo>
                    <a:pt x="65659" y="7980680"/>
                    <a:pt x="0" y="7915021"/>
                    <a:pt x="0" y="7833868"/>
                  </a:cubicBezTo>
                  <a:close/>
                </a:path>
              </a:pathLst>
            </a:custGeom>
            <a:solidFill>
              <a:srgbClr val="0F2038"/>
            </a:solidFill>
            <a:ln w="19050" cap="sq">
              <a:solidFill>
                <a:srgbClr val="1E3358"/>
              </a:solidFill>
              <a:prstDash val="solid"/>
              <a:miter/>
            </a:ln>
          </p:spPr>
        </p:sp>
      </p:grpSp>
      <p:grpSp>
        <p:nvGrpSpPr>
          <p:cNvPr name="Group 13" id="13"/>
          <p:cNvGrpSpPr/>
          <p:nvPr/>
        </p:nvGrpSpPr>
        <p:grpSpPr>
          <a:xfrm rot="0">
            <a:off x="1207008" y="3306966"/>
            <a:ext cx="7269480" cy="411480"/>
            <a:chOff x="0" y="0"/>
            <a:chExt cx="9692640" cy="548640"/>
          </a:xfrm>
        </p:grpSpPr>
        <p:sp>
          <p:nvSpPr>
            <p:cNvPr name="Freeform 14" id="14"/>
            <p:cNvSpPr/>
            <p:nvPr/>
          </p:nvSpPr>
          <p:spPr>
            <a:xfrm flipH="false" flipV="false" rot="0">
              <a:off x="0" y="0"/>
              <a:ext cx="9692640" cy="548640"/>
            </a:xfrm>
            <a:custGeom>
              <a:avLst/>
              <a:gdLst/>
              <a:ahLst/>
              <a:cxnLst/>
              <a:rect r="r" b="b" t="t" l="l"/>
              <a:pathLst>
                <a:path h="548640" w="9692640">
                  <a:moveTo>
                    <a:pt x="0" y="0"/>
                  </a:moveTo>
                  <a:lnTo>
                    <a:pt x="9692640" y="0"/>
                  </a:lnTo>
                  <a:lnTo>
                    <a:pt x="9692640" y="548640"/>
                  </a:lnTo>
                  <a:lnTo>
                    <a:pt x="0" y="548640"/>
                  </a:lnTo>
                  <a:close/>
                </a:path>
              </a:pathLst>
            </a:custGeom>
            <a:blipFill>
              <a:blip r:embed="rId2">
                <a:alphaModFix amt="0"/>
              </a:blip>
              <a:stretch>
                <a:fillRect l="0" t="-294235" r="0" b="-294235"/>
              </a:stretch>
            </a:blipFill>
          </p:spPr>
        </p:sp>
        <p:sp>
          <p:nvSpPr>
            <p:cNvPr name="TextBox 15" id="15"/>
            <p:cNvSpPr txBox="true"/>
            <p:nvPr/>
          </p:nvSpPr>
          <p:spPr>
            <a:xfrm>
              <a:off x="0" y="-28575"/>
              <a:ext cx="9692640" cy="577215"/>
            </a:xfrm>
            <a:prstGeom prst="rect">
              <a:avLst/>
            </a:prstGeom>
          </p:spPr>
          <p:txBody>
            <a:bodyPr anchor="ctr" rtlCol="false" tIns="0" lIns="0" bIns="0" rIns="0"/>
            <a:lstStyle/>
            <a:p>
              <a:pPr algn="l" marL="0" indent="0" lvl="0">
                <a:lnSpc>
                  <a:spcPts val="1980"/>
                </a:lnSpc>
                <a:spcBef>
                  <a:spcPct val="0"/>
                </a:spcBef>
              </a:pPr>
              <a:r>
                <a:rPr lang="en-US" b="true" sz="1650" spc="150" strike="noStrike" u="none">
                  <a:solidFill>
                    <a:srgbClr val="00E5C7"/>
                  </a:solidFill>
                  <a:latin typeface="Calibri (MS) Bold"/>
                  <a:ea typeface="Calibri (MS) Bold"/>
                  <a:cs typeface="Calibri (MS) Bold"/>
                  <a:sym typeface="Calibri (MS) Bold"/>
                </a:rPr>
                <a:t>PONDÉRATION ATTÉNUÉE DES ÉCHANTILLONS</a:t>
              </a:r>
            </a:p>
          </p:txBody>
        </p:sp>
      </p:grpSp>
      <p:grpSp>
        <p:nvGrpSpPr>
          <p:cNvPr name="Group 16" id="16"/>
          <p:cNvGrpSpPr/>
          <p:nvPr/>
        </p:nvGrpSpPr>
        <p:grpSpPr>
          <a:xfrm rot="0">
            <a:off x="1207008" y="3855606"/>
            <a:ext cx="7269480" cy="960120"/>
            <a:chOff x="0" y="0"/>
            <a:chExt cx="9692640" cy="1280160"/>
          </a:xfrm>
        </p:grpSpPr>
        <p:sp>
          <p:nvSpPr>
            <p:cNvPr name="Freeform 17" id="17"/>
            <p:cNvSpPr/>
            <p:nvPr/>
          </p:nvSpPr>
          <p:spPr>
            <a:xfrm flipH="false" flipV="false" rot="0">
              <a:off x="0" y="0"/>
              <a:ext cx="9692640" cy="1280160"/>
            </a:xfrm>
            <a:custGeom>
              <a:avLst/>
              <a:gdLst/>
              <a:ahLst/>
              <a:cxnLst/>
              <a:rect r="r" b="b" t="t" l="l"/>
              <a:pathLst>
                <a:path h="1280160" w="9692640">
                  <a:moveTo>
                    <a:pt x="0" y="0"/>
                  </a:moveTo>
                  <a:lnTo>
                    <a:pt x="9692640" y="0"/>
                  </a:lnTo>
                  <a:lnTo>
                    <a:pt x="9692640" y="1280160"/>
                  </a:lnTo>
                  <a:lnTo>
                    <a:pt x="0" y="1280160"/>
                  </a:lnTo>
                  <a:close/>
                </a:path>
              </a:pathLst>
            </a:custGeom>
            <a:blipFill>
              <a:blip r:embed="rId2">
                <a:alphaModFix amt="0"/>
              </a:blip>
              <a:stretch>
                <a:fillRect l="0" t="-97529" r="0" b="-97529"/>
              </a:stretch>
            </a:blipFill>
          </p:spPr>
        </p:sp>
        <p:sp>
          <p:nvSpPr>
            <p:cNvPr name="TextBox 18" id="18"/>
            <p:cNvSpPr txBox="true"/>
            <p:nvPr/>
          </p:nvSpPr>
          <p:spPr>
            <a:xfrm>
              <a:off x="0" y="-19050"/>
              <a:ext cx="9692640" cy="1299210"/>
            </a:xfrm>
            <a:prstGeom prst="rect">
              <a:avLst/>
            </a:prstGeom>
          </p:spPr>
          <p:txBody>
            <a:bodyPr anchor="ctr" rtlCol="false" tIns="0" lIns="0" bIns="0" rIns="0"/>
            <a:lstStyle/>
            <a:p>
              <a:pPr algn="l">
                <a:lnSpc>
                  <a:spcPts val="5400"/>
                </a:lnSpc>
              </a:pPr>
              <a:r>
                <a:rPr lang="en-US" sz="4500" b="true">
                  <a:solidFill>
                    <a:srgbClr val="FFFFFF"/>
                  </a:solidFill>
                  <a:latin typeface="Cambria Bold"/>
                  <a:ea typeface="Cambria Bold"/>
                  <a:cs typeface="Cambria Bold"/>
                  <a:sym typeface="Cambria Bold"/>
                </a:rPr>
                <a:t>w' = √w</a:t>
              </a:r>
            </a:p>
          </p:txBody>
        </p:sp>
      </p:grpSp>
      <p:sp>
        <p:nvSpPr>
          <p:cNvPr name="TextBox 19" id="19"/>
          <p:cNvSpPr txBox="true"/>
          <p:nvPr/>
        </p:nvSpPr>
        <p:spPr>
          <a:xfrm rot="0">
            <a:off x="1207008" y="4954791"/>
            <a:ext cx="7269480" cy="2540127"/>
          </a:xfrm>
          <a:prstGeom prst="rect">
            <a:avLst/>
          </a:prstGeom>
        </p:spPr>
        <p:txBody>
          <a:bodyPr anchor="t" rtlCol="false" tIns="0" lIns="0" bIns="0" rIns="0">
            <a:spAutoFit/>
          </a:bodyPr>
          <a:lstStyle/>
          <a:p>
            <a:pPr algn="l" marL="325755" indent="-162878" lvl="1">
              <a:lnSpc>
                <a:spcPts val="2483"/>
              </a:lnSpc>
              <a:spcBef>
                <a:spcPct val="0"/>
              </a:spcBef>
              <a:buFont typeface="Arial"/>
              <a:buChar char="•"/>
            </a:pPr>
            <a:r>
              <a:rPr lang="en-US" sz="1800" strike="noStrike" u="none">
                <a:solidFill>
                  <a:srgbClr val="9FB0C9"/>
                </a:solidFill>
                <a:latin typeface="Calibri (MS)"/>
                <a:ea typeface="Calibri (MS)"/>
                <a:cs typeface="Calibri (MS)"/>
                <a:sym typeface="Calibri (MS)"/>
              </a:rPr>
              <a:t>Les poids équilibrés (class_weight="balanced") amplifient excessivement les classes ultra-rares (&gt;100×)</a:t>
            </a:r>
          </a:p>
          <a:p>
            <a:pPr algn="l" marL="325755" indent="-162878" lvl="1">
              <a:lnSpc>
                <a:spcPts val="2483"/>
              </a:lnSpc>
              <a:spcBef>
                <a:spcPct val="0"/>
              </a:spcBef>
              <a:buFont typeface="Arial"/>
              <a:buChar char="•"/>
            </a:pPr>
            <a:r>
              <a:rPr lang="en-US" sz="1800" strike="noStrike" u="none">
                <a:solidFill>
                  <a:srgbClr val="9FB0C9"/>
                </a:solidFill>
                <a:latin typeface="Calibri (MS)"/>
                <a:ea typeface="Calibri (MS)"/>
                <a:cs typeface="Calibri (MS)"/>
                <a:sym typeface="Calibri (MS)"/>
              </a:rPr>
              <a:t>L’atténuation par racine carrée comprime l’amplitude des poids tout en augmentant le poids des attaques rares</a:t>
            </a:r>
          </a:p>
          <a:p>
            <a:pPr algn="l" marL="325755" indent="-162878" lvl="1">
              <a:lnSpc>
                <a:spcPts val="2483"/>
              </a:lnSpc>
              <a:spcBef>
                <a:spcPct val="0"/>
              </a:spcBef>
              <a:buFont typeface="Arial"/>
              <a:buChar char="•"/>
            </a:pPr>
            <a:r>
              <a:rPr lang="en-US" sz="1800" strike="noStrike" u="none">
                <a:solidFill>
                  <a:srgbClr val="9FB0C9"/>
                </a:solidFill>
                <a:latin typeface="Calibri (MS)"/>
                <a:ea typeface="Calibri (MS)"/>
                <a:cs typeface="Calibri (MS)"/>
                <a:sym typeface="Calibri (MS)"/>
              </a:rPr>
              <a:t>Évite le surapprentissage sur quelques exemples bruités (p. ex. Heartbleed, ~11 échantillons)</a:t>
            </a:r>
          </a:p>
          <a:p>
            <a:pPr algn="l" marL="325755" indent="-162878" lvl="1">
              <a:lnSpc>
                <a:spcPts val="2483"/>
              </a:lnSpc>
              <a:spcBef>
                <a:spcPct val="0"/>
              </a:spcBef>
              <a:buFont typeface="Arial"/>
              <a:buChar char="•"/>
            </a:pPr>
            <a:r>
              <a:rPr lang="en-US" sz="1800" strike="noStrike" u="none">
                <a:solidFill>
                  <a:srgbClr val="9FB0C9"/>
                </a:solidFill>
                <a:latin typeface="Calibri (MS)"/>
                <a:ea typeface="Calibri (MS)"/>
                <a:cs typeface="Calibri (MS)"/>
                <a:sym typeface="Calibri (MS)"/>
              </a:rPr>
              <a:t>Équilibre l’ignorance des attaques rares et l’apprentissage excessif à partir de celles-ci</a:t>
            </a:r>
          </a:p>
        </p:txBody>
      </p:sp>
      <p:grpSp>
        <p:nvGrpSpPr>
          <p:cNvPr name="Group 20" id="20"/>
          <p:cNvGrpSpPr/>
          <p:nvPr/>
        </p:nvGrpSpPr>
        <p:grpSpPr>
          <a:xfrm rot="0">
            <a:off x="9152763" y="3023121"/>
            <a:ext cx="8180070" cy="5985510"/>
            <a:chOff x="0" y="0"/>
            <a:chExt cx="10906760" cy="7980680"/>
          </a:xfrm>
        </p:grpSpPr>
        <p:sp>
          <p:nvSpPr>
            <p:cNvPr name="Freeform 21" id="21"/>
            <p:cNvSpPr/>
            <p:nvPr/>
          </p:nvSpPr>
          <p:spPr>
            <a:xfrm flipH="false" flipV="false" rot="0">
              <a:off x="0" y="0"/>
              <a:ext cx="10906760" cy="7980680"/>
            </a:xfrm>
            <a:custGeom>
              <a:avLst/>
              <a:gdLst/>
              <a:ahLst/>
              <a:cxnLst/>
              <a:rect r="r" b="b" t="t" l="l"/>
              <a:pathLst>
                <a:path h="7980680" w="10906760">
                  <a:moveTo>
                    <a:pt x="0" y="146812"/>
                  </a:moveTo>
                  <a:cubicBezTo>
                    <a:pt x="0" y="65659"/>
                    <a:pt x="65659" y="0"/>
                    <a:pt x="146812" y="0"/>
                  </a:cubicBezTo>
                  <a:lnTo>
                    <a:pt x="10759948" y="0"/>
                  </a:lnTo>
                  <a:cubicBezTo>
                    <a:pt x="10840974" y="0"/>
                    <a:pt x="10906760" y="65659"/>
                    <a:pt x="10906760" y="146812"/>
                  </a:cubicBezTo>
                  <a:lnTo>
                    <a:pt x="10906760" y="7833868"/>
                  </a:lnTo>
                  <a:cubicBezTo>
                    <a:pt x="10906760" y="7914894"/>
                    <a:pt x="10841101" y="7980680"/>
                    <a:pt x="10759948" y="7980680"/>
                  </a:cubicBezTo>
                  <a:lnTo>
                    <a:pt x="146812" y="7980680"/>
                  </a:lnTo>
                  <a:cubicBezTo>
                    <a:pt x="65659" y="7980680"/>
                    <a:pt x="0" y="7915021"/>
                    <a:pt x="0" y="7833868"/>
                  </a:cubicBezTo>
                  <a:close/>
                </a:path>
              </a:pathLst>
            </a:custGeom>
            <a:solidFill>
              <a:srgbClr val="13294A"/>
            </a:solidFill>
            <a:ln w="19050" cap="sq">
              <a:solidFill>
                <a:srgbClr val="1E3358"/>
              </a:solidFill>
              <a:prstDash val="solid"/>
              <a:miter/>
            </a:ln>
          </p:spPr>
        </p:sp>
      </p:grpSp>
      <p:grpSp>
        <p:nvGrpSpPr>
          <p:cNvPr name="Group 22" id="22"/>
          <p:cNvGrpSpPr/>
          <p:nvPr/>
        </p:nvGrpSpPr>
        <p:grpSpPr>
          <a:xfrm rot="0">
            <a:off x="9573768" y="3306966"/>
            <a:ext cx="7269480" cy="411480"/>
            <a:chOff x="0" y="0"/>
            <a:chExt cx="9692640" cy="548640"/>
          </a:xfrm>
        </p:grpSpPr>
        <p:sp>
          <p:nvSpPr>
            <p:cNvPr name="Freeform 23" id="23"/>
            <p:cNvSpPr/>
            <p:nvPr/>
          </p:nvSpPr>
          <p:spPr>
            <a:xfrm flipH="false" flipV="false" rot="0">
              <a:off x="0" y="0"/>
              <a:ext cx="9692640" cy="548640"/>
            </a:xfrm>
            <a:custGeom>
              <a:avLst/>
              <a:gdLst/>
              <a:ahLst/>
              <a:cxnLst/>
              <a:rect r="r" b="b" t="t" l="l"/>
              <a:pathLst>
                <a:path h="548640" w="9692640">
                  <a:moveTo>
                    <a:pt x="0" y="0"/>
                  </a:moveTo>
                  <a:lnTo>
                    <a:pt x="9692640" y="0"/>
                  </a:lnTo>
                  <a:lnTo>
                    <a:pt x="9692640" y="548640"/>
                  </a:lnTo>
                  <a:lnTo>
                    <a:pt x="0" y="548640"/>
                  </a:lnTo>
                  <a:close/>
                </a:path>
              </a:pathLst>
            </a:custGeom>
            <a:blipFill>
              <a:blip r:embed="rId2">
                <a:alphaModFix amt="0"/>
              </a:blip>
              <a:stretch>
                <a:fillRect l="0" t="-294235" r="0" b="-294235"/>
              </a:stretch>
            </a:blipFill>
          </p:spPr>
        </p:sp>
        <p:sp>
          <p:nvSpPr>
            <p:cNvPr name="TextBox 24" id="24"/>
            <p:cNvSpPr txBox="true"/>
            <p:nvPr/>
          </p:nvSpPr>
          <p:spPr>
            <a:xfrm>
              <a:off x="0" y="-28575"/>
              <a:ext cx="9692640" cy="577215"/>
            </a:xfrm>
            <a:prstGeom prst="rect">
              <a:avLst/>
            </a:prstGeom>
          </p:spPr>
          <p:txBody>
            <a:bodyPr anchor="ctr" rtlCol="false" tIns="0" lIns="0" bIns="0" rIns="0"/>
            <a:lstStyle/>
            <a:p>
              <a:pPr algn="l" marL="0" indent="0" lvl="0">
                <a:lnSpc>
                  <a:spcPts val="1980"/>
                </a:lnSpc>
                <a:spcBef>
                  <a:spcPct val="0"/>
                </a:spcBef>
              </a:pPr>
              <a:r>
                <a:rPr lang="en-US" b="true" sz="1650" spc="150" strike="noStrike" u="none">
                  <a:solidFill>
                    <a:srgbClr val="00E5C7"/>
                  </a:solidFill>
                  <a:latin typeface="Calibri (MS) Bold"/>
                  <a:ea typeface="Calibri (MS) Bold"/>
                  <a:cs typeface="Calibri (MS) Bold"/>
                  <a:sym typeface="Calibri (MS) Bold"/>
                </a:rPr>
                <a:t>XGBOOST + CV STRATIFIÉE À 5 PLIS</a:t>
              </a:r>
            </a:p>
          </p:txBody>
        </p:sp>
      </p:grpSp>
      <p:grpSp>
        <p:nvGrpSpPr>
          <p:cNvPr name="Group 25" id="25"/>
          <p:cNvGrpSpPr/>
          <p:nvPr/>
        </p:nvGrpSpPr>
        <p:grpSpPr>
          <a:xfrm rot="0">
            <a:off x="9573768" y="3924186"/>
            <a:ext cx="1459050" cy="438912"/>
            <a:chOff x="0" y="0"/>
            <a:chExt cx="1945399" cy="585216"/>
          </a:xfrm>
        </p:grpSpPr>
        <p:sp>
          <p:nvSpPr>
            <p:cNvPr name="Freeform 26" id="26"/>
            <p:cNvSpPr/>
            <p:nvPr/>
          </p:nvSpPr>
          <p:spPr>
            <a:xfrm flipH="false" flipV="false" rot="0">
              <a:off x="0" y="0"/>
              <a:ext cx="1945400" cy="585216"/>
            </a:xfrm>
            <a:custGeom>
              <a:avLst/>
              <a:gdLst/>
              <a:ahLst/>
              <a:cxnLst/>
              <a:rect r="r" b="b" t="t" l="l"/>
              <a:pathLst>
                <a:path h="585216" w="1945400">
                  <a:moveTo>
                    <a:pt x="0" y="0"/>
                  </a:moveTo>
                  <a:lnTo>
                    <a:pt x="1945400" y="0"/>
                  </a:lnTo>
                  <a:lnTo>
                    <a:pt x="1945400" y="585216"/>
                  </a:lnTo>
                  <a:lnTo>
                    <a:pt x="0" y="585216"/>
                  </a:lnTo>
                  <a:close/>
                </a:path>
              </a:pathLst>
            </a:custGeom>
            <a:blipFill>
              <a:blip r:embed="rId2">
                <a:alphaModFix amt="0"/>
              </a:blip>
              <a:stretch>
                <a:fillRect l="0" t="-65692" r="-78612" b="-65692"/>
              </a:stretch>
            </a:blipFill>
          </p:spPr>
        </p:sp>
        <p:sp>
          <p:nvSpPr>
            <p:cNvPr name="TextBox 27" id="27"/>
            <p:cNvSpPr txBox="true"/>
            <p:nvPr/>
          </p:nvSpPr>
          <p:spPr>
            <a:xfrm>
              <a:off x="0" y="-28575"/>
              <a:ext cx="1945399" cy="613791"/>
            </a:xfrm>
            <a:prstGeom prst="rect">
              <a:avLst/>
            </a:prstGeom>
          </p:spPr>
          <p:txBody>
            <a:bodyPr anchor="ctr" rtlCol="false" tIns="0" lIns="0" bIns="0" rIns="0"/>
            <a:lstStyle/>
            <a:p>
              <a:pPr algn="l">
                <a:lnSpc>
                  <a:spcPts val="1889"/>
                </a:lnSpc>
              </a:pPr>
              <a:r>
                <a:rPr lang="en-US" sz="1575">
                  <a:solidFill>
                    <a:srgbClr val="9FB0C9"/>
                  </a:solidFill>
                  <a:latin typeface="Consolas"/>
                  <a:ea typeface="Consolas"/>
                  <a:cs typeface="Consolas"/>
                  <a:sym typeface="Consolas"/>
                </a:rPr>
                <a:t>n_estimators</a:t>
              </a:r>
            </a:p>
          </p:txBody>
        </p:sp>
      </p:grpSp>
      <p:grpSp>
        <p:nvGrpSpPr>
          <p:cNvPr name="Group 28" id="28"/>
          <p:cNvGrpSpPr/>
          <p:nvPr/>
        </p:nvGrpSpPr>
        <p:grpSpPr>
          <a:xfrm rot="0">
            <a:off x="12179808" y="3966477"/>
            <a:ext cx="480060" cy="354330"/>
            <a:chOff x="0" y="0"/>
            <a:chExt cx="900214" cy="664443"/>
          </a:xfrm>
        </p:grpSpPr>
        <p:sp>
          <p:nvSpPr>
            <p:cNvPr name="Freeform 29" id="29"/>
            <p:cNvSpPr/>
            <p:nvPr/>
          </p:nvSpPr>
          <p:spPr>
            <a:xfrm flipH="false" flipV="false" rot="0">
              <a:off x="0" y="0"/>
              <a:ext cx="900214" cy="664444"/>
            </a:xfrm>
            <a:custGeom>
              <a:avLst/>
              <a:gdLst/>
              <a:ahLst/>
              <a:cxnLst/>
              <a:rect r="r" b="b" t="t" l="l"/>
              <a:pathLst>
                <a:path h="664444" w="900214">
                  <a:moveTo>
                    <a:pt x="0" y="0"/>
                  </a:moveTo>
                  <a:lnTo>
                    <a:pt x="900214" y="0"/>
                  </a:lnTo>
                  <a:lnTo>
                    <a:pt x="900214" y="664444"/>
                  </a:lnTo>
                  <a:lnTo>
                    <a:pt x="0" y="664444"/>
                  </a:lnTo>
                  <a:close/>
                </a:path>
              </a:pathLst>
            </a:custGeom>
            <a:blipFill>
              <a:blip r:embed="rId2">
                <a:alphaModFix amt="0"/>
              </a:blip>
              <a:stretch>
                <a:fillRect l="0" t="-25681" r="-164097" b="-13757"/>
              </a:stretch>
            </a:blipFill>
          </p:spPr>
        </p:sp>
        <p:sp>
          <p:nvSpPr>
            <p:cNvPr name="TextBox 30" id="30"/>
            <p:cNvSpPr txBox="true"/>
            <p:nvPr/>
          </p:nvSpPr>
          <p:spPr>
            <a:xfrm>
              <a:off x="0" y="-28575"/>
              <a:ext cx="900214" cy="693018"/>
            </a:xfrm>
            <a:prstGeom prst="rect">
              <a:avLst/>
            </a:prstGeom>
          </p:spPr>
          <p:txBody>
            <a:bodyPr anchor="ctr" rtlCol="false" tIns="0" lIns="0" bIns="0" rIns="0"/>
            <a:lstStyle/>
            <a:p>
              <a:pPr algn="r">
                <a:lnSpc>
                  <a:spcPts val="1889"/>
                </a:lnSpc>
              </a:pPr>
              <a:r>
                <a:rPr lang="en-US" sz="1575" b="true">
                  <a:solidFill>
                    <a:srgbClr val="00E5C7"/>
                  </a:solidFill>
                  <a:latin typeface="Consolas Bold"/>
                  <a:ea typeface="Consolas Bold"/>
                  <a:cs typeface="Consolas Bold"/>
                  <a:sym typeface="Consolas Bold"/>
                </a:rPr>
                <a:t>100</a:t>
              </a:r>
            </a:p>
          </p:txBody>
        </p:sp>
      </p:grpSp>
      <p:grpSp>
        <p:nvGrpSpPr>
          <p:cNvPr name="Group 31" id="31"/>
          <p:cNvGrpSpPr/>
          <p:nvPr/>
        </p:nvGrpSpPr>
        <p:grpSpPr>
          <a:xfrm rot="0">
            <a:off x="12934188" y="3925329"/>
            <a:ext cx="1190224" cy="438912"/>
            <a:chOff x="0" y="0"/>
            <a:chExt cx="1586965" cy="585216"/>
          </a:xfrm>
        </p:grpSpPr>
        <p:sp>
          <p:nvSpPr>
            <p:cNvPr name="Freeform 32" id="32"/>
            <p:cNvSpPr/>
            <p:nvPr/>
          </p:nvSpPr>
          <p:spPr>
            <a:xfrm flipH="false" flipV="false" rot="0">
              <a:off x="0" y="0"/>
              <a:ext cx="1586965" cy="585216"/>
            </a:xfrm>
            <a:custGeom>
              <a:avLst/>
              <a:gdLst/>
              <a:ahLst/>
              <a:cxnLst/>
              <a:rect r="r" b="b" t="t" l="l"/>
              <a:pathLst>
                <a:path h="585216" w="1586965">
                  <a:moveTo>
                    <a:pt x="0" y="0"/>
                  </a:moveTo>
                  <a:lnTo>
                    <a:pt x="1586965" y="0"/>
                  </a:lnTo>
                  <a:lnTo>
                    <a:pt x="1586965" y="585216"/>
                  </a:lnTo>
                  <a:lnTo>
                    <a:pt x="0" y="585216"/>
                  </a:lnTo>
                  <a:close/>
                </a:path>
              </a:pathLst>
            </a:custGeom>
            <a:blipFill>
              <a:blip r:embed="rId2">
                <a:alphaModFix amt="0"/>
              </a:blip>
              <a:stretch>
                <a:fillRect l="0" t="-65692" r="-118953" b="-65692"/>
              </a:stretch>
            </a:blipFill>
          </p:spPr>
        </p:sp>
        <p:sp>
          <p:nvSpPr>
            <p:cNvPr name="TextBox 33" id="33"/>
            <p:cNvSpPr txBox="true"/>
            <p:nvPr/>
          </p:nvSpPr>
          <p:spPr>
            <a:xfrm>
              <a:off x="0" y="-28575"/>
              <a:ext cx="1586965" cy="613791"/>
            </a:xfrm>
            <a:prstGeom prst="rect">
              <a:avLst/>
            </a:prstGeom>
          </p:spPr>
          <p:txBody>
            <a:bodyPr anchor="ctr" rtlCol="false" tIns="0" lIns="0" bIns="0" rIns="0"/>
            <a:lstStyle/>
            <a:p>
              <a:pPr algn="l">
                <a:lnSpc>
                  <a:spcPts val="1889"/>
                </a:lnSpc>
              </a:pPr>
              <a:r>
                <a:rPr lang="en-US" sz="1575">
                  <a:solidFill>
                    <a:srgbClr val="9FB0C9"/>
                  </a:solidFill>
                  <a:latin typeface="Consolas"/>
                  <a:ea typeface="Consolas"/>
                  <a:cs typeface="Consolas"/>
                  <a:sym typeface="Consolas"/>
                </a:rPr>
                <a:t>max_depth</a:t>
              </a:r>
            </a:p>
          </p:txBody>
        </p:sp>
      </p:grpSp>
      <p:grpSp>
        <p:nvGrpSpPr>
          <p:cNvPr name="Group 34" id="34"/>
          <p:cNvGrpSpPr/>
          <p:nvPr/>
        </p:nvGrpSpPr>
        <p:grpSpPr>
          <a:xfrm rot="0">
            <a:off x="15267412" y="3881895"/>
            <a:ext cx="676268" cy="438912"/>
            <a:chOff x="0" y="0"/>
            <a:chExt cx="901691" cy="585216"/>
          </a:xfrm>
        </p:grpSpPr>
        <p:sp>
          <p:nvSpPr>
            <p:cNvPr name="Freeform 35" id="35"/>
            <p:cNvSpPr/>
            <p:nvPr/>
          </p:nvSpPr>
          <p:spPr>
            <a:xfrm flipH="false" flipV="false" rot="0">
              <a:off x="0" y="0"/>
              <a:ext cx="901691" cy="585216"/>
            </a:xfrm>
            <a:custGeom>
              <a:avLst/>
              <a:gdLst/>
              <a:ahLst/>
              <a:cxnLst/>
              <a:rect r="r" b="b" t="t" l="l"/>
              <a:pathLst>
                <a:path h="585216" w="901691">
                  <a:moveTo>
                    <a:pt x="0" y="0"/>
                  </a:moveTo>
                  <a:lnTo>
                    <a:pt x="901691" y="0"/>
                  </a:lnTo>
                  <a:lnTo>
                    <a:pt x="901691" y="585216"/>
                  </a:lnTo>
                  <a:lnTo>
                    <a:pt x="0" y="585216"/>
                  </a:lnTo>
                  <a:close/>
                </a:path>
              </a:pathLst>
            </a:custGeom>
            <a:blipFill>
              <a:blip r:embed="rId2">
                <a:alphaModFix amt="0"/>
              </a:blip>
              <a:stretch>
                <a:fillRect l="0" t="-29157" r="-163664" b="-29157"/>
              </a:stretch>
            </a:blipFill>
          </p:spPr>
        </p:sp>
        <p:sp>
          <p:nvSpPr>
            <p:cNvPr name="TextBox 36" id="36"/>
            <p:cNvSpPr txBox="true"/>
            <p:nvPr/>
          </p:nvSpPr>
          <p:spPr>
            <a:xfrm>
              <a:off x="0" y="-28575"/>
              <a:ext cx="901691" cy="613791"/>
            </a:xfrm>
            <a:prstGeom prst="rect">
              <a:avLst/>
            </a:prstGeom>
          </p:spPr>
          <p:txBody>
            <a:bodyPr anchor="ctr" rtlCol="false" tIns="0" lIns="0" bIns="0" rIns="0"/>
            <a:lstStyle/>
            <a:p>
              <a:pPr algn="r">
                <a:lnSpc>
                  <a:spcPts val="1889"/>
                </a:lnSpc>
              </a:pPr>
              <a:r>
                <a:rPr lang="en-US" sz="1575" b="true">
                  <a:solidFill>
                    <a:srgbClr val="00E5C7"/>
                  </a:solidFill>
                  <a:latin typeface="Consolas Bold"/>
                  <a:ea typeface="Consolas Bold"/>
                  <a:cs typeface="Consolas Bold"/>
                  <a:sym typeface="Consolas Bold"/>
                </a:rPr>
                <a:t>6</a:t>
              </a:r>
            </a:p>
          </p:txBody>
        </p:sp>
      </p:grpSp>
      <p:grpSp>
        <p:nvGrpSpPr>
          <p:cNvPr name="Group 37" id="37"/>
          <p:cNvGrpSpPr/>
          <p:nvPr/>
        </p:nvGrpSpPr>
        <p:grpSpPr>
          <a:xfrm rot="0">
            <a:off x="9573768" y="4678566"/>
            <a:ext cx="1459050" cy="438912"/>
            <a:chOff x="0" y="0"/>
            <a:chExt cx="1945399" cy="585216"/>
          </a:xfrm>
        </p:grpSpPr>
        <p:sp>
          <p:nvSpPr>
            <p:cNvPr name="Freeform 38" id="38"/>
            <p:cNvSpPr/>
            <p:nvPr/>
          </p:nvSpPr>
          <p:spPr>
            <a:xfrm flipH="false" flipV="false" rot="0">
              <a:off x="0" y="0"/>
              <a:ext cx="1945400" cy="585216"/>
            </a:xfrm>
            <a:custGeom>
              <a:avLst/>
              <a:gdLst/>
              <a:ahLst/>
              <a:cxnLst/>
              <a:rect r="r" b="b" t="t" l="l"/>
              <a:pathLst>
                <a:path h="585216" w="1945400">
                  <a:moveTo>
                    <a:pt x="0" y="0"/>
                  </a:moveTo>
                  <a:lnTo>
                    <a:pt x="1945400" y="0"/>
                  </a:lnTo>
                  <a:lnTo>
                    <a:pt x="1945400" y="585216"/>
                  </a:lnTo>
                  <a:lnTo>
                    <a:pt x="0" y="585216"/>
                  </a:lnTo>
                  <a:close/>
                </a:path>
              </a:pathLst>
            </a:custGeom>
            <a:blipFill>
              <a:blip r:embed="rId2">
                <a:alphaModFix amt="0"/>
              </a:blip>
              <a:stretch>
                <a:fillRect l="0" t="-65692" r="-78612" b="-65692"/>
              </a:stretch>
            </a:blipFill>
          </p:spPr>
        </p:sp>
        <p:sp>
          <p:nvSpPr>
            <p:cNvPr name="TextBox 39" id="39"/>
            <p:cNvSpPr txBox="true"/>
            <p:nvPr/>
          </p:nvSpPr>
          <p:spPr>
            <a:xfrm>
              <a:off x="0" y="-28575"/>
              <a:ext cx="1945399" cy="613791"/>
            </a:xfrm>
            <a:prstGeom prst="rect">
              <a:avLst/>
            </a:prstGeom>
          </p:spPr>
          <p:txBody>
            <a:bodyPr anchor="ctr" rtlCol="false" tIns="0" lIns="0" bIns="0" rIns="0"/>
            <a:lstStyle/>
            <a:p>
              <a:pPr algn="l">
                <a:lnSpc>
                  <a:spcPts val="1889"/>
                </a:lnSpc>
              </a:pPr>
              <a:r>
                <a:rPr lang="en-US" sz="1575">
                  <a:solidFill>
                    <a:srgbClr val="9FB0C9"/>
                  </a:solidFill>
                  <a:latin typeface="Consolas"/>
                  <a:ea typeface="Consolas"/>
                  <a:cs typeface="Consolas"/>
                  <a:sym typeface="Consolas"/>
                </a:rPr>
                <a:t>learning_rate</a:t>
              </a:r>
            </a:p>
          </p:txBody>
        </p:sp>
      </p:grpSp>
      <p:grpSp>
        <p:nvGrpSpPr>
          <p:cNvPr name="Group 40" id="40"/>
          <p:cNvGrpSpPr/>
          <p:nvPr/>
        </p:nvGrpSpPr>
        <p:grpSpPr>
          <a:xfrm rot="0">
            <a:off x="12316968" y="4596270"/>
            <a:ext cx="342900" cy="438912"/>
            <a:chOff x="0" y="0"/>
            <a:chExt cx="457200" cy="585216"/>
          </a:xfrm>
        </p:grpSpPr>
        <p:sp>
          <p:nvSpPr>
            <p:cNvPr name="Freeform 41" id="41"/>
            <p:cNvSpPr/>
            <p:nvPr/>
          </p:nvSpPr>
          <p:spPr>
            <a:xfrm flipH="false" flipV="false" rot="0">
              <a:off x="0" y="0"/>
              <a:ext cx="457200" cy="585216"/>
            </a:xfrm>
            <a:custGeom>
              <a:avLst/>
              <a:gdLst/>
              <a:ahLst/>
              <a:cxnLst/>
              <a:rect r="r" b="b" t="t" l="l"/>
              <a:pathLst>
                <a:path h="585216" w="457200">
                  <a:moveTo>
                    <a:pt x="0" y="0"/>
                  </a:moveTo>
                  <a:lnTo>
                    <a:pt x="457200" y="0"/>
                  </a:lnTo>
                  <a:lnTo>
                    <a:pt x="457200" y="585216"/>
                  </a:lnTo>
                  <a:lnTo>
                    <a:pt x="0" y="585216"/>
                  </a:lnTo>
                  <a:close/>
                </a:path>
              </a:pathLst>
            </a:custGeom>
            <a:blipFill>
              <a:blip r:embed="rId2">
                <a:alphaModFix amt="0"/>
              </a:blip>
              <a:stretch>
                <a:fillRect l="0" t="-29157" r="-419999" b="-29157"/>
              </a:stretch>
            </a:blipFill>
          </p:spPr>
        </p:sp>
        <p:sp>
          <p:nvSpPr>
            <p:cNvPr name="TextBox 42" id="42"/>
            <p:cNvSpPr txBox="true"/>
            <p:nvPr/>
          </p:nvSpPr>
          <p:spPr>
            <a:xfrm>
              <a:off x="0" y="-28575"/>
              <a:ext cx="457200" cy="613791"/>
            </a:xfrm>
            <a:prstGeom prst="rect">
              <a:avLst/>
            </a:prstGeom>
          </p:spPr>
          <p:txBody>
            <a:bodyPr anchor="ctr" rtlCol="false" tIns="0" lIns="0" bIns="0" rIns="0"/>
            <a:lstStyle/>
            <a:p>
              <a:pPr algn="r">
                <a:lnSpc>
                  <a:spcPts val="1889"/>
                </a:lnSpc>
              </a:pPr>
              <a:r>
                <a:rPr lang="en-US" sz="1575" b="true">
                  <a:solidFill>
                    <a:srgbClr val="00E5C7"/>
                  </a:solidFill>
                  <a:latin typeface="Consolas Bold"/>
                  <a:ea typeface="Consolas Bold"/>
                  <a:cs typeface="Consolas Bold"/>
                  <a:sym typeface="Consolas Bold"/>
                </a:rPr>
                <a:t>0.1</a:t>
              </a:r>
            </a:p>
          </p:txBody>
        </p:sp>
      </p:grpSp>
      <p:grpSp>
        <p:nvGrpSpPr>
          <p:cNvPr name="Group 43" id="43"/>
          <p:cNvGrpSpPr/>
          <p:nvPr/>
        </p:nvGrpSpPr>
        <p:grpSpPr>
          <a:xfrm rot="0">
            <a:off x="12968478" y="4573791"/>
            <a:ext cx="2606040" cy="438912"/>
            <a:chOff x="0" y="0"/>
            <a:chExt cx="3474720" cy="585216"/>
          </a:xfrm>
        </p:grpSpPr>
        <p:sp>
          <p:nvSpPr>
            <p:cNvPr name="Freeform 44" id="44"/>
            <p:cNvSpPr/>
            <p:nvPr/>
          </p:nvSpPr>
          <p:spPr>
            <a:xfrm flipH="false" flipV="false" rot="0">
              <a:off x="0" y="0"/>
              <a:ext cx="3474720" cy="585216"/>
            </a:xfrm>
            <a:custGeom>
              <a:avLst/>
              <a:gdLst/>
              <a:ahLst/>
              <a:cxnLst/>
              <a:rect r="r" b="b" t="t" l="l"/>
              <a:pathLst>
                <a:path h="585216" w="3474720">
                  <a:moveTo>
                    <a:pt x="0" y="0"/>
                  </a:moveTo>
                  <a:lnTo>
                    <a:pt x="3474720" y="0"/>
                  </a:lnTo>
                  <a:lnTo>
                    <a:pt x="3474720" y="585216"/>
                  </a:lnTo>
                  <a:lnTo>
                    <a:pt x="0" y="585216"/>
                  </a:lnTo>
                  <a:close/>
                </a:path>
              </a:pathLst>
            </a:custGeom>
            <a:blipFill>
              <a:blip r:embed="rId2">
                <a:alphaModFix amt="0"/>
              </a:blip>
              <a:stretch>
                <a:fillRect l="0" t="-65692" r="0" b="-65692"/>
              </a:stretch>
            </a:blipFill>
          </p:spPr>
        </p:sp>
        <p:sp>
          <p:nvSpPr>
            <p:cNvPr name="TextBox 45" id="45"/>
            <p:cNvSpPr txBox="true"/>
            <p:nvPr/>
          </p:nvSpPr>
          <p:spPr>
            <a:xfrm>
              <a:off x="0" y="-28575"/>
              <a:ext cx="3474720" cy="613791"/>
            </a:xfrm>
            <a:prstGeom prst="rect">
              <a:avLst/>
            </a:prstGeom>
          </p:spPr>
          <p:txBody>
            <a:bodyPr anchor="ctr" rtlCol="false" tIns="0" lIns="0" bIns="0" rIns="0"/>
            <a:lstStyle/>
            <a:p>
              <a:pPr algn="l">
                <a:lnSpc>
                  <a:spcPts val="1889"/>
                </a:lnSpc>
              </a:pPr>
              <a:r>
                <a:rPr lang="en-US" sz="1575">
                  <a:solidFill>
                    <a:srgbClr val="9FB0C9"/>
                  </a:solidFill>
                  <a:latin typeface="Consolas"/>
                  <a:ea typeface="Consolas"/>
                  <a:cs typeface="Consolas"/>
                  <a:sym typeface="Consolas"/>
                </a:rPr>
                <a:t>eval_metric</a:t>
              </a:r>
            </a:p>
          </p:txBody>
        </p:sp>
      </p:grpSp>
      <p:grpSp>
        <p:nvGrpSpPr>
          <p:cNvPr name="Group 46" id="46"/>
          <p:cNvGrpSpPr/>
          <p:nvPr/>
        </p:nvGrpSpPr>
        <p:grpSpPr>
          <a:xfrm rot="0">
            <a:off x="15015945" y="4596270"/>
            <a:ext cx="927735" cy="438912"/>
            <a:chOff x="0" y="0"/>
            <a:chExt cx="1236980" cy="585216"/>
          </a:xfrm>
        </p:grpSpPr>
        <p:sp>
          <p:nvSpPr>
            <p:cNvPr name="Freeform 47" id="47"/>
            <p:cNvSpPr/>
            <p:nvPr/>
          </p:nvSpPr>
          <p:spPr>
            <a:xfrm flipH="false" flipV="false" rot="0">
              <a:off x="0" y="0"/>
              <a:ext cx="1236980" cy="585216"/>
            </a:xfrm>
            <a:custGeom>
              <a:avLst/>
              <a:gdLst/>
              <a:ahLst/>
              <a:cxnLst/>
              <a:rect r="r" b="b" t="t" l="l"/>
              <a:pathLst>
                <a:path h="585216" w="1236980">
                  <a:moveTo>
                    <a:pt x="0" y="0"/>
                  </a:moveTo>
                  <a:lnTo>
                    <a:pt x="1236980" y="0"/>
                  </a:lnTo>
                  <a:lnTo>
                    <a:pt x="1236980" y="585216"/>
                  </a:lnTo>
                  <a:lnTo>
                    <a:pt x="0" y="585216"/>
                  </a:lnTo>
                  <a:close/>
                </a:path>
              </a:pathLst>
            </a:custGeom>
            <a:blipFill>
              <a:blip r:embed="rId2">
                <a:alphaModFix amt="0"/>
              </a:blip>
              <a:stretch>
                <a:fillRect l="0" t="-29157" r="-92197" b="-29157"/>
              </a:stretch>
            </a:blipFill>
          </p:spPr>
        </p:sp>
        <p:sp>
          <p:nvSpPr>
            <p:cNvPr name="TextBox 48" id="48"/>
            <p:cNvSpPr txBox="true"/>
            <p:nvPr/>
          </p:nvSpPr>
          <p:spPr>
            <a:xfrm>
              <a:off x="0" y="-28575"/>
              <a:ext cx="1236980" cy="613791"/>
            </a:xfrm>
            <a:prstGeom prst="rect">
              <a:avLst/>
            </a:prstGeom>
          </p:spPr>
          <p:txBody>
            <a:bodyPr anchor="ctr" rtlCol="false" tIns="0" lIns="0" bIns="0" rIns="0"/>
            <a:lstStyle/>
            <a:p>
              <a:pPr algn="r">
                <a:lnSpc>
                  <a:spcPts val="1889"/>
                </a:lnSpc>
              </a:pPr>
              <a:r>
                <a:rPr lang="en-US" sz="1575" b="true">
                  <a:solidFill>
                    <a:srgbClr val="00E5C7"/>
                  </a:solidFill>
                  <a:latin typeface="Consolas Bold"/>
                  <a:ea typeface="Consolas Bold"/>
                  <a:cs typeface="Consolas Bold"/>
                  <a:sym typeface="Consolas Bold"/>
                </a:rPr>
                <a:t>logloss</a:t>
              </a:r>
            </a:p>
          </p:txBody>
        </p:sp>
      </p:grpSp>
      <p:grpSp>
        <p:nvGrpSpPr>
          <p:cNvPr name="Group 49" id="49"/>
          <p:cNvGrpSpPr/>
          <p:nvPr/>
        </p:nvGrpSpPr>
        <p:grpSpPr>
          <a:xfrm rot="0">
            <a:off x="9573768" y="5432946"/>
            <a:ext cx="729525" cy="438912"/>
            <a:chOff x="0" y="0"/>
            <a:chExt cx="972700" cy="585216"/>
          </a:xfrm>
        </p:grpSpPr>
        <p:sp>
          <p:nvSpPr>
            <p:cNvPr name="Freeform 50" id="50"/>
            <p:cNvSpPr/>
            <p:nvPr/>
          </p:nvSpPr>
          <p:spPr>
            <a:xfrm flipH="false" flipV="false" rot="0">
              <a:off x="0" y="0"/>
              <a:ext cx="972700" cy="585216"/>
            </a:xfrm>
            <a:custGeom>
              <a:avLst/>
              <a:gdLst/>
              <a:ahLst/>
              <a:cxnLst/>
              <a:rect r="r" b="b" t="t" l="l"/>
              <a:pathLst>
                <a:path h="585216" w="972700">
                  <a:moveTo>
                    <a:pt x="0" y="0"/>
                  </a:moveTo>
                  <a:lnTo>
                    <a:pt x="972700" y="0"/>
                  </a:lnTo>
                  <a:lnTo>
                    <a:pt x="972700" y="585216"/>
                  </a:lnTo>
                  <a:lnTo>
                    <a:pt x="0" y="585216"/>
                  </a:lnTo>
                  <a:close/>
                </a:path>
              </a:pathLst>
            </a:custGeom>
            <a:blipFill>
              <a:blip r:embed="rId2">
                <a:alphaModFix amt="0"/>
              </a:blip>
              <a:stretch>
                <a:fillRect l="0" t="-65692" r="-257224" b="-65692"/>
              </a:stretch>
            </a:blipFill>
          </p:spPr>
        </p:sp>
        <p:sp>
          <p:nvSpPr>
            <p:cNvPr name="TextBox 51" id="51"/>
            <p:cNvSpPr txBox="true"/>
            <p:nvPr/>
          </p:nvSpPr>
          <p:spPr>
            <a:xfrm>
              <a:off x="0" y="-28575"/>
              <a:ext cx="972700" cy="613791"/>
            </a:xfrm>
            <a:prstGeom prst="rect">
              <a:avLst/>
            </a:prstGeom>
          </p:spPr>
          <p:txBody>
            <a:bodyPr anchor="ctr" rtlCol="false" tIns="0" lIns="0" bIns="0" rIns="0"/>
            <a:lstStyle/>
            <a:p>
              <a:pPr algn="l">
                <a:lnSpc>
                  <a:spcPts val="1889"/>
                </a:lnSpc>
              </a:pPr>
              <a:r>
                <a:rPr lang="en-US" sz="1575">
                  <a:solidFill>
                    <a:srgbClr val="9FB0C9"/>
                  </a:solidFill>
                  <a:latin typeface="Consolas"/>
                  <a:ea typeface="Consolas"/>
                  <a:cs typeface="Consolas"/>
                  <a:sym typeface="Consolas"/>
                </a:rPr>
                <a:t>n_jobs</a:t>
              </a:r>
            </a:p>
          </p:txBody>
        </p:sp>
      </p:grpSp>
      <p:grpSp>
        <p:nvGrpSpPr>
          <p:cNvPr name="Group 52" id="52"/>
          <p:cNvGrpSpPr/>
          <p:nvPr/>
        </p:nvGrpSpPr>
        <p:grpSpPr>
          <a:xfrm rot="0">
            <a:off x="10507128" y="5432946"/>
            <a:ext cx="2152740" cy="438912"/>
            <a:chOff x="0" y="0"/>
            <a:chExt cx="2870320" cy="585216"/>
          </a:xfrm>
        </p:grpSpPr>
        <p:sp>
          <p:nvSpPr>
            <p:cNvPr name="Freeform 53" id="53"/>
            <p:cNvSpPr/>
            <p:nvPr/>
          </p:nvSpPr>
          <p:spPr>
            <a:xfrm flipH="false" flipV="false" rot="0">
              <a:off x="0" y="0"/>
              <a:ext cx="2870320" cy="585216"/>
            </a:xfrm>
            <a:custGeom>
              <a:avLst/>
              <a:gdLst/>
              <a:ahLst/>
              <a:cxnLst/>
              <a:rect r="r" b="b" t="t" l="l"/>
              <a:pathLst>
                <a:path h="585216" w="2870320">
                  <a:moveTo>
                    <a:pt x="0" y="0"/>
                  </a:moveTo>
                  <a:lnTo>
                    <a:pt x="2870320" y="0"/>
                  </a:lnTo>
                  <a:lnTo>
                    <a:pt x="2870320" y="585216"/>
                  </a:lnTo>
                  <a:lnTo>
                    <a:pt x="0" y="585216"/>
                  </a:lnTo>
                  <a:close/>
                </a:path>
              </a:pathLst>
            </a:custGeom>
            <a:blipFill>
              <a:blip r:embed="rId2">
                <a:alphaModFix amt="0"/>
              </a:blip>
              <a:stretch>
                <a:fillRect l="0" t="-29157" r="17171" b="-29157"/>
              </a:stretch>
            </a:blipFill>
          </p:spPr>
        </p:sp>
        <p:sp>
          <p:nvSpPr>
            <p:cNvPr name="TextBox 54" id="54"/>
            <p:cNvSpPr txBox="true"/>
            <p:nvPr/>
          </p:nvSpPr>
          <p:spPr>
            <a:xfrm>
              <a:off x="0" y="-28575"/>
              <a:ext cx="2870320" cy="613791"/>
            </a:xfrm>
            <a:prstGeom prst="rect">
              <a:avLst/>
            </a:prstGeom>
          </p:spPr>
          <p:txBody>
            <a:bodyPr anchor="ctr" rtlCol="false" tIns="0" lIns="0" bIns="0" rIns="0"/>
            <a:lstStyle/>
            <a:p>
              <a:pPr algn="r" marL="0" indent="0" lvl="0">
                <a:lnSpc>
                  <a:spcPts val="1889"/>
                </a:lnSpc>
                <a:spcBef>
                  <a:spcPct val="0"/>
                </a:spcBef>
              </a:pPr>
              <a:r>
                <a:rPr lang="en-US" b="true" sz="1575" strike="noStrike" u="none">
                  <a:solidFill>
                    <a:srgbClr val="00E5C7"/>
                  </a:solidFill>
                  <a:latin typeface="Consolas Bold"/>
                  <a:ea typeface="Consolas Bold"/>
                  <a:cs typeface="Consolas Bold"/>
                  <a:sym typeface="Consolas Bold"/>
                </a:rPr>
                <a:t>-1 (tous les cœurs)</a:t>
              </a:r>
            </a:p>
          </p:txBody>
        </p:sp>
      </p:grpSp>
      <p:grpSp>
        <p:nvGrpSpPr>
          <p:cNvPr name="Group 55" id="55"/>
          <p:cNvGrpSpPr/>
          <p:nvPr/>
        </p:nvGrpSpPr>
        <p:grpSpPr>
          <a:xfrm rot="0">
            <a:off x="12999506" y="5432946"/>
            <a:ext cx="1423206" cy="438912"/>
            <a:chOff x="0" y="0"/>
            <a:chExt cx="1897608" cy="585216"/>
          </a:xfrm>
        </p:grpSpPr>
        <p:sp>
          <p:nvSpPr>
            <p:cNvPr name="Freeform 56" id="56"/>
            <p:cNvSpPr/>
            <p:nvPr/>
          </p:nvSpPr>
          <p:spPr>
            <a:xfrm flipH="false" flipV="false" rot="0">
              <a:off x="0" y="0"/>
              <a:ext cx="1897608" cy="585216"/>
            </a:xfrm>
            <a:custGeom>
              <a:avLst/>
              <a:gdLst/>
              <a:ahLst/>
              <a:cxnLst/>
              <a:rect r="r" b="b" t="t" l="l"/>
              <a:pathLst>
                <a:path h="585216" w="1897608">
                  <a:moveTo>
                    <a:pt x="0" y="0"/>
                  </a:moveTo>
                  <a:lnTo>
                    <a:pt x="1897608" y="0"/>
                  </a:lnTo>
                  <a:lnTo>
                    <a:pt x="1897608" y="585216"/>
                  </a:lnTo>
                  <a:lnTo>
                    <a:pt x="0" y="585216"/>
                  </a:lnTo>
                  <a:close/>
                </a:path>
              </a:pathLst>
            </a:custGeom>
            <a:blipFill>
              <a:blip r:embed="rId2">
                <a:alphaModFix amt="0"/>
              </a:blip>
              <a:stretch>
                <a:fillRect l="0" t="-65692" r="-83110" b="-65692"/>
              </a:stretch>
            </a:blipFill>
          </p:spPr>
        </p:sp>
        <p:sp>
          <p:nvSpPr>
            <p:cNvPr name="TextBox 57" id="57"/>
            <p:cNvSpPr txBox="true"/>
            <p:nvPr/>
          </p:nvSpPr>
          <p:spPr>
            <a:xfrm>
              <a:off x="0" y="-28575"/>
              <a:ext cx="1897608" cy="613791"/>
            </a:xfrm>
            <a:prstGeom prst="rect">
              <a:avLst/>
            </a:prstGeom>
          </p:spPr>
          <p:txBody>
            <a:bodyPr anchor="ctr" rtlCol="false" tIns="0" lIns="0" bIns="0" rIns="0"/>
            <a:lstStyle/>
            <a:p>
              <a:pPr algn="l">
                <a:lnSpc>
                  <a:spcPts val="1889"/>
                </a:lnSpc>
              </a:pPr>
              <a:r>
                <a:rPr lang="en-US" sz="1575">
                  <a:solidFill>
                    <a:srgbClr val="9FB0C9"/>
                  </a:solidFill>
                  <a:latin typeface="Consolas"/>
                  <a:ea typeface="Consolas"/>
                  <a:cs typeface="Consolas"/>
                  <a:sym typeface="Consolas"/>
                </a:rPr>
                <a:t>random_state</a:t>
              </a:r>
            </a:p>
          </p:txBody>
        </p:sp>
      </p:grpSp>
      <p:grpSp>
        <p:nvGrpSpPr>
          <p:cNvPr name="Group 58" id="58"/>
          <p:cNvGrpSpPr/>
          <p:nvPr/>
        </p:nvGrpSpPr>
        <p:grpSpPr>
          <a:xfrm rot="0">
            <a:off x="15318604" y="5432946"/>
            <a:ext cx="625076" cy="438912"/>
            <a:chOff x="0" y="0"/>
            <a:chExt cx="833434" cy="585216"/>
          </a:xfrm>
        </p:grpSpPr>
        <p:sp>
          <p:nvSpPr>
            <p:cNvPr name="Freeform 59" id="59"/>
            <p:cNvSpPr/>
            <p:nvPr/>
          </p:nvSpPr>
          <p:spPr>
            <a:xfrm flipH="false" flipV="false" rot="0">
              <a:off x="0" y="0"/>
              <a:ext cx="833434" cy="585216"/>
            </a:xfrm>
            <a:custGeom>
              <a:avLst/>
              <a:gdLst/>
              <a:ahLst/>
              <a:cxnLst/>
              <a:rect r="r" b="b" t="t" l="l"/>
              <a:pathLst>
                <a:path h="585216" w="833434">
                  <a:moveTo>
                    <a:pt x="0" y="0"/>
                  </a:moveTo>
                  <a:lnTo>
                    <a:pt x="833434" y="0"/>
                  </a:lnTo>
                  <a:lnTo>
                    <a:pt x="833434" y="585216"/>
                  </a:lnTo>
                  <a:lnTo>
                    <a:pt x="0" y="585216"/>
                  </a:lnTo>
                  <a:close/>
                </a:path>
              </a:pathLst>
            </a:custGeom>
            <a:blipFill>
              <a:blip r:embed="rId2">
                <a:alphaModFix amt="0"/>
              </a:blip>
              <a:stretch>
                <a:fillRect l="0" t="-29157" r="-185258" b="-29157"/>
              </a:stretch>
            </a:blipFill>
          </p:spPr>
        </p:sp>
        <p:sp>
          <p:nvSpPr>
            <p:cNvPr name="TextBox 60" id="60"/>
            <p:cNvSpPr txBox="true"/>
            <p:nvPr/>
          </p:nvSpPr>
          <p:spPr>
            <a:xfrm>
              <a:off x="0" y="-28575"/>
              <a:ext cx="833434" cy="613791"/>
            </a:xfrm>
            <a:prstGeom prst="rect">
              <a:avLst/>
            </a:prstGeom>
          </p:spPr>
          <p:txBody>
            <a:bodyPr anchor="ctr" rtlCol="false" tIns="0" lIns="0" bIns="0" rIns="0"/>
            <a:lstStyle/>
            <a:p>
              <a:pPr algn="r">
                <a:lnSpc>
                  <a:spcPts val="1889"/>
                </a:lnSpc>
              </a:pPr>
              <a:r>
                <a:rPr lang="en-US" sz="1575" b="true">
                  <a:solidFill>
                    <a:srgbClr val="00E5C7"/>
                  </a:solidFill>
                  <a:latin typeface="Consolas Bold"/>
                  <a:ea typeface="Consolas Bold"/>
                  <a:cs typeface="Consolas Bold"/>
                  <a:sym typeface="Consolas Bold"/>
                </a:rPr>
                <a:t>42</a:t>
              </a:r>
            </a:p>
          </p:txBody>
        </p:sp>
      </p:grpSp>
      <p:sp>
        <p:nvSpPr>
          <p:cNvPr name="AutoShape 61" id="61"/>
          <p:cNvSpPr/>
          <p:nvPr/>
        </p:nvSpPr>
        <p:spPr>
          <a:xfrm>
            <a:off x="9564246" y="6383564"/>
            <a:ext cx="7357114" cy="19004"/>
          </a:xfrm>
          <a:prstGeom prst="line">
            <a:avLst/>
          </a:prstGeom>
          <a:ln cap="rnd" w="9525">
            <a:solidFill>
              <a:srgbClr val="1E3358"/>
            </a:solidFill>
            <a:prstDash val="solid"/>
            <a:headEnd type="none" len="sm" w="sm"/>
            <a:tailEnd type="none" len="sm" w="sm"/>
          </a:ln>
        </p:spPr>
      </p:sp>
      <p:sp>
        <p:nvSpPr>
          <p:cNvPr name="TextBox 62" id="62"/>
          <p:cNvSpPr txBox="true"/>
          <p:nvPr/>
        </p:nvSpPr>
        <p:spPr>
          <a:xfrm rot="0">
            <a:off x="9573768" y="6600711"/>
            <a:ext cx="7338060" cy="913067"/>
          </a:xfrm>
          <a:prstGeom prst="rect">
            <a:avLst/>
          </a:prstGeom>
        </p:spPr>
        <p:txBody>
          <a:bodyPr anchor="t" rtlCol="false" tIns="0" lIns="0" bIns="0" rIns="0">
            <a:spAutoFit/>
          </a:bodyPr>
          <a:lstStyle/>
          <a:p>
            <a:pPr algn="l" marL="312182" indent="-156091" lvl="1">
              <a:lnSpc>
                <a:spcPts val="2380"/>
              </a:lnSpc>
              <a:spcBef>
                <a:spcPct val="0"/>
              </a:spcBef>
              <a:buFont typeface="Arial"/>
              <a:buChar char="•"/>
            </a:pPr>
            <a:r>
              <a:rPr lang="en-US" sz="1725" strike="noStrike" u="none">
                <a:solidFill>
                  <a:srgbClr val="9FB0C9"/>
                </a:solidFill>
                <a:latin typeface="Calibri (MS)"/>
                <a:ea typeface="Calibri (MS)"/>
                <a:cs typeface="Calibri (MS)"/>
                <a:sym typeface="Calibri (MS)"/>
              </a:rPr>
              <a:t>StratifiedKFold préserve la distribution des classes dans chaque pli</a:t>
            </a:r>
          </a:p>
          <a:p>
            <a:pPr algn="l" marL="312182" indent="-156091" lvl="1">
              <a:lnSpc>
                <a:spcPts val="2380"/>
              </a:lnSpc>
              <a:spcBef>
                <a:spcPct val="0"/>
              </a:spcBef>
              <a:buFont typeface="Arial"/>
              <a:buChar char="•"/>
            </a:pPr>
            <a:r>
              <a:rPr lang="en-US" sz="1725" strike="noStrike" u="none">
                <a:solidFill>
                  <a:srgbClr val="9FB0C9"/>
                </a:solidFill>
                <a:latin typeface="Calibri (MS)"/>
                <a:ea typeface="Calibri (MS)"/>
                <a:cs typeface="Calibri (MS)"/>
                <a:sym typeface="Calibri (MS)"/>
              </a:rPr>
              <a:t>Les poids d’échantillons sont répartis avec les index — aucune fuite de poids</a:t>
            </a:r>
          </a:p>
          <a:p>
            <a:pPr algn="l" marL="312182" indent="-156091" lvl="1">
              <a:lnSpc>
                <a:spcPts val="2380"/>
              </a:lnSpc>
              <a:spcBef>
                <a:spcPct val="0"/>
              </a:spcBef>
              <a:buFont typeface="Arial"/>
              <a:buChar char="•"/>
            </a:pPr>
            <a:r>
              <a:rPr lang="en-US" sz="1725" strike="noStrike" u="none">
                <a:solidFill>
                  <a:srgbClr val="9FB0C9"/>
                </a:solidFill>
                <a:latin typeface="Calibri (MS)"/>
                <a:ea typeface="Calibri (MS)"/>
                <a:cs typeface="Calibri (MS)"/>
                <a:sym typeface="Calibri (MS)"/>
              </a:rPr>
              <a:t>4 métriques par pli : Accuracy, Precision, Recall, F1</a:t>
            </a:r>
          </a:p>
        </p:txBody>
      </p:sp>
      <p:grpSp>
        <p:nvGrpSpPr>
          <p:cNvPr name="Group 63" id="63"/>
          <p:cNvGrpSpPr/>
          <p:nvPr/>
        </p:nvGrpSpPr>
        <p:grpSpPr>
          <a:xfrm rot="0">
            <a:off x="685800" y="9710928"/>
            <a:ext cx="10972800" cy="411480"/>
            <a:chOff x="0" y="0"/>
            <a:chExt cx="14630400" cy="548640"/>
          </a:xfrm>
        </p:grpSpPr>
        <p:sp>
          <p:nvSpPr>
            <p:cNvPr name="Freeform 64" id="6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5" id="65"/>
            <p:cNvSpPr txBox="true"/>
            <p:nvPr/>
          </p:nvSpPr>
          <p:spPr>
            <a:xfrm>
              <a:off x="0" y="-28575"/>
              <a:ext cx="14630400" cy="577215"/>
            </a:xfrm>
            <a:prstGeom prst="rect">
              <a:avLst/>
            </a:prstGeom>
          </p:spPr>
          <p:txBody>
            <a:bodyPr anchor="ctr" rtlCol="false" tIns="0" lIns="0" bIns="0" rIns="0"/>
            <a:lstStyle/>
            <a:p>
              <a:pPr algn="l" marL="0" indent="0" lvl="0">
                <a:lnSpc>
                  <a:spcPts val="1620"/>
                </a:lnSpc>
                <a:spcBef>
                  <a:spcPct val="0"/>
                </a:spcBef>
              </a:pPr>
              <a:r>
                <a:rPr lang="en-US" sz="1350" spc="149" strike="noStrike" u="none">
                  <a:solidFill>
                    <a:srgbClr val="6E84A6"/>
                  </a:solidFill>
                  <a:latin typeface="Calibri (MS)"/>
                  <a:ea typeface="Calibri (MS)"/>
                  <a:cs typeface="Calibri (MS)"/>
                  <a:sym typeface="Calibri (MS)"/>
                </a:rPr>
                <a:t>PLATEFORME MLSECOPS · INGÉNIERIE ML &amp; EXPÉRIMENTATIONS</a:t>
              </a:r>
            </a:p>
          </p:txBody>
        </p:sp>
      </p:grpSp>
      <p:grpSp>
        <p:nvGrpSpPr>
          <p:cNvPr name="Group 66" id="66"/>
          <p:cNvGrpSpPr/>
          <p:nvPr/>
        </p:nvGrpSpPr>
        <p:grpSpPr>
          <a:xfrm rot="0">
            <a:off x="16500348" y="9710928"/>
            <a:ext cx="1097280" cy="411480"/>
            <a:chOff x="0" y="0"/>
            <a:chExt cx="1463040" cy="548640"/>
          </a:xfrm>
        </p:grpSpPr>
        <p:sp>
          <p:nvSpPr>
            <p:cNvPr name="Freeform 67" id="67"/>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68" id="68"/>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18 / 32</a:t>
              </a:r>
            </a:p>
          </p:txBody>
        </p:sp>
      </p:grpSp>
      <p:sp>
        <p:nvSpPr>
          <p:cNvPr name="TextBox 69" id="69"/>
          <p:cNvSpPr txBox="true"/>
          <p:nvPr/>
        </p:nvSpPr>
        <p:spPr>
          <a:xfrm rot="0">
            <a:off x="786003" y="1851546"/>
            <a:ext cx="15403068" cy="733425"/>
          </a:xfrm>
          <a:prstGeom prst="rect">
            <a:avLst/>
          </a:prstGeom>
        </p:spPr>
        <p:txBody>
          <a:bodyPr anchor="t" rtlCol="false" tIns="0" lIns="0" bIns="0" rIns="0">
            <a:spAutoFit/>
          </a:bodyPr>
          <a:lstStyle/>
          <a:p>
            <a:pPr algn="l">
              <a:lnSpc>
                <a:spcPts val="5759"/>
              </a:lnSpc>
              <a:spcBef>
                <a:spcPct val="0"/>
              </a:spcBef>
            </a:pPr>
            <a:r>
              <a:rPr lang="en-US" b="true" sz="4800">
                <a:solidFill>
                  <a:srgbClr val="FFFFFF"/>
                </a:solidFill>
                <a:latin typeface="Cambria Bold"/>
                <a:ea typeface="Cambria Bold"/>
                <a:cs typeface="Cambria Bold"/>
                <a:sym typeface="Cambria Bold"/>
              </a:rPr>
              <a:t>Gestion du déséquilibre &amp; entraînement des modèles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marL="0" indent="0" lvl="0">
                <a:lnSpc>
                  <a:spcPts val="2250"/>
                </a:lnSpc>
                <a:spcBef>
                  <a:spcPct val="0"/>
                </a:spcBef>
              </a:pPr>
              <a:r>
                <a:rPr lang="en-US" b="true" sz="1875" spc="300" strike="noStrike" u="none">
                  <a:solidFill>
                    <a:srgbClr val="00E5C7"/>
                  </a:solidFill>
                  <a:latin typeface="Calibri (MS) Bold"/>
                  <a:ea typeface="Calibri (MS) Bold"/>
                  <a:cs typeface="Calibri (MS) Bold"/>
                  <a:sym typeface="Calibri (MS) Bold"/>
                </a:rPr>
                <a:t>INGÉNIERIE ML &amp; EXPÉRIMENTATIONS</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marL="0" indent="0" lvl="0">
                <a:lnSpc>
                  <a:spcPts val="1800"/>
                </a:lnSpc>
                <a:spcBef>
                  <a:spcPct val="0"/>
                </a:spcBef>
              </a:pPr>
              <a:r>
                <a:rPr lang="en-US" b="true" sz="1500" spc="225" strike="noStrike" u="none">
                  <a:solidFill>
                    <a:srgbClr val="00E5C7"/>
                  </a:solidFill>
                  <a:latin typeface="Calibri (MS) Bold"/>
                  <a:ea typeface="Calibri (MS) Bold"/>
                  <a:cs typeface="Calibri (MS) Bold"/>
                  <a:sym typeface="Calibri (MS) Bold"/>
                </a:rPr>
                <a:t>INTERVENANT 5</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marL="0" indent="0" lvl="0">
                <a:lnSpc>
                  <a:spcPts val="1889"/>
                </a:lnSpc>
                <a:spcBef>
                  <a:spcPct val="0"/>
                </a:spcBef>
              </a:pPr>
              <a:r>
                <a:rPr lang="en-US" sz="1575" strike="noStrike" u="none">
                  <a:solidFill>
                    <a:srgbClr val="9FB0C9"/>
                  </a:solidFill>
                  <a:latin typeface="Calibri (MS)"/>
                  <a:ea typeface="Calibri (MS)"/>
                  <a:cs typeface="Calibri (MS)"/>
                  <a:sym typeface="Calibri (MS)"/>
                </a:rPr>
                <a:t>Abderrahamane Hassani — Ingénieur ML</a:t>
              </a:r>
            </a:p>
          </p:txBody>
        </p:sp>
      </p:grpSp>
      <p:grpSp>
        <p:nvGrpSpPr>
          <p:cNvPr name="Group 11" id="11"/>
          <p:cNvGrpSpPr/>
          <p:nvPr/>
        </p:nvGrpSpPr>
        <p:grpSpPr>
          <a:xfrm rot="0">
            <a:off x="754380" y="102144"/>
            <a:ext cx="16596360" cy="3516213"/>
            <a:chOff x="0" y="0"/>
            <a:chExt cx="22128480" cy="4688284"/>
          </a:xfrm>
        </p:grpSpPr>
        <p:sp>
          <p:nvSpPr>
            <p:cNvPr name="Freeform 12" id="12"/>
            <p:cNvSpPr/>
            <p:nvPr/>
          </p:nvSpPr>
          <p:spPr>
            <a:xfrm flipH="false" flipV="false" rot="0">
              <a:off x="0" y="0"/>
              <a:ext cx="22128480" cy="4688284"/>
            </a:xfrm>
            <a:custGeom>
              <a:avLst/>
              <a:gdLst/>
              <a:ahLst/>
              <a:cxnLst/>
              <a:rect r="r" b="b" t="t" l="l"/>
              <a:pathLst>
                <a:path h="4688284" w="22128480">
                  <a:moveTo>
                    <a:pt x="0" y="0"/>
                  </a:moveTo>
                  <a:lnTo>
                    <a:pt x="22128480" y="0"/>
                  </a:lnTo>
                  <a:lnTo>
                    <a:pt x="22128480" y="4688284"/>
                  </a:lnTo>
                  <a:lnTo>
                    <a:pt x="0" y="4688284"/>
                  </a:lnTo>
                  <a:close/>
                </a:path>
              </a:pathLst>
            </a:custGeom>
            <a:blipFill>
              <a:blip r:embed="rId2">
                <a:alphaModFix amt="0"/>
              </a:blip>
              <a:stretch>
                <a:fillRect l="0" t="-73439" r="0" b="-10497"/>
              </a:stretch>
            </a:blipFill>
          </p:spPr>
        </p:sp>
        <p:sp>
          <p:nvSpPr>
            <p:cNvPr name="TextBox 13" id="13"/>
            <p:cNvSpPr txBox="true"/>
            <p:nvPr/>
          </p:nvSpPr>
          <p:spPr>
            <a:xfrm>
              <a:off x="0" y="-9525"/>
              <a:ext cx="22128480" cy="4697809"/>
            </a:xfrm>
            <a:prstGeom prst="rect">
              <a:avLst/>
            </a:prstGeom>
          </p:spPr>
          <p:txBody>
            <a:bodyPr anchor="ctr" rtlCol="false" tIns="0" lIns="0" bIns="0" rIns="0"/>
            <a:lstStyle/>
            <a:p>
              <a:pPr algn="l" marL="0" indent="0" lvl="0">
                <a:lnSpc>
                  <a:spcPts val="5759"/>
                </a:lnSpc>
                <a:spcBef>
                  <a:spcPct val="0"/>
                </a:spcBef>
              </a:pPr>
              <a:r>
                <a:rPr lang="en-US" b="true" sz="4800" strike="noStrike" u="none">
                  <a:solidFill>
                    <a:srgbClr val="FFFFFF"/>
                  </a:solidFill>
                  <a:latin typeface="Cambria Bold"/>
                  <a:ea typeface="Cambria Bold"/>
                  <a:cs typeface="Cambria Bold"/>
                  <a:sym typeface="Cambria Bold"/>
                </a:rPr>
                <a:t>Expérimentation &amp; suivi MLflow</a:t>
              </a:r>
            </a:p>
          </p:txBody>
        </p:sp>
      </p:grpSp>
      <p:grpSp>
        <p:nvGrpSpPr>
          <p:cNvPr name="Group 14" id="14"/>
          <p:cNvGrpSpPr/>
          <p:nvPr/>
        </p:nvGrpSpPr>
        <p:grpSpPr>
          <a:xfrm rot="0">
            <a:off x="754380" y="2433016"/>
            <a:ext cx="16184880" cy="754380"/>
            <a:chOff x="0" y="0"/>
            <a:chExt cx="21579840" cy="1005840"/>
          </a:xfrm>
        </p:grpSpPr>
        <p:sp>
          <p:nvSpPr>
            <p:cNvPr name="Freeform 15" id="15"/>
            <p:cNvSpPr/>
            <p:nvPr/>
          </p:nvSpPr>
          <p:spPr>
            <a:xfrm flipH="false" flipV="false" rot="0">
              <a:off x="0" y="0"/>
              <a:ext cx="21579839" cy="1005840"/>
            </a:xfrm>
            <a:custGeom>
              <a:avLst/>
              <a:gdLst/>
              <a:ahLst/>
              <a:cxnLst/>
              <a:rect r="r" b="b" t="t" l="l"/>
              <a:pathLst>
                <a:path h="1005840" w="21579839">
                  <a:moveTo>
                    <a:pt x="0" y="0"/>
                  </a:moveTo>
                  <a:lnTo>
                    <a:pt x="21579839" y="0"/>
                  </a:lnTo>
                  <a:lnTo>
                    <a:pt x="21579839" y="1005840"/>
                  </a:lnTo>
                  <a:lnTo>
                    <a:pt x="0" y="1005840"/>
                  </a:lnTo>
                  <a:close/>
                </a:path>
              </a:pathLst>
            </a:custGeom>
            <a:blipFill>
              <a:blip r:embed="rId2">
                <a:alphaModFix amt="0"/>
              </a:blip>
              <a:stretch>
                <a:fillRect l="0" t="-368042" r="0" b="-368042"/>
              </a:stretch>
            </a:blipFill>
          </p:spPr>
        </p:sp>
        <p:sp>
          <p:nvSpPr>
            <p:cNvPr name="TextBox 16" id="16"/>
            <p:cNvSpPr txBox="true"/>
            <p:nvPr/>
          </p:nvSpPr>
          <p:spPr>
            <a:xfrm>
              <a:off x="0" y="-47625"/>
              <a:ext cx="21579840" cy="1053465"/>
            </a:xfrm>
            <a:prstGeom prst="rect">
              <a:avLst/>
            </a:prstGeom>
          </p:spPr>
          <p:txBody>
            <a:bodyPr anchor="ctr" rtlCol="false" tIns="0" lIns="0" bIns="0" rIns="0"/>
            <a:lstStyle/>
            <a:p>
              <a:pPr algn="l" marL="0" indent="0" lvl="0">
                <a:lnSpc>
                  <a:spcPts val="2340"/>
                </a:lnSpc>
                <a:spcBef>
                  <a:spcPct val="0"/>
                </a:spcBef>
              </a:pPr>
              <a:r>
                <a:rPr lang="en-US" sz="1950" i="true" strike="noStrike" u="none">
                  <a:solidFill>
                    <a:srgbClr val="9FB0C9"/>
                  </a:solidFill>
                  <a:latin typeface="Calibri (MS) Italics"/>
                  <a:ea typeface="Calibri (MS) Italics"/>
                  <a:cs typeface="Calibri (MS) Italics"/>
                  <a:sym typeface="Calibri (MS) Italics"/>
                </a:rPr>
                <a:t>Chaque entraînement est journalisé — hyperparamètres, métriques et artefacts du modèle — sur un serveur de suivi centralisé adossé à SQLite.</a:t>
              </a:r>
            </a:p>
          </p:txBody>
        </p:sp>
      </p:grpSp>
      <p:grpSp>
        <p:nvGrpSpPr>
          <p:cNvPr name="Group 17" id="17"/>
          <p:cNvGrpSpPr/>
          <p:nvPr/>
        </p:nvGrpSpPr>
        <p:grpSpPr>
          <a:xfrm rot="0">
            <a:off x="813435" y="3488055"/>
            <a:ext cx="3105150" cy="2282190"/>
            <a:chOff x="0" y="0"/>
            <a:chExt cx="4140200" cy="3042920"/>
          </a:xfrm>
        </p:grpSpPr>
        <p:sp>
          <p:nvSpPr>
            <p:cNvPr name="Freeform 18" id="18"/>
            <p:cNvSpPr/>
            <p:nvPr/>
          </p:nvSpPr>
          <p:spPr>
            <a:xfrm flipH="false" flipV="false" rot="0">
              <a:off x="0" y="0"/>
              <a:ext cx="4140200" cy="3042920"/>
            </a:xfrm>
            <a:custGeom>
              <a:avLst/>
              <a:gdLst/>
              <a:ahLst/>
              <a:cxnLst/>
              <a:rect r="r" b="b" t="t" l="l"/>
              <a:pathLst>
                <a:path h="3042920" w="4140200">
                  <a:moveTo>
                    <a:pt x="0" y="147574"/>
                  </a:moveTo>
                  <a:cubicBezTo>
                    <a:pt x="0" y="66040"/>
                    <a:pt x="66040" y="0"/>
                    <a:pt x="147574" y="0"/>
                  </a:cubicBezTo>
                  <a:lnTo>
                    <a:pt x="3992626" y="0"/>
                  </a:lnTo>
                  <a:cubicBezTo>
                    <a:pt x="4074160" y="0"/>
                    <a:pt x="4140200" y="66040"/>
                    <a:pt x="4140200" y="147574"/>
                  </a:cubicBezTo>
                  <a:lnTo>
                    <a:pt x="4140200" y="2895346"/>
                  </a:lnTo>
                  <a:cubicBezTo>
                    <a:pt x="4140200" y="2976880"/>
                    <a:pt x="4074160" y="3042920"/>
                    <a:pt x="3992626" y="3042920"/>
                  </a:cubicBezTo>
                  <a:lnTo>
                    <a:pt x="147574" y="3042920"/>
                  </a:lnTo>
                  <a:cubicBezTo>
                    <a:pt x="66040" y="3042920"/>
                    <a:pt x="0" y="2976880"/>
                    <a:pt x="0" y="2895346"/>
                  </a:cubicBezTo>
                  <a:close/>
                </a:path>
              </a:pathLst>
            </a:custGeom>
            <a:solidFill>
              <a:srgbClr val="0F2038"/>
            </a:solidFill>
            <a:ln w="19050" cap="sq">
              <a:solidFill>
                <a:srgbClr val="1E3358"/>
              </a:solidFill>
              <a:prstDash val="solid"/>
              <a:miter/>
            </a:ln>
          </p:spPr>
        </p:sp>
      </p:grpSp>
      <p:grpSp>
        <p:nvGrpSpPr>
          <p:cNvPr name="Group 19" id="19"/>
          <p:cNvGrpSpPr/>
          <p:nvPr/>
        </p:nvGrpSpPr>
        <p:grpSpPr>
          <a:xfrm rot="0">
            <a:off x="987552" y="3799332"/>
            <a:ext cx="2756916" cy="754380"/>
            <a:chOff x="0" y="0"/>
            <a:chExt cx="3675888" cy="1005840"/>
          </a:xfrm>
        </p:grpSpPr>
        <p:sp>
          <p:nvSpPr>
            <p:cNvPr name="Freeform 20" id="20"/>
            <p:cNvSpPr/>
            <p:nvPr/>
          </p:nvSpPr>
          <p:spPr>
            <a:xfrm flipH="false" flipV="false" rot="0">
              <a:off x="0" y="0"/>
              <a:ext cx="3675888" cy="1005840"/>
            </a:xfrm>
            <a:custGeom>
              <a:avLst/>
              <a:gdLst/>
              <a:ahLst/>
              <a:cxnLst/>
              <a:rect r="r" b="b" t="t" l="l"/>
              <a:pathLst>
                <a:path h="1005840" w="3675888">
                  <a:moveTo>
                    <a:pt x="0" y="0"/>
                  </a:moveTo>
                  <a:lnTo>
                    <a:pt x="3675888" y="0"/>
                  </a:lnTo>
                  <a:lnTo>
                    <a:pt x="3675888" y="1005840"/>
                  </a:lnTo>
                  <a:lnTo>
                    <a:pt x="0" y="1005840"/>
                  </a:lnTo>
                  <a:close/>
                </a:path>
              </a:pathLst>
            </a:custGeom>
            <a:blipFill>
              <a:blip r:embed="rId2">
                <a:alphaModFix amt="0"/>
              </a:blip>
              <a:stretch>
                <a:fillRect l="0" t="-21208" r="0" b="-21208"/>
              </a:stretch>
            </a:blipFill>
          </p:spPr>
        </p:sp>
        <p:sp>
          <p:nvSpPr>
            <p:cNvPr name="TextBox 21" id="21"/>
            <p:cNvSpPr txBox="true"/>
            <p:nvPr/>
          </p:nvSpPr>
          <p:spPr>
            <a:xfrm>
              <a:off x="0" y="-38100"/>
              <a:ext cx="3675888" cy="1043940"/>
            </a:xfrm>
            <a:prstGeom prst="rect">
              <a:avLst/>
            </a:prstGeom>
          </p:spPr>
          <p:txBody>
            <a:bodyPr anchor="ctr" rtlCol="false" tIns="0" lIns="0" bIns="0" rIns="0"/>
            <a:lstStyle/>
            <a:p>
              <a:pPr algn="ctr" marL="0" indent="0" lvl="0">
                <a:lnSpc>
                  <a:spcPts val="2160"/>
                </a:lnSpc>
                <a:spcBef>
                  <a:spcPct val="0"/>
                </a:spcBef>
              </a:pPr>
              <a:r>
                <a:rPr lang="en-US" b="true" sz="1800" strike="noStrike" u="none">
                  <a:solidFill>
                    <a:srgbClr val="FFFFFF"/>
                  </a:solidFill>
                  <a:latin typeface="Calibri (MS) Bold"/>
                  <a:ea typeface="Calibri (MS) Bold"/>
                  <a:cs typeface="Calibri (MS) Bold"/>
                  <a:sym typeface="Calibri (MS) Bold"/>
                </a:rPr>
                <a:t>Définir l’expérience</a:t>
              </a:r>
            </a:p>
          </p:txBody>
        </p:sp>
      </p:grpSp>
      <p:grpSp>
        <p:nvGrpSpPr>
          <p:cNvPr name="Group 22" id="22"/>
          <p:cNvGrpSpPr/>
          <p:nvPr/>
        </p:nvGrpSpPr>
        <p:grpSpPr>
          <a:xfrm rot="0">
            <a:off x="987552" y="4732020"/>
            <a:ext cx="2756916" cy="891540"/>
            <a:chOff x="0" y="0"/>
            <a:chExt cx="3675888" cy="1188720"/>
          </a:xfrm>
        </p:grpSpPr>
        <p:sp>
          <p:nvSpPr>
            <p:cNvPr name="Freeform 23" id="23"/>
            <p:cNvSpPr/>
            <p:nvPr/>
          </p:nvSpPr>
          <p:spPr>
            <a:xfrm flipH="false" flipV="false" rot="0">
              <a:off x="0" y="0"/>
              <a:ext cx="3675888" cy="1188720"/>
            </a:xfrm>
            <a:custGeom>
              <a:avLst/>
              <a:gdLst/>
              <a:ahLst/>
              <a:cxnLst/>
              <a:rect r="r" b="b" t="t" l="l"/>
              <a:pathLst>
                <a:path h="1188720" w="3675888">
                  <a:moveTo>
                    <a:pt x="0" y="0"/>
                  </a:moveTo>
                  <a:lnTo>
                    <a:pt x="3675888" y="0"/>
                  </a:lnTo>
                  <a:lnTo>
                    <a:pt x="3675888" y="1188720"/>
                  </a:lnTo>
                  <a:lnTo>
                    <a:pt x="0" y="1188720"/>
                  </a:lnTo>
                  <a:close/>
                </a:path>
              </a:pathLst>
            </a:custGeom>
            <a:blipFill>
              <a:blip r:embed="rId2">
                <a:alphaModFix amt="0"/>
              </a:blip>
              <a:stretch>
                <a:fillRect l="0" t="-10253" r="0" b="-10253"/>
              </a:stretch>
            </a:blipFill>
          </p:spPr>
        </p:sp>
        <p:sp>
          <p:nvSpPr>
            <p:cNvPr name="TextBox 24" id="24"/>
            <p:cNvSpPr txBox="true"/>
            <p:nvPr/>
          </p:nvSpPr>
          <p:spPr>
            <a:xfrm>
              <a:off x="0" y="-38100"/>
              <a:ext cx="3675888" cy="1226820"/>
            </a:xfrm>
            <a:prstGeom prst="rect">
              <a:avLst/>
            </a:prstGeom>
          </p:spPr>
          <p:txBody>
            <a:bodyPr anchor="ctr" rtlCol="false" tIns="0" lIns="0" bIns="0" rIns="0"/>
            <a:lstStyle/>
            <a:p>
              <a:pPr algn="ctr">
                <a:lnSpc>
                  <a:spcPts val="1709"/>
                </a:lnSpc>
              </a:pPr>
              <a:r>
                <a:rPr lang="en-US" sz="1425">
                  <a:solidFill>
                    <a:srgbClr val="00E5C7"/>
                  </a:solidFill>
                  <a:latin typeface="Calibri (MS)"/>
                  <a:ea typeface="Calibri (MS)"/>
                  <a:cs typeface="Calibri (MS)"/>
                  <a:sym typeface="Calibri (MS)"/>
                </a:rPr>
                <a:t>network-anomaly-detection</a:t>
              </a:r>
            </a:p>
          </p:txBody>
        </p:sp>
      </p:grpSp>
      <p:sp>
        <p:nvSpPr>
          <p:cNvPr name="AutoShape 25" id="25"/>
          <p:cNvSpPr/>
          <p:nvPr/>
        </p:nvSpPr>
        <p:spPr>
          <a:xfrm rot="471840">
            <a:off x="3921223" y="4619625"/>
            <a:ext cx="208845" cy="0"/>
          </a:xfrm>
          <a:prstGeom prst="line">
            <a:avLst/>
          </a:prstGeom>
          <a:ln cap="rnd" w="19050">
            <a:solidFill>
              <a:srgbClr val="6E84A6"/>
            </a:solidFill>
            <a:prstDash val="solid"/>
            <a:headEnd type="none" len="sm" w="sm"/>
            <a:tailEnd type="triangle" len="med" w="lg"/>
          </a:ln>
        </p:spPr>
      </p:sp>
      <p:grpSp>
        <p:nvGrpSpPr>
          <p:cNvPr name="Group 26" id="26"/>
          <p:cNvGrpSpPr/>
          <p:nvPr/>
        </p:nvGrpSpPr>
        <p:grpSpPr>
          <a:xfrm rot="0">
            <a:off x="4132707" y="3488055"/>
            <a:ext cx="3105150" cy="2282190"/>
            <a:chOff x="0" y="0"/>
            <a:chExt cx="4140200" cy="3042920"/>
          </a:xfrm>
        </p:grpSpPr>
        <p:sp>
          <p:nvSpPr>
            <p:cNvPr name="Freeform 27" id="27"/>
            <p:cNvSpPr/>
            <p:nvPr/>
          </p:nvSpPr>
          <p:spPr>
            <a:xfrm flipH="false" flipV="false" rot="0">
              <a:off x="0" y="0"/>
              <a:ext cx="4140200" cy="3042920"/>
            </a:xfrm>
            <a:custGeom>
              <a:avLst/>
              <a:gdLst/>
              <a:ahLst/>
              <a:cxnLst/>
              <a:rect r="r" b="b" t="t" l="l"/>
              <a:pathLst>
                <a:path h="3042920" w="4140200">
                  <a:moveTo>
                    <a:pt x="0" y="147574"/>
                  </a:moveTo>
                  <a:cubicBezTo>
                    <a:pt x="0" y="66040"/>
                    <a:pt x="66040" y="0"/>
                    <a:pt x="147574" y="0"/>
                  </a:cubicBezTo>
                  <a:lnTo>
                    <a:pt x="3992626" y="0"/>
                  </a:lnTo>
                  <a:cubicBezTo>
                    <a:pt x="4074160" y="0"/>
                    <a:pt x="4140200" y="66040"/>
                    <a:pt x="4140200" y="147574"/>
                  </a:cubicBezTo>
                  <a:lnTo>
                    <a:pt x="4140200" y="2895346"/>
                  </a:lnTo>
                  <a:cubicBezTo>
                    <a:pt x="4140200" y="2976880"/>
                    <a:pt x="4074160" y="3042920"/>
                    <a:pt x="3992626" y="3042920"/>
                  </a:cubicBezTo>
                  <a:lnTo>
                    <a:pt x="147574" y="3042920"/>
                  </a:lnTo>
                  <a:cubicBezTo>
                    <a:pt x="66040" y="3042920"/>
                    <a:pt x="0" y="2976880"/>
                    <a:pt x="0" y="2895346"/>
                  </a:cubicBezTo>
                  <a:close/>
                </a:path>
              </a:pathLst>
            </a:custGeom>
            <a:solidFill>
              <a:srgbClr val="0F2038"/>
            </a:solidFill>
            <a:ln w="19050" cap="sq">
              <a:solidFill>
                <a:srgbClr val="1E3358"/>
              </a:solidFill>
              <a:prstDash val="solid"/>
              <a:miter/>
            </a:ln>
          </p:spPr>
        </p:sp>
      </p:grpSp>
      <p:grpSp>
        <p:nvGrpSpPr>
          <p:cNvPr name="Group 28" id="28"/>
          <p:cNvGrpSpPr/>
          <p:nvPr/>
        </p:nvGrpSpPr>
        <p:grpSpPr>
          <a:xfrm rot="0">
            <a:off x="4306824" y="3799332"/>
            <a:ext cx="2756916" cy="754380"/>
            <a:chOff x="0" y="0"/>
            <a:chExt cx="3675888" cy="1005840"/>
          </a:xfrm>
        </p:grpSpPr>
        <p:sp>
          <p:nvSpPr>
            <p:cNvPr name="Freeform 29" id="29"/>
            <p:cNvSpPr/>
            <p:nvPr/>
          </p:nvSpPr>
          <p:spPr>
            <a:xfrm flipH="false" flipV="false" rot="0">
              <a:off x="0" y="0"/>
              <a:ext cx="3675888" cy="1005840"/>
            </a:xfrm>
            <a:custGeom>
              <a:avLst/>
              <a:gdLst/>
              <a:ahLst/>
              <a:cxnLst/>
              <a:rect r="r" b="b" t="t" l="l"/>
              <a:pathLst>
                <a:path h="1005840" w="3675888">
                  <a:moveTo>
                    <a:pt x="0" y="0"/>
                  </a:moveTo>
                  <a:lnTo>
                    <a:pt x="3675888" y="0"/>
                  </a:lnTo>
                  <a:lnTo>
                    <a:pt x="3675888" y="1005840"/>
                  </a:lnTo>
                  <a:lnTo>
                    <a:pt x="0" y="1005840"/>
                  </a:lnTo>
                  <a:close/>
                </a:path>
              </a:pathLst>
            </a:custGeom>
            <a:blipFill>
              <a:blip r:embed="rId2">
                <a:alphaModFix amt="0"/>
              </a:blip>
              <a:stretch>
                <a:fillRect l="0" t="-21208" r="0" b="-21208"/>
              </a:stretch>
            </a:blipFill>
          </p:spPr>
        </p:sp>
        <p:sp>
          <p:nvSpPr>
            <p:cNvPr name="TextBox 30" id="30"/>
            <p:cNvSpPr txBox="true"/>
            <p:nvPr/>
          </p:nvSpPr>
          <p:spPr>
            <a:xfrm>
              <a:off x="0" y="-38100"/>
              <a:ext cx="3675888" cy="1043940"/>
            </a:xfrm>
            <a:prstGeom prst="rect">
              <a:avLst/>
            </a:prstGeom>
          </p:spPr>
          <p:txBody>
            <a:bodyPr anchor="ctr" rtlCol="false" tIns="0" lIns="0" bIns="0" rIns="0"/>
            <a:lstStyle/>
            <a:p>
              <a:pPr algn="ctr" marL="0" indent="0" lvl="0">
                <a:lnSpc>
                  <a:spcPts val="2160"/>
                </a:lnSpc>
                <a:spcBef>
                  <a:spcPct val="0"/>
                </a:spcBef>
              </a:pPr>
              <a:r>
                <a:rPr lang="en-US" b="true" sz="1800" strike="noStrike" u="none">
                  <a:solidFill>
                    <a:srgbClr val="FFFFFF"/>
                  </a:solidFill>
                  <a:latin typeface="Calibri (MS) Bold"/>
                  <a:ea typeface="Calibri (MS) Bold"/>
                  <a:cs typeface="Calibri (MS) Bold"/>
                  <a:sym typeface="Calibri (MS) Bold"/>
                </a:rPr>
                <a:t>Journaliser les paramètres</a:t>
              </a:r>
            </a:p>
          </p:txBody>
        </p:sp>
      </p:grpSp>
      <p:grpSp>
        <p:nvGrpSpPr>
          <p:cNvPr name="Group 31" id="31"/>
          <p:cNvGrpSpPr/>
          <p:nvPr/>
        </p:nvGrpSpPr>
        <p:grpSpPr>
          <a:xfrm rot="0">
            <a:off x="4306824" y="4732020"/>
            <a:ext cx="2756916" cy="891540"/>
            <a:chOff x="0" y="0"/>
            <a:chExt cx="3675888" cy="1188720"/>
          </a:xfrm>
        </p:grpSpPr>
        <p:sp>
          <p:nvSpPr>
            <p:cNvPr name="Freeform 32" id="32"/>
            <p:cNvSpPr/>
            <p:nvPr/>
          </p:nvSpPr>
          <p:spPr>
            <a:xfrm flipH="false" flipV="false" rot="0">
              <a:off x="0" y="0"/>
              <a:ext cx="3675888" cy="1188720"/>
            </a:xfrm>
            <a:custGeom>
              <a:avLst/>
              <a:gdLst/>
              <a:ahLst/>
              <a:cxnLst/>
              <a:rect r="r" b="b" t="t" l="l"/>
              <a:pathLst>
                <a:path h="1188720" w="3675888">
                  <a:moveTo>
                    <a:pt x="0" y="0"/>
                  </a:moveTo>
                  <a:lnTo>
                    <a:pt x="3675888" y="0"/>
                  </a:lnTo>
                  <a:lnTo>
                    <a:pt x="3675888" y="1188720"/>
                  </a:lnTo>
                  <a:lnTo>
                    <a:pt x="0" y="1188720"/>
                  </a:lnTo>
                  <a:close/>
                </a:path>
              </a:pathLst>
            </a:custGeom>
            <a:blipFill>
              <a:blip r:embed="rId2">
                <a:alphaModFix amt="0"/>
              </a:blip>
              <a:stretch>
                <a:fillRect l="0" t="-10253" r="0" b="-10253"/>
              </a:stretch>
            </a:blipFill>
          </p:spPr>
        </p:sp>
        <p:sp>
          <p:nvSpPr>
            <p:cNvPr name="TextBox 33" id="33"/>
            <p:cNvSpPr txBox="true"/>
            <p:nvPr/>
          </p:nvSpPr>
          <p:spPr>
            <a:xfrm>
              <a:off x="0" y="-38100"/>
              <a:ext cx="3675888" cy="1226820"/>
            </a:xfrm>
            <a:prstGeom prst="rect">
              <a:avLst/>
            </a:prstGeom>
          </p:spPr>
          <p:txBody>
            <a:bodyPr anchor="ctr" rtlCol="false" tIns="0" lIns="0" bIns="0" rIns="0"/>
            <a:lstStyle/>
            <a:p>
              <a:pPr algn="ctr" marL="0" indent="0" lvl="0">
                <a:lnSpc>
                  <a:spcPts val="1709"/>
                </a:lnSpc>
                <a:spcBef>
                  <a:spcPct val="0"/>
                </a:spcBef>
              </a:pPr>
              <a:r>
                <a:rPr lang="en-US" sz="1425" strike="noStrike" u="none">
                  <a:solidFill>
                    <a:srgbClr val="00E5C7"/>
                  </a:solidFill>
                  <a:latin typeface="Calibri (MS)"/>
                  <a:ea typeface="Calibri (MS)"/>
                  <a:cs typeface="Calibri (MS)"/>
                  <a:sym typeface="Calibri (MS)"/>
                </a:rPr>
                <a:t>n_estimators, depth, features</a:t>
              </a:r>
            </a:p>
          </p:txBody>
        </p:sp>
      </p:grpSp>
      <p:sp>
        <p:nvSpPr>
          <p:cNvPr name="AutoShape 34" id="34"/>
          <p:cNvSpPr/>
          <p:nvPr/>
        </p:nvSpPr>
        <p:spPr>
          <a:xfrm rot="471840">
            <a:off x="7240495" y="4619625"/>
            <a:ext cx="208845" cy="0"/>
          </a:xfrm>
          <a:prstGeom prst="line">
            <a:avLst/>
          </a:prstGeom>
          <a:ln cap="rnd" w="19050">
            <a:solidFill>
              <a:srgbClr val="6E84A6"/>
            </a:solidFill>
            <a:prstDash val="solid"/>
            <a:headEnd type="none" len="sm" w="sm"/>
            <a:tailEnd type="triangle" len="med" w="lg"/>
          </a:ln>
        </p:spPr>
      </p:sp>
      <p:grpSp>
        <p:nvGrpSpPr>
          <p:cNvPr name="Group 35" id="35"/>
          <p:cNvGrpSpPr/>
          <p:nvPr/>
        </p:nvGrpSpPr>
        <p:grpSpPr>
          <a:xfrm rot="0">
            <a:off x="7451979" y="3488055"/>
            <a:ext cx="3105150" cy="2282190"/>
            <a:chOff x="0" y="0"/>
            <a:chExt cx="4140200" cy="3042920"/>
          </a:xfrm>
        </p:grpSpPr>
        <p:sp>
          <p:nvSpPr>
            <p:cNvPr name="Freeform 36" id="36"/>
            <p:cNvSpPr/>
            <p:nvPr/>
          </p:nvSpPr>
          <p:spPr>
            <a:xfrm flipH="false" flipV="false" rot="0">
              <a:off x="0" y="0"/>
              <a:ext cx="4140200" cy="3042920"/>
            </a:xfrm>
            <a:custGeom>
              <a:avLst/>
              <a:gdLst/>
              <a:ahLst/>
              <a:cxnLst/>
              <a:rect r="r" b="b" t="t" l="l"/>
              <a:pathLst>
                <a:path h="3042920" w="4140200">
                  <a:moveTo>
                    <a:pt x="0" y="147574"/>
                  </a:moveTo>
                  <a:cubicBezTo>
                    <a:pt x="0" y="66040"/>
                    <a:pt x="66040" y="0"/>
                    <a:pt x="147574" y="0"/>
                  </a:cubicBezTo>
                  <a:lnTo>
                    <a:pt x="3992626" y="0"/>
                  </a:lnTo>
                  <a:cubicBezTo>
                    <a:pt x="4074160" y="0"/>
                    <a:pt x="4140200" y="66040"/>
                    <a:pt x="4140200" y="147574"/>
                  </a:cubicBezTo>
                  <a:lnTo>
                    <a:pt x="4140200" y="2895346"/>
                  </a:lnTo>
                  <a:cubicBezTo>
                    <a:pt x="4140200" y="2976880"/>
                    <a:pt x="4074160" y="3042920"/>
                    <a:pt x="3992626" y="3042920"/>
                  </a:cubicBezTo>
                  <a:lnTo>
                    <a:pt x="147574" y="3042920"/>
                  </a:lnTo>
                  <a:cubicBezTo>
                    <a:pt x="66040" y="3042920"/>
                    <a:pt x="0" y="2976880"/>
                    <a:pt x="0" y="2895346"/>
                  </a:cubicBezTo>
                  <a:close/>
                </a:path>
              </a:pathLst>
            </a:custGeom>
            <a:solidFill>
              <a:srgbClr val="0F2038"/>
            </a:solidFill>
            <a:ln w="19050" cap="sq">
              <a:solidFill>
                <a:srgbClr val="1E3358"/>
              </a:solidFill>
              <a:prstDash val="solid"/>
              <a:miter/>
            </a:ln>
          </p:spPr>
        </p:sp>
      </p:grpSp>
      <p:grpSp>
        <p:nvGrpSpPr>
          <p:cNvPr name="Group 37" id="37"/>
          <p:cNvGrpSpPr/>
          <p:nvPr/>
        </p:nvGrpSpPr>
        <p:grpSpPr>
          <a:xfrm rot="0">
            <a:off x="7626096" y="3799332"/>
            <a:ext cx="2756916" cy="754380"/>
            <a:chOff x="0" y="0"/>
            <a:chExt cx="3675888" cy="1005840"/>
          </a:xfrm>
        </p:grpSpPr>
        <p:sp>
          <p:nvSpPr>
            <p:cNvPr name="Freeform 38" id="38"/>
            <p:cNvSpPr/>
            <p:nvPr/>
          </p:nvSpPr>
          <p:spPr>
            <a:xfrm flipH="false" flipV="false" rot="0">
              <a:off x="0" y="0"/>
              <a:ext cx="3675888" cy="1005840"/>
            </a:xfrm>
            <a:custGeom>
              <a:avLst/>
              <a:gdLst/>
              <a:ahLst/>
              <a:cxnLst/>
              <a:rect r="r" b="b" t="t" l="l"/>
              <a:pathLst>
                <a:path h="1005840" w="3675888">
                  <a:moveTo>
                    <a:pt x="0" y="0"/>
                  </a:moveTo>
                  <a:lnTo>
                    <a:pt x="3675888" y="0"/>
                  </a:lnTo>
                  <a:lnTo>
                    <a:pt x="3675888" y="1005840"/>
                  </a:lnTo>
                  <a:lnTo>
                    <a:pt x="0" y="1005840"/>
                  </a:lnTo>
                  <a:close/>
                </a:path>
              </a:pathLst>
            </a:custGeom>
            <a:blipFill>
              <a:blip r:embed="rId2">
                <a:alphaModFix amt="0"/>
              </a:blip>
              <a:stretch>
                <a:fillRect l="0" t="-21208" r="0" b="-21208"/>
              </a:stretch>
            </a:blipFill>
          </p:spPr>
        </p:sp>
        <p:sp>
          <p:nvSpPr>
            <p:cNvPr name="TextBox 39" id="39"/>
            <p:cNvSpPr txBox="true"/>
            <p:nvPr/>
          </p:nvSpPr>
          <p:spPr>
            <a:xfrm>
              <a:off x="0" y="-38100"/>
              <a:ext cx="3675888" cy="1043940"/>
            </a:xfrm>
            <a:prstGeom prst="rect">
              <a:avLst/>
            </a:prstGeom>
          </p:spPr>
          <p:txBody>
            <a:bodyPr anchor="ctr" rtlCol="false" tIns="0" lIns="0" bIns="0" rIns="0"/>
            <a:lstStyle/>
            <a:p>
              <a:pPr algn="ctr" marL="0" indent="0" lvl="0">
                <a:lnSpc>
                  <a:spcPts val="2160"/>
                </a:lnSpc>
                <a:spcBef>
                  <a:spcPct val="0"/>
                </a:spcBef>
              </a:pPr>
              <a:r>
                <a:rPr lang="en-US" b="true" sz="1800" strike="noStrike" u="none">
                  <a:solidFill>
                    <a:srgbClr val="FFFFFF"/>
                  </a:solidFill>
                  <a:latin typeface="Calibri (MS) Bold"/>
                  <a:ea typeface="Calibri (MS) Bold"/>
                  <a:cs typeface="Calibri (MS) Bold"/>
                  <a:sym typeface="Calibri (MS) Bold"/>
                </a:rPr>
                <a:t>Entraîner + CV</a:t>
              </a:r>
            </a:p>
          </p:txBody>
        </p:sp>
      </p:grpSp>
      <p:grpSp>
        <p:nvGrpSpPr>
          <p:cNvPr name="Group 40" id="40"/>
          <p:cNvGrpSpPr/>
          <p:nvPr/>
        </p:nvGrpSpPr>
        <p:grpSpPr>
          <a:xfrm rot="0">
            <a:off x="7626096" y="4732020"/>
            <a:ext cx="2756916" cy="891540"/>
            <a:chOff x="0" y="0"/>
            <a:chExt cx="3675888" cy="1188720"/>
          </a:xfrm>
        </p:grpSpPr>
        <p:sp>
          <p:nvSpPr>
            <p:cNvPr name="Freeform 41" id="41"/>
            <p:cNvSpPr/>
            <p:nvPr/>
          </p:nvSpPr>
          <p:spPr>
            <a:xfrm flipH="false" flipV="false" rot="0">
              <a:off x="0" y="0"/>
              <a:ext cx="3675888" cy="1188720"/>
            </a:xfrm>
            <a:custGeom>
              <a:avLst/>
              <a:gdLst/>
              <a:ahLst/>
              <a:cxnLst/>
              <a:rect r="r" b="b" t="t" l="l"/>
              <a:pathLst>
                <a:path h="1188720" w="3675888">
                  <a:moveTo>
                    <a:pt x="0" y="0"/>
                  </a:moveTo>
                  <a:lnTo>
                    <a:pt x="3675888" y="0"/>
                  </a:lnTo>
                  <a:lnTo>
                    <a:pt x="3675888" y="1188720"/>
                  </a:lnTo>
                  <a:lnTo>
                    <a:pt x="0" y="1188720"/>
                  </a:lnTo>
                  <a:close/>
                </a:path>
              </a:pathLst>
            </a:custGeom>
            <a:blipFill>
              <a:blip r:embed="rId2">
                <a:alphaModFix amt="0"/>
              </a:blip>
              <a:stretch>
                <a:fillRect l="0" t="-10253" r="0" b="-10253"/>
              </a:stretch>
            </a:blipFill>
          </p:spPr>
        </p:sp>
        <p:sp>
          <p:nvSpPr>
            <p:cNvPr name="TextBox 42" id="42"/>
            <p:cNvSpPr txBox="true"/>
            <p:nvPr/>
          </p:nvSpPr>
          <p:spPr>
            <a:xfrm>
              <a:off x="0" y="-38100"/>
              <a:ext cx="3675888" cy="1226820"/>
            </a:xfrm>
            <a:prstGeom prst="rect">
              <a:avLst/>
            </a:prstGeom>
          </p:spPr>
          <p:txBody>
            <a:bodyPr anchor="ctr" rtlCol="false" tIns="0" lIns="0" bIns="0" rIns="0"/>
            <a:lstStyle/>
            <a:p>
              <a:pPr algn="ctr" marL="0" indent="0" lvl="0">
                <a:lnSpc>
                  <a:spcPts val="1709"/>
                </a:lnSpc>
                <a:spcBef>
                  <a:spcPct val="0"/>
                </a:spcBef>
              </a:pPr>
              <a:r>
                <a:rPr lang="en-US" sz="1425" strike="noStrike" u="none">
                  <a:solidFill>
                    <a:srgbClr val="00E5C7"/>
                  </a:solidFill>
                  <a:latin typeface="Calibri (MS)"/>
                  <a:ea typeface="Calibri (MS)"/>
                  <a:cs typeface="Calibri (MS)"/>
                  <a:sym typeface="Calibri (MS)"/>
                </a:rPr>
                <a:t>stratifiée à 5 plis</a:t>
              </a:r>
            </a:p>
          </p:txBody>
        </p:sp>
      </p:grpSp>
      <p:sp>
        <p:nvSpPr>
          <p:cNvPr name="AutoShape 43" id="43"/>
          <p:cNvSpPr/>
          <p:nvPr/>
        </p:nvSpPr>
        <p:spPr>
          <a:xfrm rot="471840">
            <a:off x="10559767" y="4619625"/>
            <a:ext cx="208845" cy="0"/>
          </a:xfrm>
          <a:prstGeom prst="line">
            <a:avLst/>
          </a:prstGeom>
          <a:ln cap="rnd" w="19050">
            <a:solidFill>
              <a:srgbClr val="6E84A6"/>
            </a:solidFill>
            <a:prstDash val="solid"/>
            <a:headEnd type="none" len="sm" w="sm"/>
            <a:tailEnd type="triangle" len="med" w="lg"/>
          </a:ln>
        </p:spPr>
      </p:sp>
      <p:grpSp>
        <p:nvGrpSpPr>
          <p:cNvPr name="Group 44" id="44"/>
          <p:cNvGrpSpPr/>
          <p:nvPr/>
        </p:nvGrpSpPr>
        <p:grpSpPr>
          <a:xfrm rot="0">
            <a:off x="10771251" y="3488055"/>
            <a:ext cx="3105150" cy="2282190"/>
            <a:chOff x="0" y="0"/>
            <a:chExt cx="4140200" cy="3042920"/>
          </a:xfrm>
        </p:grpSpPr>
        <p:sp>
          <p:nvSpPr>
            <p:cNvPr name="Freeform 45" id="45"/>
            <p:cNvSpPr/>
            <p:nvPr/>
          </p:nvSpPr>
          <p:spPr>
            <a:xfrm flipH="false" flipV="false" rot="0">
              <a:off x="0" y="0"/>
              <a:ext cx="4140200" cy="3042920"/>
            </a:xfrm>
            <a:custGeom>
              <a:avLst/>
              <a:gdLst/>
              <a:ahLst/>
              <a:cxnLst/>
              <a:rect r="r" b="b" t="t" l="l"/>
              <a:pathLst>
                <a:path h="3042920" w="4140200">
                  <a:moveTo>
                    <a:pt x="0" y="147574"/>
                  </a:moveTo>
                  <a:cubicBezTo>
                    <a:pt x="0" y="66040"/>
                    <a:pt x="66040" y="0"/>
                    <a:pt x="147574" y="0"/>
                  </a:cubicBezTo>
                  <a:lnTo>
                    <a:pt x="3992626" y="0"/>
                  </a:lnTo>
                  <a:cubicBezTo>
                    <a:pt x="4074160" y="0"/>
                    <a:pt x="4140200" y="66040"/>
                    <a:pt x="4140200" y="147574"/>
                  </a:cubicBezTo>
                  <a:lnTo>
                    <a:pt x="4140200" y="2895346"/>
                  </a:lnTo>
                  <a:cubicBezTo>
                    <a:pt x="4140200" y="2976880"/>
                    <a:pt x="4074160" y="3042920"/>
                    <a:pt x="3992626" y="3042920"/>
                  </a:cubicBezTo>
                  <a:lnTo>
                    <a:pt x="147574" y="3042920"/>
                  </a:lnTo>
                  <a:cubicBezTo>
                    <a:pt x="66040" y="3042920"/>
                    <a:pt x="0" y="2976880"/>
                    <a:pt x="0" y="2895346"/>
                  </a:cubicBezTo>
                  <a:close/>
                </a:path>
              </a:pathLst>
            </a:custGeom>
            <a:solidFill>
              <a:srgbClr val="0F2038"/>
            </a:solidFill>
            <a:ln w="19050" cap="sq">
              <a:solidFill>
                <a:srgbClr val="1E3358"/>
              </a:solidFill>
              <a:prstDash val="solid"/>
              <a:miter/>
            </a:ln>
          </p:spPr>
        </p:sp>
      </p:grpSp>
      <p:grpSp>
        <p:nvGrpSpPr>
          <p:cNvPr name="Group 46" id="46"/>
          <p:cNvGrpSpPr/>
          <p:nvPr/>
        </p:nvGrpSpPr>
        <p:grpSpPr>
          <a:xfrm rot="0">
            <a:off x="10945368" y="3799332"/>
            <a:ext cx="2756916" cy="754380"/>
            <a:chOff x="0" y="0"/>
            <a:chExt cx="3675888" cy="1005840"/>
          </a:xfrm>
        </p:grpSpPr>
        <p:sp>
          <p:nvSpPr>
            <p:cNvPr name="Freeform 47" id="47"/>
            <p:cNvSpPr/>
            <p:nvPr/>
          </p:nvSpPr>
          <p:spPr>
            <a:xfrm flipH="false" flipV="false" rot="0">
              <a:off x="0" y="0"/>
              <a:ext cx="3675888" cy="1005840"/>
            </a:xfrm>
            <a:custGeom>
              <a:avLst/>
              <a:gdLst/>
              <a:ahLst/>
              <a:cxnLst/>
              <a:rect r="r" b="b" t="t" l="l"/>
              <a:pathLst>
                <a:path h="1005840" w="3675888">
                  <a:moveTo>
                    <a:pt x="0" y="0"/>
                  </a:moveTo>
                  <a:lnTo>
                    <a:pt x="3675888" y="0"/>
                  </a:lnTo>
                  <a:lnTo>
                    <a:pt x="3675888" y="1005840"/>
                  </a:lnTo>
                  <a:lnTo>
                    <a:pt x="0" y="1005840"/>
                  </a:lnTo>
                  <a:close/>
                </a:path>
              </a:pathLst>
            </a:custGeom>
            <a:blipFill>
              <a:blip r:embed="rId2">
                <a:alphaModFix amt="0"/>
              </a:blip>
              <a:stretch>
                <a:fillRect l="0" t="-21208" r="0" b="-21208"/>
              </a:stretch>
            </a:blipFill>
          </p:spPr>
        </p:sp>
        <p:sp>
          <p:nvSpPr>
            <p:cNvPr name="TextBox 48" id="48"/>
            <p:cNvSpPr txBox="true"/>
            <p:nvPr/>
          </p:nvSpPr>
          <p:spPr>
            <a:xfrm>
              <a:off x="0" y="-38100"/>
              <a:ext cx="3675888" cy="1043940"/>
            </a:xfrm>
            <a:prstGeom prst="rect">
              <a:avLst/>
            </a:prstGeom>
          </p:spPr>
          <p:txBody>
            <a:bodyPr anchor="ctr" rtlCol="false" tIns="0" lIns="0" bIns="0" rIns="0"/>
            <a:lstStyle/>
            <a:p>
              <a:pPr algn="ctr" marL="0" indent="0" lvl="0">
                <a:lnSpc>
                  <a:spcPts val="2160"/>
                </a:lnSpc>
                <a:spcBef>
                  <a:spcPct val="0"/>
                </a:spcBef>
              </a:pPr>
              <a:r>
                <a:rPr lang="en-US" b="true" sz="1800" strike="noStrike" u="none">
                  <a:solidFill>
                    <a:srgbClr val="FFFFFF"/>
                  </a:solidFill>
                  <a:latin typeface="Calibri (MS) Bold"/>
                  <a:ea typeface="Calibri (MS) Bold"/>
                  <a:cs typeface="Calibri (MS) Bold"/>
                  <a:sym typeface="Calibri (MS) Bold"/>
                </a:rPr>
                <a:t>Journaliser les métriques</a:t>
              </a:r>
            </a:p>
          </p:txBody>
        </p:sp>
      </p:grpSp>
      <p:grpSp>
        <p:nvGrpSpPr>
          <p:cNvPr name="Group 49" id="49"/>
          <p:cNvGrpSpPr/>
          <p:nvPr/>
        </p:nvGrpSpPr>
        <p:grpSpPr>
          <a:xfrm rot="0">
            <a:off x="10945368" y="4732020"/>
            <a:ext cx="2756916" cy="891540"/>
            <a:chOff x="0" y="0"/>
            <a:chExt cx="3675888" cy="1188720"/>
          </a:xfrm>
        </p:grpSpPr>
        <p:sp>
          <p:nvSpPr>
            <p:cNvPr name="Freeform 50" id="50"/>
            <p:cNvSpPr/>
            <p:nvPr/>
          </p:nvSpPr>
          <p:spPr>
            <a:xfrm flipH="false" flipV="false" rot="0">
              <a:off x="0" y="0"/>
              <a:ext cx="3675888" cy="1188720"/>
            </a:xfrm>
            <a:custGeom>
              <a:avLst/>
              <a:gdLst/>
              <a:ahLst/>
              <a:cxnLst/>
              <a:rect r="r" b="b" t="t" l="l"/>
              <a:pathLst>
                <a:path h="1188720" w="3675888">
                  <a:moveTo>
                    <a:pt x="0" y="0"/>
                  </a:moveTo>
                  <a:lnTo>
                    <a:pt x="3675888" y="0"/>
                  </a:lnTo>
                  <a:lnTo>
                    <a:pt x="3675888" y="1188720"/>
                  </a:lnTo>
                  <a:lnTo>
                    <a:pt x="0" y="1188720"/>
                  </a:lnTo>
                  <a:close/>
                </a:path>
              </a:pathLst>
            </a:custGeom>
            <a:blipFill>
              <a:blip r:embed="rId2">
                <a:alphaModFix amt="0"/>
              </a:blip>
              <a:stretch>
                <a:fillRect l="0" t="-10253" r="0" b="-10253"/>
              </a:stretch>
            </a:blipFill>
          </p:spPr>
        </p:sp>
        <p:sp>
          <p:nvSpPr>
            <p:cNvPr name="TextBox 51" id="51"/>
            <p:cNvSpPr txBox="true"/>
            <p:nvPr/>
          </p:nvSpPr>
          <p:spPr>
            <a:xfrm>
              <a:off x="0" y="-38100"/>
              <a:ext cx="3675888" cy="1226820"/>
            </a:xfrm>
            <a:prstGeom prst="rect">
              <a:avLst/>
            </a:prstGeom>
          </p:spPr>
          <p:txBody>
            <a:bodyPr anchor="ctr" rtlCol="false" tIns="0" lIns="0" bIns="0" rIns="0"/>
            <a:lstStyle/>
            <a:p>
              <a:pPr algn="ctr" marL="0" indent="0" lvl="0">
                <a:lnSpc>
                  <a:spcPts val="1709"/>
                </a:lnSpc>
                <a:spcBef>
                  <a:spcPct val="0"/>
                </a:spcBef>
              </a:pPr>
              <a:r>
                <a:rPr lang="en-US" sz="1425" strike="noStrike" u="none">
                  <a:solidFill>
                    <a:srgbClr val="00E5C7"/>
                  </a:solidFill>
                  <a:latin typeface="Calibri (MS)"/>
                  <a:ea typeface="Calibri (MS)"/>
                  <a:cs typeface="Calibri (MS)"/>
                  <a:sym typeface="Calibri (MS)"/>
                </a:rPr>
                <a:t>scores CV + test hors échantillon</a:t>
              </a:r>
            </a:p>
          </p:txBody>
        </p:sp>
      </p:grpSp>
      <p:sp>
        <p:nvSpPr>
          <p:cNvPr name="AutoShape 52" id="52"/>
          <p:cNvSpPr/>
          <p:nvPr/>
        </p:nvSpPr>
        <p:spPr>
          <a:xfrm rot="471840">
            <a:off x="13879039" y="4619625"/>
            <a:ext cx="208845" cy="0"/>
          </a:xfrm>
          <a:prstGeom prst="line">
            <a:avLst/>
          </a:prstGeom>
          <a:ln cap="rnd" w="19050">
            <a:solidFill>
              <a:srgbClr val="6E84A6"/>
            </a:solidFill>
            <a:prstDash val="solid"/>
            <a:headEnd type="none" len="sm" w="sm"/>
            <a:tailEnd type="triangle" len="med" w="lg"/>
          </a:ln>
        </p:spPr>
      </p:sp>
      <p:grpSp>
        <p:nvGrpSpPr>
          <p:cNvPr name="Group 53" id="53"/>
          <p:cNvGrpSpPr/>
          <p:nvPr/>
        </p:nvGrpSpPr>
        <p:grpSpPr>
          <a:xfrm rot="0">
            <a:off x="14090523" y="3488055"/>
            <a:ext cx="3105150" cy="2282190"/>
            <a:chOff x="0" y="0"/>
            <a:chExt cx="4140200" cy="3042920"/>
          </a:xfrm>
        </p:grpSpPr>
        <p:sp>
          <p:nvSpPr>
            <p:cNvPr name="Freeform 54" id="54"/>
            <p:cNvSpPr/>
            <p:nvPr/>
          </p:nvSpPr>
          <p:spPr>
            <a:xfrm flipH="false" flipV="false" rot="0">
              <a:off x="0" y="0"/>
              <a:ext cx="4140200" cy="3042920"/>
            </a:xfrm>
            <a:custGeom>
              <a:avLst/>
              <a:gdLst/>
              <a:ahLst/>
              <a:cxnLst/>
              <a:rect r="r" b="b" t="t" l="l"/>
              <a:pathLst>
                <a:path h="3042920" w="4140200">
                  <a:moveTo>
                    <a:pt x="0" y="147574"/>
                  </a:moveTo>
                  <a:cubicBezTo>
                    <a:pt x="0" y="66040"/>
                    <a:pt x="66040" y="0"/>
                    <a:pt x="147574" y="0"/>
                  </a:cubicBezTo>
                  <a:lnTo>
                    <a:pt x="3992626" y="0"/>
                  </a:lnTo>
                  <a:cubicBezTo>
                    <a:pt x="4074160" y="0"/>
                    <a:pt x="4140200" y="66040"/>
                    <a:pt x="4140200" y="147574"/>
                  </a:cubicBezTo>
                  <a:lnTo>
                    <a:pt x="4140200" y="2895346"/>
                  </a:lnTo>
                  <a:cubicBezTo>
                    <a:pt x="4140200" y="2976880"/>
                    <a:pt x="4074160" y="3042920"/>
                    <a:pt x="3992626" y="3042920"/>
                  </a:cubicBezTo>
                  <a:lnTo>
                    <a:pt x="147574" y="3042920"/>
                  </a:lnTo>
                  <a:cubicBezTo>
                    <a:pt x="66040" y="3042920"/>
                    <a:pt x="0" y="2976880"/>
                    <a:pt x="0" y="2895346"/>
                  </a:cubicBezTo>
                  <a:close/>
                </a:path>
              </a:pathLst>
            </a:custGeom>
            <a:solidFill>
              <a:srgbClr val="12324A"/>
            </a:solidFill>
            <a:ln w="19050" cap="sq">
              <a:solidFill>
                <a:srgbClr val="00E5C7"/>
              </a:solidFill>
              <a:prstDash val="solid"/>
              <a:miter/>
            </a:ln>
          </p:spPr>
        </p:sp>
      </p:grpSp>
      <p:grpSp>
        <p:nvGrpSpPr>
          <p:cNvPr name="Group 55" id="55"/>
          <p:cNvGrpSpPr/>
          <p:nvPr/>
        </p:nvGrpSpPr>
        <p:grpSpPr>
          <a:xfrm rot="0">
            <a:off x="14264640" y="3799332"/>
            <a:ext cx="2756916" cy="754380"/>
            <a:chOff x="0" y="0"/>
            <a:chExt cx="3675888" cy="1005840"/>
          </a:xfrm>
        </p:grpSpPr>
        <p:sp>
          <p:nvSpPr>
            <p:cNvPr name="Freeform 56" id="56"/>
            <p:cNvSpPr/>
            <p:nvPr/>
          </p:nvSpPr>
          <p:spPr>
            <a:xfrm flipH="false" flipV="false" rot="0">
              <a:off x="0" y="0"/>
              <a:ext cx="3675888" cy="1005840"/>
            </a:xfrm>
            <a:custGeom>
              <a:avLst/>
              <a:gdLst/>
              <a:ahLst/>
              <a:cxnLst/>
              <a:rect r="r" b="b" t="t" l="l"/>
              <a:pathLst>
                <a:path h="1005840" w="3675888">
                  <a:moveTo>
                    <a:pt x="0" y="0"/>
                  </a:moveTo>
                  <a:lnTo>
                    <a:pt x="3675888" y="0"/>
                  </a:lnTo>
                  <a:lnTo>
                    <a:pt x="3675888" y="1005840"/>
                  </a:lnTo>
                  <a:lnTo>
                    <a:pt x="0" y="1005840"/>
                  </a:lnTo>
                  <a:close/>
                </a:path>
              </a:pathLst>
            </a:custGeom>
            <a:blipFill>
              <a:blip r:embed="rId2">
                <a:alphaModFix amt="0"/>
              </a:blip>
              <a:stretch>
                <a:fillRect l="0" t="-21208" r="0" b="-21208"/>
              </a:stretch>
            </a:blipFill>
          </p:spPr>
        </p:sp>
        <p:sp>
          <p:nvSpPr>
            <p:cNvPr name="TextBox 57" id="57"/>
            <p:cNvSpPr txBox="true"/>
            <p:nvPr/>
          </p:nvSpPr>
          <p:spPr>
            <a:xfrm>
              <a:off x="0" y="-38100"/>
              <a:ext cx="3675888" cy="1043940"/>
            </a:xfrm>
            <a:prstGeom prst="rect">
              <a:avLst/>
            </a:prstGeom>
          </p:spPr>
          <p:txBody>
            <a:bodyPr anchor="ctr" rtlCol="false" tIns="0" lIns="0" bIns="0" rIns="0"/>
            <a:lstStyle/>
            <a:p>
              <a:pPr algn="ctr" marL="0" indent="0" lvl="0">
                <a:lnSpc>
                  <a:spcPts val="2160"/>
                </a:lnSpc>
                <a:spcBef>
                  <a:spcPct val="0"/>
                </a:spcBef>
              </a:pPr>
              <a:r>
                <a:rPr lang="en-US" b="true" sz="1800" strike="noStrike" u="none">
                  <a:solidFill>
                    <a:srgbClr val="FFFFFF"/>
                  </a:solidFill>
                  <a:latin typeface="Calibri (MS) Bold"/>
                  <a:ea typeface="Calibri (MS) Bold"/>
                  <a:cs typeface="Calibri (MS) Bold"/>
                  <a:sym typeface="Calibri (MS) Bold"/>
                </a:rPr>
                <a:t>Journaliser le modèle</a:t>
              </a:r>
            </a:p>
          </p:txBody>
        </p:sp>
      </p:grpSp>
      <p:grpSp>
        <p:nvGrpSpPr>
          <p:cNvPr name="Group 58" id="58"/>
          <p:cNvGrpSpPr/>
          <p:nvPr/>
        </p:nvGrpSpPr>
        <p:grpSpPr>
          <a:xfrm rot="0">
            <a:off x="14264640" y="4732020"/>
            <a:ext cx="2756916" cy="891540"/>
            <a:chOff x="0" y="0"/>
            <a:chExt cx="3675888" cy="1188720"/>
          </a:xfrm>
        </p:grpSpPr>
        <p:sp>
          <p:nvSpPr>
            <p:cNvPr name="Freeform 59" id="59"/>
            <p:cNvSpPr/>
            <p:nvPr/>
          </p:nvSpPr>
          <p:spPr>
            <a:xfrm flipH="false" flipV="false" rot="0">
              <a:off x="0" y="0"/>
              <a:ext cx="3675888" cy="1188720"/>
            </a:xfrm>
            <a:custGeom>
              <a:avLst/>
              <a:gdLst/>
              <a:ahLst/>
              <a:cxnLst/>
              <a:rect r="r" b="b" t="t" l="l"/>
              <a:pathLst>
                <a:path h="1188720" w="3675888">
                  <a:moveTo>
                    <a:pt x="0" y="0"/>
                  </a:moveTo>
                  <a:lnTo>
                    <a:pt x="3675888" y="0"/>
                  </a:lnTo>
                  <a:lnTo>
                    <a:pt x="3675888" y="1188720"/>
                  </a:lnTo>
                  <a:lnTo>
                    <a:pt x="0" y="1188720"/>
                  </a:lnTo>
                  <a:close/>
                </a:path>
              </a:pathLst>
            </a:custGeom>
            <a:blipFill>
              <a:blip r:embed="rId2">
                <a:alphaModFix amt="0"/>
              </a:blip>
              <a:stretch>
                <a:fillRect l="0" t="-10253" r="0" b="-10253"/>
              </a:stretch>
            </a:blipFill>
          </p:spPr>
        </p:sp>
        <p:sp>
          <p:nvSpPr>
            <p:cNvPr name="TextBox 60" id="60"/>
            <p:cNvSpPr txBox="true"/>
            <p:nvPr/>
          </p:nvSpPr>
          <p:spPr>
            <a:xfrm>
              <a:off x="0" y="-38100"/>
              <a:ext cx="3675888" cy="1226820"/>
            </a:xfrm>
            <a:prstGeom prst="rect">
              <a:avLst/>
            </a:prstGeom>
          </p:spPr>
          <p:txBody>
            <a:bodyPr anchor="ctr" rtlCol="false" tIns="0" lIns="0" bIns="0" rIns="0"/>
            <a:lstStyle/>
            <a:p>
              <a:pPr algn="ctr" marL="0" indent="0" lvl="0">
                <a:lnSpc>
                  <a:spcPts val="1709"/>
                </a:lnSpc>
                <a:spcBef>
                  <a:spcPct val="0"/>
                </a:spcBef>
              </a:pPr>
              <a:r>
                <a:rPr lang="en-US" sz="1425" strike="noStrike" u="none">
                  <a:solidFill>
                    <a:srgbClr val="00E5C7"/>
                  </a:solidFill>
                  <a:latin typeface="Calibri (MS)"/>
                  <a:ea typeface="Calibri (MS)"/>
                  <a:cs typeface="Calibri (MS)"/>
                  <a:sym typeface="Calibri (MS)"/>
                </a:rPr>
                <a:t>artefact xgboost → registre</a:t>
              </a:r>
            </a:p>
          </p:txBody>
        </p:sp>
      </p:grpSp>
      <p:grpSp>
        <p:nvGrpSpPr>
          <p:cNvPr name="Group 61" id="61"/>
          <p:cNvGrpSpPr/>
          <p:nvPr/>
        </p:nvGrpSpPr>
        <p:grpSpPr>
          <a:xfrm rot="0">
            <a:off x="813435" y="6231255"/>
            <a:ext cx="16615410" cy="2350770"/>
            <a:chOff x="0" y="0"/>
            <a:chExt cx="22153880" cy="3134360"/>
          </a:xfrm>
        </p:grpSpPr>
        <p:sp>
          <p:nvSpPr>
            <p:cNvPr name="Freeform 62" id="62"/>
            <p:cNvSpPr/>
            <p:nvPr/>
          </p:nvSpPr>
          <p:spPr>
            <a:xfrm flipH="false" flipV="false" rot="0">
              <a:off x="0" y="0"/>
              <a:ext cx="22153880" cy="3134360"/>
            </a:xfrm>
            <a:custGeom>
              <a:avLst/>
              <a:gdLst/>
              <a:ahLst/>
              <a:cxnLst/>
              <a:rect r="r" b="b" t="t" l="l"/>
              <a:pathLst>
                <a:path h="3134360" w="22153880">
                  <a:moveTo>
                    <a:pt x="0" y="147447"/>
                  </a:moveTo>
                  <a:cubicBezTo>
                    <a:pt x="0" y="66040"/>
                    <a:pt x="66040" y="0"/>
                    <a:pt x="147447" y="0"/>
                  </a:cubicBezTo>
                  <a:lnTo>
                    <a:pt x="22006433" y="0"/>
                  </a:lnTo>
                  <a:cubicBezTo>
                    <a:pt x="22087841" y="0"/>
                    <a:pt x="22153880" y="66040"/>
                    <a:pt x="22153880" y="147447"/>
                  </a:cubicBezTo>
                  <a:lnTo>
                    <a:pt x="22153880" y="2986913"/>
                  </a:lnTo>
                  <a:cubicBezTo>
                    <a:pt x="22153880" y="3068320"/>
                    <a:pt x="22087841" y="3134360"/>
                    <a:pt x="22006433" y="3134360"/>
                  </a:cubicBezTo>
                  <a:lnTo>
                    <a:pt x="147447" y="3134360"/>
                  </a:lnTo>
                  <a:cubicBezTo>
                    <a:pt x="66040" y="3134360"/>
                    <a:pt x="0" y="3068320"/>
                    <a:pt x="0" y="2986913"/>
                  </a:cubicBezTo>
                  <a:close/>
                </a:path>
              </a:pathLst>
            </a:custGeom>
            <a:solidFill>
              <a:srgbClr val="13294A"/>
            </a:solidFill>
            <a:ln w="19050" cap="sq">
              <a:solidFill>
                <a:srgbClr val="1E3358"/>
              </a:solidFill>
              <a:prstDash val="solid"/>
              <a:miter/>
            </a:ln>
          </p:spPr>
        </p:sp>
      </p:grpSp>
      <p:grpSp>
        <p:nvGrpSpPr>
          <p:cNvPr name="Group 63" id="63"/>
          <p:cNvGrpSpPr/>
          <p:nvPr/>
        </p:nvGrpSpPr>
        <p:grpSpPr>
          <a:xfrm rot="0">
            <a:off x="1234440" y="6473952"/>
            <a:ext cx="10972800" cy="411480"/>
            <a:chOff x="0" y="0"/>
            <a:chExt cx="14630400" cy="548640"/>
          </a:xfrm>
        </p:grpSpPr>
        <p:sp>
          <p:nvSpPr>
            <p:cNvPr name="Freeform 64" id="6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5" id="65"/>
            <p:cNvSpPr txBox="true"/>
            <p:nvPr/>
          </p:nvSpPr>
          <p:spPr>
            <a:xfrm>
              <a:off x="0" y="-19050"/>
              <a:ext cx="14630400" cy="567690"/>
            </a:xfrm>
            <a:prstGeom prst="rect">
              <a:avLst/>
            </a:prstGeom>
          </p:spPr>
          <p:txBody>
            <a:bodyPr anchor="ctr" rtlCol="false" tIns="0" lIns="0" bIns="0" rIns="0"/>
            <a:lstStyle/>
            <a:p>
              <a:pPr algn="l" marL="0" indent="0" lvl="0">
                <a:lnSpc>
                  <a:spcPts val="1889"/>
                </a:lnSpc>
                <a:spcBef>
                  <a:spcPct val="0"/>
                </a:spcBef>
              </a:pPr>
              <a:r>
                <a:rPr lang="en-US" b="true" sz="1575" spc="150" strike="noStrike" u="none">
                  <a:solidFill>
                    <a:srgbClr val="00E5C7"/>
                  </a:solidFill>
                  <a:latin typeface="Calibri (MS) Bold"/>
                  <a:ea typeface="Calibri (MS) Bold"/>
                  <a:cs typeface="Calibri (MS) Bold"/>
                  <a:sym typeface="Calibri (MS) Bold"/>
                </a:rPr>
                <a:t>ROBUSTESSE &amp; REPRODUCTIBILITÉ</a:t>
              </a:r>
            </a:p>
          </p:txBody>
        </p:sp>
      </p:grpSp>
      <p:sp>
        <p:nvSpPr>
          <p:cNvPr name="TextBox 66" id="66"/>
          <p:cNvSpPr txBox="true"/>
          <p:nvPr/>
        </p:nvSpPr>
        <p:spPr>
          <a:xfrm rot="0">
            <a:off x="1234440" y="6859905"/>
            <a:ext cx="15636240" cy="913067"/>
          </a:xfrm>
          <a:prstGeom prst="rect">
            <a:avLst/>
          </a:prstGeom>
        </p:spPr>
        <p:txBody>
          <a:bodyPr anchor="t" rtlCol="false" tIns="0" lIns="0" bIns="0" rIns="0">
            <a:spAutoFit/>
          </a:bodyPr>
          <a:lstStyle/>
          <a:p>
            <a:pPr algn="l" marL="312182" indent="-156091" lvl="1">
              <a:lnSpc>
                <a:spcPts val="2380"/>
              </a:lnSpc>
              <a:spcBef>
                <a:spcPct val="0"/>
              </a:spcBef>
              <a:buFont typeface="Arial"/>
              <a:buChar char="•"/>
            </a:pPr>
            <a:r>
              <a:rPr lang="en-US" sz="1725" strike="noStrike" u="none">
                <a:solidFill>
                  <a:srgbClr val="9FB0C9"/>
                </a:solidFill>
                <a:latin typeface="Calibri (MS)"/>
                <a:ea typeface="Calibri (MS)"/>
                <a:cs typeface="Calibri (MS)"/>
                <a:sym typeface="Calibri (MS)"/>
              </a:rPr>
              <a:t>Repli try/except élégant : l’entraînement réussit même si le serveur MLflow est hors ligne</a:t>
            </a:r>
          </a:p>
          <a:p>
            <a:pPr algn="l" marL="312182" indent="-156091" lvl="1">
              <a:lnSpc>
                <a:spcPts val="2380"/>
              </a:lnSpc>
              <a:spcBef>
                <a:spcPct val="0"/>
              </a:spcBef>
              <a:buFont typeface="Arial"/>
              <a:buChar char="•"/>
            </a:pPr>
            <a:r>
              <a:rPr lang="en-US" sz="1725" strike="noStrike" u="none">
                <a:solidFill>
                  <a:srgbClr val="9FB0C9"/>
                </a:solidFill>
                <a:latin typeface="Calibri (MS)"/>
                <a:ea typeface="Calibri (MS)"/>
                <a:cs typeface="Calibri (MS)"/>
                <a:sym typeface="Calibri (MS)"/>
              </a:rPr>
              <a:t>Backend SQLite + racine locale des artefacts, avec volume persistant pour la durabilité</a:t>
            </a:r>
          </a:p>
          <a:p>
            <a:pPr algn="l" marL="312182" indent="-156091" lvl="1">
              <a:lnSpc>
                <a:spcPts val="2380"/>
              </a:lnSpc>
              <a:spcBef>
                <a:spcPct val="0"/>
              </a:spcBef>
              <a:buFont typeface="Arial"/>
              <a:buChar char="•"/>
            </a:pPr>
            <a:r>
              <a:rPr lang="en-US" sz="1725" strike="noStrike" u="none">
                <a:solidFill>
                  <a:srgbClr val="9FB0C9"/>
                </a:solidFill>
                <a:latin typeface="Calibri (MS)"/>
                <a:ea typeface="Calibri (MS)"/>
                <a:cs typeface="Calibri (MS)"/>
                <a:sym typeface="Calibri (MS)"/>
              </a:rPr>
              <a:t>Les runs nommés (p. ex. xgboost_weighted_training) permettent de comparer les expériences côte à côte</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28575"/>
              <a:ext cx="14630400" cy="577215"/>
            </a:xfrm>
            <a:prstGeom prst="rect">
              <a:avLst/>
            </a:prstGeom>
          </p:spPr>
          <p:txBody>
            <a:bodyPr anchor="ctr" rtlCol="false" tIns="0" lIns="0" bIns="0" rIns="0"/>
            <a:lstStyle/>
            <a:p>
              <a:pPr algn="l" marL="0" indent="0" lvl="0">
                <a:lnSpc>
                  <a:spcPts val="1620"/>
                </a:lnSpc>
                <a:spcBef>
                  <a:spcPct val="0"/>
                </a:spcBef>
              </a:pPr>
              <a:r>
                <a:rPr lang="en-US" sz="1350" spc="149" strike="noStrike" u="none">
                  <a:solidFill>
                    <a:srgbClr val="6E84A6"/>
                  </a:solidFill>
                  <a:latin typeface="Calibri (MS)"/>
                  <a:ea typeface="Calibri (MS)"/>
                  <a:cs typeface="Calibri (MS)"/>
                  <a:sym typeface="Calibri (MS)"/>
                </a:rPr>
                <a:t>PLATEFORME MLSECOPS · INGÉNIERIE ML &amp; EXPÉRIMENTATIONS</a:t>
              </a:r>
            </a:p>
          </p:txBody>
        </p:sp>
      </p:grpSp>
      <p:grpSp>
        <p:nvGrpSpPr>
          <p:cNvPr name="Group 70" id="70"/>
          <p:cNvGrpSpPr/>
          <p:nvPr/>
        </p:nvGrpSpPr>
        <p:grpSpPr>
          <a:xfrm rot="0">
            <a:off x="16500348" y="9710928"/>
            <a:ext cx="1097280" cy="411480"/>
            <a:chOff x="0" y="0"/>
            <a:chExt cx="1463040" cy="548640"/>
          </a:xfrm>
        </p:grpSpPr>
        <p:sp>
          <p:nvSpPr>
            <p:cNvPr name="Freeform 71" id="71"/>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72" id="72"/>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19 / 32</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I</a:t>
              </a:r>
              <a:r>
                <a:rPr lang="en-US" b="true" sz="1875" spc="300">
                  <a:solidFill>
                    <a:srgbClr val="00E5C7"/>
                  </a:solidFill>
                  <a:latin typeface="Calibri (MS) Bold"/>
                  <a:ea typeface="Calibri (MS) Bold"/>
                  <a:cs typeface="Calibri (MS) Bold"/>
                  <a:sym typeface="Calibri (MS) Bold"/>
                </a:rPr>
                <a:t>NGÉNIERIE ML &amp; EXPÉRIMENTATIONS</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5</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Abderrahamane Hassani — ML Engineer</a:t>
              </a:r>
            </a:p>
          </p:txBody>
        </p:sp>
      </p:grpSp>
      <p:grpSp>
        <p:nvGrpSpPr>
          <p:cNvPr name="Group 11" id="11"/>
          <p:cNvGrpSpPr/>
          <p:nvPr/>
        </p:nvGrpSpPr>
        <p:grpSpPr>
          <a:xfrm rot="0">
            <a:off x="822960" y="1069848"/>
            <a:ext cx="16596360" cy="1303020"/>
            <a:chOff x="0" y="0"/>
            <a:chExt cx="22128480" cy="1737360"/>
          </a:xfrm>
        </p:grpSpPr>
        <p:sp>
          <p:nvSpPr>
            <p:cNvPr name="Freeform 12" id="12"/>
            <p:cNvSpPr/>
            <p:nvPr/>
          </p:nvSpPr>
          <p:spPr>
            <a:xfrm flipH="false" flipV="false" rot="0">
              <a:off x="0" y="0"/>
              <a:ext cx="22128480" cy="1737360"/>
            </a:xfrm>
            <a:custGeom>
              <a:avLst/>
              <a:gdLst/>
              <a:ahLst/>
              <a:cxnLst/>
              <a:rect r="r" b="b" t="t" l="l"/>
              <a:pathLst>
                <a:path h="1737360" w="22128480">
                  <a:moveTo>
                    <a:pt x="0" y="0"/>
                  </a:moveTo>
                  <a:lnTo>
                    <a:pt x="22128480" y="0"/>
                  </a:lnTo>
                  <a:lnTo>
                    <a:pt x="22128480" y="1737360"/>
                  </a:lnTo>
                  <a:lnTo>
                    <a:pt x="0" y="1737360"/>
                  </a:lnTo>
                  <a:close/>
                </a:path>
              </a:pathLst>
            </a:custGeom>
            <a:blipFill>
              <a:blip r:embed="rId2">
                <a:alphaModFix amt="0"/>
              </a:blip>
              <a:stretch>
                <a:fillRect l="0" t="-198177" r="0" b="-198177"/>
              </a:stretch>
            </a:blipFill>
          </p:spPr>
        </p:sp>
        <p:sp>
          <p:nvSpPr>
            <p:cNvPr name="TextBox 13" id="13"/>
            <p:cNvSpPr txBox="true"/>
            <p:nvPr/>
          </p:nvSpPr>
          <p:spPr>
            <a:xfrm>
              <a:off x="0" y="-9525"/>
              <a:ext cx="22128480" cy="1746885"/>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Model Registry &amp; Evaluation</a:t>
              </a:r>
            </a:p>
          </p:txBody>
        </p:sp>
      </p:grpSp>
      <p:grpSp>
        <p:nvGrpSpPr>
          <p:cNvPr name="Group 14" id="14"/>
          <p:cNvGrpSpPr/>
          <p:nvPr/>
        </p:nvGrpSpPr>
        <p:grpSpPr>
          <a:xfrm rot="0">
            <a:off x="813435" y="2665095"/>
            <a:ext cx="3242310" cy="2556510"/>
            <a:chOff x="0" y="0"/>
            <a:chExt cx="4323080" cy="3408680"/>
          </a:xfrm>
        </p:grpSpPr>
        <p:sp>
          <p:nvSpPr>
            <p:cNvPr name="Freeform 15" id="15"/>
            <p:cNvSpPr/>
            <p:nvPr/>
          </p:nvSpPr>
          <p:spPr>
            <a:xfrm flipH="false" flipV="false" rot="0">
              <a:off x="0" y="0"/>
              <a:ext cx="4323080" cy="3408680"/>
            </a:xfrm>
            <a:custGeom>
              <a:avLst/>
              <a:gdLst/>
              <a:ahLst/>
              <a:cxnLst/>
              <a:rect r="r" b="b" t="t" l="l"/>
              <a:pathLst>
                <a:path h="3408680" w="4323080">
                  <a:moveTo>
                    <a:pt x="0" y="147447"/>
                  </a:moveTo>
                  <a:cubicBezTo>
                    <a:pt x="0" y="66040"/>
                    <a:pt x="66040" y="0"/>
                    <a:pt x="147447" y="0"/>
                  </a:cubicBezTo>
                  <a:lnTo>
                    <a:pt x="4175633" y="0"/>
                  </a:lnTo>
                  <a:cubicBezTo>
                    <a:pt x="4257040" y="0"/>
                    <a:pt x="4323080" y="66040"/>
                    <a:pt x="4323080" y="147447"/>
                  </a:cubicBezTo>
                  <a:lnTo>
                    <a:pt x="4323080" y="3261233"/>
                  </a:lnTo>
                  <a:cubicBezTo>
                    <a:pt x="4323080" y="3342640"/>
                    <a:pt x="4257040" y="3408680"/>
                    <a:pt x="4175633" y="3408680"/>
                  </a:cubicBezTo>
                  <a:lnTo>
                    <a:pt x="147447" y="3408680"/>
                  </a:lnTo>
                  <a:cubicBezTo>
                    <a:pt x="66040" y="3408680"/>
                    <a:pt x="0" y="3342640"/>
                    <a:pt x="0" y="3261233"/>
                  </a:cubicBezTo>
                  <a:close/>
                </a:path>
              </a:pathLst>
            </a:custGeom>
            <a:solidFill>
              <a:srgbClr val="0F2038"/>
            </a:solidFill>
            <a:ln w="19050" cap="sq">
              <a:solidFill>
                <a:srgbClr val="1E3358"/>
              </a:solidFill>
              <a:prstDash val="solid"/>
              <a:miter/>
            </a:ln>
          </p:spPr>
        </p:sp>
      </p:grpSp>
      <p:grpSp>
        <p:nvGrpSpPr>
          <p:cNvPr name="Group 16" id="16"/>
          <p:cNvGrpSpPr/>
          <p:nvPr/>
        </p:nvGrpSpPr>
        <p:grpSpPr>
          <a:xfrm rot="0">
            <a:off x="1028700" y="2948940"/>
            <a:ext cx="2811780" cy="548640"/>
            <a:chOff x="0" y="0"/>
            <a:chExt cx="3749040" cy="731520"/>
          </a:xfrm>
        </p:grpSpPr>
        <p:sp>
          <p:nvSpPr>
            <p:cNvPr name="Freeform 17" id="17"/>
            <p:cNvSpPr/>
            <p:nvPr/>
          </p:nvSpPr>
          <p:spPr>
            <a:xfrm flipH="false" flipV="false" rot="0">
              <a:off x="0" y="0"/>
              <a:ext cx="3749040" cy="731520"/>
            </a:xfrm>
            <a:custGeom>
              <a:avLst/>
              <a:gdLst/>
              <a:ahLst/>
              <a:cxnLst/>
              <a:rect r="r" b="b" t="t" l="l"/>
              <a:pathLst>
                <a:path h="731520" w="3749040">
                  <a:moveTo>
                    <a:pt x="0" y="0"/>
                  </a:moveTo>
                  <a:lnTo>
                    <a:pt x="3749040" y="0"/>
                  </a:lnTo>
                  <a:lnTo>
                    <a:pt x="3749040" y="731520"/>
                  </a:lnTo>
                  <a:lnTo>
                    <a:pt x="0" y="731520"/>
                  </a:lnTo>
                  <a:close/>
                </a:path>
              </a:pathLst>
            </a:custGeom>
            <a:blipFill>
              <a:blip r:embed="rId2">
                <a:alphaModFix amt="0"/>
              </a:blip>
              <a:stretch>
                <a:fillRect l="0" t="-49860" r="0" b="-49860"/>
              </a:stretch>
            </a:blipFill>
          </p:spPr>
        </p:sp>
        <p:sp>
          <p:nvSpPr>
            <p:cNvPr name="TextBox 18" id="18"/>
            <p:cNvSpPr txBox="true"/>
            <p:nvPr/>
          </p:nvSpPr>
          <p:spPr>
            <a:xfrm>
              <a:off x="0" y="-47625"/>
              <a:ext cx="3749040" cy="779145"/>
            </a:xfrm>
            <a:prstGeom prst="rect">
              <a:avLst/>
            </a:prstGeom>
          </p:spPr>
          <p:txBody>
            <a:bodyPr anchor="ctr" rtlCol="false" tIns="0" lIns="0" bIns="0" rIns="0"/>
            <a:lstStyle/>
            <a:p>
              <a:pPr algn="l">
                <a:lnSpc>
                  <a:spcPts val="2340"/>
                </a:lnSpc>
              </a:pPr>
              <a:r>
                <a:rPr lang="en-US" sz="1950" b="true">
                  <a:solidFill>
                    <a:srgbClr val="FFFFFF"/>
                  </a:solidFill>
                  <a:latin typeface="Calibri (MS) Bold"/>
                  <a:ea typeface="Calibri (MS) Bold"/>
                  <a:cs typeface="Calibri (MS) Bold"/>
                  <a:sym typeface="Calibri (MS) Bold"/>
                </a:rPr>
                <a:t>Accuracy</a:t>
              </a:r>
            </a:p>
          </p:txBody>
        </p:sp>
      </p:grpSp>
      <p:grpSp>
        <p:nvGrpSpPr>
          <p:cNvPr name="Group 19" id="19"/>
          <p:cNvGrpSpPr/>
          <p:nvPr/>
        </p:nvGrpSpPr>
        <p:grpSpPr>
          <a:xfrm rot="0">
            <a:off x="1028700" y="3566160"/>
            <a:ext cx="2811780" cy="1508760"/>
            <a:chOff x="0" y="0"/>
            <a:chExt cx="3749040" cy="2011680"/>
          </a:xfrm>
        </p:grpSpPr>
        <p:sp>
          <p:nvSpPr>
            <p:cNvPr name="Freeform 20" id="20"/>
            <p:cNvSpPr/>
            <p:nvPr/>
          </p:nvSpPr>
          <p:spPr>
            <a:xfrm flipH="false" flipV="false" rot="0">
              <a:off x="0" y="0"/>
              <a:ext cx="3749040" cy="2011680"/>
            </a:xfrm>
            <a:custGeom>
              <a:avLst/>
              <a:gdLst/>
              <a:ahLst/>
              <a:cxnLst/>
              <a:rect r="r" b="b" t="t" l="l"/>
              <a:pathLst>
                <a:path h="2011680" w="3749040">
                  <a:moveTo>
                    <a:pt x="0" y="0"/>
                  </a:moveTo>
                  <a:lnTo>
                    <a:pt x="3749040" y="0"/>
                  </a:lnTo>
                  <a:lnTo>
                    <a:pt x="3749040" y="2011680"/>
                  </a:lnTo>
                  <a:lnTo>
                    <a:pt x="0" y="2011680"/>
                  </a:lnTo>
                  <a:close/>
                </a:path>
              </a:pathLst>
            </a:custGeom>
            <a:blipFill>
              <a:blip r:embed="rId2">
                <a:alphaModFix amt="0"/>
              </a:blip>
              <a:stretch>
                <a:fillRect l="-18845" t="0" r="-18845" b="0"/>
              </a:stretch>
            </a:blipFill>
          </p:spPr>
        </p:sp>
        <p:sp>
          <p:nvSpPr>
            <p:cNvPr name="TextBox 21" id="21"/>
            <p:cNvSpPr txBox="true"/>
            <p:nvPr/>
          </p:nvSpPr>
          <p:spPr>
            <a:xfrm>
              <a:off x="0" y="-38100"/>
              <a:ext cx="3749040" cy="204978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Overall classification correctness</a:t>
              </a:r>
            </a:p>
          </p:txBody>
        </p:sp>
      </p:grpSp>
      <p:grpSp>
        <p:nvGrpSpPr>
          <p:cNvPr name="Group 22" id="22"/>
          <p:cNvGrpSpPr/>
          <p:nvPr/>
        </p:nvGrpSpPr>
        <p:grpSpPr>
          <a:xfrm rot="0">
            <a:off x="4283583" y="2665095"/>
            <a:ext cx="3242310" cy="2556510"/>
            <a:chOff x="0" y="0"/>
            <a:chExt cx="4323080" cy="3408680"/>
          </a:xfrm>
        </p:grpSpPr>
        <p:sp>
          <p:nvSpPr>
            <p:cNvPr name="Freeform 23" id="23"/>
            <p:cNvSpPr/>
            <p:nvPr/>
          </p:nvSpPr>
          <p:spPr>
            <a:xfrm flipH="false" flipV="false" rot="0">
              <a:off x="0" y="0"/>
              <a:ext cx="4323080" cy="3408680"/>
            </a:xfrm>
            <a:custGeom>
              <a:avLst/>
              <a:gdLst/>
              <a:ahLst/>
              <a:cxnLst/>
              <a:rect r="r" b="b" t="t" l="l"/>
              <a:pathLst>
                <a:path h="3408680" w="4323080">
                  <a:moveTo>
                    <a:pt x="0" y="147447"/>
                  </a:moveTo>
                  <a:cubicBezTo>
                    <a:pt x="0" y="66040"/>
                    <a:pt x="66040" y="0"/>
                    <a:pt x="147447" y="0"/>
                  </a:cubicBezTo>
                  <a:lnTo>
                    <a:pt x="4175633" y="0"/>
                  </a:lnTo>
                  <a:cubicBezTo>
                    <a:pt x="4257040" y="0"/>
                    <a:pt x="4323080" y="66040"/>
                    <a:pt x="4323080" y="147447"/>
                  </a:cubicBezTo>
                  <a:lnTo>
                    <a:pt x="4323080" y="3261233"/>
                  </a:lnTo>
                  <a:cubicBezTo>
                    <a:pt x="4323080" y="3342640"/>
                    <a:pt x="4257040" y="3408680"/>
                    <a:pt x="4175633" y="3408680"/>
                  </a:cubicBezTo>
                  <a:lnTo>
                    <a:pt x="147447" y="3408680"/>
                  </a:lnTo>
                  <a:cubicBezTo>
                    <a:pt x="66040" y="3408680"/>
                    <a:pt x="0" y="3342640"/>
                    <a:pt x="0" y="3261233"/>
                  </a:cubicBezTo>
                  <a:close/>
                </a:path>
              </a:pathLst>
            </a:custGeom>
            <a:solidFill>
              <a:srgbClr val="0F2038"/>
            </a:solidFill>
            <a:ln w="19050" cap="sq">
              <a:solidFill>
                <a:srgbClr val="1E3358"/>
              </a:solidFill>
              <a:prstDash val="solid"/>
              <a:miter/>
            </a:ln>
          </p:spPr>
        </p:sp>
      </p:grpSp>
      <p:grpSp>
        <p:nvGrpSpPr>
          <p:cNvPr name="Group 24" id="24"/>
          <p:cNvGrpSpPr/>
          <p:nvPr/>
        </p:nvGrpSpPr>
        <p:grpSpPr>
          <a:xfrm rot="0">
            <a:off x="4498848" y="2948940"/>
            <a:ext cx="2811780" cy="548640"/>
            <a:chOff x="0" y="0"/>
            <a:chExt cx="3749040" cy="731520"/>
          </a:xfrm>
        </p:grpSpPr>
        <p:sp>
          <p:nvSpPr>
            <p:cNvPr name="Freeform 25" id="25"/>
            <p:cNvSpPr/>
            <p:nvPr/>
          </p:nvSpPr>
          <p:spPr>
            <a:xfrm flipH="false" flipV="false" rot="0">
              <a:off x="0" y="0"/>
              <a:ext cx="3749040" cy="731520"/>
            </a:xfrm>
            <a:custGeom>
              <a:avLst/>
              <a:gdLst/>
              <a:ahLst/>
              <a:cxnLst/>
              <a:rect r="r" b="b" t="t" l="l"/>
              <a:pathLst>
                <a:path h="731520" w="3749040">
                  <a:moveTo>
                    <a:pt x="0" y="0"/>
                  </a:moveTo>
                  <a:lnTo>
                    <a:pt x="3749040" y="0"/>
                  </a:lnTo>
                  <a:lnTo>
                    <a:pt x="3749040" y="731520"/>
                  </a:lnTo>
                  <a:lnTo>
                    <a:pt x="0" y="731520"/>
                  </a:lnTo>
                  <a:close/>
                </a:path>
              </a:pathLst>
            </a:custGeom>
            <a:blipFill>
              <a:blip r:embed="rId2">
                <a:alphaModFix amt="0"/>
              </a:blip>
              <a:stretch>
                <a:fillRect l="0" t="-49860" r="0" b="-49860"/>
              </a:stretch>
            </a:blipFill>
          </p:spPr>
        </p:sp>
        <p:sp>
          <p:nvSpPr>
            <p:cNvPr name="TextBox 26" id="26"/>
            <p:cNvSpPr txBox="true"/>
            <p:nvPr/>
          </p:nvSpPr>
          <p:spPr>
            <a:xfrm>
              <a:off x="0" y="-47625"/>
              <a:ext cx="3749040" cy="779145"/>
            </a:xfrm>
            <a:prstGeom prst="rect">
              <a:avLst/>
            </a:prstGeom>
          </p:spPr>
          <p:txBody>
            <a:bodyPr anchor="ctr" rtlCol="false" tIns="0" lIns="0" bIns="0" rIns="0"/>
            <a:lstStyle/>
            <a:p>
              <a:pPr algn="l">
                <a:lnSpc>
                  <a:spcPts val="2340"/>
                </a:lnSpc>
              </a:pPr>
              <a:r>
                <a:rPr lang="en-US" sz="1950" b="true">
                  <a:solidFill>
                    <a:srgbClr val="FFFFFF"/>
                  </a:solidFill>
                  <a:latin typeface="Calibri (MS) Bold"/>
                  <a:ea typeface="Calibri (MS) Bold"/>
                  <a:cs typeface="Calibri (MS) Bold"/>
                  <a:sym typeface="Calibri (MS) Bold"/>
                </a:rPr>
                <a:t>Precision</a:t>
              </a:r>
            </a:p>
          </p:txBody>
        </p:sp>
      </p:grpSp>
      <p:grpSp>
        <p:nvGrpSpPr>
          <p:cNvPr name="Group 27" id="27"/>
          <p:cNvGrpSpPr/>
          <p:nvPr/>
        </p:nvGrpSpPr>
        <p:grpSpPr>
          <a:xfrm rot="0">
            <a:off x="4498848" y="3566160"/>
            <a:ext cx="2811780" cy="1508760"/>
            <a:chOff x="0" y="0"/>
            <a:chExt cx="3749040" cy="2011680"/>
          </a:xfrm>
        </p:grpSpPr>
        <p:sp>
          <p:nvSpPr>
            <p:cNvPr name="Freeform 28" id="28"/>
            <p:cNvSpPr/>
            <p:nvPr/>
          </p:nvSpPr>
          <p:spPr>
            <a:xfrm flipH="false" flipV="false" rot="0">
              <a:off x="0" y="0"/>
              <a:ext cx="3749040" cy="2011680"/>
            </a:xfrm>
            <a:custGeom>
              <a:avLst/>
              <a:gdLst/>
              <a:ahLst/>
              <a:cxnLst/>
              <a:rect r="r" b="b" t="t" l="l"/>
              <a:pathLst>
                <a:path h="2011680" w="3749040">
                  <a:moveTo>
                    <a:pt x="0" y="0"/>
                  </a:moveTo>
                  <a:lnTo>
                    <a:pt x="3749040" y="0"/>
                  </a:lnTo>
                  <a:lnTo>
                    <a:pt x="3749040" y="2011680"/>
                  </a:lnTo>
                  <a:lnTo>
                    <a:pt x="0" y="2011680"/>
                  </a:lnTo>
                  <a:close/>
                </a:path>
              </a:pathLst>
            </a:custGeom>
            <a:blipFill>
              <a:blip r:embed="rId2">
                <a:alphaModFix amt="0"/>
              </a:blip>
              <a:stretch>
                <a:fillRect l="-18845" t="0" r="-18845" b="0"/>
              </a:stretch>
            </a:blipFill>
          </p:spPr>
        </p:sp>
        <p:sp>
          <p:nvSpPr>
            <p:cNvPr name="TextBox 29" id="29"/>
            <p:cNvSpPr txBox="true"/>
            <p:nvPr/>
          </p:nvSpPr>
          <p:spPr>
            <a:xfrm>
              <a:off x="0" y="-38100"/>
              <a:ext cx="3749040" cy="204978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Minimizes false alerts</a:t>
              </a:r>
            </a:p>
          </p:txBody>
        </p:sp>
      </p:grpSp>
      <p:grpSp>
        <p:nvGrpSpPr>
          <p:cNvPr name="Group 30" id="30"/>
          <p:cNvGrpSpPr/>
          <p:nvPr/>
        </p:nvGrpSpPr>
        <p:grpSpPr>
          <a:xfrm rot="0">
            <a:off x="7753731" y="2665095"/>
            <a:ext cx="3242310" cy="2556510"/>
            <a:chOff x="0" y="0"/>
            <a:chExt cx="4323080" cy="3408680"/>
          </a:xfrm>
        </p:grpSpPr>
        <p:sp>
          <p:nvSpPr>
            <p:cNvPr name="Freeform 31" id="31"/>
            <p:cNvSpPr/>
            <p:nvPr/>
          </p:nvSpPr>
          <p:spPr>
            <a:xfrm flipH="false" flipV="false" rot="0">
              <a:off x="0" y="0"/>
              <a:ext cx="4323080" cy="3408680"/>
            </a:xfrm>
            <a:custGeom>
              <a:avLst/>
              <a:gdLst/>
              <a:ahLst/>
              <a:cxnLst/>
              <a:rect r="r" b="b" t="t" l="l"/>
              <a:pathLst>
                <a:path h="3408680" w="4323080">
                  <a:moveTo>
                    <a:pt x="0" y="147447"/>
                  </a:moveTo>
                  <a:cubicBezTo>
                    <a:pt x="0" y="66040"/>
                    <a:pt x="66040" y="0"/>
                    <a:pt x="147447" y="0"/>
                  </a:cubicBezTo>
                  <a:lnTo>
                    <a:pt x="4175633" y="0"/>
                  </a:lnTo>
                  <a:cubicBezTo>
                    <a:pt x="4257040" y="0"/>
                    <a:pt x="4323080" y="66040"/>
                    <a:pt x="4323080" y="147447"/>
                  </a:cubicBezTo>
                  <a:lnTo>
                    <a:pt x="4323080" y="3261233"/>
                  </a:lnTo>
                  <a:cubicBezTo>
                    <a:pt x="4323080" y="3342640"/>
                    <a:pt x="4257040" y="3408680"/>
                    <a:pt x="4175633" y="3408680"/>
                  </a:cubicBezTo>
                  <a:lnTo>
                    <a:pt x="147447" y="3408680"/>
                  </a:lnTo>
                  <a:cubicBezTo>
                    <a:pt x="66040" y="3408680"/>
                    <a:pt x="0" y="3342640"/>
                    <a:pt x="0" y="3261233"/>
                  </a:cubicBezTo>
                  <a:close/>
                </a:path>
              </a:pathLst>
            </a:custGeom>
            <a:solidFill>
              <a:srgbClr val="0F2038"/>
            </a:solidFill>
            <a:ln w="19050" cap="sq">
              <a:solidFill>
                <a:srgbClr val="1E3358"/>
              </a:solidFill>
              <a:prstDash val="solid"/>
              <a:miter/>
            </a:ln>
          </p:spPr>
        </p:sp>
      </p:grpSp>
      <p:grpSp>
        <p:nvGrpSpPr>
          <p:cNvPr name="Group 32" id="32"/>
          <p:cNvGrpSpPr/>
          <p:nvPr/>
        </p:nvGrpSpPr>
        <p:grpSpPr>
          <a:xfrm rot="0">
            <a:off x="7968996" y="2948940"/>
            <a:ext cx="2811780" cy="548640"/>
            <a:chOff x="0" y="0"/>
            <a:chExt cx="3749040" cy="731520"/>
          </a:xfrm>
        </p:grpSpPr>
        <p:sp>
          <p:nvSpPr>
            <p:cNvPr name="Freeform 33" id="33"/>
            <p:cNvSpPr/>
            <p:nvPr/>
          </p:nvSpPr>
          <p:spPr>
            <a:xfrm flipH="false" flipV="false" rot="0">
              <a:off x="0" y="0"/>
              <a:ext cx="3749040" cy="731520"/>
            </a:xfrm>
            <a:custGeom>
              <a:avLst/>
              <a:gdLst/>
              <a:ahLst/>
              <a:cxnLst/>
              <a:rect r="r" b="b" t="t" l="l"/>
              <a:pathLst>
                <a:path h="731520" w="3749040">
                  <a:moveTo>
                    <a:pt x="0" y="0"/>
                  </a:moveTo>
                  <a:lnTo>
                    <a:pt x="3749040" y="0"/>
                  </a:lnTo>
                  <a:lnTo>
                    <a:pt x="3749040" y="731520"/>
                  </a:lnTo>
                  <a:lnTo>
                    <a:pt x="0" y="731520"/>
                  </a:lnTo>
                  <a:close/>
                </a:path>
              </a:pathLst>
            </a:custGeom>
            <a:blipFill>
              <a:blip r:embed="rId2">
                <a:alphaModFix amt="0"/>
              </a:blip>
              <a:stretch>
                <a:fillRect l="0" t="-49860" r="0" b="-49860"/>
              </a:stretch>
            </a:blipFill>
          </p:spPr>
        </p:sp>
        <p:sp>
          <p:nvSpPr>
            <p:cNvPr name="TextBox 34" id="34"/>
            <p:cNvSpPr txBox="true"/>
            <p:nvPr/>
          </p:nvSpPr>
          <p:spPr>
            <a:xfrm>
              <a:off x="0" y="-47625"/>
              <a:ext cx="3749040" cy="779145"/>
            </a:xfrm>
            <a:prstGeom prst="rect">
              <a:avLst/>
            </a:prstGeom>
          </p:spPr>
          <p:txBody>
            <a:bodyPr anchor="ctr" rtlCol="false" tIns="0" lIns="0" bIns="0" rIns="0"/>
            <a:lstStyle/>
            <a:p>
              <a:pPr algn="l">
                <a:lnSpc>
                  <a:spcPts val="2340"/>
                </a:lnSpc>
              </a:pPr>
              <a:r>
                <a:rPr lang="en-US" sz="1950" b="true">
                  <a:solidFill>
                    <a:srgbClr val="FFFFFF"/>
                  </a:solidFill>
                  <a:latin typeface="Calibri (MS) Bold"/>
                  <a:ea typeface="Calibri (MS) Bold"/>
                  <a:cs typeface="Calibri (MS) Bold"/>
                  <a:sym typeface="Calibri (MS) Bold"/>
                </a:rPr>
                <a:t>Recall</a:t>
              </a:r>
            </a:p>
          </p:txBody>
        </p:sp>
      </p:grpSp>
      <p:grpSp>
        <p:nvGrpSpPr>
          <p:cNvPr name="Group 35" id="35"/>
          <p:cNvGrpSpPr/>
          <p:nvPr/>
        </p:nvGrpSpPr>
        <p:grpSpPr>
          <a:xfrm rot="0">
            <a:off x="7968996" y="3566160"/>
            <a:ext cx="2811780" cy="1508760"/>
            <a:chOff x="0" y="0"/>
            <a:chExt cx="3749040" cy="2011680"/>
          </a:xfrm>
        </p:grpSpPr>
        <p:sp>
          <p:nvSpPr>
            <p:cNvPr name="Freeform 36" id="36"/>
            <p:cNvSpPr/>
            <p:nvPr/>
          </p:nvSpPr>
          <p:spPr>
            <a:xfrm flipH="false" flipV="false" rot="0">
              <a:off x="0" y="0"/>
              <a:ext cx="3749040" cy="2011680"/>
            </a:xfrm>
            <a:custGeom>
              <a:avLst/>
              <a:gdLst/>
              <a:ahLst/>
              <a:cxnLst/>
              <a:rect r="r" b="b" t="t" l="l"/>
              <a:pathLst>
                <a:path h="2011680" w="3749040">
                  <a:moveTo>
                    <a:pt x="0" y="0"/>
                  </a:moveTo>
                  <a:lnTo>
                    <a:pt x="3749040" y="0"/>
                  </a:lnTo>
                  <a:lnTo>
                    <a:pt x="3749040" y="2011680"/>
                  </a:lnTo>
                  <a:lnTo>
                    <a:pt x="0" y="2011680"/>
                  </a:lnTo>
                  <a:close/>
                </a:path>
              </a:pathLst>
            </a:custGeom>
            <a:blipFill>
              <a:blip r:embed="rId2">
                <a:alphaModFix amt="0"/>
              </a:blip>
              <a:stretch>
                <a:fillRect l="-18845" t="0" r="-18845" b="0"/>
              </a:stretch>
            </a:blipFill>
          </p:spPr>
        </p:sp>
        <p:sp>
          <p:nvSpPr>
            <p:cNvPr name="TextBox 37" id="37"/>
            <p:cNvSpPr txBox="true"/>
            <p:nvPr/>
          </p:nvSpPr>
          <p:spPr>
            <a:xfrm>
              <a:off x="0" y="-38100"/>
              <a:ext cx="3749040" cy="204978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Minimizes missed attacks</a:t>
              </a:r>
            </a:p>
          </p:txBody>
        </p:sp>
      </p:grpSp>
      <p:grpSp>
        <p:nvGrpSpPr>
          <p:cNvPr name="Group 38" id="38"/>
          <p:cNvGrpSpPr/>
          <p:nvPr/>
        </p:nvGrpSpPr>
        <p:grpSpPr>
          <a:xfrm rot="0">
            <a:off x="11223879" y="2665095"/>
            <a:ext cx="3242310" cy="2556510"/>
            <a:chOff x="0" y="0"/>
            <a:chExt cx="4323080" cy="3408680"/>
          </a:xfrm>
        </p:grpSpPr>
        <p:sp>
          <p:nvSpPr>
            <p:cNvPr name="Freeform 39" id="39"/>
            <p:cNvSpPr/>
            <p:nvPr/>
          </p:nvSpPr>
          <p:spPr>
            <a:xfrm flipH="false" flipV="false" rot="0">
              <a:off x="0" y="0"/>
              <a:ext cx="4323080" cy="3408680"/>
            </a:xfrm>
            <a:custGeom>
              <a:avLst/>
              <a:gdLst/>
              <a:ahLst/>
              <a:cxnLst/>
              <a:rect r="r" b="b" t="t" l="l"/>
              <a:pathLst>
                <a:path h="3408680" w="4323080">
                  <a:moveTo>
                    <a:pt x="0" y="147447"/>
                  </a:moveTo>
                  <a:cubicBezTo>
                    <a:pt x="0" y="66040"/>
                    <a:pt x="66040" y="0"/>
                    <a:pt x="147447" y="0"/>
                  </a:cubicBezTo>
                  <a:lnTo>
                    <a:pt x="4175633" y="0"/>
                  </a:lnTo>
                  <a:cubicBezTo>
                    <a:pt x="4257040" y="0"/>
                    <a:pt x="4323080" y="66040"/>
                    <a:pt x="4323080" y="147447"/>
                  </a:cubicBezTo>
                  <a:lnTo>
                    <a:pt x="4323080" y="3261233"/>
                  </a:lnTo>
                  <a:cubicBezTo>
                    <a:pt x="4323080" y="3342640"/>
                    <a:pt x="4257040" y="3408680"/>
                    <a:pt x="4175633" y="3408680"/>
                  </a:cubicBezTo>
                  <a:lnTo>
                    <a:pt x="147447" y="3408680"/>
                  </a:lnTo>
                  <a:cubicBezTo>
                    <a:pt x="66040" y="3408680"/>
                    <a:pt x="0" y="3342640"/>
                    <a:pt x="0" y="3261233"/>
                  </a:cubicBezTo>
                  <a:close/>
                </a:path>
              </a:pathLst>
            </a:custGeom>
            <a:solidFill>
              <a:srgbClr val="12324A"/>
            </a:solidFill>
            <a:ln w="19050" cap="sq">
              <a:solidFill>
                <a:srgbClr val="00E5C7"/>
              </a:solidFill>
              <a:prstDash val="solid"/>
              <a:miter/>
            </a:ln>
          </p:spPr>
        </p:sp>
      </p:grpSp>
      <p:grpSp>
        <p:nvGrpSpPr>
          <p:cNvPr name="Group 40" id="40"/>
          <p:cNvGrpSpPr/>
          <p:nvPr/>
        </p:nvGrpSpPr>
        <p:grpSpPr>
          <a:xfrm rot="0">
            <a:off x="11439144" y="2948940"/>
            <a:ext cx="2811780" cy="548640"/>
            <a:chOff x="0" y="0"/>
            <a:chExt cx="3749040" cy="731520"/>
          </a:xfrm>
        </p:grpSpPr>
        <p:sp>
          <p:nvSpPr>
            <p:cNvPr name="Freeform 41" id="41"/>
            <p:cNvSpPr/>
            <p:nvPr/>
          </p:nvSpPr>
          <p:spPr>
            <a:xfrm flipH="false" flipV="false" rot="0">
              <a:off x="0" y="0"/>
              <a:ext cx="3749040" cy="731520"/>
            </a:xfrm>
            <a:custGeom>
              <a:avLst/>
              <a:gdLst/>
              <a:ahLst/>
              <a:cxnLst/>
              <a:rect r="r" b="b" t="t" l="l"/>
              <a:pathLst>
                <a:path h="731520" w="3749040">
                  <a:moveTo>
                    <a:pt x="0" y="0"/>
                  </a:moveTo>
                  <a:lnTo>
                    <a:pt x="3749040" y="0"/>
                  </a:lnTo>
                  <a:lnTo>
                    <a:pt x="3749040" y="731520"/>
                  </a:lnTo>
                  <a:lnTo>
                    <a:pt x="0" y="731520"/>
                  </a:lnTo>
                  <a:close/>
                </a:path>
              </a:pathLst>
            </a:custGeom>
            <a:blipFill>
              <a:blip r:embed="rId2">
                <a:alphaModFix amt="0"/>
              </a:blip>
              <a:stretch>
                <a:fillRect l="0" t="-49860" r="0" b="-49860"/>
              </a:stretch>
            </a:blipFill>
          </p:spPr>
        </p:sp>
        <p:sp>
          <p:nvSpPr>
            <p:cNvPr name="TextBox 42" id="42"/>
            <p:cNvSpPr txBox="true"/>
            <p:nvPr/>
          </p:nvSpPr>
          <p:spPr>
            <a:xfrm>
              <a:off x="0" y="-47625"/>
              <a:ext cx="3749040" cy="779145"/>
            </a:xfrm>
            <a:prstGeom prst="rect">
              <a:avLst/>
            </a:prstGeom>
          </p:spPr>
          <p:txBody>
            <a:bodyPr anchor="ctr" rtlCol="false" tIns="0" lIns="0" bIns="0" rIns="0"/>
            <a:lstStyle/>
            <a:p>
              <a:pPr algn="l">
                <a:lnSpc>
                  <a:spcPts val="2340"/>
                </a:lnSpc>
              </a:pPr>
              <a:r>
                <a:rPr lang="en-US" sz="1950" b="true">
                  <a:solidFill>
                    <a:srgbClr val="00E5C7"/>
                  </a:solidFill>
                  <a:latin typeface="Calibri (MS) Bold"/>
                  <a:ea typeface="Calibri (MS) Bold"/>
                  <a:cs typeface="Calibri (MS) Bold"/>
                  <a:sym typeface="Calibri (MS) Bold"/>
                </a:rPr>
                <a:t>F1-Score</a:t>
              </a:r>
            </a:p>
          </p:txBody>
        </p:sp>
      </p:grpSp>
      <p:grpSp>
        <p:nvGrpSpPr>
          <p:cNvPr name="Group 43" id="43"/>
          <p:cNvGrpSpPr/>
          <p:nvPr/>
        </p:nvGrpSpPr>
        <p:grpSpPr>
          <a:xfrm rot="0">
            <a:off x="11439144" y="3566160"/>
            <a:ext cx="2811780" cy="1508760"/>
            <a:chOff x="0" y="0"/>
            <a:chExt cx="3749040" cy="2011680"/>
          </a:xfrm>
        </p:grpSpPr>
        <p:sp>
          <p:nvSpPr>
            <p:cNvPr name="Freeform 44" id="44"/>
            <p:cNvSpPr/>
            <p:nvPr/>
          </p:nvSpPr>
          <p:spPr>
            <a:xfrm flipH="false" flipV="false" rot="0">
              <a:off x="0" y="0"/>
              <a:ext cx="3749040" cy="2011680"/>
            </a:xfrm>
            <a:custGeom>
              <a:avLst/>
              <a:gdLst/>
              <a:ahLst/>
              <a:cxnLst/>
              <a:rect r="r" b="b" t="t" l="l"/>
              <a:pathLst>
                <a:path h="2011680" w="3749040">
                  <a:moveTo>
                    <a:pt x="0" y="0"/>
                  </a:moveTo>
                  <a:lnTo>
                    <a:pt x="3749040" y="0"/>
                  </a:lnTo>
                  <a:lnTo>
                    <a:pt x="3749040" y="2011680"/>
                  </a:lnTo>
                  <a:lnTo>
                    <a:pt x="0" y="2011680"/>
                  </a:lnTo>
                  <a:close/>
                </a:path>
              </a:pathLst>
            </a:custGeom>
            <a:blipFill>
              <a:blip r:embed="rId2">
                <a:alphaModFix amt="0"/>
              </a:blip>
              <a:stretch>
                <a:fillRect l="-18845" t="0" r="-18845" b="0"/>
              </a:stretch>
            </a:blipFill>
          </p:spPr>
        </p:sp>
        <p:sp>
          <p:nvSpPr>
            <p:cNvPr name="TextBox 45" id="45"/>
            <p:cNvSpPr txBox="true"/>
            <p:nvPr/>
          </p:nvSpPr>
          <p:spPr>
            <a:xfrm>
              <a:off x="0" y="-38100"/>
              <a:ext cx="3749040" cy="204978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Harmonic mean — primary target</a:t>
              </a:r>
            </a:p>
          </p:txBody>
        </p:sp>
      </p:grpSp>
      <p:grpSp>
        <p:nvGrpSpPr>
          <p:cNvPr name="Group 46" id="46"/>
          <p:cNvGrpSpPr/>
          <p:nvPr/>
        </p:nvGrpSpPr>
        <p:grpSpPr>
          <a:xfrm rot="0">
            <a:off x="14694027" y="2665095"/>
            <a:ext cx="3242310" cy="2556510"/>
            <a:chOff x="0" y="0"/>
            <a:chExt cx="4323080" cy="3408680"/>
          </a:xfrm>
        </p:grpSpPr>
        <p:sp>
          <p:nvSpPr>
            <p:cNvPr name="Freeform 47" id="47"/>
            <p:cNvSpPr/>
            <p:nvPr/>
          </p:nvSpPr>
          <p:spPr>
            <a:xfrm flipH="false" flipV="false" rot="0">
              <a:off x="0" y="0"/>
              <a:ext cx="4323080" cy="3408680"/>
            </a:xfrm>
            <a:custGeom>
              <a:avLst/>
              <a:gdLst/>
              <a:ahLst/>
              <a:cxnLst/>
              <a:rect r="r" b="b" t="t" l="l"/>
              <a:pathLst>
                <a:path h="3408680" w="4323080">
                  <a:moveTo>
                    <a:pt x="0" y="147447"/>
                  </a:moveTo>
                  <a:cubicBezTo>
                    <a:pt x="0" y="66040"/>
                    <a:pt x="66040" y="0"/>
                    <a:pt x="147447" y="0"/>
                  </a:cubicBezTo>
                  <a:lnTo>
                    <a:pt x="4175633" y="0"/>
                  </a:lnTo>
                  <a:cubicBezTo>
                    <a:pt x="4257040" y="0"/>
                    <a:pt x="4323080" y="66040"/>
                    <a:pt x="4323080" y="147447"/>
                  </a:cubicBezTo>
                  <a:lnTo>
                    <a:pt x="4323080" y="3261233"/>
                  </a:lnTo>
                  <a:cubicBezTo>
                    <a:pt x="4323080" y="3342640"/>
                    <a:pt x="4257040" y="3408680"/>
                    <a:pt x="4175633" y="3408680"/>
                  </a:cubicBezTo>
                  <a:lnTo>
                    <a:pt x="147447" y="3408680"/>
                  </a:lnTo>
                  <a:cubicBezTo>
                    <a:pt x="66040" y="3408680"/>
                    <a:pt x="0" y="3342640"/>
                    <a:pt x="0" y="3261233"/>
                  </a:cubicBezTo>
                  <a:close/>
                </a:path>
              </a:pathLst>
            </a:custGeom>
            <a:solidFill>
              <a:srgbClr val="0F2038"/>
            </a:solidFill>
            <a:ln w="19050" cap="sq">
              <a:solidFill>
                <a:srgbClr val="1E3358"/>
              </a:solidFill>
              <a:prstDash val="solid"/>
              <a:miter/>
            </a:ln>
          </p:spPr>
        </p:sp>
      </p:grpSp>
      <p:grpSp>
        <p:nvGrpSpPr>
          <p:cNvPr name="Group 48" id="48"/>
          <p:cNvGrpSpPr/>
          <p:nvPr/>
        </p:nvGrpSpPr>
        <p:grpSpPr>
          <a:xfrm rot="0">
            <a:off x="14909292" y="2948940"/>
            <a:ext cx="2811780" cy="548640"/>
            <a:chOff x="0" y="0"/>
            <a:chExt cx="3749040" cy="731520"/>
          </a:xfrm>
        </p:grpSpPr>
        <p:sp>
          <p:nvSpPr>
            <p:cNvPr name="Freeform 49" id="49"/>
            <p:cNvSpPr/>
            <p:nvPr/>
          </p:nvSpPr>
          <p:spPr>
            <a:xfrm flipH="false" flipV="false" rot="0">
              <a:off x="0" y="0"/>
              <a:ext cx="3749040" cy="731520"/>
            </a:xfrm>
            <a:custGeom>
              <a:avLst/>
              <a:gdLst/>
              <a:ahLst/>
              <a:cxnLst/>
              <a:rect r="r" b="b" t="t" l="l"/>
              <a:pathLst>
                <a:path h="731520" w="3749040">
                  <a:moveTo>
                    <a:pt x="0" y="0"/>
                  </a:moveTo>
                  <a:lnTo>
                    <a:pt x="3749040" y="0"/>
                  </a:lnTo>
                  <a:lnTo>
                    <a:pt x="3749040" y="731520"/>
                  </a:lnTo>
                  <a:lnTo>
                    <a:pt x="0" y="731520"/>
                  </a:lnTo>
                  <a:close/>
                </a:path>
              </a:pathLst>
            </a:custGeom>
            <a:blipFill>
              <a:blip r:embed="rId2">
                <a:alphaModFix amt="0"/>
              </a:blip>
              <a:stretch>
                <a:fillRect l="0" t="-49860" r="0" b="-49860"/>
              </a:stretch>
            </a:blipFill>
          </p:spPr>
        </p:sp>
        <p:sp>
          <p:nvSpPr>
            <p:cNvPr name="TextBox 50" id="50"/>
            <p:cNvSpPr txBox="true"/>
            <p:nvPr/>
          </p:nvSpPr>
          <p:spPr>
            <a:xfrm>
              <a:off x="0" y="-47625"/>
              <a:ext cx="3749040" cy="779145"/>
            </a:xfrm>
            <a:prstGeom prst="rect">
              <a:avLst/>
            </a:prstGeom>
          </p:spPr>
          <p:txBody>
            <a:bodyPr anchor="ctr" rtlCol="false" tIns="0" lIns="0" bIns="0" rIns="0"/>
            <a:lstStyle/>
            <a:p>
              <a:pPr algn="l">
                <a:lnSpc>
                  <a:spcPts val="2340"/>
                </a:lnSpc>
              </a:pPr>
              <a:r>
                <a:rPr lang="en-US" sz="1950" b="true">
                  <a:solidFill>
                    <a:srgbClr val="FFFFFF"/>
                  </a:solidFill>
                  <a:latin typeface="Calibri (MS) Bold"/>
                  <a:ea typeface="Calibri (MS) Bold"/>
                  <a:cs typeface="Calibri (MS) Bold"/>
                  <a:sym typeface="Calibri (MS) Bold"/>
                </a:rPr>
                <a:t>ROC-AUC</a:t>
              </a:r>
            </a:p>
          </p:txBody>
        </p:sp>
      </p:grpSp>
      <p:grpSp>
        <p:nvGrpSpPr>
          <p:cNvPr name="Group 51" id="51"/>
          <p:cNvGrpSpPr/>
          <p:nvPr/>
        </p:nvGrpSpPr>
        <p:grpSpPr>
          <a:xfrm rot="0">
            <a:off x="14909292" y="3566160"/>
            <a:ext cx="2811780" cy="1508760"/>
            <a:chOff x="0" y="0"/>
            <a:chExt cx="3749040" cy="2011680"/>
          </a:xfrm>
        </p:grpSpPr>
        <p:sp>
          <p:nvSpPr>
            <p:cNvPr name="Freeform 52" id="52"/>
            <p:cNvSpPr/>
            <p:nvPr/>
          </p:nvSpPr>
          <p:spPr>
            <a:xfrm flipH="false" flipV="false" rot="0">
              <a:off x="0" y="0"/>
              <a:ext cx="3749040" cy="2011680"/>
            </a:xfrm>
            <a:custGeom>
              <a:avLst/>
              <a:gdLst/>
              <a:ahLst/>
              <a:cxnLst/>
              <a:rect r="r" b="b" t="t" l="l"/>
              <a:pathLst>
                <a:path h="2011680" w="3749040">
                  <a:moveTo>
                    <a:pt x="0" y="0"/>
                  </a:moveTo>
                  <a:lnTo>
                    <a:pt x="3749040" y="0"/>
                  </a:lnTo>
                  <a:lnTo>
                    <a:pt x="3749040" y="2011680"/>
                  </a:lnTo>
                  <a:lnTo>
                    <a:pt x="0" y="2011680"/>
                  </a:lnTo>
                  <a:close/>
                </a:path>
              </a:pathLst>
            </a:custGeom>
            <a:blipFill>
              <a:blip r:embed="rId2">
                <a:alphaModFix amt="0"/>
              </a:blip>
              <a:stretch>
                <a:fillRect l="-18845" t="0" r="-18845" b="0"/>
              </a:stretch>
            </a:blipFill>
          </p:spPr>
        </p:sp>
        <p:sp>
          <p:nvSpPr>
            <p:cNvPr name="TextBox 53" id="53"/>
            <p:cNvSpPr txBox="true"/>
            <p:nvPr/>
          </p:nvSpPr>
          <p:spPr>
            <a:xfrm>
              <a:off x="0" y="-38100"/>
              <a:ext cx="3749040" cy="204978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Discrimination across thresholds</a:t>
              </a:r>
            </a:p>
          </p:txBody>
        </p:sp>
      </p:grpSp>
      <p:grpSp>
        <p:nvGrpSpPr>
          <p:cNvPr name="Group 54" id="54"/>
          <p:cNvGrpSpPr/>
          <p:nvPr/>
        </p:nvGrpSpPr>
        <p:grpSpPr>
          <a:xfrm rot="0">
            <a:off x="813435" y="5545455"/>
            <a:ext cx="8042910" cy="3036570"/>
            <a:chOff x="0" y="0"/>
            <a:chExt cx="10723880" cy="4048760"/>
          </a:xfrm>
        </p:grpSpPr>
        <p:sp>
          <p:nvSpPr>
            <p:cNvPr name="Freeform 55" id="55"/>
            <p:cNvSpPr/>
            <p:nvPr/>
          </p:nvSpPr>
          <p:spPr>
            <a:xfrm flipH="false" flipV="false" rot="0">
              <a:off x="0" y="0"/>
              <a:ext cx="10723880" cy="4048760"/>
            </a:xfrm>
            <a:custGeom>
              <a:avLst/>
              <a:gdLst/>
              <a:ahLst/>
              <a:cxnLst/>
              <a:rect r="r" b="b" t="t" l="l"/>
              <a:pathLst>
                <a:path h="4048760" w="10723880">
                  <a:moveTo>
                    <a:pt x="0" y="147193"/>
                  </a:moveTo>
                  <a:cubicBezTo>
                    <a:pt x="0" y="65913"/>
                    <a:pt x="65913" y="0"/>
                    <a:pt x="147193" y="0"/>
                  </a:cubicBezTo>
                  <a:lnTo>
                    <a:pt x="10576687" y="0"/>
                  </a:lnTo>
                  <a:cubicBezTo>
                    <a:pt x="10657967" y="0"/>
                    <a:pt x="10723880" y="65913"/>
                    <a:pt x="10723880" y="147193"/>
                  </a:cubicBezTo>
                  <a:lnTo>
                    <a:pt x="10723880" y="3901567"/>
                  </a:lnTo>
                  <a:cubicBezTo>
                    <a:pt x="10723880" y="3982847"/>
                    <a:pt x="10657967" y="4048760"/>
                    <a:pt x="10576687" y="4048760"/>
                  </a:cubicBezTo>
                  <a:lnTo>
                    <a:pt x="147193" y="4048760"/>
                  </a:lnTo>
                  <a:cubicBezTo>
                    <a:pt x="65913" y="4048760"/>
                    <a:pt x="0" y="3982847"/>
                    <a:pt x="0" y="3901567"/>
                  </a:cubicBezTo>
                  <a:close/>
                </a:path>
              </a:pathLst>
            </a:custGeom>
            <a:solidFill>
              <a:srgbClr val="13294A"/>
            </a:solidFill>
            <a:ln w="19050" cap="sq">
              <a:solidFill>
                <a:srgbClr val="1E3358"/>
              </a:solidFill>
              <a:prstDash val="solid"/>
              <a:miter/>
            </a:ln>
          </p:spPr>
        </p:sp>
      </p:grpSp>
      <p:grpSp>
        <p:nvGrpSpPr>
          <p:cNvPr name="Group 56" id="56"/>
          <p:cNvGrpSpPr/>
          <p:nvPr/>
        </p:nvGrpSpPr>
        <p:grpSpPr>
          <a:xfrm rot="0">
            <a:off x="1234440" y="5829300"/>
            <a:ext cx="7132320" cy="411480"/>
            <a:chOff x="0" y="0"/>
            <a:chExt cx="9509760" cy="548640"/>
          </a:xfrm>
        </p:grpSpPr>
        <p:sp>
          <p:nvSpPr>
            <p:cNvPr name="Freeform 57" id="57"/>
            <p:cNvSpPr/>
            <p:nvPr/>
          </p:nvSpPr>
          <p:spPr>
            <a:xfrm flipH="false" flipV="false" rot="0">
              <a:off x="0" y="0"/>
              <a:ext cx="9509760" cy="548640"/>
            </a:xfrm>
            <a:custGeom>
              <a:avLst/>
              <a:gdLst/>
              <a:ahLst/>
              <a:cxnLst/>
              <a:rect r="r" b="b" t="t" l="l"/>
              <a:pathLst>
                <a:path h="548640" w="9509760">
                  <a:moveTo>
                    <a:pt x="0" y="0"/>
                  </a:moveTo>
                  <a:lnTo>
                    <a:pt x="9509760" y="0"/>
                  </a:lnTo>
                  <a:lnTo>
                    <a:pt x="9509760" y="548640"/>
                  </a:lnTo>
                  <a:lnTo>
                    <a:pt x="0" y="548640"/>
                  </a:lnTo>
                  <a:close/>
                </a:path>
              </a:pathLst>
            </a:custGeom>
            <a:blipFill>
              <a:blip r:embed="rId2">
                <a:alphaModFix amt="0"/>
              </a:blip>
              <a:stretch>
                <a:fillRect l="0" t="-287740" r="0" b="-287740"/>
              </a:stretch>
            </a:blipFill>
          </p:spPr>
        </p:sp>
        <p:sp>
          <p:nvSpPr>
            <p:cNvPr name="TextBox 58" id="58"/>
            <p:cNvSpPr txBox="true"/>
            <p:nvPr/>
          </p:nvSpPr>
          <p:spPr>
            <a:xfrm>
              <a:off x="0" y="-19050"/>
              <a:ext cx="9509760" cy="567690"/>
            </a:xfrm>
            <a:prstGeom prst="rect">
              <a:avLst/>
            </a:prstGeom>
          </p:spPr>
          <p:txBody>
            <a:bodyPr anchor="ctr" rtlCol="false" tIns="0" lIns="0" bIns="0" rIns="0"/>
            <a:lstStyle/>
            <a:p>
              <a:pPr algn="l">
                <a:lnSpc>
                  <a:spcPts val="1889"/>
                </a:lnSpc>
              </a:pPr>
              <a:r>
                <a:rPr lang="en-US" b="true" sz="1575" spc="150">
                  <a:solidFill>
                    <a:srgbClr val="00E5C7"/>
                  </a:solidFill>
                  <a:latin typeface="Calibri (MS) Bold"/>
                  <a:ea typeface="Calibri (MS) Bold"/>
                  <a:cs typeface="Calibri (MS) Bold"/>
                  <a:sym typeface="Calibri (MS) Bold"/>
                </a:rPr>
                <a:t>HELD-OUT TEST STRATEGY</a:t>
              </a:r>
            </a:p>
          </p:txBody>
        </p:sp>
      </p:grpSp>
      <p:grpSp>
        <p:nvGrpSpPr>
          <p:cNvPr name="Group 59" id="59"/>
          <p:cNvGrpSpPr/>
          <p:nvPr/>
        </p:nvGrpSpPr>
        <p:grpSpPr>
          <a:xfrm rot="0">
            <a:off x="1234440" y="6309360"/>
            <a:ext cx="7132320" cy="548640"/>
            <a:chOff x="0" y="0"/>
            <a:chExt cx="9509760" cy="731520"/>
          </a:xfrm>
        </p:grpSpPr>
        <p:sp>
          <p:nvSpPr>
            <p:cNvPr name="Freeform 60" id="60"/>
            <p:cNvSpPr/>
            <p:nvPr/>
          </p:nvSpPr>
          <p:spPr>
            <a:xfrm flipH="false" flipV="false" rot="0">
              <a:off x="0" y="0"/>
              <a:ext cx="9509760" cy="731520"/>
            </a:xfrm>
            <a:custGeom>
              <a:avLst/>
              <a:gdLst/>
              <a:ahLst/>
              <a:cxnLst/>
              <a:rect r="r" b="b" t="t" l="l"/>
              <a:pathLst>
                <a:path h="731520" w="9509760">
                  <a:moveTo>
                    <a:pt x="0" y="0"/>
                  </a:moveTo>
                  <a:lnTo>
                    <a:pt x="9509760" y="0"/>
                  </a:lnTo>
                  <a:lnTo>
                    <a:pt x="9509760" y="731520"/>
                  </a:lnTo>
                  <a:lnTo>
                    <a:pt x="0" y="731520"/>
                  </a:lnTo>
                  <a:close/>
                </a:path>
              </a:pathLst>
            </a:custGeom>
            <a:blipFill>
              <a:blip r:embed="rId2">
                <a:alphaModFix amt="0"/>
              </a:blip>
              <a:stretch>
                <a:fillRect l="0" t="-203305" r="0" b="-203305"/>
              </a:stretch>
            </a:blipFill>
          </p:spPr>
        </p:sp>
        <p:sp>
          <p:nvSpPr>
            <p:cNvPr name="TextBox 61" id="61"/>
            <p:cNvSpPr txBox="true"/>
            <p:nvPr/>
          </p:nvSpPr>
          <p:spPr>
            <a:xfrm>
              <a:off x="0" y="-38100"/>
              <a:ext cx="9509760" cy="769620"/>
            </a:xfrm>
            <a:prstGeom prst="rect">
              <a:avLst/>
            </a:prstGeom>
          </p:spPr>
          <p:txBody>
            <a:bodyPr anchor="ctr" rtlCol="false" tIns="0" lIns="0" bIns="0" rIns="0"/>
            <a:lstStyle/>
            <a:p>
              <a:pPr algn="l">
                <a:lnSpc>
                  <a:spcPts val="2070"/>
                </a:lnSpc>
              </a:pPr>
              <a:r>
                <a:rPr lang="en-US" sz="1725" i="true">
                  <a:solidFill>
                    <a:srgbClr val="9FB0C9"/>
                  </a:solidFill>
                  <a:latin typeface="Calibri (MS) Italics"/>
                  <a:ea typeface="Calibri (MS) Italics"/>
                  <a:cs typeface="Calibri (MS) Italics"/>
                  <a:sym typeface="Calibri (MS) Italics"/>
                </a:rPr>
                <a:t>20% stratified hold-out, never seen during cross-validation — evaluated once, at the end.</a:t>
              </a:r>
            </a:p>
          </p:txBody>
        </p:sp>
      </p:grpSp>
      <p:grpSp>
        <p:nvGrpSpPr>
          <p:cNvPr name="Group 62" id="62"/>
          <p:cNvGrpSpPr/>
          <p:nvPr/>
        </p:nvGrpSpPr>
        <p:grpSpPr>
          <a:xfrm rot="0">
            <a:off x="1234440" y="7063740"/>
            <a:ext cx="7132320" cy="1234440"/>
            <a:chOff x="0" y="0"/>
            <a:chExt cx="9509760" cy="1645920"/>
          </a:xfrm>
        </p:grpSpPr>
        <p:sp>
          <p:nvSpPr>
            <p:cNvPr name="Freeform 63" id="63"/>
            <p:cNvSpPr/>
            <p:nvPr/>
          </p:nvSpPr>
          <p:spPr>
            <a:xfrm flipH="false" flipV="false" rot="0">
              <a:off x="0" y="0"/>
              <a:ext cx="9509760" cy="1645920"/>
            </a:xfrm>
            <a:custGeom>
              <a:avLst/>
              <a:gdLst/>
              <a:ahLst/>
              <a:cxnLst/>
              <a:rect r="r" b="b" t="t" l="l"/>
              <a:pathLst>
                <a:path h="1645920" w="9509760">
                  <a:moveTo>
                    <a:pt x="0" y="0"/>
                  </a:moveTo>
                  <a:lnTo>
                    <a:pt x="9509760" y="0"/>
                  </a:lnTo>
                  <a:lnTo>
                    <a:pt x="9509760" y="1645920"/>
                  </a:lnTo>
                  <a:lnTo>
                    <a:pt x="0" y="1645920"/>
                  </a:lnTo>
                  <a:close/>
                </a:path>
              </a:pathLst>
            </a:custGeom>
            <a:blipFill>
              <a:blip r:embed="rId2">
                <a:alphaModFix amt="0"/>
              </a:blip>
              <a:stretch>
                <a:fillRect l="0" t="-62580" r="0" b="-62580"/>
              </a:stretch>
            </a:blipFill>
          </p:spPr>
        </p:sp>
        <p:sp>
          <p:nvSpPr>
            <p:cNvPr name="TextBox 64" id="64"/>
            <p:cNvSpPr txBox="true"/>
            <p:nvPr/>
          </p:nvSpPr>
          <p:spPr>
            <a:xfrm>
              <a:off x="0" y="-28575"/>
              <a:ext cx="9509760" cy="167449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Rare classes such as Heartbleed are tracked explicitly to confirm the model isn't ignoring them.</a:t>
              </a:r>
            </a:p>
          </p:txBody>
        </p:sp>
      </p:grpSp>
      <p:grpSp>
        <p:nvGrpSpPr>
          <p:cNvPr name="Group 65" id="65"/>
          <p:cNvGrpSpPr/>
          <p:nvPr/>
        </p:nvGrpSpPr>
        <p:grpSpPr>
          <a:xfrm rot="0">
            <a:off x="9111615" y="5545455"/>
            <a:ext cx="8317230" cy="3036570"/>
            <a:chOff x="0" y="0"/>
            <a:chExt cx="11089640" cy="4048760"/>
          </a:xfrm>
        </p:grpSpPr>
        <p:sp>
          <p:nvSpPr>
            <p:cNvPr name="Freeform 66" id="66"/>
            <p:cNvSpPr/>
            <p:nvPr/>
          </p:nvSpPr>
          <p:spPr>
            <a:xfrm flipH="false" flipV="false" rot="0">
              <a:off x="0" y="0"/>
              <a:ext cx="11089640" cy="4048760"/>
            </a:xfrm>
            <a:custGeom>
              <a:avLst/>
              <a:gdLst/>
              <a:ahLst/>
              <a:cxnLst/>
              <a:rect r="r" b="b" t="t" l="l"/>
              <a:pathLst>
                <a:path h="4048760" w="11089640">
                  <a:moveTo>
                    <a:pt x="0" y="147193"/>
                  </a:moveTo>
                  <a:cubicBezTo>
                    <a:pt x="0" y="65913"/>
                    <a:pt x="65913" y="0"/>
                    <a:pt x="147193" y="0"/>
                  </a:cubicBezTo>
                  <a:lnTo>
                    <a:pt x="10942447" y="0"/>
                  </a:lnTo>
                  <a:cubicBezTo>
                    <a:pt x="11023727" y="0"/>
                    <a:pt x="11089640" y="65913"/>
                    <a:pt x="11089640" y="147193"/>
                  </a:cubicBezTo>
                  <a:lnTo>
                    <a:pt x="11089640" y="3901567"/>
                  </a:lnTo>
                  <a:cubicBezTo>
                    <a:pt x="11089640" y="3982847"/>
                    <a:pt x="11023727" y="4048760"/>
                    <a:pt x="10942447" y="4048760"/>
                  </a:cubicBezTo>
                  <a:lnTo>
                    <a:pt x="147193" y="4048760"/>
                  </a:lnTo>
                  <a:cubicBezTo>
                    <a:pt x="65913" y="4048760"/>
                    <a:pt x="0" y="3982847"/>
                    <a:pt x="0" y="3901567"/>
                  </a:cubicBezTo>
                  <a:close/>
                </a:path>
              </a:pathLst>
            </a:custGeom>
            <a:solidFill>
              <a:srgbClr val="13294A"/>
            </a:solidFill>
            <a:ln w="19050" cap="sq">
              <a:solidFill>
                <a:srgbClr val="1E3358"/>
              </a:solidFill>
              <a:prstDash val="solid"/>
              <a:miter/>
            </a:ln>
          </p:spPr>
        </p:sp>
      </p:grpSp>
      <p:grpSp>
        <p:nvGrpSpPr>
          <p:cNvPr name="Group 67" id="67"/>
          <p:cNvGrpSpPr/>
          <p:nvPr/>
        </p:nvGrpSpPr>
        <p:grpSpPr>
          <a:xfrm rot="0">
            <a:off x="9532620" y="5829300"/>
            <a:ext cx="7406640" cy="411480"/>
            <a:chOff x="0" y="0"/>
            <a:chExt cx="9875520" cy="548640"/>
          </a:xfrm>
        </p:grpSpPr>
        <p:sp>
          <p:nvSpPr>
            <p:cNvPr name="Freeform 68" id="68"/>
            <p:cNvSpPr/>
            <p:nvPr/>
          </p:nvSpPr>
          <p:spPr>
            <a:xfrm flipH="false" flipV="false" rot="0">
              <a:off x="0" y="0"/>
              <a:ext cx="9875520" cy="548640"/>
            </a:xfrm>
            <a:custGeom>
              <a:avLst/>
              <a:gdLst/>
              <a:ahLst/>
              <a:cxnLst/>
              <a:rect r="r" b="b" t="t" l="l"/>
              <a:pathLst>
                <a:path h="548640" w="9875520">
                  <a:moveTo>
                    <a:pt x="0" y="0"/>
                  </a:moveTo>
                  <a:lnTo>
                    <a:pt x="9875520" y="0"/>
                  </a:lnTo>
                  <a:lnTo>
                    <a:pt x="9875520" y="548640"/>
                  </a:lnTo>
                  <a:lnTo>
                    <a:pt x="0" y="548640"/>
                  </a:lnTo>
                  <a:close/>
                </a:path>
              </a:pathLst>
            </a:custGeom>
            <a:blipFill>
              <a:blip r:embed="rId2">
                <a:alphaModFix amt="0"/>
              </a:blip>
              <a:stretch>
                <a:fillRect l="0" t="-300730" r="0" b="-300730"/>
              </a:stretch>
            </a:blipFill>
          </p:spPr>
        </p:sp>
        <p:sp>
          <p:nvSpPr>
            <p:cNvPr name="TextBox 69" id="69"/>
            <p:cNvSpPr txBox="true"/>
            <p:nvPr/>
          </p:nvSpPr>
          <p:spPr>
            <a:xfrm>
              <a:off x="0" y="-19050"/>
              <a:ext cx="9875520" cy="567690"/>
            </a:xfrm>
            <a:prstGeom prst="rect">
              <a:avLst/>
            </a:prstGeom>
          </p:spPr>
          <p:txBody>
            <a:bodyPr anchor="ctr" rtlCol="false" tIns="0" lIns="0" bIns="0" rIns="0"/>
            <a:lstStyle/>
            <a:p>
              <a:pPr algn="l">
                <a:lnSpc>
                  <a:spcPts val="1889"/>
                </a:lnSpc>
              </a:pPr>
              <a:r>
                <a:rPr lang="en-US" b="true" sz="1575" spc="150">
                  <a:solidFill>
                    <a:srgbClr val="00E5C7"/>
                  </a:solidFill>
                  <a:latin typeface="Calibri (MS) Bold"/>
                  <a:ea typeface="Calibri (MS) Bold"/>
                  <a:cs typeface="Calibri (MS) Bold"/>
                  <a:sym typeface="Calibri (MS) Bold"/>
                </a:rPr>
                <a:t>MLFLOW MODEL REGISTRY</a:t>
              </a:r>
            </a:p>
          </p:txBody>
        </p:sp>
      </p:grpSp>
      <p:grpSp>
        <p:nvGrpSpPr>
          <p:cNvPr name="Group 70" id="70"/>
          <p:cNvGrpSpPr/>
          <p:nvPr/>
        </p:nvGrpSpPr>
        <p:grpSpPr>
          <a:xfrm rot="0">
            <a:off x="9523095" y="6368415"/>
            <a:ext cx="869442" cy="457962"/>
            <a:chOff x="0" y="0"/>
            <a:chExt cx="1159256" cy="610616"/>
          </a:xfrm>
        </p:grpSpPr>
        <p:sp>
          <p:nvSpPr>
            <p:cNvPr name="Freeform 71" id="71"/>
            <p:cNvSpPr/>
            <p:nvPr/>
          </p:nvSpPr>
          <p:spPr>
            <a:xfrm flipH="false" flipV="false" rot="0">
              <a:off x="0" y="0"/>
              <a:ext cx="1159256" cy="610616"/>
            </a:xfrm>
            <a:custGeom>
              <a:avLst/>
              <a:gdLst/>
              <a:ahLst/>
              <a:cxnLst/>
              <a:rect r="r" b="b" t="t" l="l"/>
              <a:pathLst>
                <a:path h="610616" w="1159256">
                  <a:moveTo>
                    <a:pt x="0" y="305308"/>
                  </a:moveTo>
                  <a:cubicBezTo>
                    <a:pt x="0" y="136652"/>
                    <a:pt x="136652" y="0"/>
                    <a:pt x="305308" y="0"/>
                  </a:cubicBezTo>
                  <a:lnTo>
                    <a:pt x="853948" y="0"/>
                  </a:lnTo>
                  <a:cubicBezTo>
                    <a:pt x="1022604" y="0"/>
                    <a:pt x="1159256" y="136652"/>
                    <a:pt x="1159256" y="305308"/>
                  </a:cubicBezTo>
                  <a:cubicBezTo>
                    <a:pt x="1159256" y="473964"/>
                    <a:pt x="1022604" y="610616"/>
                    <a:pt x="853948" y="610616"/>
                  </a:cubicBezTo>
                  <a:lnTo>
                    <a:pt x="305308" y="610616"/>
                  </a:lnTo>
                  <a:cubicBezTo>
                    <a:pt x="136652" y="610616"/>
                    <a:pt x="0" y="473964"/>
                    <a:pt x="0" y="305308"/>
                  </a:cubicBezTo>
                  <a:close/>
                </a:path>
              </a:pathLst>
            </a:custGeom>
            <a:solidFill>
              <a:srgbClr val="13294A"/>
            </a:solidFill>
            <a:ln w="19050" cap="sq">
              <a:solidFill>
                <a:srgbClr val="6E84A6"/>
              </a:solidFill>
              <a:prstDash val="solid"/>
              <a:miter/>
            </a:ln>
          </p:spPr>
        </p:sp>
      </p:grpSp>
      <p:grpSp>
        <p:nvGrpSpPr>
          <p:cNvPr name="Group 72" id="72"/>
          <p:cNvGrpSpPr/>
          <p:nvPr/>
        </p:nvGrpSpPr>
        <p:grpSpPr>
          <a:xfrm rot="0">
            <a:off x="9532620" y="6364224"/>
            <a:ext cx="850392" cy="466344"/>
            <a:chOff x="0" y="0"/>
            <a:chExt cx="1133856" cy="621792"/>
          </a:xfrm>
        </p:grpSpPr>
        <p:sp>
          <p:nvSpPr>
            <p:cNvPr name="Freeform 73" id="73"/>
            <p:cNvSpPr/>
            <p:nvPr/>
          </p:nvSpPr>
          <p:spPr>
            <a:xfrm flipH="false" flipV="false" rot="0">
              <a:off x="0" y="0"/>
              <a:ext cx="1133856" cy="621792"/>
            </a:xfrm>
            <a:custGeom>
              <a:avLst/>
              <a:gdLst/>
              <a:ahLst/>
              <a:cxnLst/>
              <a:rect r="r" b="b" t="t" l="l"/>
              <a:pathLst>
                <a:path h="621792" w="1133856">
                  <a:moveTo>
                    <a:pt x="0" y="0"/>
                  </a:moveTo>
                  <a:lnTo>
                    <a:pt x="1133856" y="0"/>
                  </a:lnTo>
                  <a:lnTo>
                    <a:pt x="1133856" y="621792"/>
                  </a:lnTo>
                  <a:lnTo>
                    <a:pt x="0" y="621792"/>
                  </a:lnTo>
                  <a:close/>
                </a:path>
              </a:pathLst>
            </a:custGeom>
            <a:blipFill>
              <a:blip r:embed="rId2">
                <a:alphaModFix amt="0"/>
              </a:blip>
              <a:stretch>
                <a:fillRect l="-20360" t="0" r="-20360" b="0"/>
              </a:stretch>
            </a:blipFill>
          </p:spPr>
        </p:sp>
        <p:sp>
          <p:nvSpPr>
            <p:cNvPr name="TextBox 74" id="74"/>
            <p:cNvSpPr txBox="true"/>
            <p:nvPr/>
          </p:nvSpPr>
          <p:spPr>
            <a:xfrm>
              <a:off x="0" y="-38100"/>
              <a:ext cx="1133856" cy="659892"/>
            </a:xfrm>
            <a:prstGeom prst="rect">
              <a:avLst/>
            </a:prstGeom>
          </p:spPr>
          <p:txBody>
            <a:bodyPr anchor="ctr" rtlCol="false" tIns="0" lIns="0" bIns="0" rIns="0"/>
            <a:lstStyle/>
            <a:p>
              <a:pPr algn="ctr">
                <a:lnSpc>
                  <a:spcPts val="1800"/>
                </a:lnSpc>
              </a:pPr>
              <a:r>
                <a:rPr lang="en-US" sz="1500" b="true">
                  <a:solidFill>
                    <a:srgbClr val="6E84A6"/>
                  </a:solidFill>
                  <a:latin typeface="Calibri (MS) Bold"/>
                  <a:ea typeface="Calibri (MS) Bold"/>
                  <a:cs typeface="Calibri (MS) Bold"/>
                  <a:sym typeface="Calibri (MS) Bold"/>
                </a:rPr>
                <a:t>None</a:t>
              </a:r>
            </a:p>
          </p:txBody>
        </p:sp>
      </p:grpSp>
      <p:grpSp>
        <p:nvGrpSpPr>
          <p:cNvPr name="Group 75" id="75"/>
          <p:cNvGrpSpPr/>
          <p:nvPr/>
        </p:nvGrpSpPr>
        <p:grpSpPr>
          <a:xfrm rot="0">
            <a:off x="10520172" y="6309360"/>
            <a:ext cx="411480" cy="480060"/>
            <a:chOff x="0" y="0"/>
            <a:chExt cx="548640" cy="640080"/>
          </a:xfrm>
        </p:grpSpPr>
        <p:sp>
          <p:nvSpPr>
            <p:cNvPr name="Freeform 76" id="76"/>
            <p:cNvSpPr/>
            <p:nvPr/>
          </p:nvSpPr>
          <p:spPr>
            <a:xfrm flipH="false" flipV="false" rot="0">
              <a:off x="0" y="0"/>
              <a:ext cx="548640" cy="640080"/>
            </a:xfrm>
            <a:custGeom>
              <a:avLst/>
              <a:gdLst/>
              <a:ahLst/>
              <a:cxnLst/>
              <a:rect r="r" b="b" t="t" l="l"/>
              <a:pathLst>
                <a:path h="640080" w="548640">
                  <a:moveTo>
                    <a:pt x="0" y="0"/>
                  </a:moveTo>
                  <a:lnTo>
                    <a:pt x="548640" y="0"/>
                  </a:lnTo>
                  <a:lnTo>
                    <a:pt x="548640" y="640080"/>
                  </a:lnTo>
                  <a:lnTo>
                    <a:pt x="0" y="640080"/>
                  </a:lnTo>
                  <a:close/>
                </a:path>
              </a:pathLst>
            </a:custGeom>
            <a:blipFill>
              <a:blip r:embed="rId2">
                <a:alphaModFix amt="0"/>
              </a:blip>
              <a:stretch>
                <a:fillRect l="-99687" t="0" r="-99687" b="0"/>
              </a:stretch>
            </a:blipFill>
          </p:spPr>
        </p:sp>
        <p:sp>
          <p:nvSpPr>
            <p:cNvPr name="TextBox 77" id="77"/>
            <p:cNvSpPr txBox="true"/>
            <p:nvPr/>
          </p:nvSpPr>
          <p:spPr>
            <a:xfrm>
              <a:off x="0" y="-47625"/>
              <a:ext cx="548640" cy="687705"/>
            </a:xfrm>
            <a:prstGeom prst="rect">
              <a:avLst/>
            </a:prstGeom>
          </p:spPr>
          <p:txBody>
            <a:bodyPr anchor="ctr" rtlCol="false" tIns="0" lIns="0" bIns="0" rIns="0"/>
            <a:lstStyle/>
            <a:p>
              <a:pPr algn="l">
                <a:lnSpc>
                  <a:spcPts val="2520"/>
                </a:lnSpc>
              </a:pPr>
              <a:r>
                <a:rPr lang="en-US" sz="2100">
                  <a:solidFill>
                    <a:srgbClr val="9FB0C9"/>
                  </a:solidFill>
                  <a:latin typeface="Calibri (MS)"/>
                  <a:ea typeface="Calibri (MS)"/>
                  <a:cs typeface="Calibri (MS)"/>
                  <a:sym typeface="Calibri (MS)"/>
                </a:rPr>
                <a:t>→</a:t>
              </a:r>
            </a:p>
          </p:txBody>
        </p:sp>
      </p:grpSp>
      <p:grpSp>
        <p:nvGrpSpPr>
          <p:cNvPr name="Group 78" id="78"/>
          <p:cNvGrpSpPr/>
          <p:nvPr/>
        </p:nvGrpSpPr>
        <p:grpSpPr>
          <a:xfrm rot="0">
            <a:off x="10990707" y="6368415"/>
            <a:ext cx="1219200" cy="457962"/>
            <a:chOff x="0" y="0"/>
            <a:chExt cx="1625600" cy="610616"/>
          </a:xfrm>
        </p:grpSpPr>
        <p:sp>
          <p:nvSpPr>
            <p:cNvPr name="Freeform 79" id="79"/>
            <p:cNvSpPr/>
            <p:nvPr/>
          </p:nvSpPr>
          <p:spPr>
            <a:xfrm flipH="false" flipV="false" rot="0">
              <a:off x="0" y="0"/>
              <a:ext cx="1625600" cy="610616"/>
            </a:xfrm>
            <a:custGeom>
              <a:avLst/>
              <a:gdLst/>
              <a:ahLst/>
              <a:cxnLst/>
              <a:rect r="r" b="b" t="t" l="l"/>
              <a:pathLst>
                <a:path h="610616" w="1625600">
                  <a:moveTo>
                    <a:pt x="0" y="305308"/>
                  </a:moveTo>
                  <a:cubicBezTo>
                    <a:pt x="0" y="136652"/>
                    <a:pt x="136652" y="0"/>
                    <a:pt x="305308" y="0"/>
                  </a:cubicBezTo>
                  <a:lnTo>
                    <a:pt x="1320292" y="0"/>
                  </a:lnTo>
                  <a:cubicBezTo>
                    <a:pt x="1488948" y="0"/>
                    <a:pt x="1625600" y="136652"/>
                    <a:pt x="1625600" y="305308"/>
                  </a:cubicBezTo>
                  <a:cubicBezTo>
                    <a:pt x="1625600" y="473964"/>
                    <a:pt x="1488948" y="610616"/>
                    <a:pt x="1320292" y="610616"/>
                  </a:cubicBezTo>
                  <a:lnTo>
                    <a:pt x="305308" y="610616"/>
                  </a:lnTo>
                  <a:cubicBezTo>
                    <a:pt x="136652" y="610616"/>
                    <a:pt x="0" y="473964"/>
                    <a:pt x="0" y="305308"/>
                  </a:cubicBezTo>
                  <a:close/>
                </a:path>
              </a:pathLst>
            </a:custGeom>
            <a:solidFill>
              <a:srgbClr val="13294A"/>
            </a:solidFill>
            <a:ln w="19050" cap="sq">
              <a:solidFill>
                <a:srgbClr val="6E84A6"/>
              </a:solidFill>
              <a:prstDash val="solid"/>
              <a:miter/>
            </a:ln>
          </p:spPr>
        </p:sp>
      </p:grpSp>
      <p:grpSp>
        <p:nvGrpSpPr>
          <p:cNvPr name="Group 80" id="80"/>
          <p:cNvGrpSpPr/>
          <p:nvPr/>
        </p:nvGrpSpPr>
        <p:grpSpPr>
          <a:xfrm rot="0">
            <a:off x="11000232" y="6364224"/>
            <a:ext cx="1200150" cy="466344"/>
            <a:chOff x="0" y="0"/>
            <a:chExt cx="1600200" cy="621792"/>
          </a:xfrm>
        </p:grpSpPr>
        <p:sp>
          <p:nvSpPr>
            <p:cNvPr name="Freeform 81" id="81"/>
            <p:cNvSpPr/>
            <p:nvPr/>
          </p:nvSpPr>
          <p:spPr>
            <a:xfrm flipH="false" flipV="false" rot="0">
              <a:off x="0" y="0"/>
              <a:ext cx="1600200" cy="621792"/>
            </a:xfrm>
            <a:custGeom>
              <a:avLst/>
              <a:gdLst/>
              <a:ahLst/>
              <a:cxnLst/>
              <a:rect r="r" b="b" t="t" l="l"/>
              <a:pathLst>
                <a:path h="621792" w="1600200">
                  <a:moveTo>
                    <a:pt x="0" y="0"/>
                  </a:moveTo>
                  <a:lnTo>
                    <a:pt x="1600200" y="0"/>
                  </a:lnTo>
                  <a:lnTo>
                    <a:pt x="1600200" y="621792"/>
                  </a:lnTo>
                  <a:lnTo>
                    <a:pt x="0" y="621792"/>
                  </a:lnTo>
                  <a:close/>
                </a:path>
              </a:pathLst>
            </a:custGeom>
            <a:blipFill>
              <a:blip r:embed="rId2">
                <a:alphaModFix amt="0"/>
              </a:blip>
              <a:stretch>
                <a:fillRect l="0" t="-145" r="0" b="-145"/>
              </a:stretch>
            </a:blipFill>
          </p:spPr>
        </p:sp>
        <p:sp>
          <p:nvSpPr>
            <p:cNvPr name="TextBox 82" id="82"/>
            <p:cNvSpPr txBox="true"/>
            <p:nvPr/>
          </p:nvSpPr>
          <p:spPr>
            <a:xfrm>
              <a:off x="0" y="-38100"/>
              <a:ext cx="1600200" cy="659892"/>
            </a:xfrm>
            <a:prstGeom prst="rect">
              <a:avLst/>
            </a:prstGeom>
          </p:spPr>
          <p:txBody>
            <a:bodyPr anchor="ctr" rtlCol="false" tIns="0" lIns="0" bIns="0" rIns="0"/>
            <a:lstStyle/>
            <a:p>
              <a:pPr algn="ctr">
                <a:lnSpc>
                  <a:spcPts val="1800"/>
                </a:lnSpc>
              </a:pPr>
              <a:r>
                <a:rPr lang="en-US" sz="1500" b="true">
                  <a:solidFill>
                    <a:srgbClr val="6E84A6"/>
                  </a:solidFill>
                  <a:latin typeface="Calibri (MS) Bold"/>
                  <a:ea typeface="Calibri (MS) Bold"/>
                  <a:cs typeface="Calibri (MS) Bold"/>
                  <a:sym typeface="Calibri (MS) Bold"/>
                </a:rPr>
                <a:t>Staging</a:t>
              </a:r>
            </a:p>
          </p:txBody>
        </p:sp>
      </p:grpSp>
      <p:grpSp>
        <p:nvGrpSpPr>
          <p:cNvPr name="Group 83" id="83"/>
          <p:cNvGrpSpPr/>
          <p:nvPr/>
        </p:nvGrpSpPr>
        <p:grpSpPr>
          <a:xfrm rot="0">
            <a:off x="12337542" y="6309360"/>
            <a:ext cx="411480" cy="480060"/>
            <a:chOff x="0" y="0"/>
            <a:chExt cx="548640" cy="640080"/>
          </a:xfrm>
        </p:grpSpPr>
        <p:sp>
          <p:nvSpPr>
            <p:cNvPr name="Freeform 84" id="84"/>
            <p:cNvSpPr/>
            <p:nvPr/>
          </p:nvSpPr>
          <p:spPr>
            <a:xfrm flipH="false" flipV="false" rot="0">
              <a:off x="0" y="0"/>
              <a:ext cx="548640" cy="640080"/>
            </a:xfrm>
            <a:custGeom>
              <a:avLst/>
              <a:gdLst/>
              <a:ahLst/>
              <a:cxnLst/>
              <a:rect r="r" b="b" t="t" l="l"/>
              <a:pathLst>
                <a:path h="640080" w="548640">
                  <a:moveTo>
                    <a:pt x="0" y="0"/>
                  </a:moveTo>
                  <a:lnTo>
                    <a:pt x="548640" y="0"/>
                  </a:lnTo>
                  <a:lnTo>
                    <a:pt x="548640" y="640080"/>
                  </a:lnTo>
                  <a:lnTo>
                    <a:pt x="0" y="640080"/>
                  </a:lnTo>
                  <a:close/>
                </a:path>
              </a:pathLst>
            </a:custGeom>
            <a:blipFill>
              <a:blip r:embed="rId2">
                <a:alphaModFix amt="0"/>
              </a:blip>
              <a:stretch>
                <a:fillRect l="-99687" t="0" r="-99687" b="0"/>
              </a:stretch>
            </a:blipFill>
          </p:spPr>
        </p:sp>
        <p:sp>
          <p:nvSpPr>
            <p:cNvPr name="TextBox 85" id="85"/>
            <p:cNvSpPr txBox="true"/>
            <p:nvPr/>
          </p:nvSpPr>
          <p:spPr>
            <a:xfrm>
              <a:off x="0" y="-47625"/>
              <a:ext cx="548640" cy="687705"/>
            </a:xfrm>
            <a:prstGeom prst="rect">
              <a:avLst/>
            </a:prstGeom>
          </p:spPr>
          <p:txBody>
            <a:bodyPr anchor="ctr" rtlCol="false" tIns="0" lIns="0" bIns="0" rIns="0"/>
            <a:lstStyle/>
            <a:p>
              <a:pPr algn="l">
                <a:lnSpc>
                  <a:spcPts val="2520"/>
                </a:lnSpc>
              </a:pPr>
              <a:r>
                <a:rPr lang="en-US" sz="2100">
                  <a:solidFill>
                    <a:srgbClr val="9FB0C9"/>
                  </a:solidFill>
                  <a:latin typeface="Calibri (MS)"/>
                  <a:ea typeface="Calibri (MS)"/>
                  <a:cs typeface="Calibri (MS)"/>
                  <a:sym typeface="Calibri (MS)"/>
                </a:rPr>
                <a:t>→</a:t>
              </a:r>
            </a:p>
          </p:txBody>
        </p:sp>
      </p:grpSp>
      <p:grpSp>
        <p:nvGrpSpPr>
          <p:cNvPr name="Group 86" id="86"/>
          <p:cNvGrpSpPr/>
          <p:nvPr/>
        </p:nvGrpSpPr>
        <p:grpSpPr>
          <a:xfrm rot="0">
            <a:off x="12808077" y="6368415"/>
            <a:ext cx="1568958" cy="457962"/>
            <a:chOff x="0" y="0"/>
            <a:chExt cx="2091944" cy="610616"/>
          </a:xfrm>
        </p:grpSpPr>
        <p:sp>
          <p:nvSpPr>
            <p:cNvPr name="Freeform 87" id="87"/>
            <p:cNvSpPr/>
            <p:nvPr/>
          </p:nvSpPr>
          <p:spPr>
            <a:xfrm flipH="false" flipV="false" rot="0">
              <a:off x="0" y="0"/>
              <a:ext cx="2091944" cy="610616"/>
            </a:xfrm>
            <a:custGeom>
              <a:avLst/>
              <a:gdLst/>
              <a:ahLst/>
              <a:cxnLst/>
              <a:rect r="r" b="b" t="t" l="l"/>
              <a:pathLst>
                <a:path h="610616" w="2091944">
                  <a:moveTo>
                    <a:pt x="0" y="305308"/>
                  </a:moveTo>
                  <a:cubicBezTo>
                    <a:pt x="0" y="136652"/>
                    <a:pt x="136652" y="0"/>
                    <a:pt x="305308" y="0"/>
                  </a:cubicBezTo>
                  <a:lnTo>
                    <a:pt x="1786636" y="0"/>
                  </a:lnTo>
                  <a:cubicBezTo>
                    <a:pt x="1955292" y="0"/>
                    <a:pt x="2091944" y="136652"/>
                    <a:pt x="2091944" y="305308"/>
                  </a:cubicBezTo>
                  <a:cubicBezTo>
                    <a:pt x="2091944" y="473964"/>
                    <a:pt x="1955292" y="610616"/>
                    <a:pt x="1786636" y="610616"/>
                  </a:cubicBezTo>
                  <a:lnTo>
                    <a:pt x="305308" y="610616"/>
                  </a:lnTo>
                  <a:cubicBezTo>
                    <a:pt x="136652" y="610616"/>
                    <a:pt x="0" y="473964"/>
                    <a:pt x="0" y="305308"/>
                  </a:cubicBezTo>
                  <a:close/>
                </a:path>
              </a:pathLst>
            </a:custGeom>
            <a:solidFill>
              <a:srgbClr val="13294A"/>
            </a:solidFill>
            <a:ln w="19050" cap="sq">
              <a:solidFill>
                <a:srgbClr val="00E5C7"/>
              </a:solidFill>
              <a:prstDash val="solid"/>
              <a:miter/>
            </a:ln>
          </p:spPr>
        </p:sp>
      </p:grpSp>
      <p:grpSp>
        <p:nvGrpSpPr>
          <p:cNvPr name="Group 88" id="88"/>
          <p:cNvGrpSpPr/>
          <p:nvPr/>
        </p:nvGrpSpPr>
        <p:grpSpPr>
          <a:xfrm rot="0">
            <a:off x="12817602" y="6364224"/>
            <a:ext cx="1549908" cy="466344"/>
            <a:chOff x="0" y="0"/>
            <a:chExt cx="2066544" cy="621792"/>
          </a:xfrm>
        </p:grpSpPr>
        <p:sp>
          <p:nvSpPr>
            <p:cNvPr name="Freeform 89" id="89"/>
            <p:cNvSpPr/>
            <p:nvPr/>
          </p:nvSpPr>
          <p:spPr>
            <a:xfrm flipH="false" flipV="false" rot="0">
              <a:off x="0" y="0"/>
              <a:ext cx="2066544" cy="621792"/>
            </a:xfrm>
            <a:custGeom>
              <a:avLst/>
              <a:gdLst/>
              <a:ahLst/>
              <a:cxnLst/>
              <a:rect r="r" b="b" t="t" l="l"/>
              <a:pathLst>
                <a:path h="621792" w="2066544">
                  <a:moveTo>
                    <a:pt x="0" y="0"/>
                  </a:moveTo>
                  <a:lnTo>
                    <a:pt x="2066544" y="0"/>
                  </a:lnTo>
                  <a:lnTo>
                    <a:pt x="2066544" y="621792"/>
                  </a:lnTo>
                  <a:lnTo>
                    <a:pt x="0" y="621792"/>
                  </a:lnTo>
                  <a:close/>
                </a:path>
              </a:pathLst>
            </a:custGeom>
            <a:blipFill>
              <a:blip r:embed="rId2">
                <a:alphaModFix amt="0"/>
              </a:blip>
              <a:stretch>
                <a:fillRect l="0" t="-14759" r="0" b="-14759"/>
              </a:stretch>
            </a:blipFill>
          </p:spPr>
        </p:sp>
        <p:sp>
          <p:nvSpPr>
            <p:cNvPr name="TextBox 90" id="90"/>
            <p:cNvSpPr txBox="true"/>
            <p:nvPr/>
          </p:nvSpPr>
          <p:spPr>
            <a:xfrm>
              <a:off x="0" y="-38100"/>
              <a:ext cx="2066544" cy="659892"/>
            </a:xfrm>
            <a:prstGeom prst="rect">
              <a:avLst/>
            </a:prstGeom>
          </p:spPr>
          <p:txBody>
            <a:bodyPr anchor="ctr" rtlCol="false" tIns="0" lIns="0" bIns="0" rIns="0"/>
            <a:lstStyle/>
            <a:p>
              <a:pPr algn="ctr">
                <a:lnSpc>
                  <a:spcPts val="1800"/>
                </a:lnSpc>
              </a:pPr>
              <a:r>
                <a:rPr lang="en-US" sz="1500" b="true">
                  <a:solidFill>
                    <a:srgbClr val="00E5C7"/>
                  </a:solidFill>
                  <a:latin typeface="Calibri (MS) Bold"/>
                  <a:ea typeface="Calibri (MS) Bold"/>
                  <a:cs typeface="Calibri (MS) Bold"/>
                  <a:sym typeface="Calibri (MS) Bold"/>
                </a:rPr>
                <a:t>Production</a:t>
              </a:r>
            </a:p>
          </p:txBody>
        </p:sp>
      </p:grpSp>
      <p:grpSp>
        <p:nvGrpSpPr>
          <p:cNvPr name="Group 91" id="91"/>
          <p:cNvGrpSpPr/>
          <p:nvPr/>
        </p:nvGrpSpPr>
        <p:grpSpPr>
          <a:xfrm rot="0">
            <a:off x="9532620" y="7132320"/>
            <a:ext cx="7406640" cy="1165860"/>
            <a:chOff x="0" y="0"/>
            <a:chExt cx="9875520" cy="1554480"/>
          </a:xfrm>
        </p:grpSpPr>
        <p:sp>
          <p:nvSpPr>
            <p:cNvPr name="Freeform 92" id="92"/>
            <p:cNvSpPr/>
            <p:nvPr/>
          </p:nvSpPr>
          <p:spPr>
            <a:xfrm flipH="false" flipV="false" rot="0">
              <a:off x="0" y="0"/>
              <a:ext cx="9875520" cy="1554480"/>
            </a:xfrm>
            <a:custGeom>
              <a:avLst/>
              <a:gdLst/>
              <a:ahLst/>
              <a:cxnLst/>
              <a:rect r="r" b="b" t="t" l="l"/>
              <a:pathLst>
                <a:path h="1554480" w="9875520">
                  <a:moveTo>
                    <a:pt x="0" y="0"/>
                  </a:moveTo>
                  <a:lnTo>
                    <a:pt x="9875520" y="0"/>
                  </a:lnTo>
                  <a:lnTo>
                    <a:pt x="9875520" y="1554480"/>
                  </a:lnTo>
                  <a:lnTo>
                    <a:pt x="0" y="1554480"/>
                  </a:lnTo>
                  <a:close/>
                </a:path>
              </a:pathLst>
            </a:custGeom>
            <a:blipFill>
              <a:blip r:embed="rId2">
                <a:alphaModFix amt="0"/>
              </a:blip>
              <a:stretch>
                <a:fillRect l="0" t="-73787" r="0" b="-73787"/>
              </a:stretch>
            </a:blipFill>
          </p:spPr>
        </p:sp>
        <p:sp>
          <p:nvSpPr>
            <p:cNvPr name="TextBox 93" id="93"/>
            <p:cNvSpPr txBox="true"/>
            <p:nvPr/>
          </p:nvSpPr>
          <p:spPr>
            <a:xfrm>
              <a:off x="0" y="-28575"/>
              <a:ext cx="9875520" cy="158305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Promotion across registry stages happens only after evaluation metrics clear the review bar.</a:t>
              </a:r>
            </a:p>
          </p:txBody>
        </p:sp>
      </p:grpSp>
      <p:grpSp>
        <p:nvGrpSpPr>
          <p:cNvPr name="Group 94" id="94"/>
          <p:cNvGrpSpPr/>
          <p:nvPr/>
        </p:nvGrpSpPr>
        <p:grpSpPr>
          <a:xfrm rot="0">
            <a:off x="685800" y="9710928"/>
            <a:ext cx="10972800" cy="411480"/>
            <a:chOff x="0" y="0"/>
            <a:chExt cx="14630400" cy="548640"/>
          </a:xfrm>
        </p:grpSpPr>
        <p:sp>
          <p:nvSpPr>
            <p:cNvPr name="Freeform 95" id="9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96" id="96"/>
            <p:cNvSpPr txBox="true"/>
            <p:nvPr/>
          </p:nvSpPr>
          <p:spPr>
            <a:xfrm>
              <a:off x="0" y="-28575"/>
              <a:ext cx="14630400" cy="577215"/>
            </a:xfrm>
            <a:prstGeom prst="rect">
              <a:avLst/>
            </a:prstGeom>
          </p:spPr>
          <p:txBody>
            <a:bodyPr anchor="ctr" rtlCol="false" tIns="0" lIns="0" bIns="0" rIns="0"/>
            <a:lstStyle/>
            <a:p>
              <a:pPr algn="l">
                <a:lnSpc>
                  <a:spcPts val="1620"/>
                </a:lnSpc>
              </a:pPr>
              <a:r>
                <a:rPr lang="en-US" sz="1350" spc="149">
                  <a:solidFill>
                    <a:srgbClr val="6E84A6"/>
                  </a:solidFill>
                  <a:latin typeface="Calibri (MS)"/>
                  <a:ea typeface="Calibri (MS)"/>
                  <a:cs typeface="Calibri (MS)"/>
                  <a:sym typeface="Calibri (MS)"/>
                </a:rPr>
                <a:t>MLSECOPS PLATFORM · ML ENGINEERING &amp; EXPERIMENTS</a:t>
              </a:r>
            </a:p>
          </p:txBody>
        </p:sp>
      </p:grpSp>
      <p:grpSp>
        <p:nvGrpSpPr>
          <p:cNvPr name="Group 97" id="97"/>
          <p:cNvGrpSpPr/>
          <p:nvPr/>
        </p:nvGrpSpPr>
        <p:grpSpPr>
          <a:xfrm rot="0">
            <a:off x="16500348" y="9710928"/>
            <a:ext cx="1097280" cy="411480"/>
            <a:chOff x="0" y="0"/>
            <a:chExt cx="1463040" cy="548640"/>
          </a:xfrm>
        </p:grpSpPr>
        <p:sp>
          <p:nvSpPr>
            <p:cNvPr name="Freeform 98" id="98"/>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99" id="99"/>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20 / 32</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marL="0" indent="0" lvl="0">
                <a:lnSpc>
                  <a:spcPts val="2250"/>
                </a:lnSpc>
                <a:spcBef>
                  <a:spcPct val="0"/>
                </a:spcBef>
              </a:pPr>
              <a:r>
                <a:rPr lang="en-US" b="true" sz="1875" spc="300" strike="noStrike" u="none">
                  <a:solidFill>
                    <a:srgbClr val="00E5C7"/>
                  </a:solidFill>
                  <a:latin typeface="Calibri (MS) Bold"/>
                  <a:ea typeface="Calibri (MS) Bold"/>
                  <a:cs typeface="Calibri (MS) Bold"/>
                  <a:sym typeface="Calibri (MS) Bold"/>
                </a:rPr>
                <a:t>BACKEND &amp; OBSERVABILITÉ</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marL="0" indent="0" lvl="0">
                <a:lnSpc>
                  <a:spcPts val="1800"/>
                </a:lnSpc>
                <a:spcBef>
                  <a:spcPct val="0"/>
                </a:spcBef>
              </a:pPr>
              <a:r>
                <a:rPr lang="en-US" b="true" sz="1500" spc="225" strike="noStrike" u="none">
                  <a:solidFill>
                    <a:srgbClr val="00E5C7"/>
                  </a:solidFill>
                  <a:latin typeface="Calibri (MS) Bold"/>
                  <a:ea typeface="Calibri (MS) Bold"/>
                  <a:cs typeface="Calibri (MS) Bold"/>
                  <a:sym typeface="Calibri (MS) Bold"/>
                </a:rPr>
                <a:t>INTERVENANT 6</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marL="0" indent="0" lvl="0">
                <a:lnSpc>
                  <a:spcPts val="1889"/>
                </a:lnSpc>
                <a:spcBef>
                  <a:spcPct val="0"/>
                </a:spcBef>
              </a:pPr>
              <a:r>
                <a:rPr lang="en-US" sz="1575" strike="noStrike" u="none">
                  <a:solidFill>
                    <a:srgbClr val="9FB0C9"/>
                  </a:solidFill>
                  <a:latin typeface="Calibri (MS)"/>
                  <a:ea typeface="Calibri (MS)"/>
                  <a:cs typeface="Calibri (MS)"/>
                  <a:sym typeface="Calibri (MS)"/>
                </a:rPr>
                <a:t>Houssame Bouyous — Ingénieur backend</a:t>
              </a:r>
            </a:p>
          </p:txBody>
        </p:sp>
      </p:grpSp>
      <p:grpSp>
        <p:nvGrpSpPr>
          <p:cNvPr name="Group 11" id="11"/>
          <p:cNvGrpSpPr/>
          <p:nvPr/>
        </p:nvGrpSpPr>
        <p:grpSpPr>
          <a:xfrm rot="0">
            <a:off x="822960" y="118527"/>
            <a:ext cx="16596360" cy="3516213"/>
            <a:chOff x="0" y="0"/>
            <a:chExt cx="22128480" cy="4688284"/>
          </a:xfrm>
        </p:grpSpPr>
        <p:sp>
          <p:nvSpPr>
            <p:cNvPr name="Freeform 12" id="12"/>
            <p:cNvSpPr/>
            <p:nvPr/>
          </p:nvSpPr>
          <p:spPr>
            <a:xfrm flipH="false" flipV="false" rot="0">
              <a:off x="0" y="0"/>
              <a:ext cx="22128480" cy="4688284"/>
            </a:xfrm>
            <a:custGeom>
              <a:avLst/>
              <a:gdLst/>
              <a:ahLst/>
              <a:cxnLst/>
              <a:rect r="r" b="b" t="t" l="l"/>
              <a:pathLst>
                <a:path h="4688284" w="22128480">
                  <a:moveTo>
                    <a:pt x="0" y="0"/>
                  </a:moveTo>
                  <a:lnTo>
                    <a:pt x="22128480" y="0"/>
                  </a:lnTo>
                  <a:lnTo>
                    <a:pt x="22128480" y="4688284"/>
                  </a:lnTo>
                  <a:lnTo>
                    <a:pt x="0" y="4688284"/>
                  </a:lnTo>
                  <a:close/>
                </a:path>
              </a:pathLst>
            </a:custGeom>
            <a:blipFill>
              <a:blip r:embed="rId2">
                <a:alphaModFix amt="0"/>
              </a:blip>
              <a:stretch>
                <a:fillRect l="0" t="-73439" r="0" b="-10497"/>
              </a:stretch>
            </a:blipFill>
          </p:spPr>
        </p:sp>
        <p:sp>
          <p:nvSpPr>
            <p:cNvPr name="TextBox 13" id="13"/>
            <p:cNvSpPr txBox="true"/>
            <p:nvPr/>
          </p:nvSpPr>
          <p:spPr>
            <a:xfrm>
              <a:off x="0" y="-9525"/>
              <a:ext cx="22128480" cy="4697809"/>
            </a:xfrm>
            <a:prstGeom prst="rect">
              <a:avLst/>
            </a:prstGeom>
          </p:spPr>
          <p:txBody>
            <a:bodyPr anchor="ctr" rtlCol="false" tIns="0" lIns="0" bIns="0" rIns="0"/>
            <a:lstStyle/>
            <a:p>
              <a:pPr algn="l" marL="0" indent="0" lvl="0">
                <a:lnSpc>
                  <a:spcPts val="5759"/>
                </a:lnSpc>
                <a:spcBef>
                  <a:spcPct val="0"/>
                </a:spcBef>
              </a:pPr>
              <a:r>
                <a:rPr lang="en-US" b="true" sz="4800" strike="noStrike" u="none">
                  <a:solidFill>
                    <a:srgbClr val="FFFFFF"/>
                  </a:solidFill>
                  <a:latin typeface="Cambria Bold"/>
                  <a:ea typeface="Cambria Bold"/>
                  <a:cs typeface="Cambria Bold"/>
                  <a:sym typeface="Cambria Bold"/>
                </a:rPr>
                <a:t>Architecture du backend FastAPI</a:t>
              </a:r>
            </a:p>
          </p:txBody>
        </p:sp>
      </p:grpSp>
      <p:grpSp>
        <p:nvGrpSpPr>
          <p:cNvPr name="Group 14" id="14"/>
          <p:cNvGrpSpPr/>
          <p:nvPr/>
        </p:nvGrpSpPr>
        <p:grpSpPr>
          <a:xfrm rot="0">
            <a:off x="822960" y="2400300"/>
            <a:ext cx="16184880" cy="685800"/>
            <a:chOff x="0" y="0"/>
            <a:chExt cx="21579840" cy="914400"/>
          </a:xfrm>
        </p:grpSpPr>
        <p:sp>
          <p:nvSpPr>
            <p:cNvPr name="Freeform 15" id="15"/>
            <p:cNvSpPr/>
            <p:nvPr/>
          </p:nvSpPr>
          <p:spPr>
            <a:xfrm flipH="false" flipV="false" rot="0">
              <a:off x="0" y="0"/>
              <a:ext cx="21579839" cy="914400"/>
            </a:xfrm>
            <a:custGeom>
              <a:avLst/>
              <a:gdLst/>
              <a:ahLst/>
              <a:cxnLst/>
              <a:rect r="r" b="b" t="t" l="l"/>
              <a:pathLst>
                <a:path h="914400" w="21579839">
                  <a:moveTo>
                    <a:pt x="0" y="0"/>
                  </a:moveTo>
                  <a:lnTo>
                    <a:pt x="21579839" y="0"/>
                  </a:lnTo>
                  <a:lnTo>
                    <a:pt x="21579839" y="914400"/>
                  </a:lnTo>
                  <a:lnTo>
                    <a:pt x="0" y="914400"/>
                  </a:lnTo>
                  <a:close/>
                </a:path>
              </a:pathLst>
            </a:custGeom>
            <a:blipFill>
              <a:blip r:embed="rId2">
                <a:alphaModFix amt="0"/>
              </a:blip>
              <a:stretch>
                <a:fillRect l="0" t="-409846" r="0" b="-409846"/>
              </a:stretch>
            </a:blipFill>
          </p:spPr>
        </p:sp>
        <p:sp>
          <p:nvSpPr>
            <p:cNvPr name="TextBox 16" id="16"/>
            <p:cNvSpPr txBox="true"/>
            <p:nvPr/>
          </p:nvSpPr>
          <p:spPr>
            <a:xfrm>
              <a:off x="0" y="-47625"/>
              <a:ext cx="21579840" cy="962025"/>
            </a:xfrm>
            <a:prstGeom prst="rect">
              <a:avLst/>
            </a:prstGeom>
          </p:spPr>
          <p:txBody>
            <a:bodyPr anchor="ctr" rtlCol="false" tIns="0" lIns="0" bIns="0" rIns="0"/>
            <a:lstStyle/>
            <a:p>
              <a:pPr algn="l" marL="0" indent="0" lvl="0">
                <a:lnSpc>
                  <a:spcPts val="2340"/>
                </a:lnSpc>
                <a:spcBef>
                  <a:spcPct val="0"/>
                </a:spcBef>
              </a:pPr>
              <a:r>
                <a:rPr lang="en-US" sz="1950" i="true" strike="noStrike" u="none">
                  <a:solidFill>
                    <a:srgbClr val="9FB0C9"/>
                  </a:solidFill>
                  <a:latin typeface="Calibri (MS) Italics"/>
                  <a:ea typeface="Calibri (MS) Italics"/>
                  <a:cs typeface="Calibri (MS) Italics"/>
                  <a:sym typeface="Calibri (MS) Italics"/>
                </a:rPr>
                <a:t>Architecture microservice : gestion asynchrone des requêtes, validation des payloads Pydantic et documentation OpenAPI intégrée.</a:t>
              </a:r>
            </a:p>
          </p:txBody>
        </p:sp>
      </p:grpSp>
      <p:grpSp>
        <p:nvGrpSpPr>
          <p:cNvPr name="Group 17" id="17"/>
          <p:cNvGrpSpPr/>
          <p:nvPr/>
        </p:nvGrpSpPr>
        <p:grpSpPr>
          <a:xfrm rot="0">
            <a:off x="813435" y="3488055"/>
            <a:ext cx="10031730" cy="1184910"/>
            <a:chOff x="0" y="0"/>
            <a:chExt cx="13375640" cy="1579880"/>
          </a:xfrm>
        </p:grpSpPr>
        <p:sp>
          <p:nvSpPr>
            <p:cNvPr name="Freeform 18" id="18"/>
            <p:cNvSpPr/>
            <p:nvPr/>
          </p:nvSpPr>
          <p:spPr>
            <a:xfrm flipH="false" flipV="false" rot="0">
              <a:off x="0" y="0"/>
              <a:ext cx="13375639" cy="1579880"/>
            </a:xfrm>
            <a:custGeom>
              <a:avLst/>
              <a:gdLst/>
              <a:ahLst/>
              <a:cxnLst/>
              <a:rect r="r" b="b" t="t" l="l"/>
              <a:pathLst>
                <a:path h="1579880" w="13375639">
                  <a:moveTo>
                    <a:pt x="0" y="148717"/>
                  </a:moveTo>
                  <a:cubicBezTo>
                    <a:pt x="0" y="66548"/>
                    <a:pt x="66548" y="0"/>
                    <a:pt x="148717" y="0"/>
                  </a:cubicBezTo>
                  <a:lnTo>
                    <a:pt x="13226923" y="0"/>
                  </a:lnTo>
                  <a:cubicBezTo>
                    <a:pt x="13309092" y="0"/>
                    <a:pt x="13375639" y="66548"/>
                    <a:pt x="13375639" y="148717"/>
                  </a:cubicBezTo>
                  <a:lnTo>
                    <a:pt x="13375639" y="1431163"/>
                  </a:lnTo>
                  <a:cubicBezTo>
                    <a:pt x="13375639" y="1513332"/>
                    <a:pt x="13309092" y="1579880"/>
                    <a:pt x="13226923" y="1579880"/>
                  </a:cubicBezTo>
                  <a:lnTo>
                    <a:pt x="148717" y="1579880"/>
                  </a:lnTo>
                  <a:cubicBezTo>
                    <a:pt x="66548" y="1579880"/>
                    <a:pt x="0" y="1513332"/>
                    <a:pt x="0" y="1431163"/>
                  </a:cubicBezTo>
                  <a:close/>
                </a:path>
              </a:pathLst>
            </a:custGeom>
            <a:solidFill>
              <a:srgbClr val="0F2038"/>
            </a:solidFill>
            <a:ln w="19050" cap="sq">
              <a:solidFill>
                <a:srgbClr val="1E3358"/>
              </a:solidFill>
              <a:prstDash val="solid"/>
              <a:miter/>
            </a:ln>
          </p:spPr>
        </p:sp>
      </p:grpSp>
      <p:grpSp>
        <p:nvGrpSpPr>
          <p:cNvPr name="Group 19" id="19"/>
          <p:cNvGrpSpPr/>
          <p:nvPr/>
        </p:nvGrpSpPr>
        <p:grpSpPr>
          <a:xfrm rot="0">
            <a:off x="1165860" y="3771900"/>
            <a:ext cx="1165860" cy="576072"/>
            <a:chOff x="0" y="0"/>
            <a:chExt cx="1554480" cy="768096"/>
          </a:xfrm>
        </p:grpSpPr>
        <p:sp>
          <p:nvSpPr>
            <p:cNvPr name="Freeform 20" id="20"/>
            <p:cNvSpPr/>
            <p:nvPr/>
          </p:nvSpPr>
          <p:spPr>
            <a:xfrm flipH="false" flipV="false" rot="0">
              <a:off x="0" y="0"/>
              <a:ext cx="1554480" cy="768096"/>
            </a:xfrm>
            <a:custGeom>
              <a:avLst/>
              <a:gdLst/>
              <a:ahLst/>
              <a:cxnLst/>
              <a:rect r="r" b="b" t="t" l="l"/>
              <a:pathLst>
                <a:path h="768096" w="1554480">
                  <a:moveTo>
                    <a:pt x="0" y="146304"/>
                  </a:moveTo>
                  <a:cubicBezTo>
                    <a:pt x="0" y="65532"/>
                    <a:pt x="65532" y="0"/>
                    <a:pt x="146304" y="0"/>
                  </a:cubicBezTo>
                  <a:lnTo>
                    <a:pt x="1408176" y="0"/>
                  </a:lnTo>
                  <a:cubicBezTo>
                    <a:pt x="1488948" y="0"/>
                    <a:pt x="1554480" y="65532"/>
                    <a:pt x="1554480" y="146304"/>
                  </a:cubicBezTo>
                  <a:lnTo>
                    <a:pt x="1554480" y="621792"/>
                  </a:lnTo>
                  <a:cubicBezTo>
                    <a:pt x="1554480" y="702564"/>
                    <a:pt x="1488948" y="768096"/>
                    <a:pt x="1408176" y="768096"/>
                  </a:cubicBezTo>
                  <a:lnTo>
                    <a:pt x="146304" y="768096"/>
                  </a:lnTo>
                  <a:cubicBezTo>
                    <a:pt x="65532" y="768096"/>
                    <a:pt x="0" y="702564"/>
                    <a:pt x="0" y="621792"/>
                  </a:cubicBezTo>
                  <a:close/>
                </a:path>
              </a:pathLst>
            </a:custGeom>
            <a:solidFill>
              <a:srgbClr val="00E5C7"/>
            </a:solidFill>
          </p:spPr>
        </p:sp>
      </p:grpSp>
      <p:grpSp>
        <p:nvGrpSpPr>
          <p:cNvPr name="Group 21" id="21"/>
          <p:cNvGrpSpPr/>
          <p:nvPr/>
        </p:nvGrpSpPr>
        <p:grpSpPr>
          <a:xfrm rot="0">
            <a:off x="1165860" y="3771900"/>
            <a:ext cx="1165860" cy="576072"/>
            <a:chOff x="0" y="0"/>
            <a:chExt cx="1554480" cy="768096"/>
          </a:xfrm>
        </p:grpSpPr>
        <p:sp>
          <p:nvSpPr>
            <p:cNvPr name="Freeform 22" id="22"/>
            <p:cNvSpPr/>
            <p:nvPr/>
          </p:nvSpPr>
          <p:spPr>
            <a:xfrm flipH="false" flipV="false" rot="0">
              <a:off x="0" y="0"/>
              <a:ext cx="1554480" cy="768096"/>
            </a:xfrm>
            <a:custGeom>
              <a:avLst/>
              <a:gdLst/>
              <a:ahLst/>
              <a:cxnLst/>
              <a:rect r="r" b="b" t="t" l="l"/>
              <a:pathLst>
                <a:path h="768096" w="1554480">
                  <a:moveTo>
                    <a:pt x="0" y="0"/>
                  </a:moveTo>
                  <a:lnTo>
                    <a:pt x="1554480" y="0"/>
                  </a:lnTo>
                  <a:lnTo>
                    <a:pt x="1554480" y="768096"/>
                  </a:lnTo>
                  <a:lnTo>
                    <a:pt x="0" y="768096"/>
                  </a:lnTo>
                  <a:close/>
                </a:path>
              </a:pathLst>
            </a:custGeom>
            <a:blipFill>
              <a:blip r:embed="rId2">
                <a:alphaModFix amt="0"/>
              </a:blip>
              <a:stretch>
                <a:fillRect l="-13397" t="0" r="-13397" b="0"/>
              </a:stretch>
            </a:blipFill>
          </p:spPr>
        </p:sp>
        <p:sp>
          <p:nvSpPr>
            <p:cNvPr name="TextBox 23" id="23"/>
            <p:cNvSpPr txBox="true"/>
            <p:nvPr/>
          </p:nvSpPr>
          <p:spPr>
            <a:xfrm>
              <a:off x="0" y="-28575"/>
              <a:ext cx="1554480" cy="796671"/>
            </a:xfrm>
            <a:prstGeom prst="rect">
              <a:avLst/>
            </a:prstGeom>
          </p:spPr>
          <p:txBody>
            <a:bodyPr anchor="ctr" rtlCol="false" tIns="0" lIns="0" bIns="0" rIns="0"/>
            <a:lstStyle/>
            <a:p>
              <a:pPr algn="ctr">
                <a:lnSpc>
                  <a:spcPts val="1980"/>
                </a:lnSpc>
              </a:pPr>
              <a:r>
                <a:rPr lang="en-US" sz="1650" b="true">
                  <a:solidFill>
                    <a:srgbClr val="0A1428"/>
                  </a:solidFill>
                  <a:latin typeface="Consolas Bold"/>
                  <a:ea typeface="Consolas Bold"/>
                  <a:cs typeface="Consolas Bold"/>
                  <a:sym typeface="Consolas Bold"/>
                </a:rPr>
                <a:t>GET</a:t>
              </a:r>
            </a:p>
          </p:txBody>
        </p:sp>
      </p:grpSp>
      <p:grpSp>
        <p:nvGrpSpPr>
          <p:cNvPr name="Group 24" id="24"/>
          <p:cNvGrpSpPr/>
          <p:nvPr/>
        </p:nvGrpSpPr>
        <p:grpSpPr>
          <a:xfrm rot="0">
            <a:off x="2606040" y="3634740"/>
            <a:ext cx="3703320" cy="891540"/>
            <a:chOff x="0" y="0"/>
            <a:chExt cx="4937760" cy="1188720"/>
          </a:xfrm>
        </p:grpSpPr>
        <p:sp>
          <p:nvSpPr>
            <p:cNvPr name="Freeform 25" id="25"/>
            <p:cNvSpPr/>
            <p:nvPr/>
          </p:nvSpPr>
          <p:spPr>
            <a:xfrm flipH="false" flipV="false" rot="0">
              <a:off x="0" y="0"/>
              <a:ext cx="4937760" cy="1188720"/>
            </a:xfrm>
            <a:custGeom>
              <a:avLst/>
              <a:gdLst/>
              <a:ahLst/>
              <a:cxnLst/>
              <a:rect r="r" b="b" t="t" l="l"/>
              <a:pathLst>
                <a:path h="1188720" w="4937760">
                  <a:moveTo>
                    <a:pt x="0" y="0"/>
                  </a:moveTo>
                  <a:lnTo>
                    <a:pt x="4937760" y="0"/>
                  </a:lnTo>
                  <a:lnTo>
                    <a:pt x="4937760" y="1188720"/>
                  </a:lnTo>
                  <a:lnTo>
                    <a:pt x="0" y="1188720"/>
                  </a:lnTo>
                  <a:close/>
                </a:path>
              </a:pathLst>
            </a:custGeom>
            <a:blipFill>
              <a:blip r:embed="rId2">
                <a:alphaModFix amt="0"/>
              </a:blip>
              <a:stretch>
                <a:fillRect l="0" t="-30937" r="0" b="-30937"/>
              </a:stretch>
            </a:blipFill>
          </p:spPr>
        </p:sp>
        <p:sp>
          <p:nvSpPr>
            <p:cNvPr name="TextBox 26" id="26"/>
            <p:cNvSpPr txBox="true"/>
            <p:nvPr/>
          </p:nvSpPr>
          <p:spPr>
            <a:xfrm>
              <a:off x="0" y="-47625"/>
              <a:ext cx="4937760" cy="1236345"/>
            </a:xfrm>
            <a:prstGeom prst="rect">
              <a:avLst/>
            </a:prstGeom>
          </p:spPr>
          <p:txBody>
            <a:bodyPr anchor="ctr" rtlCol="false" tIns="0" lIns="0" bIns="0" rIns="0"/>
            <a:lstStyle/>
            <a:p>
              <a:pPr algn="l">
                <a:lnSpc>
                  <a:spcPts val="2520"/>
                </a:lnSpc>
              </a:pPr>
              <a:r>
                <a:rPr lang="en-US" sz="2100" b="true">
                  <a:solidFill>
                    <a:srgbClr val="FFFFFF"/>
                  </a:solidFill>
                  <a:latin typeface="Consolas Bold"/>
                  <a:ea typeface="Consolas Bold"/>
                  <a:cs typeface="Consolas Bold"/>
                  <a:sym typeface="Consolas Bold"/>
                </a:rPr>
                <a:t>/health</a:t>
              </a:r>
            </a:p>
          </p:txBody>
        </p:sp>
      </p:grpSp>
      <p:grpSp>
        <p:nvGrpSpPr>
          <p:cNvPr name="Group 27" id="27"/>
          <p:cNvGrpSpPr/>
          <p:nvPr/>
        </p:nvGrpSpPr>
        <p:grpSpPr>
          <a:xfrm rot="0">
            <a:off x="6377940" y="3634740"/>
            <a:ext cx="4320540" cy="891540"/>
            <a:chOff x="0" y="0"/>
            <a:chExt cx="5760720" cy="1188720"/>
          </a:xfrm>
        </p:grpSpPr>
        <p:sp>
          <p:nvSpPr>
            <p:cNvPr name="Freeform 28" id="28"/>
            <p:cNvSpPr/>
            <p:nvPr/>
          </p:nvSpPr>
          <p:spPr>
            <a:xfrm flipH="false" flipV="false" rot="0">
              <a:off x="0" y="0"/>
              <a:ext cx="5760720" cy="1188720"/>
            </a:xfrm>
            <a:custGeom>
              <a:avLst/>
              <a:gdLst/>
              <a:ahLst/>
              <a:cxnLst/>
              <a:rect r="r" b="b" t="t" l="l"/>
              <a:pathLst>
                <a:path h="1188720" w="5760720">
                  <a:moveTo>
                    <a:pt x="0" y="0"/>
                  </a:moveTo>
                  <a:lnTo>
                    <a:pt x="5760720" y="0"/>
                  </a:lnTo>
                  <a:lnTo>
                    <a:pt x="5760720" y="1188720"/>
                  </a:lnTo>
                  <a:lnTo>
                    <a:pt x="0" y="1188720"/>
                  </a:lnTo>
                  <a:close/>
                </a:path>
              </a:pathLst>
            </a:custGeom>
            <a:blipFill>
              <a:blip r:embed="rId2">
                <a:alphaModFix amt="0"/>
              </a:blip>
              <a:stretch>
                <a:fillRect l="0" t="-44427" r="0" b="-44427"/>
              </a:stretch>
            </a:blipFill>
          </p:spPr>
        </p:sp>
        <p:sp>
          <p:nvSpPr>
            <p:cNvPr name="TextBox 29" id="29"/>
            <p:cNvSpPr txBox="true"/>
            <p:nvPr/>
          </p:nvSpPr>
          <p:spPr>
            <a:xfrm>
              <a:off x="0" y="-38100"/>
              <a:ext cx="5760720" cy="1226820"/>
            </a:xfrm>
            <a:prstGeom prst="rect">
              <a:avLst/>
            </a:prstGeom>
          </p:spPr>
          <p:txBody>
            <a:bodyPr anchor="ctr" rtlCol="false" tIns="0" lIns="0" bIns="0" rIns="0"/>
            <a:lstStyle/>
            <a:p>
              <a:pPr algn="l" marL="0" indent="0" lvl="0">
                <a:lnSpc>
                  <a:spcPts val="1800"/>
                </a:lnSpc>
                <a:spcBef>
                  <a:spcPct val="0"/>
                </a:spcBef>
              </a:pPr>
              <a:r>
                <a:rPr lang="en-US" sz="1500">
                  <a:solidFill>
                    <a:srgbClr val="9FB0C9"/>
                  </a:solidFill>
                  <a:latin typeface="Calibri (MS)"/>
                  <a:ea typeface="Calibri (MS)"/>
                  <a:cs typeface="Calibri (MS)"/>
                  <a:sym typeface="Calibri (MS)"/>
                </a:rPr>
                <a:t>T</a:t>
              </a:r>
              <a:r>
                <a:rPr lang="en-US" sz="1500" strike="noStrike" u="none">
                  <a:solidFill>
                    <a:srgbClr val="9FB0C9"/>
                  </a:solidFill>
                  <a:latin typeface="Calibri (MS)"/>
                  <a:ea typeface="Calibri (MS)"/>
                  <a:cs typeface="Calibri (MS)"/>
                  <a:sym typeface="Calibri (MS)"/>
                </a:rPr>
                <a:t>e</a:t>
              </a:r>
              <a:r>
                <a:rPr lang="en-US" sz="1500" strike="noStrike" u="none">
                  <a:solidFill>
                    <a:srgbClr val="9FB0C9"/>
                  </a:solidFill>
                  <a:latin typeface="Calibri (MS)"/>
                  <a:ea typeface="Calibri (MS)"/>
                  <a:cs typeface="Calibri (MS)"/>
                  <a:sym typeface="Calibri (MS)"/>
                </a:rPr>
                <a:t>st</a:t>
              </a:r>
              <a:r>
                <a:rPr lang="en-US" sz="1500" strike="noStrike" u="none">
                  <a:solidFill>
                    <a:srgbClr val="9FB0C9"/>
                  </a:solidFill>
                  <a:latin typeface="Calibri (MS)"/>
                  <a:ea typeface="Calibri (MS)"/>
                  <a:cs typeface="Calibri (MS)"/>
                  <a:sym typeface="Calibri (MS)"/>
                </a:rPr>
                <a:t> de disponibilité — </a:t>
              </a:r>
              <a:r>
                <a:rPr lang="en-US" sz="1500" strike="noStrike" u="none">
                  <a:solidFill>
                    <a:srgbClr val="9FB0C9"/>
                  </a:solidFill>
                  <a:latin typeface="Calibri (MS)"/>
                  <a:ea typeface="Calibri (MS)"/>
                  <a:cs typeface="Calibri (MS)"/>
                  <a:sym typeface="Calibri (MS)"/>
                </a:rPr>
                <a:t>S</a:t>
              </a:r>
              <a:r>
                <a:rPr lang="en-US" sz="1500" strike="noStrike" u="none">
                  <a:solidFill>
                    <a:srgbClr val="9FB0C9"/>
                  </a:solidFill>
                  <a:latin typeface="Calibri (MS)"/>
                  <a:ea typeface="Calibri (MS)"/>
                  <a:cs typeface="Calibri (MS)"/>
                  <a:sym typeface="Calibri (MS)"/>
                </a:rPr>
                <a:t>tat</a:t>
              </a:r>
              <a:r>
                <a:rPr lang="en-US" sz="1500" strike="noStrike" u="none">
                  <a:solidFill>
                    <a:srgbClr val="9FB0C9"/>
                  </a:solidFill>
                  <a:latin typeface="Calibri (MS)"/>
                  <a:ea typeface="Calibri (MS)"/>
                  <a:cs typeface="Calibri (MS)"/>
                  <a:sym typeface="Calibri (MS)"/>
                </a:rPr>
                <a:t>ut</a:t>
              </a:r>
              <a:r>
                <a:rPr lang="en-US" sz="1500" strike="noStrike" u="none">
                  <a:solidFill>
                    <a:srgbClr val="9FB0C9"/>
                  </a:solidFill>
                  <a:latin typeface="Calibri (MS)"/>
                  <a:ea typeface="Calibri (MS)"/>
                  <a:cs typeface="Calibri (MS)"/>
                  <a:sym typeface="Calibri (MS)"/>
                </a:rPr>
                <a:t> d</a:t>
              </a:r>
              <a:r>
                <a:rPr lang="en-US" sz="1500" strike="noStrike" u="none">
                  <a:solidFill>
                    <a:srgbClr val="9FB0C9"/>
                  </a:solidFill>
                  <a:latin typeface="Calibri (MS)"/>
                  <a:ea typeface="Calibri (MS)"/>
                  <a:cs typeface="Calibri (MS)"/>
                  <a:sym typeface="Calibri (MS)"/>
                </a:rPr>
                <a:t>u</a:t>
              </a:r>
              <a:r>
                <a:rPr lang="en-US" sz="1500" strike="noStrike" u="none">
                  <a:solidFill>
                    <a:srgbClr val="9FB0C9"/>
                  </a:solidFill>
                  <a:latin typeface="Calibri (MS)"/>
                  <a:ea typeface="Calibri (MS)"/>
                  <a:cs typeface="Calibri (MS)"/>
                  <a:sym typeface="Calibri (MS)"/>
                </a:rPr>
                <a:t> chargement du modèle</a:t>
              </a:r>
              <a:r>
                <a:rPr lang="en-US" sz="1500" strike="noStrike" u="none">
                  <a:solidFill>
                    <a:srgbClr val="9FB0C9"/>
                  </a:solidFill>
                  <a:latin typeface="Calibri (MS)"/>
                  <a:ea typeface="Calibri (MS)"/>
                  <a:cs typeface="Calibri (MS)"/>
                  <a:sym typeface="Calibri (MS)"/>
                </a:rPr>
                <a:t> </a:t>
              </a:r>
            </a:p>
          </p:txBody>
        </p:sp>
      </p:grpSp>
      <p:grpSp>
        <p:nvGrpSpPr>
          <p:cNvPr name="Group 30" id="30"/>
          <p:cNvGrpSpPr/>
          <p:nvPr/>
        </p:nvGrpSpPr>
        <p:grpSpPr>
          <a:xfrm rot="0">
            <a:off x="813435" y="4818507"/>
            <a:ext cx="10031730" cy="1184910"/>
            <a:chOff x="0" y="0"/>
            <a:chExt cx="13375640" cy="1579880"/>
          </a:xfrm>
        </p:grpSpPr>
        <p:sp>
          <p:nvSpPr>
            <p:cNvPr name="Freeform 31" id="31"/>
            <p:cNvSpPr/>
            <p:nvPr/>
          </p:nvSpPr>
          <p:spPr>
            <a:xfrm flipH="false" flipV="false" rot="0">
              <a:off x="0" y="0"/>
              <a:ext cx="13375639" cy="1579880"/>
            </a:xfrm>
            <a:custGeom>
              <a:avLst/>
              <a:gdLst/>
              <a:ahLst/>
              <a:cxnLst/>
              <a:rect r="r" b="b" t="t" l="l"/>
              <a:pathLst>
                <a:path h="1579880" w="13375639">
                  <a:moveTo>
                    <a:pt x="0" y="148717"/>
                  </a:moveTo>
                  <a:cubicBezTo>
                    <a:pt x="0" y="66548"/>
                    <a:pt x="66548" y="0"/>
                    <a:pt x="148717" y="0"/>
                  </a:cubicBezTo>
                  <a:lnTo>
                    <a:pt x="13226923" y="0"/>
                  </a:lnTo>
                  <a:cubicBezTo>
                    <a:pt x="13309092" y="0"/>
                    <a:pt x="13375639" y="66548"/>
                    <a:pt x="13375639" y="148717"/>
                  </a:cubicBezTo>
                  <a:lnTo>
                    <a:pt x="13375639" y="1431163"/>
                  </a:lnTo>
                  <a:cubicBezTo>
                    <a:pt x="13375639" y="1513332"/>
                    <a:pt x="13309092" y="1579880"/>
                    <a:pt x="13226923" y="1579880"/>
                  </a:cubicBezTo>
                  <a:lnTo>
                    <a:pt x="148717" y="1579880"/>
                  </a:lnTo>
                  <a:cubicBezTo>
                    <a:pt x="66548" y="1579880"/>
                    <a:pt x="0" y="1513332"/>
                    <a:pt x="0" y="1431163"/>
                  </a:cubicBezTo>
                  <a:close/>
                </a:path>
              </a:pathLst>
            </a:custGeom>
            <a:solidFill>
              <a:srgbClr val="0F2038"/>
            </a:solidFill>
            <a:ln w="19050" cap="sq">
              <a:solidFill>
                <a:srgbClr val="1E3358"/>
              </a:solidFill>
              <a:prstDash val="solid"/>
              <a:miter/>
            </a:ln>
          </p:spPr>
        </p:sp>
      </p:grpSp>
      <p:grpSp>
        <p:nvGrpSpPr>
          <p:cNvPr name="Group 32" id="32"/>
          <p:cNvGrpSpPr/>
          <p:nvPr/>
        </p:nvGrpSpPr>
        <p:grpSpPr>
          <a:xfrm rot="0">
            <a:off x="1165860" y="5102352"/>
            <a:ext cx="1165860" cy="576072"/>
            <a:chOff x="0" y="0"/>
            <a:chExt cx="1554480" cy="768096"/>
          </a:xfrm>
        </p:grpSpPr>
        <p:sp>
          <p:nvSpPr>
            <p:cNvPr name="Freeform 33" id="33"/>
            <p:cNvSpPr/>
            <p:nvPr/>
          </p:nvSpPr>
          <p:spPr>
            <a:xfrm flipH="false" flipV="false" rot="0">
              <a:off x="0" y="0"/>
              <a:ext cx="1554480" cy="768096"/>
            </a:xfrm>
            <a:custGeom>
              <a:avLst/>
              <a:gdLst/>
              <a:ahLst/>
              <a:cxnLst/>
              <a:rect r="r" b="b" t="t" l="l"/>
              <a:pathLst>
                <a:path h="768096" w="1554480">
                  <a:moveTo>
                    <a:pt x="0" y="146304"/>
                  </a:moveTo>
                  <a:cubicBezTo>
                    <a:pt x="0" y="65532"/>
                    <a:pt x="65532" y="0"/>
                    <a:pt x="146304" y="0"/>
                  </a:cubicBezTo>
                  <a:lnTo>
                    <a:pt x="1408176" y="0"/>
                  </a:lnTo>
                  <a:cubicBezTo>
                    <a:pt x="1488948" y="0"/>
                    <a:pt x="1554480" y="65532"/>
                    <a:pt x="1554480" y="146304"/>
                  </a:cubicBezTo>
                  <a:lnTo>
                    <a:pt x="1554480" y="621792"/>
                  </a:lnTo>
                  <a:cubicBezTo>
                    <a:pt x="1554480" y="702564"/>
                    <a:pt x="1488948" y="768096"/>
                    <a:pt x="1408176" y="768096"/>
                  </a:cubicBezTo>
                  <a:lnTo>
                    <a:pt x="146304" y="768096"/>
                  </a:lnTo>
                  <a:cubicBezTo>
                    <a:pt x="65532" y="768096"/>
                    <a:pt x="0" y="702564"/>
                    <a:pt x="0" y="621792"/>
                  </a:cubicBezTo>
                  <a:close/>
                </a:path>
              </a:pathLst>
            </a:custGeom>
            <a:solidFill>
              <a:srgbClr val="FF7A45"/>
            </a:solidFill>
          </p:spPr>
        </p:sp>
      </p:grpSp>
      <p:grpSp>
        <p:nvGrpSpPr>
          <p:cNvPr name="Group 34" id="34"/>
          <p:cNvGrpSpPr/>
          <p:nvPr/>
        </p:nvGrpSpPr>
        <p:grpSpPr>
          <a:xfrm rot="0">
            <a:off x="1165860" y="5102352"/>
            <a:ext cx="1165860" cy="576072"/>
            <a:chOff x="0" y="0"/>
            <a:chExt cx="1554480" cy="768096"/>
          </a:xfrm>
        </p:grpSpPr>
        <p:sp>
          <p:nvSpPr>
            <p:cNvPr name="Freeform 35" id="35"/>
            <p:cNvSpPr/>
            <p:nvPr/>
          </p:nvSpPr>
          <p:spPr>
            <a:xfrm flipH="false" flipV="false" rot="0">
              <a:off x="0" y="0"/>
              <a:ext cx="1554480" cy="768096"/>
            </a:xfrm>
            <a:custGeom>
              <a:avLst/>
              <a:gdLst/>
              <a:ahLst/>
              <a:cxnLst/>
              <a:rect r="r" b="b" t="t" l="l"/>
              <a:pathLst>
                <a:path h="768096" w="1554480">
                  <a:moveTo>
                    <a:pt x="0" y="0"/>
                  </a:moveTo>
                  <a:lnTo>
                    <a:pt x="1554480" y="0"/>
                  </a:lnTo>
                  <a:lnTo>
                    <a:pt x="1554480" y="768096"/>
                  </a:lnTo>
                  <a:lnTo>
                    <a:pt x="0" y="768096"/>
                  </a:lnTo>
                  <a:close/>
                </a:path>
              </a:pathLst>
            </a:custGeom>
            <a:blipFill>
              <a:blip r:embed="rId2">
                <a:alphaModFix amt="0"/>
              </a:blip>
              <a:stretch>
                <a:fillRect l="-13397" t="0" r="-13397" b="0"/>
              </a:stretch>
            </a:blipFill>
          </p:spPr>
        </p:sp>
        <p:sp>
          <p:nvSpPr>
            <p:cNvPr name="TextBox 36" id="36"/>
            <p:cNvSpPr txBox="true"/>
            <p:nvPr/>
          </p:nvSpPr>
          <p:spPr>
            <a:xfrm>
              <a:off x="0" y="-28575"/>
              <a:ext cx="1554480" cy="796671"/>
            </a:xfrm>
            <a:prstGeom prst="rect">
              <a:avLst/>
            </a:prstGeom>
          </p:spPr>
          <p:txBody>
            <a:bodyPr anchor="ctr" rtlCol="false" tIns="0" lIns="0" bIns="0" rIns="0"/>
            <a:lstStyle/>
            <a:p>
              <a:pPr algn="ctr">
                <a:lnSpc>
                  <a:spcPts val="1980"/>
                </a:lnSpc>
              </a:pPr>
              <a:r>
                <a:rPr lang="en-US" sz="1650" b="true">
                  <a:solidFill>
                    <a:srgbClr val="0A1428"/>
                  </a:solidFill>
                  <a:latin typeface="Consolas Bold"/>
                  <a:ea typeface="Consolas Bold"/>
                  <a:cs typeface="Consolas Bold"/>
                  <a:sym typeface="Consolas Bold"/>
                </a:rPr>
                <a:t>POST</a:t>
              </a:r>
            </a:p>
          </p:txBody>
        </p:sp>
      </p:grpSp>
      <p:grpSp>
        <p:nvGrpSpPr>
          <p:cNvPr name="Group 37" id="37"/>
          <p:cNvGrpSpPr/>
          <p:nvPr/>
        </p:nvGrpSpPr>
        <p:grpSpPr>
          <a:xfrm rot="0">
            <a:off x="2606040" y="4965192"/>
            <a:ext cx="3703320" cy="891540"/>
            <a:chOff x="0" y="0"/>
            <a:chExt cx="4937760" cy="1188720"/>
          </a:xfrm>
        </p:grpSpPr>
        <p:sp>
          <p:nvSpPr>
            <p:cNvPr name="Freeform 38" id="38"/>
            <p:cNvSpPr/>
            <p:nvPr/>
          </p:nvSpPr>
          <p:spPr>
            <a:xfrm flipH="false" flipV="false" rot="0">
              <a:off x="0" y="0"/>
              <a:ext cx="4937760" cy="1188720"/>
            </a:xfrm>
            <a:custGeom>
              <a:avLst/>
              <a:gdLst/>
              <a:ahLst/>
              <a:cxnLst/>
              <a:rect r="r" b="b" t="t" l="l"/>
              <a:pathLst>
                <a:path h="1188720" w="4937760">
                  <a:moveTo>
                    <a:pt x="0" y="0"/>
                  </a:moveTo>
                  <a:lnTo>
                    <a:pt x="4937760" y="0"/>
                  </a:lnTo>
                  <a:lnTo>
                    <a:pt x="4937760" y="1188720"/>
                  </a:lnTo>
                  <a:lnTo>
                    <a:pt x="0" y="1188720"/>
                  </a:lnTo>
                  <a:close/>
                </a:path>
              </a:pathLst>
            </a:custGeom>
            <a:blipFill>
              <a:blip r:embed="rId2">
                <a:alphaModFix amt="0"/>
              </a:blip>
              <a:stretch>
                <a:fillRect l="0" t="-30937" r="0" b="-30937"/>
              </a:stretch>
            </a:blipFill>
          </p:spPr>
        </p:sp>
        <p:sp>
          <p:nvSpPr>
            <p:cNvPr name="TextBox 39" id="39"/>
            <p:cNvSpPr txBox="true"/>
            <p:nvPr/>
          </p:nvSpPr>
          <p:spPr>
            <a:xfrm>
              <a:off x="0" y="-47625"/>
              <a:ext cx="4937760" cy="1236345"/>
            </a:xfrm>
            <a:prstGeom prst="rect">
              <a:avLst/>
            </a:prstGeom>
          </p:spPr>
          <p:txBody>
            <a:bodyPr anchor="ctr" rtlCol="false" tIns="0" lIns="0" bIns="0" rIns="0"/>
            <a:lstStyle/>
            <a:p>
              <a:pPr algn="l">
                <a:lnSpc>
                  <a:spcPts val="2520"/>
                </a:lnSpc>
              </a:pPr>
              <a:r>
                <a:rPr lang="en-US" sz="2100" b="true">
                  <a:solidFill>
                    <a:srgbClr val="FFFFFF"/>
                  </a:solidFill>
                  <a:latin typeface="Consolas Bold"/>
                  <a:ea typeface="Consolas Bold"/>
                  <a:cs typeface="Consolas Bold"/>
                  <a:sym typeface="Consolas Bold"/>
                </a:rPr>
                <a:t>/predict</a:t>
              </a:r>
            </a:p>
          </p:txBody>
        </p:sp>
      </p:grpSp>
      <p:grpSp>
        <p:nvGrpSpPr>
          <p:cNvPr name="Group 40" id="40"/>
          <p:cNvGrpSpPr/>
          <p:nvPr/>
        </p:nvGrpSpPr>
        <p:grpSpPr>
          <a:xfrm rot="0">
            <a:off x="6377940" y="4965192"/>
            <a:ext cx="4320540" cy="891540"/>
            <a:chOff x="0" y="0"/>
            <a:chExt cx="5760720" cy="1188720"/>
          </a:xfrm>
        </p:grpSpPr>
        <p:sp>
          <p:nvSpPr>
            <p:cNvPr name="Freeform 41" id="41"/>
            <p:cNvSpPr/>
            <p:nvPr/>
          </p:nvSpPr>
          <p:spPr>
            <a:xfrm flipH="false" flipV="false" rot="0">
              <a:off x="0" y="0"/>
              <a:ext cx="5760720" cy="1188720"/>
            </a:xfrm>
            <a:custGeom>
              <a:avLst/>
              <a:gdLst/>
              <a:ahLst/>
              <a:cxnLst/>
              <a:rect r="r" b="b" t="t" l="l"/>
              <a:pathLst>
                <a:path h="1188720" w="5760720">
                  <a:moveTo>
                    <a:pt x="0" y="0"/>
                  </a:moveTo>
                  <a:lnTo>
                    <a:pt x="5760720" y="0"/>
                  </a:lnTo>
                  <a:lnTo>
                    <a:pt x="5760720" y="1188720"/>
                  </a:lnTo>
                  <a:lnTo>
                    <a:pt x="0" y="1188720"/>
                  </a:lnTo>
                  <a:close/>
                </a:path>
              </a:pathLst>
            </a:custGeom>
            <a:blipFill>
              <a:blip r:embed="rId2">
                <a:alphaModFix amt="0"/>
              </a:blip>
              <a:stretch>
                <a:fillRect l="0" t="-44427" r="0" b="-44427"/>
              </a:stretch>
            </a:blipFill>
          </p:spPr>
        </p:sp>
        <p:sp>
          <p:nvSpPr>
            <p:cNvPr name="TextBox 42" id="42"/>
            <p:cNvSpPr txBox="true"/>
            <p:nvPr/>
          </p:nvSpPr>
          <p:spPr>
            <a:xfrm>
              <a:off x="0" y="-38100"/>
              <a:ext cx="5760720" cy="1226820"/>
            </a:xfrm>
            <a:prstGeom prst="rect">
              <a:avLst/>
            </a:prstGeom>
          </p:spPr>
          <p:txBody>
            <a:bodyPr anchor="ctr" rtlCol="false" tIns="0" lIns="0" bIns="0" rIns="0"/>
            <a:lstStyle/>
            <a:p>
              <a:pPr algn="l" marL="0" indent="0" lvl="0">
                <a:lnSpc>
                  <a:spcPts val="1800"/>
                </a:lnSpc>
                <a:spcBef>
                  <a:spcPct val="0"/>
                </a:spcBef>
              </a:pPr>
              <a:r>
                <a:rPr lang="en-US" sz="1500" strike="noStrike" u="none">
                  <a:solidFill>
                    <a:srgbClr val="9FB0C9"/>
                  </a:solidFill>
                  <a:latin typeface="Calibri (MS)"/>
                  <a:ea typeface="Calibri (MS)"/>
                  <a:cs typeface="Calibri (MS)"/>
                  <a:sym typeface="Calibri (MS)"/>
                </a:rPr>
                <a:t>Prédiction sur un flux unique</a:t>
              </a:r>
            </a:p>
          </p:txBody>
        </p:sp>
      </p:grpSp>
      <p:grpSp>
        <p:nvGrpSpPr>
          <p:cNvPr name="Group 43" id="43"/>
          <p:cNvGrpSpPr/>
          <p:nvPr/>
        </p:nvGrpSpPr>
        <p:grpSpPr>
          <a:xfrm rot="0">
            <a:off x="813435" y="6148959"/>
            <a:ext cx="10031730" cy="1184910"/>
            <a:chOff x="0" y="0"/>
            <a:chExt cx="13375640" cy="1579880"/>
          </a:xfrm>
        </p:grpSpPr>
        <p:sp>
          <p:nvSpPr>
            <p:cNvPr name="Freeform 44" id="44"/>
            <p:cNvSpPr/>
            <p:nvPr/>
          </p:nvSpPr>
          <p:spPr>
            <a:xfrm flipH="false" flipV="false" rot="0">
              <a:off x="0" y="0"/>
              <a:ext cx="13375639" cy="1579880"/>
            </a:xfrm>
            <a:custGeom>
              <a:avLst/>
              <a:gdLst/>
              <a:ahLst/>
              <a:cxnLst/>
              <a:rect r="r" b="b" t="t" l="l"/>
              <a:pathLst>
                <a:path h="1579880" w="13375639">
                  <a:moveTo>
                    <a:pt x="0" y="148717"/>
                  </a:moveTo>
                  <a:cubicBezTo>
                    <a:pt x="0" y="66548"/>
                    <a:pt x="66548" y="0"/>
                    <a:pt x="148717" y="0"/>
                  </a:cubicBezTo>
                  <a:lnTo>
                    <a:pt x="13226923" y="0"/>
                  </a:lnTo>
                  <a:cubicBezTo>
                    <a:pt x="13309092" y="0"/>
                    <a:pt x="13375639" y="66548"/>
                    <a:pt x="13375639" y="148717"/>
                  </a:cubicBezTo>
                  <a:lnTo>
                    <a:pt x="13375639" y="1431163"/>
                  </a:lnTo>
                  <a:cubicBezTo>
                    <a:pt x="13375639" y="1513332"/>
                    <a:pt x="13309092" y="1579880"/>
                    <a:pt x="13226923" y="1579880"/>
                  </a:cubicBezTo>
                  <a:lnTo>
                    <a:pt x="148717" y="1579880"/>
                  </a:lnTo>
                  <a:cubicBezTo>
                    <a:pt x="66548" y="1579880"/>
                    <a:pt x="0" y="1513332"/>
                    <a:pt x="0" y="1431163"/>
                  </a:cubicBezTo>
                  <a:close/>
                </a:path>
              </a:pathLst>
            </a:custGeom>
            <a:solidFill>
              <a:srgbClr val="0F2038"/>
            </a:solidFill>
            <a:ln w="19050" cap="sq">
              <a:solidFill>
                <a:srgbClr val="1E3358"/>
              </a:solidFill>
              <a:prstDash val="solid"/>
              <a:miter/>
            </a:ln>
          </p:spPr>
        </p:sp>
      </p:grpSp>
      <p:grpSp>
        <p:nvGrpSpPr>
          <p:cNvPr name="Group 45" id="45"/>
          <p:cNvGrpSpPr/>
          <p:nvPr/>
        </p:nvGrpSpPr>
        <p:grpSpPr>
          <a:xfrm rot="0">
            <a:off x="1165860" y="6432804"/>
            <a:ext cx="1165860" cy="576072"/>
            <a:chOff x="0" y="0"/>
            <a:chExt cx="1554480" cy="768096"/>
          </a:xfrm>
        </p:grpSpPr>
        <p:sp>
          <p:nvSpPr>
            <p:cNvPr name="Freeform 46" id="46"/>
            <p:cNvSpPr/>
            <p:nvPr/>
          </p:nvSpPr>
          <p:spPr>
            <a:xfrm flipH="false" flipV="false" rot="0">
              <a:off x="0" y="0"/>
              <a:ext cx="1554480" cy="768096"/>
            </a:xfrm>
            <a:custGeom>
              <a:avLst/>
              <a:gdLst/>
              <a:ahLst/>
              <a:cxnLst/>
              <a:rect r="r" b="b" t="t" l="l"/>
              <a:pathLst>
                <a:path h="768096" w="1554480">
                  <a:moveTo>
                    <a:pt x="0" y="146304"/>
                  </a:moveTo>
                  <a:cubicBezTo>
                    <a:pt x="0" y="65532"/>
                    <a:pt x="65532" y="0"/>
                    <a:pt x="146304" y="0"/>
                  </a:cubicBezTo>
                  <a:lnTo>
                    <a:pt x="1408176" y="0"/>
                  </a:lnTo>
                  <a:cubicBezTo>
                    <a:pt x="1488948" y="0"/>
                    <a:pt x="1554480" y="65532"/>
                    <a:pt x="1554480" y="146304"/>
                  </a:cubicBezTo>
                  <a:lnTo>
                    <a:pt x="1554480" y="621792"/>
                  </a:lnTo>
                  <a:cubicBezTo>
                    <a:pt x="1554480" y="702564"/>
                    <a:pt x="1488948" y="768096"/>
                    <a:pt x="1408176" y="768096"/>
                  </a:cubicBezTo>
                  <a:lnTo>
                    <a:pt x="146304" y="768096"/>
                  </a:lnTo>
                  <a:cubicBezTo>
                    <a:pt x="65532" y="768096"/>
                    <a:pt x="0" y="702564"/>
                    <a:pt x="0" y="621792"/>
                  </a:cubicBezTo>
                  <a:close/>
                </a:path>
              </a:pathLst>
            </a:custGeom>
            <a:solidFill>
              <a:srgbClr val="FF7A45"/>
            </a:solidFill>
          </p:spPr>
        </p:sp>
      </p:grpSp>
      <p:grpSp>
        <p:nvGrpSpPr>
          <p:cNvPr name="Group 47" id="47"/>
          <p:cNvGrpSpPr/>
          <p:nvPr/>
        </p:nvGrpSpPr>
        <p:grpSpPr>
          <a:xfrm rot="0">
            <a:off x="1165860" y="6432804"/>
            <a:ext cx="1165860" cy="576072"/>
            <a:chOff x="0" y="0"/>
            <a:chExt cx="1554480" cy="768096"/>
          </a:xfrm>
        </p:grpSpPr>
        <p:sp>
          <p:nvSpPr>
            <p:cNvPr name="Freeform 48" id="48"/>
            <p:cNvSpPr/>
            <p:nvPr/>
          </p:nvSpPr>
          <p:spPr>
            <a:xfrm flipH="false" flipV="false" rot="0">
              <a:off x="0" y="0"/>
              <a:ext cx="1554480" cy="768096"/>
            </a:xfrm>
            <a:custGeom>
              <a:avLst/>
              <a:gdLst/>
              <a:ahLst/>
              <a:cxnLst/>
              <a:rect r="r" b="b" t="t" l="l"/>
              <a:pathLst>
                <a:path h="768096" w="1554480">
                  <a:moveTo>
                    <a:pt x="0" y="0"/>
                  </a:moveTo>
                  <a:lnTo>
                    <a:pt x="1554480" y="0"/>
                  </a:lnTo>
                  <a:lnTo>
                    <a:pt x="1554480" y="768096"/>
                  </a:lnTo>
                  <a:lnTo>
                    <a:pt x="0" y="768096"/>
                  </a:lnTo>
                  <a:close/>
                </a:path>
              </a:pathLst>
            </a:custGeom>
            <a:blipFill>
              <a:blip r:embed="rId2">
                <a:alphaModFix amt="0"/>
              </a:blip>
              <a:stretch>
                <a:fillRect l="-13397" t="0" r="-13397" b="0"/>
              </a:stretch>
            </a:blipFill>
          </p:spPr>
        </p:sp>
        <p:sp>
          <p:nvSpPr>
            <p:cNvPr name="TextBox 49" id="49"/>
            <p:cNvSpPr txBox="true"/>
            <p:nvPr/>
          </p:nvSpPr>
          <p:spPr>
            <a:xfrm>
              <a:off x="0" y="-28575"/>
              <a:ext cx="1554480" cy="796671"/>
            </a:xfrm>
            <a:prstGeom prst="rect">
              <a:avLst/>
            </a:prstGeom>
          </p:spPr>
          <p:txBody>
            <a:bodyPr anchor="ctr" rtlCol="false" tIns="0" lIns="0" bIns="0" rIns="0"/>
            <a:lstStyle/>
            <a:p>
              <a:pPr algn="ctr">
                <a:lnSpc>
                  <a:spcPts val="1980"/>
                </a:lnSpc>
              </a:pPr>
              <a:r>
                <a:rPr lang="en-US" sz="1650" b="true">
                  <a:solidFill>
                    <a:srgbClr val="0A1428"/>
                  </a:solidFill>
                  <a:latin typeface="Consolas Bold"/>
                  <a:ea typeface="Consolas Bold"/>
                  <a:cs typeface="Consolas Bold"/>
                  <a:sym typeface="Consolas Bold"/>
                </a:rPr>
                <a:t>POST</a:t>
              </a:r>
            </a:p>
          </p:txBody>
        </p:sp>
      </p:grpSp>
      <p:grpSp>
        <p:nvGrpSpPr>
          <p:cNvPr name="Group 50" id="50"/>
          <p:cNvGrpSpPr/>
          <p:nvPr/>
        </p:nvGrpSpPr>
        <p:grpSpPr>
          <a:xfrm rot="0">
            <a:off x="2606040" y="6295644"/>
            <a:ext cx="3703320" cy="891540"/>
            <a:chOff x="0" y="0"/>
            <a:chExt cx="4937760" cy="1188720"/>
          </a:xfrm>
        </p:grpSpPr>
        <p:sp>
          <p:nvSpPr>
            <p:cNvPr name="Freeform 51" id="51"/>
            <p:cNvSpPr/>
            <p:nvPr/>
          </p:nvSpPr>
          <p:spPr>
            <a:xfrm flipH="false" flipV="false" rot="0">
              <a:off x="0" y="0"/>
              <a:ext cx="4937760" cy="1188720"/>
            </a:xfrm>
            <a:custGeom>
              <a:avLst/>
              <a:gdLst/>
              <a:ahLst/>
              <a:cxnLst/>
              <a:rect r="r" b="b" t="t" l="l"/>
              <a:pathLst>
                <a:path h="1188720" w="4937760">
                  <a:moveTo>
                    <a:pt x="0" y="0"/>
                  </a:moveTo>
                  <a:lnTo>
                    <a:pt x="4937760" y="0"/>
                  </a:lnTo>
                  <a:lnTo>
                    <a:pt x="4937760" y="1188720"/>
                  </a:lnTo>
                  <a:lnTo>
                    <a:pt x="0" y="1188720"/>
                  </a:lnTo>
                  <a:close/>
                </a:path>
              </a:pathLst>
            </a:custGeom>
            <a:blipFill>
              <a:blip r:embed="rId2">
                <a:alphaModFix amt="0"/>
              </a:blip>
              <a:stretch>
                <a:fillRect l="0" t="-30937" r="0" b="-30937"/>
              </a:stretch>
            </a:blipFill>
          </p:spPr>
        </p:sp>
        <p:sp>
          <p:nvSpPr>
            <p:cNvPr name="TextBox 52" id="52"/>
            <p:cNvSpPr txBox="true"/>
            <p:nvPr/>
          </p:nvSpPr>
          <p:spPr>
            <a:xfrm>
              <a:off x="0" y="-47625"/>
              <a:ext cx="4937760" cy="1236345"/>
            </a:xfrm>
            <a:prstGeom prst="rect">
              <a:avLst/>
            </a:prstGeom>
          </p:spPr>
          <p:txBody>
            <a:bodyPr anchor="ctr" rtlCol="false" tIns="0" lIns="0" bIns="0" rIns="0"/>
            <a:lstStyle/>
            <a:p>
              <a:pPr algn="l">
                <a:lnSpc>
                  <a:spcPts val="2520"/>
                </a:lnSpc>
              </a:pPr>
              <a:r>
                <a:rPr lang="en-US" sz="2100" b="true">
                  <a:solidFill>
                    <a:srgbClr val="FFFFFF"/>
                  </a:solidFill>
                  <a:latin typeface="Consolas Bold"/>
                  <a:ea typeface="Consolas Bold"/>
                  <a:cs typeface="Consolas Bold"/>
                  <a:sym typeface="Consolas Bold"/>
                </a:rPr>
                <a:t>/predict/batch</a:t>
              </a:r>
            </a:p>
          </p:txBody>
        </p:sp>
      </p:grpSp>
      <p:grpSp>
        <p:nvGrpSpPr>
          <p:cNvPr name="Group 53" id="53"/>
          <p:cNvGrpSpPr/>
          <p:nvPr/>
        </p:nvGrpSpPr>
        <p:grpSpPr>
          <a:xfrm rot="0">
            <a:off x="6377940" y="6295644"/>
            <a:ext cx="4320540" cy="891540"/>
            <a:chOff x="0" y="0"/>
            <a:chExt cx="5760720" cy="1188720"/>
          </a:xfrm>
        </p:grpSpPr>
        <p:sp>
          <p:nvSpPr>
            <p:cNvPr name="Freeform 54" id="54"/>
            <p:cNvSpPr/>
            <p:nvPr/>
          </p:nvSpPr>
          <p:spPr>
            <a:xfrm flipH="false" flipV="false" rot="0">
              <a:off x="0" y="0"/>
              <a:ext cx="5760720" cy="1188720"/>
            </a:xfrm>
            <a:custGeom>
              <a:avLst/>
              <a:gdLst/>
              <a:ahLst/>
              <a:cxnLst/>
              <a:rect r="r" b="b" t="t" l="l"/>
              <a:pathLst>
                <a:path h="1188720" w="5760720">
                  <a:moveTo>
                    <a:pt x="0" y="0"/>
                  </a:moveTo>
                  <a:lnTo>
                    <a:pt x="5760720" y="0"/>
                  </a:lnTo>
                  <a:lnTo>
                    <a:pt x="5760720" y="1188720"/>
                  </a:lnTo>
                  <a:lnTo>
                    <a:pt x="0" y="1188720"/>
                  </a:lnTo>
                  <a:close/>
                </a:path>
              </a:pathLst>
            </a:custGeom>
            <a:blipFill>
              <a:blip r:embed="rId2">
                <a:alphaModFix amt="0"/>
              </a:blip>
              <a:stretch>
                <a:fillRect l="0" t="-44427" r="0" b="-44427"/>
              </a:stretch>
            </a:blipFill>
          </p:spPr>
        </p:sp>
        <p:sp>
          <p:nvSpPr>
            <p:cNvPr name="TextBox 55" id="55"/>
            <p:cNvSpPr txBox="true"/>
            <p:nvPr/>
          </p:nvSpPr>
          <p:spPr>
            <a:xfrm>
              <a:off x="0" y="-38100"/>
              <a:ext cx="5760720" cy="1226820"/>
            </a:xfrm>
            <a:prstGeom prst="rect">
              <a:avLst/>
            </a:prstGeom>
          </p:spPr>
          <p:txBody>
            <a:bodyPr anchor="ctr" rtlCol="false" tIns="0" lIns="0" bIns="0" rIns="0"/>
            <a:lstStyle/>
            <a:p>
              <a:pPr algn="l" marL="0" indent="0" lvl="0">
                <a:lnSpc>
                  <a:spcPts val="1800"/>
                </a:lnSpc>
                <a:spcBef>
                  <a:spcPct val="0"/>
                </a:spcBef>
              </a:pPr>
              <a:r>
                <a:rPr lang="en-US" sz="1500" strike="noStrike" u="none">
                  <a:solidFill>
                    <a:srgbClr val="9FB0C9"/>
                  </a:solidFill>
                  <a:latin typeface="Calibri (MS)"/>
                  <a:ea typeface="Calibri (MS)"/>
                  <a:cs typeface="Calibri (MS)"/>
                  <a:sym typeface="Calibri (MS)"/>
                </a:rPr>
                <a:t>Prédiction groupée sur plusieurs flux</a:t>
              </a:r>
            </a:p>
          </p:txBody>
        </p:sp>
      </p:grpSp>
      <p:grpSp>
        <p:nvGrpSpPr>
          <p:cNvPr name="Group 56" id="56"/>
          <p:cNvGrpSpPr/>
          <p:nvPr/>
        </p:nvGrpSpPr>
        <p:grpSpPr>
          <a:xfrm rot="0">
            <a:off x="813435" y="7479411"/>
            <a:ext cx="10031730" cy="1184910"/>
            <a:chOff x="0" y="0"/>
            <a:chExt cx="13375640" cy="1579880"/>
          </a:xfrm>
        </p:grpSpPr>
        <p:sp>
          <p:nvSpPr>
            <p:cNvPr name="Freeform 57" id="57"/>
            <p:cNvSpPr/>
            <p:nvPr/>
          </p:nvSpPr>
          <p:spPr>
            <a:xfrm flipH="false" flipV="false" rot="0">
              <a:off x="0" y="0"/>
              <a:ext cx="13375639" cy="1579880"/>
            </a:xfrm>
            <a:custGeom>
              <a:avLst/>
              <a:gdLst/>
              <a:ahLst/>
              <a:cxnLst/>
              <a:rect r="r" b="b" t="t" l="l"/>
              <a:pathLst>
                <a:path h="1579880" w="13375639">
                  <a:moveTo>
                    <a:pt x="0" y="148717"/>
                  </a:moveTo>
                  <a:cubicBezTo>
                    <a:pt x="0" y="66548"/>
                    <a:pt x="66548" y="0"/>
                    <a:pt x="148717" y="0"/>
                  </a:cubicBezTo>
                  <a:lnTo>
                    <a:pt x="13226923" y="0"/>
                  </a:lnTo>
                  <a:cubicBezTo>
                    <a:pt x="13309092" y="0"/>
                    <a:pt x="13375639" y="66548"/>
                    <a:pt x="13375639" y="148717"/>
                  </a:cubicBezTo>
                  <a:lnTo>
                    <a:pt x="13375639" y="1431163"/>
                  </a:lnTo>
                  <a:cubicBezTo>
                    <a:pt x="13375639" y="1513332"/>
                    <a:pt x="13309092" y="1579880"/>
                    <a:pt x="13226923" y="1579880"/>
                  </a:cubicBezTo>
                  <a:lnTo>
                    <a:pt x="148717" y="1579880"/>
                  </a:lnTo>
                  <a:cubicBezTo>
                    <a:pt x="66548" y="1579880"/>
                    <a:pt x="0" y="1513332"/>
                    <a:pt x="0" y="1431163"/>
                  </a:cubicBezTo>
                  <a:close/>
                </a:path>
              </a:pathLst>
            </a:custGeom>
            <a:solidFill>
              <a:srgbClr val="0F2038"/>
            </a:solidFill>
            <a:ln w="19050" cap="sq">
              <a:solidFill>
                <a:srgbClr val="1E3358"/>
              </a:solidFill>
              <a:prstDash val="solid"/>
              <a:miter/>
            </a:ln>
          </p:spPr>
        </p:sp>
      </p:grpSp>
      <p:grpSp>
        <p:nvGrpSpPr>
          <p:cNvPr name="Group 58" id="58"/>
          <p:cNvGrpSpPr/>
          <p:nvPr/>
        </p:nvGrpSpPr>
        <p:grpSpPr>
          <a:xfrm rot="0">
            <a:off x="1165860" y="7763256"/>
            <a:ext cx="1165860" cy="576072"/>
            <a:chOff x="0" y="0"/>
            <a:chExt cx="1554480" cy="768096"/>
          </a:xfrm>
        </p:grpSpPr>
        <p:sp>
          <p:nvSpPr>
            <p:cNvPr name="Freeform 59" id="59"/>
            <p:cNvSpPr/>
            <p:nvPr/>
          </p:nvSpPr>
          <p:spPr>
            <a:xfrm flipH="false" flipV="false" rot="0">
              <a:off x="0" y="0"/>
              <a:ext cx="1554480" cy="768096"/>
            </a:xfrm>
            <a:custGeom>
              <a:avLst/>
              <a:gdLst/>
              <a:ahLst/>
              <a:cxnLst/>
              <a:rect r="r" b="b" t="t" l="l"/>
              <a:pathLst>
                <a:path h="768096" w="1554480">
                  <a:moveTo>
                    <a:pt x="0" y="146304"/>
                  </a:moveTo>
                  <a:cubicBezTo>
                    <a:pt x="0" y="65532"/>
                    <a:pt x="65532" y="0"/>
                    <a:pt x="146304" y="0"/>
                  </a:cubicBezTo>
                  <a:lnTo>
                    <a:pt x="1408176" y="0"/>
                  </a:lnTo>
                  <a:cubicBezTo>
                    <a:pt x="1488948" y="0"/>
                    <a:pt x="1554480" y="65532"/>
                    <a:pt x="1554480" y="146304"/>
                  </a:cubicBezTo>
                  <a:lnTo>
                    <a:pt x="1554480" y="621792"/>
                  </a:lnTo>
                  <a:cubicBezTo>
                    <a:pt x="1554480" y="702564"/>
                    <a:pt x="1488948" y="768096"/>
                    <a:pt x="1408176" y="768096"/>
                  </a:cubicBezTo>
                  <a:lnTo>
                    <a:pt x="146304" y="768096"/>
                  </a:lnTo>
                  <a:cubicBezTo>
                    <a:pt x="65532" y="768096"/>
                    <a:pt x="0" y="702564"/>
                    <a:pt x="0" y="621792"/>
                  </a:cubicBezTo>
                  <a:close/>
                </a:path>
              </a:pathLst>
            </a:custGeom>
            <a:solidFill>
              <a:srgbClr val="00E5C7"/>
            </a:solidFill>
          </p:spPr>
        </p:sp>
      </p:grpSp>
      <p:grpSp>
        <p:nvGrpSpPr>
          <p:cNvPr name="Group 60" id="60"/>
          <p:cNvGrpSpPr/>
          <p:nvPr/>
        </p:nvGrpSpPr>
        <p:grpSpPr>
          <a:xfrm rot="0">
            <a:off x="1165860" y="7763256"/>
            <a:ext cx="1165860" cy="576072"/>
            <a:chOff x="0" y="0"/>
            <a:chExt cx="1554480" cy="768096"/>
          </a:xfrm>
        </p:grpSpPr>
        <p:sp>
          <p:nvSpPr>
            <p:cNvPr name="Freeform 61" id="61"/>
            <p:cNvSpPr/>
            <p:nvPr/>
          </p:nvSpPr>
          <p:spPr>
            <a:xfrm flipH="false" flipV="false" rot="0">
              <a:off x="0" y="0"/>
              <a:ext cx="1554480" cy="768096"/>
            </a:xfrm>
            <a:custGeom>
              <a:avLst/>
              <a:gdLst/>
              <a:ahLst/>
              <a:cxnLst/>
              <a:rect r="r" b="b" t="t" l="l"/>
              <a:pathLst>
                <a:path h="768096" w="1554480">
                  <a:moveTo>
                    <a:pt x="0" y="0"/>
                  </a:moveTo>
                  <a:lnTo>
                    <a:pt x="1554480" y="0"/>
                  </a:lnTo>
                  <a:lnTo>
                    <a:pt x="1554480" y="768096"/>
                  </a:lnTo>
                  <a:lnTo>
                    <a:pt x="0" y="768096"/>
                  </a:lnTo>
                  <a:close/>
                </a:path>
              </a:pathLst>
            </a:custGeom>
            <a:blipFill>
              <a:blip r:embed="rId2">
                <a:alphaModFix amt="0"/>
              </a:blip>
              <a:stretch>
                <a:fillRect l="-13397" t="0" r="-13397" b="0"/>
              </a:stretch>
            </a:blipFill>
          </p:spPr>
        </p:sp>
        <p:sp>
          <p:nvSpPr>
            <p:cNvPr name="TextBox 62" id="62"/>
            <p:cNvSpPr txBox="true"/>
            <p:nvPr/>
          </p:nvSpPr>
          <p:spPr>
            <a:xfrm>
              <a:off x="0" y="-28575"/>
              <a:ext cx="1554480" cy="796671"/>
            </a:xfrm>
            <a:prstGeom prst="rect">
              <a:avLst/>
            </a:prstGeom>
          </p:spPr>
          <p:txBody>
            <a:bodyPr anchor="ctr" rtlCol="false" tIns="0" lIns="0" bIns="0" rIns="0"/>
            <a:lstStyle/>
            <a:p>
              <a:pPr algn="ctr">
                <a:lnSpc>
                  <a:spcPts val="1980"/>
                </a:lnSpc>
              </a:pPr>
              <a:r>
                <a:rPr lang="en-US" sz="1650" b="true">
                  <a:solidFill>
                    <a:srgbClr val="0A1428"/>
                  </a:solidFill>
                  <a:latin typeface="Consolas Bold"/>
                  <a:ea typeface="Consolas Bold"/>
                  <a:cs typeface="Consolas Bold"/>
                  <a:sym typeface="Consolas Bold"/>
                </a:rPr>
                <a:t>GET</a:t>
              </a:r>
            </a:p>
          </p:txBody>
        </p:sp>
      </p:grpSp>
      <p:grpSp>
        <p:nvGrpSpPr>
          <p:cNvPr name="Group 63" id="63"/>
          <p:cNvGrpSpPr/>
          <p:nvPr/>
        </p:nvGrpSpPr>
        <p:grpSpPr>
          <a:xfrm rot="0">
            <a:off x="2606040" y="7626096"/>
            <a:ext cx="3703320" cy="891540"/>
            <a:chOff x="0" y="0"/>
            <a:chExt cx="4937760" cy="1188720"/>
          </a:xfrm>
        </p:grpSpPr>
        <p:sp>
          <p:nvSpPr>
            <p:cNvPr name="Freeform 64" id="64"/>
            <p:cNvSpPr/>
            <p:nvPr/>
          </p:nvSpPr>
          <p:spPr>
            <a:xfrm flipH="false" flipV="false" rot="0">
              <a:off x="0" y="0"/>
              <a:ext cx="4937760" cy="1188720"/>
            </a:xfrm>
            <a:custGeom>
              <a:avLst/>
              <a:gdLst/>
              <a:ahLst/>
              <a:cxnLst/>
              <a:rect r="r" b="b" t="t" l="l"/>
              <a:pathLst>
                <a:path h="1188720" w="4937760">
                  <a:moveTo>
                    <a:pt x="0" y="0"/>
                  </a:moveTo>
                  <a:lnTo>
                    <a:pt x="4937760" y="0"/>
                  </a:lnTo>
                  <a:lnTo>
                    <a:pt x="4937760" y="1188720"/>
                  </a:lnTo>
                  <a:lnTo>
                    <a:pt x="0" y="1188720"/>
                  </a:lnTo>
                  <a:close/>
                </a:path>
              </a:pathLst>
            </a:custGeom>
            <a:blipFill>
              <a:blip r:embed="rId2">
                <a:alphaModFix amt="0"/>
              </a:blip>
              <a:stretch>
                <a:fillRect l="0" t="-30937" r="0" b="-30937"/>
              </a:stretch>
            </a:blipFill>
          </p:spPr>
        </p:sp>
        <p:sp>
          <p:nvSpPr>
            <p:cNvPr name="TextBox 65" id="65"/>
            <p:cNvSpPr txBox="true"/>
            <p:nvPr/>
          </p:nvSpPr>
          <p:spPr>
            <a:xfrm>
              <a:off x="0" y="-47625"/>
              <a:ext cx="4937760" cy="1236345"/>
            </a:xfrm>
            <a:prstGeom prst="rect">
              <a:avLst/>
            </a:prstGeom>
          </p:spPr>
          <p:txBody>
            <a:bodyPr anchor="ctr" rtlCol="false" tIns="0" lIns="0" bIns="0" rIns="0"/>
            <a:lstStyle/>
            <a:p>
              <a:pPr algn="l">
                <a:lnSpc>
                  <a:spcPts val="2520"/>
                </a:lnSpc>
              </a:pPr>
              <a:r>
                <a:rPr lang="en-US" sz="2100" b="true">
                  <a:solidFill>
                    <a:srgbClr val="FFFFFF"/>
                  </a:solidFill>
                  <a:latin typeface="Consolas Bold"/>
                  <a:ea typeface="Consolas Bold"/>
                  <a:cs typeface="Consolas Bold"/>
                  <a:sym typeface="Consolas Bold"/>
                </a:rPr>
                <a:t>/metrics</a:t>
              </a:r>
            </a:p>
          </p:txBody>
        </p:sp>
      </p:grpSp>
      <p:grpSp>
        <p:nvGrpSpPr>
          <p:cNvPr name="Group 66" id="66"/>
          <p:cNvGrpSpPr/>
          <p:nvPr/>
        </p:nvGrpSpPr>
        <p:grpSpPr>
          <a:xfrm rot="0">
            <a:off x="6377940" y="7626096"/>
            <a:ext cx="4320540" cy="891540"/>
            <a:chOff x="0" y="0"/>
            <a:chExt cx="5760720" cy="1188720"/>
          </a:xfrm>
        </p:grpSpPr>
        <p:sp>
          <p:nvSpPr>
            <p:cNvPr name="Freeform 67" id="67"/>
            <p:cNvSpPr/>
            <p:nvPr/>
          </p:nvSpPr>
          <p:spPr>
            <a:xfrm flipH="false" flipV="false" rot="0">
              <a:off x="0" y="0"/>
              <a:ext cx="5760720" cy="1188720"/>
            </a:xfrm>
            <a:custGeom>
              <a:avLst/>
              <a:gdLst/>
              <a:ahLst/>
              <a:cxnLst/>
              <a:rect r="r" b="b" t="t" l="l"/>
              <a:pathLst>
                <a:path h="1188720" w="5760720">
                  <a:moveTo>
                    <a:pt x="0" y="0"/>
                  </a:moveTo>
                  <a:lnTo>
                    <a:pt x="5760720" y="0"/>
                  </a:lnTo>
                  <a:lnTo>
                    <a:pt x="5760720" y="1188720"/>
                  </a:lnTo>
                  <a:lnTo>
                    <a:pt x="0" y="1188720"/>
                  </a:lnTo>
                  <a:close/>
                </a:path>
              </a:pathLst>
            </a:custGeom>
            <a:blipFill>
              <a:blip r:embed="rId2">
                <a:alphaModFix amt="0"/>
              </a:blip>
              <a:stretch>
                <a:fillRect l="0" t="-44427" r="0" b="-44427"/>
              </a:stretch>
            </a:blipFill>
          </p:spPr>
        </p:sp>
        <p:sp>
          <p:nvSpPr>
            <p:cNvPr name="TextBox 68" id="68"/>
            <p:cNvSpPr txBox="true"/>
            <p:nvPr/>
          </p:nvSpPr>
          <p:spPr>
            <a:xfrm>
              <a:off x="0" y="-38100"/>
              <a:ext cx="5760720" cy="1226820"/>
            </a:xfrm>
            <a:prstGeom prst="rect">
              <a:avLst/>
            </a:prstGeom>
          </p:spPr>
          <p:txBody>
            <a:bodyPr anchor="ctr" rtlCol="false" tIns="0" lIns="0" bIns="0" rIns="0"/>
            <a:lstStyle/>
            <a:p>
              <a:pPr algn="l" marL="0" indent="0" lvl="0">
                <a:lnSpc>
                  <a:spcPts val="1800"/>
                </a:lnSpc>
                <a:spcBef>
                  <a:spcPct val="0"/>
                </a:spcBef>
              </a:pPr>
              <a:r>
                <a:rPr lang="en-US" sz="1500" strike="noStrike" u="none">
                  <a:solidFill>
                    <a:srgbClr val="9FB0C9"/>
                  </a:solidFill>
                  <a:latin typeface="Calibri (MS)"/>
                  <a:ea typeface="Calibri (MS)"/>
                  <a:cs typeface="Calibri (MS)"/>
                  <a:sym typeface="Calibri (MS)"/>
                </a:rPr>
                <a:t>Endpoint de scraping Prometheus</a:t>
              </a:r>
            </a:p>
          </p:txBody>
        </p:sp>
      </p:grpSp>
      <p:grpSp>
        <p:nvGrpSpPr>
          <p:cNvPr name="Group 69" id="69"/>
          <p:cNvGrpSpPr/>
          <p:nvPr/>
        </p:nvGrpSpPr>
        <p:grpSpPr>
          <a:xfrm rot="0">
            <a:off x="11169015" y="3488055"/>
            <a:ext cx="6328410" cy="5368290"/>
            <a:chOff x="0" y="0"/>
            <a:chExt cx="8437880" cy="7157720"/>
          </a:xfrm>
        </p:grpSpPr>
        <p:sp>
          <p:nvSpPr>
            <p:cNvPr name="Freeform 70" id="70"/>
            <p:cNvSpPr/>
            <p:nvPr/>
          </p:nvSpPr>
          <p:spPr>
            <a:xfrm flipH="false" flipV="false" rot="0">
              <a:off x="0" y="0"/>
              <a:ext cx="8437880" cy="7157720"/>
            </a:xfrm>
            <a:custGeom>
              <a:avLst/>
              <a:gdLst/>
              <a:ahLst/>
              <a:cxnLst/>
              <a:rect r="r" b="b" t="t" l="l"/>
              <a:pathLst>
                <a:path h="7157720" w="8437880">
                  <a:moveTo>
                    <a:pt x="0" y="146812"/>
                  </a:moveTo>
                  <a:cubicBezTo>
                    <a:pt x="0" y="65786"/>
                    <a:pt x="65786" y="0"/>
                    <a:pt x="146812" y="0"/>
                  </a:cubicBezTo>
                  <a:lnTo>
                    <a:pt x="8291068" y="0"/>
                  </a:lnTo>
                  <a:cubicBezTo>
                    <a:pt x="8372094" y="0"/>
                    <a:pt x="8437880" y="65786"/>
                    <a:pt x="8437880" y="146812"/>
                  </a:cubicBezTo>
                  <a:lnTo>
                    <a:pt x="8437880" y="7010908"/>
                  </a:lnTo>
                  <a:cubicBezTo>
                    <a:pt x="8437880" y="7091934"/>
                    <a:pt x="8372094" y="7157720"/>
                    <a:pt x="8291068" y="7157720"/>
                  </a:cubicBezTo>
                  <a:lnTo>
                    <a:pt x="146812" y="7157720"/>
                  </a:lnTo>
                  <a:cubicBezTo>
                    <a:pt x="65786" y="7157720"/>
                    <a:pt x="0" y="7091934"/>
                    <a:pt x="0" y="7010908"/>
                  </a:cubicBezTo>
                  <a:close/>
                </a:path>
              </a:pathLst>
            </a:custGeom>
            <a:solidFill>
              <a:srgbClr val="13294A"/>
            </a:solidFill>
            <a:ln w="19050" cap="sq">
              <a:solidFill>
                <a:srgbClr val="1E3358"/>
              </a:solidFill>
              <a:prstDash val="solid"/>
              <a:miter/>
            </a:ln>
          </p:spPr>
        </p:sp>
      </p:grpSp>
      <p:grpSp>
        <p:nvGrpSpPr>
          <p:cNvPr name="Group 71" id="71"/>
          <p:cNvGrpSpPr/>
          <p:nvPr/>
        </p:nvGrpSpPr>
        <p:grpSpPr>
          <a:xfrm rot="0">
            <a:off x="11590020" y="3771900"/>
            <a:ext cx="5486400" cy="411480"/>
            <a:chOff x="0" y="0"/>
            <a:chExt cx="7315200" cy="548640"/>
          </a:xfrm>
        </p:grpSpPr>
        <p:sp>
          <p:nvSpPr>
            <p:cNvPr name="Freeform 72" id="72"/>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2">
                <a:alphaModFix amt="0"/>
              </a:blip>
              <a:stretch>
                <a:fillRect l="0" t="-209800" r="0" b="-209800"/>
              </a:stretch>
            </a:blipFill>
          </p:spPr>
        </p:sp>
        <p:sp>
          <p:nvSpPr>
            <p:cNvPr name="TextBox 73" id="73"/>
            <p:cNvSpPr txBox="true"/>
            <p:nvPr/>
          </p:nvSpPr>
          <p:spPr>
            <a:xfrm>
              <a:off x="0" y="-19050"/>
              <a:ext cx="7315200" cy="567690"/>
            </a:xfrm>
            <a:prstGeom prst="rect">
              <a:avLst/>
            </a:prstGeom>
          </p:spPr>
          <p:txBody>
            <a:bodyPr anchor="ctr" rtlCol="false" tIns="0" lIns="0" bIns="0" rIns="0"/>
            <a:lstStyle/>
            <a:p>
              <a:pPr algn="l" marL="0" indent="0" lvl="0">
                <a:lnSpc>
                  <a:spcPts val="1889"/>
                </a:lnSpc>
                <a:spcBef>
                  <a:spcPct val="0"/>
                </a:spcBef>
              </a:pPr>
              <a:r>
                <a:rPr lang="en-US" b="true" sz="1575" spc="150" strike="noStrike" u="none">
                  <a:solidFill>
                    <a:srgbClr val="00E5C7"/>
                  </a:solidFill>
                  <a:latin typeface="Calibri (MS) Bold"/>
                  <a:ea typeface="Calibri (MS) Bold"/>
                  <a:cs typeface="Calibri (MS) Bold"/>
                  <a:sym typeface="Calibri (MS) Bold"/>
                </a:rPr>
                <a:t>LIFESPAN ET MIDDLEWARE</a:t>
              </a:r>
            </a:p>
          </p:txBody>
        </p:sp>
      </p:grpSp>
      <p:sp>
        <p:nvSpPr>
          <p:cNvPr name="TextBox 74" id="74"/>
          <p:cNvSpPr txBox="true"/>
          <p:nvPr/>
        </p:nvSpPr>
        <p:spPr>
          <a:xfrm rot="0">
            <a:off x="11590020" y="4194810"/>
            <a:ext cx="5486400" cy="2305431"/>
          </a:xfrm>
          <a:prstGeom prst="rect">
            <a:avLst/>
          </a:prstGeom>
        </p:spPr>
        <p:txBody>
          <a:bodyPr anchor="t" rtlCol="false" tIns="0" lIns="0" bIns="0" rIns="0">
            <a:spAutoFit/>
          </a:bodyPr>
          <a:lstStyle/>
          <a:p>
            <a:pPr algn="l" marL="298609" indent="-149304" lvl="1">
              <a:lnSpc>
                <a:spcPts val="2277"/>
              </a:lnSpc>
              <a:spcBef>
                <a:spcPct val="0"/>
              </a:spcBef>
              <a:buFont typeface="Arial"/>
              <a:buChar char="•"/>
            </a:pPr>
            <a:r>
              <a:rPr lang="en-US" sz="1650" strike="noStrike" u="none">
                <a:solidFill>
                  <a:srgbClr val="9FB0C9"/>
                </a:solidFill>
                <a:latin typeface="Calibri (MS)"/>
                <a:ea typeface="Calibri (MS)"/>
                <a:cs typeface="Calibri (MS)"/>
                <a:sym typeface="Calibri (MS)"/>
              </a:rPr>
              <a:t>Le lifespan via asynccontextmanager charge le modèle une fois au démarrage et le libère à l'arrêt</a:t>
            </a:r>
          </a:p>
          <a:p>
            <a:pPr algn="l" marL="298609" indent="-149304" lvl="1">
              <a:lnSpc>
                <a:spcPts val="2277"/>
              </a:lnSpc>
              <a:spcBef>
                <a:spcPct val="0"/>
              </a:spcBef>
              <a:buFont typeface="Arial"/>
              <a:buChar char="•"/>
            </a:pPr>
            <a:r>
              <a:rPr lang="en-US" sz="1650" strike="noStrike" u="none">
                <a:solidFill>
                  <a:srgbClr val="9FB0C9"/>
                </a:solidFill>
                <a:latin typeface="Calibri (MS)"/>
                <a:ea typeface="Calibri (MS)"/>
                <a:cs typeface="Calibri (MS)"/>
                <a:sym typeface="Calibri (MS)"/>
              </a:rPr>
              <a:t>Aucun rechargement du modèle par requête — essentiel pour une inférence à faible latence</a:t>
            </a:r>
          </a:p>
          <a:p>
            <a:pPr algn="l" marL="298609" indent="-149304" lvl="1">
              <a:lnSpc>
                <a:spcPts val="2277"/>
              </a:lnSpc>
              <a:spcBef>
                <a:spcPct val="0"/>
              </a:spcBef>
              <a:buFont typeface="Arial"/>
              <a:buChar char="•"/>
            </a:pPr>
            <a:r>
              <a:rPr lang="en-US" sz="1650" strike="noStrike" u="none">
                <a:solidFill>
                  <a:srgbClr val="9FB0C9"/>
                </a:solidFill>
                <a:latin typeface="Calibri (MS)"/>
                <a:ea typeface="Calibri (MS)"/>
                <a:cs typeface="Calibri (MS)"/>
                <a:sym typeface="Calibri (MS)"/>
              </a:rPr>
              <a:t>Le middleware CORS limite l'accès aux origines frontend approuvées</a:t>
            </a:r>
          </a:p>
          <a:p>
            <a:pPr algn="l" marL="298609" indent="-149304" lvl="1">
              <a:lnSpc>
                <a:spcPts val="2277"/>
              </a:lnSpc>
              <a:spcBef>
                <a:spcPct val="0"/>
              </a:spcBef>
              <a:buFont typeface="Arial"/>
              <a:buChar char="•"/>
            </a:pPr>
            <a:r>
              <a:rPr lang="en-US" sz="1650" strike="noStrike" u="none">
                <a:solidFill>
                  <a:srgbClr val="9FB0C9"/>
                </a:solidFill>
                <a:latin typeface="Calibri (MS)"/>
                <a:ea typeface="Calibri (MS)"/>
                <a:cs typeface="Calibri (MS)"/>
                <a:sym typeface="Calibri (MS)"/>
              </a:rPr>
              <a:t>Pydantic FlowItem impose 33 champs typés ; les requêtes invalides renvoient HTTP 422</a:t>
            </a:r>
          </a:p>
        </p:txBody>
      </p:sp>
      <p:grpSp>
        <p:nvGrpSpPr>
          <p:cNvPr name="Group 75" id="75"/>
          <p:cNvGrpSpPr/>
          <p:nvPr/>
        </p:nvGrpSpPr>
        <p:grpSpPr>
          <a:xfrm rot="0">
            <a:off x="685800" y="9710928"/>
            <a:ext cx="10972800" cy="411480"/>
            <a:chOff x="0" y="0"/>
            <a:chExt cx="14630400" cy="548640"/>
          </a:xfrm>
        </p:grpSpPr>
        <p:sp>
          <p:nvSpPr>
            <p:cNvPr name="Freeform 76" id="7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77" id="77"/>
            <p:cNvSpPr txBox="true"/>
            <p:nvPr/>
          </p:nvSpPr>
          <p:spPr>
            <a:xfrm>
              <a:off x="0" y="-28575"/>
              <a:ext cx="14630400" cy="577215"/>
            </a:xfrm>
            <a:prstGeom prst="rect">
              <a:avLst/>
            </a:prstGeom>
          </p:spPr>
          <p:txBody>
            <a:bodyPr anchor="ctr" rtlCol="false" tIns="0" lIns="0" bIns="0" rIns="0"/>
            <a:lstStyle/>
            <a:p>
              <a:pPr algn="l" marL="0" indent="0" lvl="0">
                <a:lnSpc>
                  <a:spcPts val="1620"/>
                </a:lnSpc>
                <a:spcBef>
                  <a:spcPct val="0"/>
                </a:spcBef>
              </a:pPr>
              <a:r>
                <a:rPr lang="en-US" sz="1350" spc="149" strike="noStrike" u="none">
                  <a:solidFill>
                    <a:srgbClr val="6E84A6"/>
                  </a:solidFill>
                  <a:latin typeface="Calibri (MS)"/>
                  <a:ea typeface="Calibri (MS)"/>
                  <a:cs typeface="Calibri (MS)"/>
                  <a:sym typeface="Calibri (MS)"/>
                </a:rPr>
                <a:t>PLATEFORME MLSECOPS · BACKEND &amp; OBSERVABILITÉ</a:t>
              </a:r>
            </a:p>
          </p:txBody>
        </p:sp>
      </p:grpSp>
      <p:grpSp>
        <p:nvGrpSpPr>
          <p:cNvPr name="Group 78" id="78"/>
          <p:cNvGrpSpPr/>
          <p:nvPr/>
        </p:nvGrpSpPr>
        <p:grpSpPr>
          <a:xfrm rot="0">
            <a:off x="16500348" y="9710928"/>
            <a:ext cx="1097280" cy="411480"/>
            <a:chOff x="0" y="0"/>
            <a:chExt cx="1463040" cy="548640"/>
          </a:xfrm>
        </p:grpSpPr>
        <p:sp>
          <p:nvSpPr>
            <p:cNvPr name="Freeform 79" id="79"/>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80" id="80"/>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21 / 32</a:t>
              </a:r>
            </a:p>
          </p:txBody>
        </p:sp>
      </p:grpSp>
      <p:sp>
        <p:nvSpPr>
          <p:cNvPr name="TextBox 81" id="81"/>
          <p:cNvSpPr txBox="true"/>
          <p:nvPr/>
        </p:nvSpPr>
        <p:spPr>
          <a:xfrm rot="0">
            <a:off x="7885137" y="4991100"/>
            <a:ext cx="2517725" cy="266700"/>
          </a:xfrm>
          <a:prstGeom prst="rect">
            <a:avLst/>
          </a:prstGeom>
        </p:spPr>
        <p:txBody>
          <a:bodyPr anchor="t" rtlCol="false" tIns="0" lIns="0" bIns="0" rIns="0">
            <a:spAutoFit/>
          </a:bodyPr>
          <a:lstStyle/>
          <a:p>
            <a:pPr algn="ctr" marL="0" indent="0" lvl="0">
              <a:lnSpc>
                <a:spcPts val="1800"/>
              </a:lnSpc>
              <a:spcBef>
                <a:spcPct val="0"/>
              </a:spcBef>
            </a:pPr>
            <a:r>
              <a:rPr lang="en-US" sz="1500" strike="noStrike" u="none">
                <a:solidFill>
                  <a:srgbClr val="000000"/>
                </a:solidFill>
                <a:latin typeface="Calibri (MS)"/>
                <a:ea typeface="Calibri (MS)"/>
                <a:cs typeface="Calibri (MS)"/>
                <a:sym typeface="Calibri (MS)"/>
              </a:rPr>
              <a:t>Validation Pydantic des payloads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marL="0" indent="0" lvl="0">
                <a:lnSpc>
                  <a:spcPts val="2250"/>
                </a:lnSpc>
                <a:spcBef>
                  <a:spcPct val="0"/>
                </a:spcBef>
              </a:pPr>
              <a:r>
                <a:rPr lang="en-US" b="true" sz="1875" spc="300" strike="noStrike" u="none">
                  <a:solidFill>
                    <a:srgbClr val="00E5C7"/>
                  </a:solidFill>
                  <a:latin typeface="Calibri (MS) Bold"/>
                  <a:ea typeface="Calibri (MS) Bold"/>
                  <a:cs typeface="Calibri (MS) Bold"/>
                  <a:sym typeface="Calibri (MS) Bold"/>
                </a:rPr>
                <a:t>BACKEND &amp; OBSERVABILITÉ</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marL="0" indent="0" lvl="0">
                <a:lnSpc>
                  <a:spcPts val="1800"/>
                </a:lnSpc>
                <a:spcBef>
                  <a:spcPct val="0"/>
                </a:spcBef>
              </a:pPr>
              <a:r>
                <a:rPr lang="en-US" b="true" sz="1500" spc="225" strike="noStrike" u="none">
                  <a:solidFill>
                    <a:srgbClr val="00E5C7"/>
                  </a:solidFill>
                  <a:latin typeface="Calibri (MS) Bold"/>
                  <a:ea typeface="Calibri (MS) Bold"/>
                  <a:cs typeface="Calibri (MS) Bold"/>
                  <a:sym typeface="Calibri (MS) Bold"/>
                </a:rPr>
                <a:t>INTERVENANT 6</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marL="0" indent="0" lvl="0">
                <a:lnSpc>
                  <a:spcPts val="1889"/>
                </a:lnSpc>
                <a:spcBef>
                  <a:spcPct val="0"/>
                </a:spcBef>
              </a:pPr>
              <a:r>
                <a:rPr lang="en-US" sz="1575" strike="noStrike" u="none">
                  <a:solidFill>
                    <a:srgbClr val="9FB0C9"/>
                  </a:solidFill>
                  <a:latin typeface="Calibri (MS)"/>
                  <a:ea typeface="Calibri (MS)"/>
                  <a:cs typeface="Calibri (MS)"/>
                  <a:sym typeface="Calibri (MS)"/>
                </a:rPr>
                <a:t>Houssame Bouyous — Ingénieur backend</a:t>
              </a:r>
            </a:p>
          </p:txBody>
        </p:sp>
      </p:grpSp>
      <p:grpSp>
        <p:nvGrpSpPr>
          <p:cNvPr name="Group 11" id="11"/>
          <p:cNvGrpSpPr/>
          <p:nvPr/>
        </p:nvGrpSpPr>
        <p:grpSpPr>
          <a:xfrm rot="0">
            <a:off x="1028700" y="-292953"/>
            <a:ext cx="16596360" cy="3516213"/>
            <a:chOff x="0" y="0"/>
            <a:chExt cx="22128480" cy="4688284"/>
          </a:xfrm>
        </p:grpSpPr>
        <p:sp>
          <p:nvSpPr>
            <p:cNvPr name="Freeform 12" id="12"/>
            <p:cNvSpPr/>
            <p:nvPr/>
          </p:nvSpPr>
          <p:spPr>
            <a:xfrm flipH="false" flipV="false" rot="0">
              <a:off x="0" y="0"/>
              <a:ext cx="22128480" cy="4688284"/>
            </a:xfrm>
            <a:custGeom>
              <a:avLst/>
              <a:gdLst/>
              <a:ahLst/>
              <a:cxnLst/>
              <a:rect r="r" b="b" t="t" l="l"/>
              <a:pathLst>
                <a:path h="4688284" w="22128480">
                  <a:moveTo>
                    <a:pt x="0" y="0"/>
                  </a:moveTo>
                  <a:lnTo>
                    <a:pt x="22128480" y="0"/>
                  </a:lnTo>
                  <a:lnTo>
                    <a:pt x="22128480" y="4688284"/>
                  </a:lnTo>
                  <a:lnTo>
                    <a:pt x="0" y="4688284"/>
                  </a:lnTo>
                  <a:close/>
                </a:path>
              </a:pathLst>
            </a:custGeom>
            <a:blipFill>
              <a:blip r:embed="rId2">
                <a:alphaModFix amt="0"/>
              </a:blip>
              <a:stretch>
                <a:fillRect l="0" t="-73439" r="0" b="-10497"/>
              </a:stretch>
            </a:blipFill>
          </p:spPr>
        </p:sp>
        <p:sp>
          <p:nvSpPr>
            <p:cNvPr name="TextBox 13" id="13"/>
            <p:cNvSpPr txBox="true"/>
            <p:nvPr/>
          </p:nvSpPr>
          <p:spPr>
            <a:xfrm>
              <a:off x="0" y="-9525"/>
              <a:ext cx="22128480" cy="4697809"/>
            </a:xfrm>
            <a:prstGeom prst="rect">
              <a:avLst/>
            </a:prstGeom>
          </p:spPr>
          <p:txBody>
            <a:bodyPr anchor="ctr" rtlCol="false" tIns="0" lIns="0" bIns="0" rIns="0"/>
            <a:lstStyle/>
            <a:p>
              <a:pPr algn="l" marL="0" indent="0" lvl="0">
                <a:lnSpc>
                  <a:spcPts val="5759"/>
                </a:lnSpc>
                <a:spcBef>
                  <a:spcPct val="0"/>
                </a:spcBef>
              </a:pPr>
              <a:r>
                <a:rPr lang="en-US" b="true" sz="4800" strike="noStrike" u="none">
                  <a:solidFill>
                    <a:srgbClr val="FFFFFF"/>
                  </a:solidFill>
                  <a:latin typeface="Cambria Bold"/>
                  <a:ea typeface="Cambria Bold"/>
                  <a:cs typeface="Cambria Bold"/>
                  <a:sym typeface="Cambria Bold"/>
                </a:rPr>
                <a:t>Service du modèle et stratégie de repli</a:t>
              </a:r>
            </a:p>
          </p:txBody>
        </p:sp>
      </p:grpSp>
      <p:grpSp>
        <p:nvGrpSpPr>
          <p:cNvPr name="Group 14" id="14"/>
          <p:cNvGrpSpPr/>
          <p:nvPr/>
        </p:nvGrpSpPr>
        <p:grpSpPr>
          <a:xfrm rot="0">
            <a:off x="822960" y="2948940"/>
            <a:ext cx="822960" cy="822960"/>
            <a:chOff x="0" y="0"/>
            <a:chExt cx="1097280" cy="1097280"/>
          </a:xfrm>
        </p:grpSpPr>
        <p:sp>
          <p:nvSpPr>
            <p:cNvPr name="Freeform 15" id="15"/>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00E5C7"/>
            </a:solidFill>
          </p:spPr>
        </p:sp>
      </p:grpSp>
      <p:grpSp>
        <p:nvGrpSpPr>
          <p:cNvPr name="Group 16" id="16"/>
          <p:cNvGrpSpPr/>
          <p:nvPr/>
        </p:nvGrpSpPr>
        <p:grpSpPr>
          <a:xfrm rot="0">
            <a:off x="822960" y="2935224"/>
            <a:ext cx="822960" cy="822960"/>
            <a:chOff x="0" y="0"/>
            <a:chExt cx="1097280" cy="1097280"/>
          </a:xfrm>
        </p:grpSpPr>
        <p:sp>
          <p:nvSpPr>
            <p:cNvPr name="Freeform 17" id="17"/>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18" id="18"/>
            <p:cNvSpPr txBox="true"/>
            <p:nvPr/>
          </p:nvSpPr>
          <p:spPr>
            <a:xfrm>
              <a:off x="0" y="-57150"/>
              <a:ext cx="1097280" cy="1154430"/>
            </a:xfrm>
            <a:prstGeom prst="rect">
              <a:avLst/>
            </a:prstGeom>
          </p:spPr>
          <p:txBody>
            <a:bodyPr anchor="ctr" rtlCol="false" tIns="0" lIns="0" bIns="0" rIns="0"/>
            <a:lstStyle/>
            <a:p>
              <a:pPr algn="ctr">
                <a:lnSpc>
                  <a:spcPts val="2808"/>
                </a:lnSpc>
              </a:pPr>
              <a:r>
                <a:rPr lang="en-US" sz="2340" b="true">
                  <a:solidFill>
                    <a:srgbClr val="0A1428"/>
                  </a:solidFill>
                  <a:latin typeface="Calibri (MS) Bold"/>
                  <a:ea typeface="Calibri (MS) Bold"/>
                  <a:cs typeface="Calibri (MS) Bold"/>
                  <a:sym typeface="Calibri (MS) Bold"/>
                </a:rPr>
                <a:t>1</a:t>
              </a:r>
            </a:p>
          </p:txBody>
        </p:sp>
      </p:grpSp>
      <p:grpSp>
        <p:nvGrpSpPr>
          <p:cNvPr name="Group 19" id="19"/>
          <p:cNvGrpSpPr/>
          <p:nvPr/>
        </p:nvGrpSpPr>
        <p:grpSpPr>
          <a:xfrm rot="0">
            <a:off x="2047875" y="2802255"/>
            <a:ext cx="9483090" cy="1184910"/>
            <a:chOff x="0" y="0"/>
            <a:chExt cx="12644120" cy="1579880"/>
          </a:xfrm>
        </p:grpSpPr>
        <p:sp>
          <p:nvSpPr>
            <p:cNvPr name="Freeform 20" id="20"/>
            <p:cNvSpPr/>
            <p:nvPr/>
          </p:nvSpPr>
          <p:spPr>
            <a:xfrm flipH="false" flipV="false" rot="0">
              <a:off x="0" y="0"/>
              <a:ext cx="12644120" cy="1579880"/>
            </a:xfrm>
            <a:custGeom>
              <a:avLst/>
              <a:gdLst/>
              <a:ahLst/>
              <a:cxnLst/>
              <a:rect r="r" b="b" t="t" l="l"/>
              <a:pathLst>
                <a:path h="1579880" w="12644120">
                  <a:moveTo>
                    <a:pt x="0" y="148717"/>
                  </a:moveTo>
                  <a:cubicBezTo>
                    <a:pt x="0" y="66548"/>
                    <a:pt x="66548" y="0"/>
                    <a:pt x="148717" y="0"/>
                  </a:cubicBezTo>
                  <a:lnTo>
                    <a:pt x="12495403" y="0"/>
                  </a:lnTo>
                  <a:cubicBezTo>
                    <a:pt x="12577572" y="0"/>
                    <a:pt x="12644120" y="66548"/>
                    <a:pt x="12644120" y="148717"/>
                  </a:cubicBezTo>
                  <a:lnTo>
                    <a:pt x="12644120" y="1431163"/>
                  </a:lnTo>
                  <a:cubicBezTo>
                    <a:pt x="12644120" y="1513332"/>
                    <a:pt x="12577572" y="1579880"/>
                    <a:pt x="12495403" y="1579880"/>
                  </a:cubicBezTo>
                  <a:lnTo>
                    <a:pt x="148717" y="1579880"/>
                  </a:lnTo>
                  <a:cubicBezTo>
                    <a:pt x="66548" y="1579880"/>
                    <a:pt x="0" y="1513332"/>
                    <a:pt x="0" y="1431163"/>
                  </a:cubicBezTo>
                  <a:close/>
                </a:path>
              </a:pathLst>
            </a:custGeom>
            <a:solidFill>
              <a:srgbClr val="0F2038"/>
            </a:solidFill>
            <a:ln w="19050" cap="sq">
              <a:solidFill>
                <a:srgbClr val="1E3358"/>
              </a:solidFill>
              <a:prstDash val="solid"/>
              <a:miter/>
            </a:ln>
          </p:spPr>
        </p:sp>
      </p:grpSp>
      <p:grpSp>
        <p:nvGrpSpPr>
          <p:cNvPr name="Group 21" id="21"/>
          <p:cNvGrpSpPr/>
          <p:nvPr/>
        </p:nvGrpSpPr>
        <p:grpSpPr>
          <a:xfrm rot="0">
            <a:off x="2400300" y="2921508"/>
            <a:ext cx="8778240" cy="480060"/>
            <a:chOff x="0" y="0"/>
            <a:chExt cx="11704320" cy="640080"/>
          </a:xfrm>
        </p:grpSpPr>
        <p:sp>
          <p:nvSpPr>
            <p:cNvPr name="Freeform 22" id="22"/>
            <p:cNvSpPr/>
            <p:nvPr/>
          </p:nvSpPr>
          <p:spPr>
            <a:xfrm flipH="false" flipV="false" rot="0">
              <a:off x="0" y="0"/>
              <a:ext cx="11704320" cy="640080"/>
            </a:xfrm>
            <a:custGeom>
              <a:avLst/>
              <a:gdLst/>
              <a:ahLst/>
              <a:cxnLst/>
              <a:rect r="r" b="b" t="t" l="l"/>
              <a:pathLst>
                <a:path h="640080" w="11704320">
                  <a:moveTo>
                    <a:pt x="0" y="0"/>
                  </a:moveTo>
                  <a:lnTo>
                    <a:pt x="11704320" y="0"/>
                  </a:lnTo>
                  <a:lnTo>
                    <a:pt x="11704320" y="640080"/>
                  </a:lnTo>
                  <a:lnTo>
                    <a:pt x="0" y="640080"/>
                  </a:lnTo>
                  <a:close/>
                </a:path>
              </a:pathLst>
            </a:custGeom>
            <a:blipFill>
              <a:blip r:embed="rId2">
                <a:alphaModFix amt="0"/>
              </a:blip>
              <a:stretch>
                <a:fillRect l="0" t="-306297" r="0" b="-306297"/>
              </a:stretch>
            </a:blipFill>
          </p:spPr>
        </p:sp>
        <p:sp>
          <p:nvSpPr>
            <p:cNvPr name="TextBox 23" id="23"/>
            <p:cNvSpPr txBox="true"/>
            <p:nvPr/>
          </p:nvSpPr>
          <p:spPr>
            <a:xfrm>
              <a:off x="0" y="-38100"/>
              <a:ext cx="11704320" cy="678180"/>
            </a:xfrm>
            <a:prstGeom prst="rect">
              <a:avLst/>
            </a:prstGeom>
          </p:spPr>
          <p:txBody>
            <a:bodyPr anchor="ctr" rtlCol="false" tIns="0" lIns="0" bIns="0" rIns="0"/>
            <a:lstStyle/>
            <a:p>
              <a:pPr algn="l" marL="0" indent="0" lvl="0">
                <a:lnSpc>
                  <a:spcPts val="2430"/>
                </a:lnSpc>
                <a:spcBef>
                  <a:spcPct val="0"/>
                </a:spcBef>
              </a:pPr>
              <a:r>
                <a:rPr lang="en-US" b="true" sz="2025" strike="noStrike" u="none">
                  <a:solidFill>
                    <a:srgbClr val="FFFFFF"/>
                  </a:solidFill>
                  <a:latin typeface="Calibri (MS) Bold"/>
                  <a:ea typeface="Calibri (MS) Bold"/>
                  <a:cs typeface="Calibri (MS) Bold"/>
                  <a:sym typeface="Calibri (MS) Bold"/>
                </a:rPr>
                <a:t>Registre de production</a:t>
              </a:r>
            </a:p>
          </p:txBody>
        </p:sp>
      </p:grpSp>
      <p:grpSp>
        <p:nvGrpSpPr>
          <p:cNvPr name="Group 24" id="24"/>
          <p:cNvGrpSpPr/>
          <p:nvPr/>
        </p:nvGrpSpPr>
        <p:grpSpPr>
          <a:xfrm rot="0">
            <a:off x="2400300" y="3387852"/>
            <a:ext cx="8778240" cy="480060"/>
            <a:chOff x="0" y="0"/>
            <a:chExt cx="11704320" cy="640080"/>
          </a:xfrm>
        </p:grpSpPr>
        <p:sp>
          <p:nvSpPr>
            <p:cNvPr name="Freeform 25" id="25"/>
            <p:cNvSpPr/>
            <p:nvPr/>
          </p:nvSpPr>
          <p:spPr>
            <a:xfrm flipH="false" flipV="false" rot="0">
              <a:off x="0" y="0"/>
              <a:ext cx="11704320" cy="640080"/>
            </a:xfrm>
            <a:custGeom>
              <a:avLst/>
              <a:gdLst/>
              <a:ahLst/>
              <a:cxnLst/>
              <a:rect r="r" b="b" t="t" l="l"/>
              <a:pathLst>
                <a:path h="640080" w="11704320">
                  <a:moveTo>
                    <a:pt x="0" y="0"/>
                  </a:moveTo>
                  <a:lnTo>
                    <a:pt x="11704320" y="0"/>
                  </a:lnTo>
                  <a:lnTo>
                    <a:pt x="11704320" y="640080"/>
                  </a:lnTo>
                  <a:lnTo>
                    <a:pt x="0" y="640080"/>
                  </a:lnTo>
                  <a:close/>
                </a:path>
              </a:pathLst>
            </a:custGeom>
            <a:blipFill>
              <a:blip r:embed="rId2">
                <a:alphaModFix amt="0"/>
              </a:blip>
              <a:stretch>
                <a:fillRect l="0" t="-306297" r="0" b="-306297"/>
              </a:stretch>
            </a:blipFill>
          </p:spPr>
        </p:sp>
        <p:sp>
          <p:nvSpPr>
            <p:cNvPr name="TextBox 26" id="26"/>
            <p:cNvSpPr txBox="true"/>
            <p:nvPr/>
          </p:nvSpPr>
          <p:spPr>
            <a:xfrm>
              <a:off x="0" y="-19050"/>
              <a:ext cx="11704320" cy="659130"/>
            </a:xfrm>
            <a:prstGeom prst="rect">
              <a:avLst/>
            </a:prstGeom>
          </p:spPr>
          <p:txBody>
            <a:bodyPr anchor="ctr" rtlCol="false" tIns="0" lIns="0" bIns="0" rIns="0"/>
            <a:lstStyle/>
            <a:p>
              <a:pPr algn="l" marL="0" indent="0" lvl="0">
                <a:lnSpc>
                  <a:spcPts val="1889"/>
                </a:lnSpc>
                <a:spcBef>
                  <a:spcPct val="0"/>
                </a:spcBef>
              </a:pPr>
              <a:r>
                <a:rPr lang="en-US" sz="1575" strike="noStrike" u="none">
                  <a:solidFill>
                    <a:srgbClr val="9FB0C9"/>
                  </a:solidFill>
                  <a:latin typeface="Calibri (MS)"/>
                  <a:ea typeface="Calibri (MS)"/>
                  <a:cs typeface="Calibri (MS)"/>
                  <a:sym typeface="Calibri (MS)"/>
                </a:rPr>
                <a:t>Registre de modèles MLflow — stade Production</a:t>
              </a:r>
            </a:p>
          </p:txBody>
        </p:sp>
      </p:grpSp>
      <p:sp>
        <p:nvSpPr>
          <p:cNvPr name="AutoShape 27" id="27"/>
          <p:cNvSpPr/>
          <p:nvPr/>
        </p:nvSpPr>
        <p:spPr>
          <a:xfrm rot="5247960">
            <a:off x="911228" y="4139565"/>
            <a:ext cx="646424" cy="0"/>
          </a:xfrm>
          <a:prstGeom prst="line">
            <a:avLst/>
          </a:prstGeom>
          <a:ln cap="rnd" w="19050">
            <a:solidFill>
              <a:srgbClr val="6E84A6"/>
            </a:solidFill>
            <a:prstDash val="solid"/>
            <a:headEnd type="none" len="sm" w="sm"/>
            <a:tailEnd type="triangle" len="med" w="lg"/>
          </a:ln>
        </p:spPr>
      </p:sp>
      <p:grpSp>
        <p:nvGrpSpPr>
          <p:cNvPr name="Group 28" id="28"/>
          <p:cNvGrpSpPr/>
          <p:nvPr/>
        </p:nvGrpSpPr>
        <p:grpSpPr>
          <a:xfrm rot="0">
            <a:off x="822960" y="4526280"/>
            <a:ext cx="822960" cy="822960"/>
            <a:chOff x="0" y="0"/>
            <a:chExt cx="1097280" cy="1097280"/>
          </a:xfrm>
        </p:grpSpPr>
        <p:sp>
          <p:nvSpPr>
            <p:cNvPr name="Freeform 29" id="29"/>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4C7CFF"/>
            </a:solidFill>
          </p:spPr>
        </p:sp>
      </p:grpSp>
      <p:grpSp>
        <p:nvGrpSpPr>
          <p:cNvPr name="Group 30" id="30"/>
          <p:cNvGrpSpPr/>
          <p:nvPr/>
        </p:nvGrpSpPr>
        <p:grpSpPr>
          <a:xfrm rot="0">
            <a:off x="822960" y="4512564"/>
            <a:ext cx="822960" cy="822960"/>
            <a:chOff x="0" y="0"/>
            <a:chExt cx="1097280" cy="1097280"/>
          </a:xfrm>
        </p:grpSpPr>
        <p:sp>
          <p:nvSpPr>
            <p:cNvPr name="Freeform 31" id="31"/>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32" id="32"/>
            <p:cNvSpPr txBox="true"/>
            <p:nvPr/>
          </p:nvSpPr>
          <p:spPr>
            <a:xfrm>
              <a:off x="0" y="-57150"/>
              <a:ext cx="1097280" cy="1154430"/>
            </a:xfrm>
            <a:prstGeom prst="rect">
              <a:avLst/>
            </a:prstGeom>
          </p:spPr>
          <p:txBody>
            <a:bodyPr anchor="ctr" rtlCol="false" tIns="0" lIns="0" bIns="0" rIns="0"/>
            <a:lstStyle/>
            <a:p>
              <a:pPr algn="ctr">
                <a:lnSpc>
                  <a:spcPts val="2808"/>
                </a:lnSpc>
              </a:pPr>
              <a:r>
                <a:rPr lang="en-US" sz="2340" b="true">
                  <a:solidFill>
                    <a:srgbClr val="0A1428"/>
                  </a:solidFill>
                  <a:latin typeface="Calibri (MS) Bold"/>
                  <a:ea typeface="Calibri (MS) Bold"/>
                  <a:cs typeface="Calibri (MS) Bold"/>
                  <a:sym typeface="Calibri (MS) Bold"/>
                </a:rPr>
                <a:t>2</a:t>
              </a:r>
            </a:p>
          </p:txBody>
        </p:sp>
      </p:grpSp>
      <p:grpSp>
        <p:nvGrpSpPr>
          <p:cNvPr name="Group 33" id="33"/>
          <p:cNvGrpSpPr/>
          <p:nvPr/>
        </p:nvGrpSpPr>
        <p:grpSpPr>
          <a:xfrm rot="0">
            <a:off x="2047875" y="4379595"/>
            <a:ext cx="9483090" cy="1184910"/>
            <a:chOff x="0" y="0"/>
            <a:chExt cx="12644120" cy="1579880"/>
          </a:xfrm>
        </p:grpSpPr>
        <p:sp>
          <p:nvSpPr>
            <p:cNvPr name="Freeform 34" id="34"/>
            <p:cNvSpPr/>
            <p:nvPr/>
          </p:nvSpPr>
          <p:spPr>
            <a:xfrm flipH="false" flipV="false" rot="0">
              <a:off x="0" y="0"/>
              <a:ext cx="12644120" cy="1579880"/>
            </a:xfrm>
            <a:custGeom>
              <a:avLst/>
              <a:gdLst/>
              <a:ahLst/>
              <a:cxnLst/>
              <a:rect r="r" b="b" t="t" l="l"/>
              <a:pathLst>
                <a:path h="1579880" w="12644120">
                  <a:moveTo>
                    <a:pt x="0" y="148717"/>
                  </a:moveTo>
                  <a:cubicBezTo>
                    <a:pt x="0" y="66548"/>
                    <a:pt x="66548" y="0"/>
                    <a:pt x="148717" y="0"/>
                  </a:cubicBezTo>
                  <a:lnTo>
                    <a:pt x="12495403" y="0"/>
                  </a:lnTo>
                  <a:cubicBezTo>
                    <a:pt x="12577572" y="0"/>
                    <a:pt x="12644120" y="66548"/>
                    <a:pt x="12644120" y="148717"/>
                  </a:cubicBezTo>
                  <a:lnTo>
                    <a:pt x="12644120" y="1431163"/>
                  </a:lnTo>
                  <a:cubicBezTo>
                    <a:pt x="12644120" y="1513332"/>
                    <a:pt x="12577572" y="1579880"/>
                    <a:pt x="12495403" y="1579880"/>
                  </a:cubicBezTo>
                  <a:lnTo>
                    <a:pt x="148717" y="1579880"/>
                  </a:lnTo>
                  <a:cubicBezTo>
                    <a:pt x="66548" y="1579880"/>
                    <a:pt x="0" y="1513332"/>
                    <a:pt x="0" y="1431163"/>
                  </a:cubicBezTo>
                  <a:close/>
                </a:path>
              </a:pathLst>
            </a:custGeom>
            <a:solidFill>
              <a:srgbClr val="0F2038"/>
            </a:solidFill>
            <a:ln w="19050" cap="sq">
              <a:solidFill>
                <a:srgbClr val="1E3358"/>
              </a:solidFill>
              <a:prstDash val="solid"/>
              <a:miter/>
            </a:ln>
          </p:spPr>
        </p:sp>
      </p:grpSp>
      <p:grpSp>
        <p:nvGrpSpPr>
          <p:cNvPr name="Group 35" id="35"/>
          <p:cNvGrpSpPr/>
          <p:nvPr/>
        </p:nvGrpSpPr>
        <p:grpSpPr>
          <a:xfrm rot="0">
            <a:off x="2400300" y="4498848"/>
            <a:ext cx="8778240" cy="480060"/>
            <a:chOff x="0" y="0"/>
            <a:chExt cx="11704320" cy="640080"/>
          </a:xfrm>
        </p:grpSpPr>
        <p:sp>
          <p:nvSpPr>
            <p:cNvPr name="Freeform 36" id="36"/>
            <p:cNvSpPr/>
            <p:nvPr/>
          </p:nvSpPr>
          <p:spPr>
            <a:xfrm flipH="false" flipV="false" rot="0">
              <a:off x="0" y="0"/>
              <a:ext cx="11704320" cy="640080"/>
            </a:xfrm>
            <a:custGeom>
              <a:avLst/>
              <a:gdLst/>
              <a:ahLst/>
              <a:cxnLst/>
              <a:rect r="r" b="b" t="t" l="l"/>
              <a:pathLst>
                <a:path h="640080" w="11704320">
                  <a:moveTo>
                    <a:pt x="0" y="0"/>
                  </a:moveTo>
                  <a:lnTo>
                    <a:pt x="11704320" y="0"/>
                  </a:lnTo>
                  <a:lnTo>
                    <a:pt x="11704320" y="640080"/>
                  </a:lnTo>
                  <a:lnTo>
                    <a:pt x="0" y="640080"/>
                  </a:lnTo>
                  <a:close/>
                </a:path>
              </a:pathLst>
            </a:custGeom>
            <a:blipFill>
              <a:blip r:embed="rId2">
                <a:alphaModFix amt="0"/>
              </a:blip>
              <a:stretch>
                <a:fillRect l="0" t="-306297" r="0" b="-306297"/>
              </a:stretch>
            </a:blipFill>
          </p:spPr>
        </p:sp>
        <p:sp>
          <p:nvSpPr>
            <p:cNvPr name="TextBox 37" id="37"/>
            <p:cNvSpPr txBox="true"/>
            <p:nvPr/>
          </p:nvSpPr>
          <p:spPr>
            <a:xfrm>
              <a:off x="0" y="-38100"/>
              <a:ext cx="11704320" cy="678180"/>
            </a:xfrm>
            <a:prstGeom prst="rect">
              <a:avLst/>
            </a:prstGeom>
          </p:spPr>
          <p:txBody>
            <a:bodyPr anchor="ctr" rtlCol="false" tIns="0" lIns="0" bIns="0" rIns="0"/>
            <a:lstStyle/>
            <a:p>
              <a:pPr algn="l" marL="0" indent="0" lvl="0">
                <a:lnSpc>
                  <a:spcPts val="2430"/>
                </a:lnSpc>
                <a:spcBef>
                  <a:spcPct val="0"/>
                </a:spcBef>
              </a:pPr>
              <a:r>
                <a:rPr lang="en-US" b="true" sz="2025" strike="noStrike" u="none">
                  <a:solidFill>
                    <a:srgbClr val="FFFFFF"/>
                  </a:solidFill>
                  <a:latin typeface="Calibri (MS) Bold"/>
                  <a:ea typeface="Calibri (MS) Bold"/>
                  <a:cs typeface="Calibri (MS) Bold"/>
                  <a:sym typeface="Calibri (MS) Bold"/>
                </a:rPr>
                <a:t>Artefact en staging</a:t>
              </a:r>
            </a:p>
          </p:txBody>
        </p:sp>
      </p:grpSp>
      <p:grpSp>
        <p:nvGrpSpPr>
          <p:cNvPr name="Group 38" id="38"/>
          <p:cNvGrpSpPr/>
          <p:nvPr/>
        </p:nvGrpSpPr>
        <p:grpSpPr>
          <a:xfrm rot="0">
            <a:off x="2400300" y="4965192"/>
            <a:ext cx="8778240" cy="480060"/>
            <a:chOff x="0" y="0"/>
            <a:chExt cx="11704320" cy="640080"/>
          </a:xfrm>
        </p:grpSpPr>
        <p:sp>
          <p:nvSpPr>
            <p:cNvPr name="Freeform 39" id="39"/>
            <p:cNvSpPr/>
            <p:nvPr/>
          </p:nvSpPr>
          <p:spPr>
            <a:xfrm flipH="false" flipV="false" rot="0">
              <a:off x="0" y="0"/>
              <a:ext cx="11704320" cy="640080"/>
            </a:xfrm>
            <a:custGeom>
              <a:avLst/>
              <a:gdLst/>
              <a:ahLst/>
              <a:cxnLst/>
              <a:rect r="r" b="b" t="t" l="l"/>
              <a:pathLst>
                <a:path h="640080" w="11704320">
                  <a:moveTo>
                    <a:pt x="0" y="0"/>
                  </a:moveTo>
                  <a:lnTo>
                    <a:pt x="11704320" y="0"/>
                  </a:lnTo>
                  <a:lnTo>
                    <a:pt x="11704320" y="640080"/>
                  </a:lnTo>
                  <a:lnTo>
                    <a:pt x="0" y="640080"/>
                  </a:lnTo>
                  <a:close/>
                </a:path>
              </a:pathLst>
            </a:custGeom>
            <a:blipFill>
              <a:blip r:embed="rId2">
                <a:alphaModFix amt="0"/>
              </a:blip>
              <a:stretch>
                <a:fillRect l="0" t="-306297" r="0" b="-306297"/>
              </a:stretch>
            </a:blipFill>
          </p:spPr>
        </p:sp>
        <p:sp>
          <p:nvSpPr>
            <p:cNvPr name="TextBox 40" id="40"/>
            <p:cNvSpPr txBox="true"/>
            <p:nvPr/>
          </p:nvSpPr>
          <p:spPr>
            <a:xfrm>
              <a:off x="0" y="-19050"/>
              <a:ext cx="11704320" cy="659130"/>
            </a:xfrm>
            <a:prstGeom prst="rect">
              <a:avLst/>
            </a:prstGeom>
          </p:spPr>
          <p:txBody>
            <a:bodyPr anchor="ctr" rtlCol="false" tIns="0" lIns="0" bIns="0" rIns="0"/>
            <a:lstStyle/>
            <a:p>
              <a:pPr algn="l" marL="0" indent="0" lvl="0">
                <a:lnSpc>
                  <a:spcPts val="1889"/>
                </a:lnSpc>
                <a:spcBef>
                  <a:spcPct val="0"/>
                </a:spcBef>
              </a:pPr>
              <a:r>
                <a:rPr lang="en-US" sz="1575" strike="noStrike" u="none">
                  <a:solidFill>
                    <a:srgbClr val="9FB0C9"/>
                  </a:solidFill>
                  <a:latin typeface="Calibri (MS)"/>
                  <a:ea typeface="Calibri (MS)"/>
                  <a:cs typeface="Calibri (MS)"/>
                  <a:sym typeface="Calibri (MS)"/>
                </a:rPr>
                <a:t>Repli sur la dernière version suivie</a:t>
              </a:r>
            </a:p>
          </p:txBody>
        </p:sp>
      </p:grpSp>
      <p:sp>
        <p:nvSpPr>
          <p:cNvPr name="AutoShape 41" id="41"/>
          <p:cNvSpPr/>
          <p:nvPr/>
        </p:nvSpPr>
        <p:spPr>
          <a:xfrm rot="5247960">
            <a:off x="911228" y="5716905"/>
            <a:ext cx="646424" cy="0"/>
          </a:xfrm>
          <a:prstGeom prst="line">
            <a:avLst/>
          </a:prstGeom>
          <a:ln cap="rnd" w="19050">
            <a:solidFill>
              <a:srgbClr val="6E84A6"/>
            </a:solidFill>
            <a:prstDash val="solid"/>
            <a:headEnd type="none" len="sm" w="sm"/>
            <a:tailEnd type="triangle" len="med" w="lg"/>
          </a:ln>
        </p:spPr>
      </p:sp>
      <p:grpSp>
        <p:nvGrpSpPr>
          <p:cNvPr name="Group 42" id="42"/>
          <p:cNvGrpSpPr/>
          <p:nvPr/>
        </p:nvGrpSpPr>
        <p:grpSpPr>
          <a:xfrm rot="0">
            <a:off x="822960" y="6103620"/>
            <a:ext cx="822960" cy="822960"/>
            <a:chOff x="0" y="0"/>
            <a:chExt cx="1097280" cy="1097280"/>
          </a:xfrm>
        </p:grpSpPr>
        <p:sp>
          <p:nvSpPr>
            <p:cNvPr name="Freeform 43" id="43"/>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FFB020"/>
            </a:solidFill>
          </p:spPr>
        </p:sp>
      </p:grpSp>
      <p:grpSp>
        <p:nvGrpSpPr>
          <p:cNvPr name="Group 44" id="44"/>
          <p:cNvGrpSpPr/>
          <p:nvPr/>
        </p:nvGrpSpPr>
        <p:grpSpPr>
          <a:xfrm rot="0">
            <a:off x="822960" y="6089904"/>
            <a:ext cx="822960" cy="822960"/>
            <a:chOff x="0" y="0"/>
            <a:chExt cx="1097280" cy="1097280"/>
          </a:xfrm>
        </p:grpSpPr>
        <p:sp>
          <p:nvSpPr>
            <p:cNvPr name="Freeform 45" id="4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46" id="46"/>
            <p:cNvSpPr txBox="true"/>
            <p:nvPr/>
          </p:nvSpPr>
          <p:spPr>
            <a:xfrm>
              <a:off x="0" y="-57150"/>
              <a:ext cx="1097280" cy="1154430"/>
            </a:xfrm>
            <a:prstGeom prst="rect">
              <a:avLst/>
            </a:prstGeom>
          </p:spPr>
          <p:txBody>
            <a:bodyPr anchor="ctr" rtlCol="false" tIns="0" lIns="0" bIns="0" rIns="0"/>
            <a:lstStyle/>
            <a:p>
              <a:pPr algn="ctr">
                <a:lnSpc>
                  <a:spcPts val="2808"/>
                </a:lnSpc>
              </a:pPr>
              <a:r>
                <a:rPr lang="en-US" sz="2340" b="true">
                  <a:solidFill>
                    <a:srgbClr val="0A1428"/>
                  </a:solidFill>
                  <a:latin typeface="Calibri (MS) Bold"/>
                  <a:ea typeface="Calibri (MS) Bold"/>
                  <a:cs typeface="Calibri (MS) Bold"/>
                  <a:sym typeface="Calibri (MS) Bold"/>
                </a:rPr>
                <a:t>3</a:t>
              </a:r>
            </a:p>
          </p:txBody>
        </p:sp>
      </p:grpSp>
      <p:grpSp>
        <p:nvGrpSpPr>
          <p:cNvPr name="Group 47" id="47"/>
          <p:cNvGrpSpPr/>
          <p:nvPr/>
        </p:nvGrpSpPr>
        <p:grpSpPr>
          <a:xfrm rot="0">
            <a:off x="2047875" y="5956935"/>
            <a:ext cx="9483090" cy="1184910"/>
            <a:chOff x="0" y="0"/>
            <a:chExt cx="12644120" cy="1579880"/>
          </a:xfrm>
        </p:grpSpPr>
        <p:sp>
          <p:nvSpPr>
            <p:cNvPr name="Freeform 48" id="48"/>
            <p:cNvSpPr/>
            <p:nvPr/>
          </p:nvSpPr>
          <p:spPr>
            <a:xfrm flipH="false" flipV="false" rot="0">
              <a:off x="0" y="0"/>
              <a:ext cx="12644120" cy="1579880"/>
            </a:xfrm>
            <a:custGeom>
              <a:avLst/>
              <a:gdLst/>
              <a:ahLst/>
              <a:cxnLst/>
              <a:rect r="r" b="b" t="t" l="l"/>
              <a:pathLst>
                <a:path h="1579880" w="12644120">
                  <a:moveTo>
                    <a:pt x="0" y="148717"/>
                  </a:moveTo>
                  <a:cubicBezTo>
                    <a:pt x="0" y="66548"/>
                    <a:pt x="66548" y="0"/>
                    <a:pt x="148717" y="0"/>
                  </a:cubicBezTo>
                  <a:lnTo>
                    <a:pt x="12495403" y="0"/>
                  </a:lnTo>
                  <a:cubicBezTo>
                    <a:pt x="12577572" y="0"/>
                    <a:pt x="12644120" y="66548"/>
                    <a:pt x="12644120" y="148717"/>
                  </a:cubicBezTo>
                  <a:lnTo>
                    <a:pt x="12644120" y="1431163"/>
                  </a:lnTo>
                  <a:cubicBezTo>
                    <a:pt x="12644120" y="1513332"/>
                    <a:pt x="12577572" y="1579880"/>
                    <a:pt x="12495403" y="1579880"/>
                  </a:cubicBezTo>
                  <a:lnTo>
                    <a:pt x="148717" y="1579880"/>
                  </a:lnTo>
                  <a:cubicBezTo>
                    <a:pt x="66548" y="1579880"/>
                    <a:pt x="0" y="1513332"/>
                    <a:pt x="0" y="1431163"/>
                  </a:cubicBezTo>
                  <a:close/>
                </a:path>
              </a:pathLst>
            </a:custGeom>
            <a:solidFill>
              <a:srgbClr val="0F2038"/>
            </a:solidFill>
            <a:ln w="19050" cap="sq">
              <a:solidFill>
                <a:srgbClr val="1E3358"/>
              </a:solidFill>
              <a:prstDash val="solid"/>
              <a:miter/>
            </a:ln>
          </p:spPr>
        </p:sp>
      </p:grpSp>
      <p:grpSp>
        <p:nvGrpSpPr>
          <p:cNvPr name="Group 49" id="49"/>
          <p:cNvGrpSpPr/>
          <p:nvPr/>
        </p:nvGrpSpPr>
        <p:grpSpPr>
          <a:xfrm rot="0">
            <a:off x="2400300" y="6076188"/>
            <a:ext cx="8778240" cy="480060"/>
            <a:chOff x="0" y="0"/>
            <a:chExt cx="11704320" cy="640080"/>
          </a:xfrm>
        </p:grpSpPr>
        <p:sp>
          <p:nvSpPr>
            <p:cNvPr name="Freeform 50" id="50"/>
            <p:cNvSpPr/>
            <p:nvPr/>
          </p:nvSpPr>
          <p:spPr>
            <a:xfrm flipH="false" flipV="false" rot="0">
              <a:off x="0" y="0"/>
              <a:ext cx="11704320" cy="640080"/>
            </a:xfrm>
            <a:custGeom>
              <a:avLst/>
              <a:gdLst/>
              <a:ahLst/>
              <a:cxnLst/>
              <a:rect r="r" b="b" t="t" l="l"/>
              <a:pathLst>
                <a:path h="640080" w="11704320">
                  <a:moveTo>
                    <a:pt x="0" y="0"/>
                  </a:moveTo>
                  <a:lnTo>
                    <a:pt x="11704320" y="0"/>
                  </a:lnTo>
                  <a:lnTo>
                    <a:pt x="11704320" y="640080"/>
                  </a:lnTo>
                  <a:lnTo>
                    <a:pt x="0" y="640080"/>
                  </a:lnTo>
                  <a:close/>
                </a:path>
              </a:pathLst>
            </a:custGeom>
            <a:blipFill>
              <a:blip r:embed="rId2">
                <a:alphaModFix amt="0"/>
              </a:blip>
              <a:stretch>
                <a:fillRect l="0" t="-306297" r="0" b="-306297"/>
              </a:stretch>
            </a:blipFill>
          </p:spPr>
        </p:sp>
        <p:sp>
          <p:nvSpPr>
            <p:cNvPr name="TextBox 51" id="51"/>
            <p:cNvSpPr txBox="true"/>
            <p:nvPr/>
          </p:nvSpPr>
          <p:spPr>
            <a:xfrm>
              <a:off x="0" y="-38100"/>
              <a:ext cx="11704320" cy="678180"/>
            </a:xfrm>
            <a:prstGeom prst="rect">
              <a:avLst/>
            </a:prstGeom>
          </p:spPr>
          <p:txBody>
            <a:bodyPr anchor="ctr" rtlCol="false" tIns="0" lIns="0" bIns="0" rIns="0"/>
            <a:lstStyle/>
            <a:p>
              <a:pPr algn="l" marL="0" indent="0" lvl="0">
                <a:lnSpc>
                  <a:spcPts val="2430"/>
                </a:lnSpc>
                <a:spcBef>
                  <a:spcPct val="0"/>
                </a:spcBef>
              </a:pPr>
              <a:r>
                <a:rPr lang="en-US" b="true" sz="2025" strike="noStrike" u="none">
                  <a:solidFill>
                    <a:srgbClr val="FFFFFF"/>
                  </a:solidFill>
                  <a:latin typeface="Calibri (MS) Bold"/>
                  <a:ea typeface="Calibri (MS) Bold"/>
                  <a:cs typeface="Calibri (MS) Bold"/>
                  <a:sym typeface="Calibri (MS) Bold"/>
                </a:rPr>
                <a:t>Repli local</a:t>
              </a:r>
            </a:p>
          </p:txBody>
        </p:sp>
      </p:grpSp>
      <p:grpSp>
        <p:nvGrpSpPr>
          <p:cNvPr name="Group 52" id="52"/>
          <p:cNvGrpSpPr/>
          <p:nvPr/>
        </p:nvGrpSpPr>
        <p:grpSpPr>
          <a:xfrm rot="0">
            <a:off x="2400300" y="6542532"/>
            <a:ext cx="8778240" cy="480060"/>
            <a:chOff x="0" y="0"/>
            <a:chExt cx="11704320" cy="640080"/>
          </a:xfrm>
        </p:grpSpPr>
        <p:sp>
          <p:nvSpPr>
            <p:cNvPr name="Freeform 53" id="53"/>
            <p:cNvSpPr/>
            <p:nvPr/>
          </p:nvSpPr>
          <p:spPr>
            <a:xfrm flipH="false" flipV="false" rot="0">
              <a:off x="0" y="0"/>
              <a:ext cx="11704320" cy="640080"/>
            </a:xfrm>
            <a:custGeom>
              <a:avLst/>
              <a:gdLst/>
              <a:ahLst/>
              <a:cxnLst/>
              <a:rect r="r" b="b" t="t" l="l"/>
              <a:pathLst>
                <a:path h="640080" w="11704320">
                  <a:moveTo>
                    <a:pt x="0" y="0"/>
                  </a:moveTo>
                  <a:lnTo>
                    <a:pt x="11704320" y="0"/>
                  </a:lnTo>
                  <a:lnTo>
                    <a:pt x="11704320" y="640080"/>
                  </a:lnTo>
                  <a:lnTo>
                    <a:pt x="0" y="640080"/>
                  </a:lnTo>
                  <a:close/>
                </a:path>
              </a:pathLst>
            </a:custGeom>
            <a:blipFill>
              <a:blip r:embed="rId2">
                <a:alphaModFix amt="0"/>
              </a:blip>
              <a:stretch>
                <a:fillRect l="0" t="-306297" r="0" b="-306297"/>
              </a:stretch>
            </a:blipFill>
          </p:spPr>
        </p:sp>
        <p:sp>
          <p:nvSpPr>
            <p:cNvPr name="TextBox 54" id="54"/>
            <p:cNvSpPr txBox="true"/>
            <p:nvPr/>
          </p:nvSpPr>
          <p:spPr>
            <a:xfrm>
              <a:off x="0" y="-19050"/>
              <a:ext cx="11704320" cy="659130"/>
            </a:xfrm>
            <a:prstGeom prst="rect">
              <a:avLst/>
            </a:prstGeom>
          </p:spPr>
          <p:txBody>
            <a:bodyPr anchor="ctr" rtlCol="false" tIns="0" lIns="0" bIns="0" rIns="0"/>
            <a:lstStyle/>
            <a:p>
              <a:pPr algn="l" marL="0" indent="0" lvl="0">
                <a:lnSpc>
                  <a:spcPts val="1889"/>
                </a:lnSpc>
                <a:spcBef>
                  <a:spcPct val="0"/>
                </a:spcBef>
              </a:pPr>
              <a:r>
                <a:rPr lang="en-US" sz="1575" strike="noStrike" u="none">
                  <a:solidFill>
                    <a:srgbClr val="9FB0C9"/>
                  </a:solidFill>
                  <a:latin typeface="Calibri (MS)"/>
                  <a:ea typeface="Calibri (MS)"/>
                  <a:cs typeface="Calibri (MS)"/>
                  <a:sym typeface="Calibri (MS)"/>
                </a:rPr>
                <a:t>Artefact joblib sur disque — toujours disponible</a:t>
              </a:r>
            </a:p>
          </p:txBody>
        </p:sp>
      </p:grpSp>
      <p:grpSp>
        <p:nvGrpSpPr>
          <p:cNvPr name="Group 55" id="55"/>
          <p:cNvGrpSpPr/>
          <p:nvPr/>
        </p:nvGrpSpPr>
        <p:grpSpPr>
          <a:xfrm rot="0">
            <a:off x="11991975" y="2733675"/>
            <a:ext cx="5505450" cy="5985510"/>
            <a:chOff x="0" y="0"/>
            <a:chExt cx="7340600" cy="7980680"/>
          </a:xfrm>
        </p:grpSpPr>
        <p:sp>
          <p:nvSpPr>
            <p:cNvPr name="Freeform 56" id="56"/>
            <p:cNvSpPr/>
            <p:nvPr/>
          </p:nvSpPr>
          <p:spPr>
            <a:xfrm flipH="false" flipV="false" rot="0">
              <a:off x="0" y="0"/>
              <a:ext cx="7340600" cy="7980680"/>
            </a:xfrm>
            <a:custGeom>
              <a:avLst/>
              <a:gdLst/>
              <a:ahLst/>
              <a:cxnLst/>
              <a:rect r="r" b="b" t="t" l="l"/>
              <a:pathLst>
                <a:path h="7980680" w="7340600">
                  <a:moveTo>
                    <a:pt x="0" y="146812"/>
                  </a:moveTo>
                  <a:cubicBezTo>
                    <a:pt x="0" y="65786"/>
                    <a:pt x="65786" y="0"/>
                    <a:pt x="146812" y="0"/>
                  </a:cubicBezTo>
                  <a:lnTo>
                    <a:pt x="7193788" y="0"/>
                  </a:lnTo>
                  <a:cubicBezTo>
                    <a:pt x="7274814" y="0"/>
                    <a:pt x="7340600" y="65786"/>
                    <a:pt x="7340600" y="146812"/>
                  </a:cubicBezTo>
                  <a:lnTo>
                    <a:pt x="7340600" y="7833868"/>
                  </a:lnTo>
                  <a:cubicBezTo>
                    <a:pt x="7340600" y="7914894"/>
                    <a:pt x="7274814" y="7980680"/>
                    <a:pt x="7193788" y="7980680"/>
                  </a:cubicBezTo>
                  <a:lnTo>
                    <a:pt x="146812" y="7980680"/>
                  </a:lnTo>
                  <a:cubicBezTo>
                    <a:pt x="65786" y="7980680"/>
                    <a:pt x="0" y="7914894"/>
                    <a:pt x="0" y="7833868"/>
                  </a:cubicBezTo>
                  <a:close/>
                </a:path>
              </a:pathLst>
            </a:custGeom>
            <a:solidFill>
              <a:srgbClr val="13294A"/>
            </a:solidFill>
            <a:ln w="19050" cap="sq">
              <a:solidFill>
                <a:srgbClr val="1E3358"/>
              </a:solidFill>
              <a:prstDash val="solid"/>
              <a:miter/>
            </a:ln>
          </p:spPr>
        </p:sp>
      </p:grpSp>
      <p:grpSp>
        <p:nvGrpSpPr>
          <p:cNvPr name="Group 57" id="57"/>
          <p:cNvGrpSpPr/>
          <p:nvPr/>
        </p:nvGrpSpPr>
        <p:grpSpPr>
          <a:xfrm rot="0">
            <a:off x="12344400" y="3017520"/>
            <a:ext cx="4800600" cy="411480"/>
            <a:chOff x="0" y="0"/>
            <a:chExt cx="6400800" cy="548640"/>
          </a:xfrm>
        </p:grpSpPr>
        <p:sp>
          <p:nvSpPr>
            <p:cNvPr name="Freeform 58" id="58"/>
            <p:cNvSpPr/>
            <p:nvPr/>
          </p:nvSpPr>
          <p:spPr>
            <a:xfrm flipH="false" flipV="false" rot="0">
              <a:off x="0" y="0"/>
              <a:ext cx="6400800" cy="548640"/>
            </a:xfrm>
            <a:custGeom>
              <a:avLst/>
              <a:gdLst/>
              <a:ahLst/>
              <a:cxnLst/>
              <a:rect r="r" b="b" t="t" l="l"/>
              <a:pathLst>
                <a:path h="548640" w="6400800">
                  <a:moveTo>
                    <a:pt x="0" y="0"/>
                  </a:moveTo>
                  <a:lnTo>
                    <a:pt x="6400800" y="0"/>
                  </a:lnTo>
                  <a:lnTo>
                    <a:pt x="6400800" y="548640"/>
                  </a:lnTo>
                  <a:lnTo>
                    <a:pt x="0" y="548640"/>
                  </a:lnTo>
                  <a:close/>
                </a:path>
              </a:pathLst>
            </a:custGeom>
            <a:blipFill>
              <a:blip r:embed="rId2">
                <a:alphaModFix amt="0"/>
              </a:blip>
              <a:stretch>
                <a:fillRect l="0" t="-177325" r="0" b="-177325"/>
              </a:stretch>
            </a:blipFill>
          </p:spPr>
        </p:sp>
        <p:sp>
          <p:nvSpPr>
            <p:cNvPr name="TextBox 59" id="59"/>
            <p:cNvSpPr txBox="true"/>
            <p:nvPr/>
          </p:nvSpPr>
          <p:spPr>
            <a:xfrm>
              <a:off x="0" y="-19050"/>
              <a:ext cx="6400800" cy="567690"/>
            </a:xfrm>
            <a:prstGeom prst="rect">
              <a:avLst/>
            </a:prstGeom>
          </p:spPr>
          <p:txBody>
            <a:bodyPr anchor="ctr" rtlCol="false" tIns="0" lIns="0" bIns="0" rIns="0"/>
            <a:lstStyle/>
            <a:p>
              <a:pPr algn="l" marL="0" indent="0" lvl="0">
                <a:lnSpc>
                  <a:spcPts val="1889"/>
                </a:lnSpc>
                <a:spcBef>
                  <a:spcPct val="0"/>
                </a:spcBef>
              </a:pPr>
              <a:r>
                <a:rPr lang="en-US" b="true" sz="1575" spc="150" strike="noStrike" u="none">
                  <a:solidFill>
                    <a:srgbClr val="00E5C7"/>
                  </a:solidFill>
                  <a:latin typeface="Calibri (MS) Bold"/>
                  <a:ea typeface="Calibri (MS) Bold"/>
                  <a:cs typeface="Calibri (MS) Bold"/>
                  <a:sym typeface="Calibri (MS) Bold"/>
                </a:rPr>
                <a:t>POURQUOI TROIS NIVEAUX ?</a:t>
              </a:r>
            </a:p>
          </p:txBody>
        </p:sp>
      </p:grpSp>
      <p:sp>
        <p:nvSpPr>
          <p:cNvPr name="TextBox 60" id="60"/>
          <p:cNvSpPr txBox="true"/>
          <p:nvPr/>
        </p:nvSpPr>
        <p:spPr>
          <a:xfrm rot="0">
            <a:off x="12344400" y="3509010"/>
            <a:ext cx="4800600" cy="1733931"/>
          </a:xfrm>
          <a:prstGeom prst="rect">
            <a:avLst/>
          </a:prstGeom>
        </p:spPr>
        <p:txBody>
          <a:bodyPr anchor="t" rtlCol="false" tIns="0" lIns="0" bIns="0" rIns="0">
            <a:spAutoFit/>
          </a:bodyPr>
          <a:lstStyle/>
          <a:p>
            <a:pPr algn="l" marL="298609" indent="-149304" lvl="1">
              <a:lnSpc>
                <a:spcPts val="2277"/>
              </a:lnSpc>
              <a:spcBef>
                <a:spcPct val="0"/>
              </a:spcBef>
              <a:buFont typeface="Arial"/>
              <a:buChar char="•"/>
            </a:pPr>
            <a:r>
              <a:rPr lang="en-US" sz="1650" strike="noStrike" u="none">
                <a:solidFill>
                  <a:srgbClr val="9FB0C9"/>
                </a:solidFill>
                <a:latin typeface="Calibri (MS)"/>
                <a:ea typeface="Calibri (MS)"/>
                <a:cs typeface="Calibri (MS)"/>
                <a:sym typeface="Calibri (MS)"/>
              </a:rPr>
              <a:t>Prêt pour la production : modèles promus via les stages MLflow</a:t>
            </a:r>
          </a:p>
          <a:p>
            <a:pPr algn="l" marL="298609" indent="-149304" lvl="1">
              <a:lnSpc>
                <a:spcPts val="2277"/>
              </a:lnSpc>
              <a:spcBef>
                <a:spcPct val="0"/>
              </a:spcBef>
              <a:buFont typeface="Arial"/>
              <a:buChar char="•"/>
            </a:pPr>
            <a:r>
              <a:rPr lang="en-US" sz="1650" strike="noStrike" u="none">
                <a:solidFill>
                  <a:srgbClr val="9FB0C9"/>
                </a:solidFill>
                <a:latin typeface="Calibri (MS)"/>
                <a:ea typeface="Calibri (MS)"/>
                <a:cs typeface="Calibri (MS)"/>
                <a:sym typeface="Calibri (MS)"/>
              </a:rPr>
              <a:t>Pratique en développement : fonctionne sans serveur MLflow actif</a:t>
            </a:r>
          </a:p>
          <a:p>
            <a:pPr algn="l" marL="298609" indent="-149304" lvl="1">
              <a:lnSpc>
                <a:spcPts val="2277"/>
              </a:lnSpc>
              <a:spcBef>
                <a:spcPct val="0"/>
              </a:spcBef>
              <a:buFont typeface="Arial"/>
              <a:buChar char="•"/>
            </a:pPr>
            <a:r>
              <a:rPr lang="en-US" sz="1650" strike="noStrike" u="none">
                <a:solidFill>
                  <a:srgbClr val="9FB0C9"/>
                </a:solidFill>
                <a:latin typeface="Calibri (MS)"/>
                <a:ea typeface="Calibri (MS)"/>
                <a:cs typeface="Calibri (MS)"/>
                <a:sym typeface="Calibri (MS)"/>
              </a:rPr>
              <a:t>Compatible CI/CD : le repli local permet d'exécuter les tests partout</a:t>
            </a:r>
          </a:p>
        </p:txBody>
      </p:sp>
      <p:grpSp>
        <p:nvGrpSpPr>
          <p:cNvPr name="Group 61" id="61"/>
          <p:cNvGrpSpPr/>
          <p:nvPr/>
        </p:nvGrpSpPr>
        <p:grpSpPr>
          <a:xfrm rot="0">
            <a:off x="822960" y="7749540"/>
            <a:ext cx="10698480" cy="1234440"/>
            <a:chOff x="0" y="0"/>
            <a:chExt cx="14264640" cy="1645920"/>
          </a:xfrm>
        </p:grpSpPr>
        <p:sp>
          <p:nvSpPr>
            <p:cNvPr name="Freeform 62" id="62"/>
            <p:cNvSpPr/>
            <p:nvPr/>
          </p:nvSpPr>
          <p:spPr>
            <a:xfrm flipH="false" flipV="false" rot="0">
              <a:off x="0" y="0"/>
              <a:ext cx="14264639" cy="1645920"/>
            </a:xfrm>
            <a:custGeom>
              <a:avLst/>
              <a:gdLst/>
              <a:ahLst/>
              <a:cxnLst/>
              <a:rect r="r" b="b" t="t" l="l"/>
              <a:pathLst>
                <a:path h="1645920" w="14264639">
                  <a:moveTo>
                    <a:pt x="0" y="0"/>
                  </a:moveTo>
                  <a:lnTo>
                    <a:pt x="14264639" y="0"/>
                  </a:lnTo>
                  <a:lnTo>
                    <a:pt x="14264639" y="1645920"/>
                  </a:lnTo>
                  <a:lnTo>
                    <a:pt x="0" y="1645920"/>
                  </a:lnTo>
                  <a:close/>
                </a:path>
              </a:pathLst>
            </a:custGeom>
            <a:blipFill>
              <a:blip r:embed="rId2">
                <a:alphaModFix amt="0"/>
              </a:blip>
              <a:stretch>
                <a:fillRect l="0" t="-118870" r="0" b="-118870"/>
              </a:stretch>
            </a:blipFill>
          </p:spPr>
        </p:sp>
        <p:sp>
          <p:nvSpPr>
            <p:cNvPr name="TextBox 63" id="63"/>
            <p:cNvSpPr txBox="true"/>
            <p:nvPr/>
          </p:nvSpPr>
          <p:spPr>
            <a:xfrm>
              <a:off x="0" y="-38100"/>
              <a:ext cx="14264640" cy="1684020"/>
            </a:xfrm>
            <a:prstGeom prst="rect">
              <a:avLst/>
            </a:prstGeom>
          </p:spPr>
          <p:txBody>
            <a:bodyPr anchor="ctr" rtlCol="false" tIns="0" lIns="0" bIns="0" rIns="0"/>
            <a:lstStyle/>
            <a:p>
              <a:pPr algn="l" marL="0" indent="0" lvl="0">
                <a:lnSpc>
                  <a:spcPts val="2070"/>
                </a:lnSpc>
                <a:spcBef>
                  <a:spcPct val="0"/>
                </a:spcBef>
              </a:pPr>
              <a:r>
                <a:rPr lang="en-US" sz="1725" i="true" strike="noStrike" u="none">
                  <a:solidFill>
                    <a:srgbClr val="9FB0C9"/>
                  </a:solidFill>
                  <a:latin typeface="Calibri (MS) Italics"/>
                  <a:ea typeface="Calibri (MS) Italics"/>
                  <a:cs typeface="Calibri (MS) Italics"/>
                  <a:sym typeface="Calibri (MS) Italics"/>
                </a:rPr>
                <a:t>Optimisations de la latence d'inférence en temps réel et gestion rigoureuse de la mémoire : le modèle reste chargé et réactif.</a:t>
              </a:r>
            </a:p>
          </p:txBody>
        </p:sp>
      </p:grpSp>
      <p:grpSp>
        <p:nvGrpSpPr>
          <p:cNvPr name="Group 64" id="64"/>
          <p:cNvGrpSpPr/>
          <p:nvPr/>
        </p:nvGrpSpPr>
        <p:grpSpPr>
          <a:xfrm rot="0">
            <a:off x="685800" y="9710928"/>
            <a:ext cx="10972800" cy="411480"/>
            <a:chOff x="0" y="0"/>
            <a:chExt cx="14630400" cy="548640"/>
          </a:xfrm>
        </p:grpSpPr>
        <p:sp>
          <p:nvSpPr>
            <p:cNvPr name="Freeform 65" id="6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6" id="66"/>
            <p:cNvSpPr txBox="true"/>
            <p:nvPr/>
          </p:nvSpPr>
          <p:spPr>
            <a:xfrm>
              <a:off x="0" y="-28575"/>
              <a:ext cx="14630400" cy="577215"/>
            </a:xfrm>
            <a:prstGeom prst="rect">
              <a:avLst/>
            </a:prstGeom>
          </p:spPr>
          <p:txBody>
            <a:bodyPr anchor="ctr" rtlCol="false" tIns="0" lIns="0" bIns="0" rIns="0"/>
            <a:lstStyle/>
            <a:p>
              <a:pPr algn="l" marL="0" indent="0" lvl="0">
                <a:lnSpc>
                  <a:spcPts val="1620"/>
                </a:lnSpc>
                <a:spcBef>
                  <a:spcPct val="0"/>
                </a:spcBef>
              </a:pPr>
              <a:r>
                <a:rPr lang="en-US" sz="1350" spc="149" strike="noStrike" u="none">
                  <a:solidFill>
                    <a:srgbClr val="6E84A6"/>
                  </a:solidFill>
                  <a:latin typeface="Calibri (MS)"/>
                  <a:ea typeface="Calibri (MS)"/>
                  <a:cs typeface="Calibri (MS)"/>
                  <a:sym typeface="Calibri (MS)"/>
                </a:rPr>
                <a:t>PLATEFORME MLSECOPS · BACKEND &amp; OBSERVABILITÉ</a:t>
              </a:r>
            </a:p>
          </p:txBody>
        </p:sp>
      </p:grpSp>
      <p:grpSp>
        <p:nvGrpSpPr>
          <p:cNvPr name="Group 67" id="67"/>
          <p:cNvGrpSpPr/>
          <p:nvPr/>
        </p:nvGrpSpPr>
        <p:grpSpPr>
          <a:xfrm rot="0">
            <a:off x="16500348" y="9710928"/>
            <a:ext cx="1097280" cy="411480"/>
            <a:chOff x="0" y="0"/>
            <a:chExt cx="1463040" cy="548640"/>
          </a:xfrm>
        </p:grpSpPr>
        <p:sp>
          <p:nvSpPr>
            <p:cNvPr name="Freeform 68" id="68"/>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69" id="69"/>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22 / 32</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marL="0" indent="0" lvl="0">
                <a:lnSpc>
                  <a:spcPts val="2250"/>
                </a:lnSpc>
                <a:spcBef>
                  <a:spcPct val="0"/>
                </a:spcBef>
              </a:pPr>
              <a:r>
                <a:rPr lang="en-US" b="true" sz="1875" spc="300" strike="noStrike" u="none">
                  <a:solidFill>
                    <a:srgbClr val="00E5C7"/>
                  </a:solidFill>
                  <a:latin typeface="Calibri (MS) Bold"/>
                  <a:ea typeface="Calibri (MS) Bold"/>
                  <a:cs typeface="Calibri (MS) Bold"/>
                  <a:sym typeface="Calibri (MS) Bold"/>
                </a:rPr>
                <a:t>BACKEND &amp; OBSERVABILITÉ</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marL="0" indent="0" lvl="0">
                <a:lnSpc>
                  <a:spcPts val="1800"/>
                </a:lnSpc>
                <a:spcBef>
                  <a:spcPct val="0"/>
                </a:spcBef>
              </a:pPr>
              <a:r>
                <a:rPr lang="en-US" b="true" sz="1500" spc="225" strike="noStrike" u="none">
                  <a:solidFill>
                    <a:srgbClr val="00E5C7"/>
                  </a:solidFill>
                  <a:latin typeface="Calibri (MS) Bold"/>
                  <a:ea typeface="Calibri (MS) Bold"/>
                  <a:cs typeface="Calibri (MS) Bold"/>
                  <a:sym typeface="Calibri (MS) Bold"/>
                </a:rPr>
                <a:t>INTERVENANT 6</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marL="0" indent="0" lvl="0">
                <a:lnSpc>
                  <a:spcPts val="1889"/>
                </a:lnSpc>
                <a:spcBef>
                  <a:spcPct val="0"/>
                </a:spcBef>
              </a:pPr>
              <a:r>
                <a:rPr lang="en-US" sz="1575" strike="noStrike" u="none">
                  <a:solidFill>
                    <a:srgbClr val="9FB0C9"/>
                  </a:solidFill>
                  <a:latin typeface="Calibri (MS)"/>
                  <a:ea typeface="Calibri (MS)"/>
                  <a:cs typeface="Calibri (MS)"/>
                  <a:sym typeface="Calibri (MS)"/>
                </a:rPr>
                <a:t>Houssame Bouyous — Ingénieur backend</a:t>
              </a:r>
            </a:p>
          </p:txBody>
        </p:sp>
      </p:grpSp>
      <p:grpSp>
        <p:nvGrpSpPr>
          <p:cNvPr name="Group 11" id="11"/>
          <p:cNvGrpSpPr/>
          <p:nvPr/>
        </p:nvGrpSpPr>
        <p:grpSpPr>
          <a:xfrm rot="0">
            <a:off x="791062" y="-78468"/>
            <a:ext cx="16596360" cy="3516213"/>
            <a:chOff x="0" y="0"/>
            <a:chExt cx="22128480" cy="4688284"/>
          </a:xfrm>
        </p:grpSpPr>
        <p:sp>
          <p:nvSpPr>
            <p:cNvPr name="Freeform 12" id="12"/>
            <p:cNvSpPr/>
            <p:nvPr/>
          </p:nvSpPr>
          <p:spPr>
            <a:xfrm flipH="false" flipV="false" rot="0">
              <a:off x="0" y="0"/>
              <a:ext cx="22128480" cy="4688284"/>
            </a:xfrm>
            <a:custGeom>
              <a:avLst/>
              <a:gdLst/>
              <a:ahLst/>
              <a:cxnLst/>
              <a:rect r="r" b="b" t="t" l="l"/>
              <a:pathLst>
                <a:path h="4688284" w="22128480">
                  <a:moveTo>
                    <a:pt x="0" y="0"/>
                  </a:moveTo>
                  <a:lnTo>
                    <a:pt x="22128480" y="0"/>
                  </a:lnTo>
                  <a:lnTo>
                    <a:pt x="22128480" y="4688284"/>
                  </a:lnTo>
                  <a:lnTo>
                    <a:pt x="0" y="4688284"/>
                  </a:lnTo>
                  <a:close/>
                </a:path>
              </a:pathLst>
            </a:custGeom>
            <a:blipFill>
              <a:blip r:embed="rId2">
                <a:alphaModFix amt="0"/>
              </a:blip>
              <a:stretch>
                <a:fillRect l="0" t="-73439" r="0" b="-10497"/>
              </a:stretch>
            </a:blipFill>
          </p:spPr>
        </p:sp>
        <p:sp>
          <p:nvSpPr>
            <p:cNvPr name="TextBox 13" id="13"/>
            <p:cNvSpPr txBox="true"/>
            <p:nvPr/>
          </p:nvSpPr>
          <p:spPr>
            <a:xfrm>
              <a:off x="0" y="-9525"/>
              <a:ext cx="22128480" cy="4697809"/>
            </a:xfrm>
            <a:prstGeom prst="rect">
              <a:avLst/>
            </a:prstGeom>
          </p:spPr>
          <p:txBody>
            <a:bodyPr anchor="ctr" rtlCol="false" tIns="0" lIns="0" bIns="0" rIns="0"/>
            <a:lstStyle/>
            <a:p>
              <a:pPr algn="l" marL="0" indent="0" lvl="0">
                <a:lnSpc>
                  <a:spcPts val="5759"/>
                </a:lnSpc>
                <a:spcBef>
                  <a:spcPct val="0"/>
                </a:spcBef>
              </a:pPr>
              <a:r>
                <a:rPr lang="en-US" b="true" sz="4800" strike="noStrike" u="none">
                  <a:solidFill>
                    <a:srgbClr val="FFFFFF"/>
                  </a:solidFill>
                  <a:latin typeface="Cambria Bold"/>
                  <a:ea typeface="Cambria Bold"/>
                  <a:cs typeface="Cambria Bold"/>
                  <a:sym typeface="Cambria Bold"/>
                </a:rPr>
                <a:t>Configuration de l'observabilité et des métriques</a:t>
              </a:r>
            </a:p>
          </p:txBody>
        </p:sp>
      </p:grpSp>
      <p:grpSp>
        <p:nvGrpSpPr>
          <p:cNvPr name="Group 14" id="14"/>
          <p:cNvGrpSpPr/>
          <p:nvPr/>
        </p:nvGrpSpPr>
        <p:grpSpPr>
          <a:xfrm rot="0">
            <a:off x="813435" y="2733675"/>
            <a:ext cx="9894570" cy="1459230"/>
            <a:chOff x="0" y="0"/>
            <a:chExt cx="13192760" cy="1945640"/>
          </a:xfrm>
        </p:grpSpPr>
        <p:sp>
          <p:nvSpPr>
            <p:cNvPr name="Freeform 15" id="15"/>
            <p:cNvSpPr/>
            <p:nvPr/>
          </p:nvSpPr>
          <p:spPr>
            <a:xfrm flipH="false" flipV="false" rot="0">
              <a:off x="0" y="0"/>
              <a:ext cx="13192761" cy="1945640"/>
            </a:xfrm>
            <a:custGeom>
              <a:avLst/>
              <a:gdLst/>
              <a:ahLst/>
              <a:cxnLst/>
              <a:rect r="r" b="b" t="t" l="l"/>
              <a:pathLst>
                <a:path h="1945640" w="13192761">
                  <a:moveTo>
                    <a:pt x="0" y="148209"/>
                  </a:moveTo>
                  <a:cubicBezTo>
                    <a:pt x="0" y="66421"/>
                    <a:pt x="66421" y="0"/>
                    <a:pt x="148209" y="0"/>
                  </a:cubicBezTo>
                  <a:lnTo>
                    <a:pt x="13044551" y="0"/>
                  </a:lnTo>
                  <a:cubicBezTo>
                    <a:pt x="13126465" y="0"/>
                    <a:pt x="13192761" y="66421"/>
                    <a:pt x="13192761" y="148209"/>
                  </a:cubicBezTo>
                  <a:lnTo>
                    <a:pt x="13192761" y="1797431"/>
                  </a:lnTo>
                  <a:cubicBezTo>
                    <a:pt x="13192761" y="1879346"/>
                    <a:pt x="13126340" y="1945640"/>
                    <a:pt x="13044551" y="1945640"/>
                  </a:cubicBezTo>
                  <a:lnTo>
                    <a:pt x="148209" y="1945640"/>
                  </a:lnTo>
                  <a:cubicBezTo>
                    <a:pt x="66421" y="1945640"/>
                    <a:pt x="0" y="1879219"/>
                    <a:pt x="0" y="1797431"/>
                  </a:cubicBezTo>
                  <a:close/>
                </a:path>
              </a:pathLst>
            </a:custGeom>
            <a:solidFill>
              <a:srgbClr val="0F2038"/>
            </a:solidFill>
            <a:ln w="19050" cap="sq">
              <a:solidFill>
                <a:srgbClr val="1E3358"/>
              </a:solidFill>
              <a:prstDash val="solid"/>
              <a:miter/>
            </a:ln>
          </p:spPr>
        </p:sp>
      </p:grpSp>
      <p:grpSp>
        <p:nvGrpSpPr>
          <p:cNvPr name="Group 16" id="16"/>
          <p:cNvGrpSpPr/>
          <p:nvPr/>
        </p:nvGrpSpPr>
        <p:grpSpPr>
          <a:xfrm rot="0">
            <a:off x="1234440" y="2935224"/>
            <a:ext cx="5897880" cy="548640"/>
            <a:chOff x="0" y="0"/>
            <a:chExt cx="7863840" cy="731520"/>
          </a:xfrm>
        </p:grpSpPr>
        <p:sp>
          <p:nvSpPr>
            <p:cNvPr name="Freeform 17" id="17"/>
            <p:cNvSpPr/>
            <p:nvPr/>
          </p:nvSpPr>
          <p:spPr>
            <a:xfrm flipH="false" flipV="false" rot="0">
              <a:off x="0" y="0"/>
              <a:ext cx="7863840" cy="731520"/>
            </a:xfrm>
            <a:custGeom>
              <a:avLst/>
              <a:gdLst/>
              <a:ahLst/>
              <a:cxnLst/>
              <a:rect r="r" b="b" t="t" l="l"/>
              <a:pathLst>
                <a:path h="731520" w="7863840">
                  <a:moveTo>
                    <a:pt x="0" y="0"/>
                  </a:moveTo>
                  <a:lnTo>
                    <a:pt x="7863840" y="0"/>
                  </a:lnTo>
                  <a:lnTo>
                    <a:pt x="7863840" y="731520"/>
                  </a:lnTo>
                  <a:lnTo>
                    <a:pt x="0" y="731520"/>
                  </a:lnTo>
                  <a:close/>
                </a:path>
              </a:pathLst>
            </a:custGeom>
            <a:blipFill>
              <a:blip r:embed="rId2">
                <a:alphaModFix amt="0"/>
              </a:blip>
              <a:stretch>
                <a:fillRect l="0" t="-159464" r="0" b="-159464"/>
              </a:stretch>
            </a:blipFill>
          </p:spPr>
        </p:sp>
        <p:sp>
          <p:nvSpPr>
            <p:cNvPr name="TextBox 18" id="18"/>
            <p:cNvSpPr txBox="true"/>
            <p:nvPr/>
          </p:nvSpPr>
          <p:spPr>
            <a:xfrm>
              <a:off x="0" y="-38100"/>
              <a:ext cx="7863840" cy="769620"/>
            </a:xfrm>
            <a:prstGeom prst="rect">
              <a:avLst/>
            </a:prstGeom>
          </p:spPr>
          <p:txBody>
            <a:bodyPr anchor="ctr" rtlCol="false" tIns="0" lIns="0" bIns="0" rIns="0"/>
            <a:lstStyle/>
            <a:p>
              <a:pPr algn="l">
                <a:lnSpc>
                  <a:spcPts val="2340"/>
                </a:lnSpc>
              </a:pPr>
              <a:r>
                <a:rPr lang="en-US" sz="1950" b="true">
                  <a:solidFill>
                    <a:srgbClr val="00E5C7"/>
                  </a:solidFill>
                  <a:latin typeface="Consolas Bold"/>
                  <a:ea typeface="Consolas Bold"/>
                  <a:cs typeface="Consolas Bold"/>
                  <a:sym typeface="Consolas Bold"/>
                </a:rPr>
                <a:t>model_predictions_total</a:t>
              </a:r>
            </a:p>
          </p:txBody>
        </p:sp>
      </p:grpSp>
      <p:grpSp>
        <p:nvGrpSpPr>
          <p:cNvPr name="Group 19" id="19"/>
          <p:cNvGrpSpPr/>
          <p:nvPr/>
        </p:nvGrpSpPr>
        <p:grpSpPr>
          <a:xfrm rot="0">
            <a:off x="7259955" y="2953131"/>
            <a:ext cx="1219200" cy="457962"/>
            <a:chOff x="0" y="0"/>
            <a:chExt cx="1625600" cy="610616"/>
          </a:xfrm>
        </p:grpSpPr>
        <p:sp>
          <p:nvSpPr>
            <p:cNvPr name="Freeform 20" id="20"/>
            <p:cNvSpPr/>
            <p:nvPr/>
          </p:nvSpPr>
          <p:spPr>
            <a:xfrm flipH="false" flipV="false" rot="0">
              <a:off x="0" y="0"/>
              <a:ext cx="1625600" cy="610616"/>
            </a:xfrm>
            <a:custGeom>
              <a:avLst/>
              <a:gdLst/>
              <a:ahLst/>
              <a:cxnLst/>
              <a:rect r="r" b="b" t="t" l="l"/>
              <a:pathLst>
                <a:path h="610616" w="1625600">
                  <a:moveTo>
                    <a:pt x="0" y="305308"/>
                  </a:moveTo>
                  <a:cubicBezTo>
                    <a:pt x="0" y="136652"/>
                    <a:pt x="136652" y="0"/>
                    <a:pt x="305308" y="0"/>
                  </a:cubicBezTo>
                  <a:lnTo>
                    <a:pt x="1320292" y="0"/>
                  </a:lnTo>
                  <a:cubicBezTo>
                    <a:pt x="1488948" y="0"/>
                    <a:pt x="1625600" y="136652"/>
                    <a:pt x="1625600" y="305308"/>
                  </a:cubicBezTo>
                  <a:cubicBezTo>
                    <a:pt x="1625600" y="473964"/>
                    <a:pt x="1488948" y="610616"/>
                    <a:pt x="1320292" y="610616"/>
                  </a:cubicBezTo>
                  <a:lnTo>
                    <a:pt x="305308" y="610616"/>
                  </a:lnTo>
                  <a:cubicBezTo>
                    <a:pt x="136652" y="610616"/>
                    <a:pt x="0" y="473964"/>
                    <a:pt x="0" y="305308"/>
                  </a:cubicBezTo>
                  <a:close/>
                </a:path>
              </a:pathLst>
            </a:custGeom>
            <a:solidFill>
              <a:srgbClr val="13294A"/>
            </a:solidFill>
            <a:ln w="19050" cap="sq">
              <a:solidFill>
                <a:srgbClr val="4C7CFF"/>
              </a:solidFill>
              <a:prstDash val="solid"/>
              <a:miter/>
            </a:ln>
          </p:spPr>
        </p:sp>
      </p:grpSp>
      <p:grpSp>
        <p:nvGrpSpPr>
          <p:cNvPr name="Group 21" id="21"/>
          <p:cNvGrpSpPr/>
          <p:nvPr/>
        </p:nvGrpSpPr>
        <p:grpSpPr>
          <a:xfrm rot="0">
            <a:off x="7269480" y="2948940"/>
            <a:ext cx="1200150" cy="466344"/>
            <a:chOff x="0" y="0"/>
            <a:chExt cx="1600200" cy="621792"/>
          </a:xfrm>
        </p:grpSpPr>
        <p:sp>
          <p:nvSpPr>
            <p:cNvPr name="Freeform 22" id="22"/>
            <p:cNvSpPr/>
            <p:nvPr/>
          </p:nvSpPr>
          <p:spPr>
            <a:xfrm flipH="false" flipV="false" rot="0">
              <a:off x="0" y="0"/>
              <a:ext cx="1600200" cy="621792"/>
            </a:xfrm>
            <a:custGeom>
              <a:avLst/>
              <a:gdLst/>
              <a:ahLst/>
              <a:cxnLst/>
              <a:rect r="r" b="b" t="t" l="l"/>
              <a:pathLst>
                <a:path h="621792" w="1600200">
                  <a:moveTo>
                    <a:pt x="0" y="0"/>
                  </a:moveTo>
                  <a:lnTo>
                    <a:pt x="1600200" y="0"/>
                  </a:lnTo>
                  <a:lnTo>
                    <a:pt x="1600200" y="621792"/>
                  </a:lnTo>
                  <a:lnTo>
                    <a:pt x="0" y="621792"/>
                  </a:lnTo>
                  <a:close/>
                </a:path>
              </a:pathLst>
            </a:custGeom>
            <a:blipFill>
              <a:blip r:embed="rId2">
                <a:alphaModFix amt="0"/>
              </a:blip>
              <a:stretch>
                <a:fillRect l="0" t="-145" r="0" b="-145"/>
              </a:stretch>
            </a:blipFill>
          </p:spPr>
        </p:sp>
        <p:sp>
          <p:nvSpPr>
            <p:cNvPr name="TextBox 23" id="23"/>
            <p:cNvSpPr txBox="true"/>
            <p:nvPr/>
          </p:nvSpPr>
          <p:spPr>
            <a:xfrm>
              <a:off x="0" y="-38100"/>
              <a:ext cx="1600200" cy="659892"/>
            </a:xfrm>
            <a:prstGeom prst="rect">
              <a:avLst/>
            </a:prstGeom>
          </p:spPr>
          <p:txBody>
            <a:bodyPr anchor="ctr" rtlCol="false" tIns="0" lIns="0" bIns="0" rIns="0"/>
            <a:lstStyle/>
            <a:p>
              <a:pPr algn="ctr">
                <a:lnSpc>
                  <a:spcPts val="1800"/>
                </a:lnSpc>
              </a:pPr>
              <a:r>
                <a:rPr lang="en-US" sz="1500" b="true">
                  <a:solidFill>
                    <a:srgbClr val="4C7CFF"/>
                  </a:solidFill>
                  <a:latin typeface="Calibri (MS) Bold"/>
                  <a:ea typeface="Calibri (MS) Bold"/>
                  <a:cs typeface="Calibri (MS) Bold"/>
                  <a:sym typeface="Calibri (MS) Bold"/>
                </a:rPr>
                <a:t>Counter</a:t>
              </a:r>
            </a:p>
          </p:txBody>
        </p:sp>
      </p:grpSp>
      <p:grpSp>
        <p:nvGrpSpPr>
          <p:cNvPr name="Group 24" id="24"/>
          <p:cNvGrpSpPr/>
          <p:nvPr/>
        </p:nvGrpSpPr>
        <p:grpSpPr>
          <a:xfrm rot="0">
            <a:off x="1234440" y="3497580"/>
            <a:ext cx="9052560" cy="548640"/>
            <a:chOff x="0" y="0"/>
            <a:chExt cx="12070080" cy="731520"/>
          </a:xfrm>
        </p:grpSpPr>
        <p:sp>
          <p:nvSpPr>
            <p:cNvPr name="Freeform 25" id="25"/>
            <p:cNvSpPr/>
            <p:nvPr/>
          </p:nvSpPr>
          <p:spPr>
            <a:xfrm flipH="false" flipV="false" rot="0">
              <a:off x="0" y="0"/>
              <a:ext cx="12070080" cy="731520"/>
            </a:xfrm>
            <a:custGeom>
              <a:avLst/>
              <a:gdLst/>
              <a:ahLst/>
              <a:cxnLst/>
              <a:rect r="r" b="b" t="t" l="l"/>
              <a:pathLst>
                <a:path h="731520" w="12070080">
                  <a:moveTo>
                    <a:pt x="0" y="0"/>
                  </a:moveTo>
                  <a:lnTo>
                    <a:pt x="12070080" y="0"/>
                  </a:lnTo>
                  <a:lnTo>
                    <a:pt x="12070080" y="731520"/>
                  </a:lnTo>
                  <a:lnTo>
                    <a:pt x="0" y="731520"/>
                  </a:lnTo>
                  <a:close/>
                </a:path>
              </a:pathLst>
            </a:custGeom>
            <a:blipFill>
              <a:blip r:embed="rId2">
                <a:alphaModFix amt="0"/>
              </a:blip>
              <a:stretch>
                <a:fillRect l="0" t="-271503" r="0" b="-271503"/>
              </a:stretch>
            </a:blipFill>
          </p:spPr>
        </p:sp>
        <p:sp>
          <p:nvSpPr>
            <p:cNvPr name="TextBox 26" id="26"/>
            <p:cNvSpPr txBox="true"/>
            <p:nvPr/>
          </p:nvSpPr>
          <p:spPr>
            <a:xfrm>
              <a:off x="0" y="-19050"/>
              <a:ext cx="12070080" cy="750570"/>
            </a:xfrm>
            <a:prstGeom prst="rect">
              <a:avLst/>
            </a:prstGeom>
          </p:spPr>
          <p:txBody>
            <a:bodyPr anchor="ctr" rtlCol="false" tIns="0" lIns="0" bIns="0" rIns="0"/>
            <a:lstStyle/>
            <a:p>
              <a:pPr algn="l" marL="0" indent="0" lvl="0">
                <a:lnSpc>
                  <a:spcPts val="1889"/>
                </a:lnSpc>
                <a:spcBef>
                  <a:spcPct val="0"/>
                </a:spcBef>
              </a:pPr>
              <a:r>
                <a:rPr lang="en-US" sz="1575" strike="noStrike" u="none">
                  <a:solidFill>
                    <a:srgbClr val="9FB0C9"/>
                  </a:solidFill>
                  <a:latin typeface="Calibri (MS)"/>
                  <a:ea typeface="Calibri (MS)"/>
                  <a:cs typeface="Calibri (MS)"/>
                  <a:sym typeface="Calibri (MS)"/>
                </a:rPr>
                <a:t>Total des prédictions, étiquetées par version du modèle</a:t>
              </a:r>
            </a:p>
          </p:txBody>
        </p:sp>
      </p:grpSp>
      <p:grpSp>
        <p:nvGrpSpPr>
          <p:cNvPr name="Group 27" id="27"/>
          <p:cNvGrpSpPr/>
          <p:nvPr/>
        </p:nvGrpSpPr>
        <p:grpSpPr>
          <a:xfrm rot="0">
            <a:off x="813435" y="4379595"/>
            <a:ext cx="9894570" cy="1459230"/>
            <a:chOff x="0" y="0"/>
            <a:chExt cx="13192760" cy="1945640"/>
          </a:xfrm>
        </p:grpSpPr>
        <p:sp>
          <p:nvSpPr>
            <p:cNvPr name="Freeform 28" id="28"/>
            <p:cNvSpPr/>
            <p:nvPr/>
          </p:nvSpPr>
          <p:spPr>
            <a:xfrm flipH="false" flipV="false" rot="0">
              <a:off x="0" y="0"/>
              <a:ext cx="13192761" cy="1945640"/>
            </a:xfrm>
            <a:custGeom>
              <a:avLst/>
              <a:gdLst/>
              <a:ahLst/>
              <a:cxnLst/>
              <a:rect r="r" b="b" t="t" l="l"/>
              <a:pathLst>
                <a:path h="1945640" w="13192761">
                  <a:moveTo>
                    <a:pt x="0" y="148209"/>
                  </a:moveTo>
                  <a:cubicBezTo>
                    <a:pt x="0" y="66421"/>
                    <a:pt x="66421" y="0"/>
                    <a:pt x="148209" y="0"/>
                  </a:cubicBezTo>
                  <a:lnTo>
                    <a:pt x="13044551" y="0"/>
                  </a:lnTo>
                  <a:cubicBezTo>
                    <a:pt x="13126465" y="0"/>
                    <a:pt x="13192761" y="66421"/>
                    <a:pt x="13192761" y="148209"/>
                  </a:cubicBezTo>
                  <a:lnTo>
                    <a:pt x="13192761" y="1797431"/>
                  </a:lnTo>
                  <a:cubicBezTo>
                    <a:pt x="13192761" y="1879346"/>
                    <a:pt x="13126340" y="1945640"/>
                    <a:pt x="13044551" y="1945640"/>
                  </a:cubicBezTo>
                  <a:lnTo>
                    <a:pt x="148209" y="1945640"/>
                  </a:lnTo>
                  <a:cubicBezTo>
                    <a:pt x="66421" y="1945640"/>
                    <a:pt x="0" y="1879219"/>
                    <a:pt x="0" y="1797431"/>
                  </a:cubicBezTo>
                  <a:close/>
                </a:path>
              </a:pathLst>
            </a:custGeom>
            <a:solidFill>
              <a:srgbClr val="0F2038"/>
            </a:solidFill>
            <a:ln w="19050" cap="sq">
              <a:solidFill>
                <a:srgbClr val="1E3358"/>
              </a:solidFill>
              <a:prstDash val="solid"/>
              <a:miter/>
            </a:ln>
          </p:spPr>
        </p:sp>
      </p:grpSp>
      <p:grpSp>
        <p:nvGrpSpPr>
          <p:cNvPr name="Group 29" id="29"/>
          <p:cNvGrpSpPr/>
          <p:nvPr/>
        </p:nvGrpSpPr>
        <p:grpSpPr>
          <a:xfrm rot="0">
            <a:off x="1234440" y="4581144"/>
            <a:ext cx="5897880" cy="548640"/>
            <a:chOff x="0" y="0"/>
            <a:chExt cx="7863840" cy="731520"/>
          </a:xfrm>
        </p:grpSpPr>
        <p:sp>
          <p:nvSpPr>
            <p:cNvPr name="Freeform 30" id="30"/>
            <p:cNvSpPr/>
            <p:nvPr/>
          </p:nvSpPr>
          <p:spPr>
            <a:xfrm flipH="false" flipV="false" rot="0">
              <a:off x="0" y="0"/>
              <a:ext cx="7863840" cy="731520"/>
            </a:xfrm>
            <a:custGeom>
              <a:avLst/>
              <a:gdLst/>
              <a:ahLst/>
              <a:cxnLst/>
              <a:rect r="r" b="b" t="t" l="l"/>
              <a:pathLst>
                <a:path h="731520" w="7863840">
                  <a:moveTo>
                    <a:pt x="0" y="0"/>
                  </a:moveTo>
                  <a:lnTo>
                    <a:pt x="7863840" y="0"/>
                  </a:lnTo>
                  <a:lnTo>
                    <a:pt x="7863840" y="731520"/>
                  </a:lnTo>
                  <a:lnTo>
                    <a:pt x="0" y="731520"/>
                  </a:lnTo>
                  <a:close/>
                </a:path>
              </a:pathLst>
            </a:custGeom>
            <a:blipFill>
              <a:blip r:embed="rId2">
                <a:alphaModFix amt="0"/>
              </a:blip>
              <a:stretch>
                <a:fillRect l="0" t="-159464" r="0" b="-159464"/>
              </a:stretch>
            </a:blipFill>
          </p:spPr>
        </p:sp>
        <p:sp>
          <p:nvSpPr>
            <p:cNvPr name="TextBox 31" id="31"/>
            <p:cNvSpPr txBox="true"/>
            <p:nvPr/>
          </p:nvSpPr>
          <p:spPr>
            <a:xfrm>
              <a:off x="0" y="-38100"/>
              <a:ext cx="7863840" cy="769620"/>
            </a:xfrm>
            <a:prstGeom prst="rect">
              <a:avLst/>
            </a:prstGeom>
          </p:spPr>
          <p:txBody>
            <a:bodyPr anchor="ctr" rtlCol="false" tIns="0" lIns="0" bIns="0" rIns="0"/>
            <a:lstStyle/>
            <a:p>
              <a:pPr algn="l">
                <a:lnSpc>
                  <a:spcPts val="2340"/>
                </a:lnSpc>
              </a:pPr>
              <a:r>
                <a:rPr lang="en-US" sz="1950" b="true">
                  <a:solidFill>
                    <a:srgbClr val="00E5C7"/>
                  </a:solidFill>
                  <a:latin typeface="Consolas Bold"/>
                  <a:ea typeface="Consolas Bold"/>
                  <a:cs typeface="Consolas Bold"/>
                  <a:sym typeface="Consolas Bold"/>
                </a:rPr>
                <a:t>anomalies_detected_total</a:t>
              </a:r>
            </a:p>
          </p:txBody>
        </p:sp>
      </p:grpSp>
      <p:grpSp>
        <p:nvGrpSpPr>
          <p:cNvPr name="Group 32" id="32"/>
          <p:cNvGrpSpPr/>
          <p:nvPr/>
        </p:nvGrpSpPr>
        <p:grpSpPr>
          <a:xfrm rot="0">
            <a:off x="7259955" y="4599051"/>
            <a:ext cx="1219200" cy="457962"/>
            <a:chOff x="0" y="0"/>
            <a:chExt cx="1625600" cy="610616"/>
          </a:xfrm>
        </p:grpSpPr>
        <p:sp>
          <p:nvSpPr>
            <p:cNvPr name="Freeform 33" id="33"/>
            <p:cNvSpPr/>
            <p:nvPr/>
          </p:nvSpPr>
          <p:spPr>
            <a:xfrm flipH="false" flipV="false" rot="0">
              <a:off x="0" y="0"/>
              <a:ext cx="1625600" cy="610616"/>
            </a:xfrm>
            <a:custGeom>
              <a:avLst/>
              <a:gdLst/>
              <a:ahLst/>
              <a:cxnLst/>
              <a:rect r="r" b="b" t="t" l="l"/>
              <a:pathLst>
                <a:path h="610616" w="1625600">
                  <a:moveTo>
                    <a:pt x="0" y="305308"/>
                  </a:moveTo>
                  <a:cubicBezTo>
                    <a:pt x="0" y="136652"/>
                    <a:pt x="136652" y="0"/>
                    <a:pt x="305308" y="0"/>
                  </a:cubicBezTo>
                  <a:lnTo>
                    <a:pt x="1320292" y="0"/>
                  </a:lnTo>
                  <a:cubicBezTo>
                    <a:pt x="1488948" y="0"/>
                    <a:pt x="1625600" y="136652"/>
                    <a:pt x="1625600" y="305308"/>
                  </a:cubicBezTo>
                  <a:cubicBezTo>
                    <a:pt x="1625600" y="473964"/>
                    <a:pt x="1488948" y="610616"/>
                    <a:pt x="1320292" y="610616"/>
                  </a:cubicBezTo>
                  <a:lnTo>
                    <a:pt x="305308" y="610616"/>
                  </a:lnTo>
                  <a:cubicBezTo>
                    <a:pt x="136652" y="610616"/>
                    <a:pt x="0" y="473964"/>
                    <a:pt x="0" y="305308"/>
                  </a:cubicBezTo>
                  <a:close/>
                </a:path>
              </a:pathLst>
            </a:custGeom>
            <a:solidFill>
              <a:srgbClr val="13294A"/>
            </a:solidFill>
            <a:ln w="19050" cap="sq">
              <a:solidFill>
                <a:srgbClr val="4C7CFF"/>
              </a:solidFill>
              <a:prstDash val="solid"/>
              <a:miter/>
            </a:ln>
          </p:spPr>
        </p:sp>
      </p:grpSp>
      <p:grpSp>
        <p:nvGrpSpPr>
          <p:cNvPr name="Group 34" id="34"/>
          <p:cNvGrpSpPr/>
          <p:nvPr/>
        </p:nvGrpSpPr>
        <p:grpSpPr>
          <a:xfrm rot="0">
            <a:off x="7269480" y="4594860"/>
            <a:ext cx="1200150" cy="466344"/>
            <a:chOff x="0" y="0"/>
            <a:chExt cx="1600200" cy="621792"/>
          </a:xfrm>
        </p:grpSpPr>
        <p:sp>
          <p:nvSpPr>
            <p:cNvPr name="Freeform 35" id="35"/>
            <p:cNvSpPr/>
            <p:nvPr/>
          </p:nvSpPr>
          <p:spPr>
            <a:xfrm flipH="false" flipV="false" rot="0">
              <a:off x="0" y="0"/>
              <a:ext cx="1600200" cy="621792"/>
            </a:xfrm>
            <a:custGeom>
              <a:avLst/>
              <a:gdLst/>
              <a:ahLst/>
              <a:cxnLst/>
              <a:rect r="r" b="b" t="t" l="l"/>
              <a:pathLst>
                <a:path h="621792" w="1600200">
                  <a:moveTo>
                    <a:pt x="0" y="0"/>
                  </a:moveTo>
                  <a:lnTo>
                    <a:pt x="1600200" y="0"/>
                  </a:lnTo>
                  <a:lnTo>
                    <a:pt x="1600200" y="621792"/>
                  </a:lnTo>
                  <a:lnTo>
                    <a:pt x="0" y="621792"/>
                  </a:lnTo>
                  <a:close/>
                </a:path>
              </a:pathLst>
            </a:custGeom>
            <a:blipFill>
              <a:blip r:embed="rId2">
                <a:alphaModFix amt="0"/>
              </a:blip>
              <a:stretch>
                <a:fillRect l="0" t="-145" r="0" b="-145"/>
              </a:stretch>
            </a:blipFill>
          </p:spPr>
        </p:sp>
        <p:sp>
          <p:nvSpPr>
            <p:cNvPr name="TextBox 36" id="36"/>
            <p:cNvSpPr txBox="true"/>
            <p:nvPr/>
          </p:nvSpPr>
          <p:spPr>
            <a:xfrm>
              <a:off x="0" y="-38100"/>
              <a:ext cx="1600200" cy="659892"/>
            </a:xfrm>
            <a:prstGeom prst="rect">
              <a:avLst/>
            </a:prstGeom>
          </p:spPr>
          <p:txBody>
            <a:bodyPr anchor="ctr" rtlCol="false" tIns="0" lIns="0" bIns="0" rIns="0"/>
            <a:lstStyle/>
            <a:p>
              <a:pPr algn="ctr">
                <a:lnSpc>
                  <a:spcPts val="1800"/>
                </a:lnSpc>
              </a:pPr>
              <a:r>
                <a:rPr lang="en-US" sz="1500" b="true">
                  <a:solidFill>
                    <a:srgbClr val="4C7CFF"/>
                  </a:solidFill>
                  <a:latin typeface="Calibri (MS) Bold"/>
                  <a:ea typeface="Calibri (MS) Bold"/>
                  <a:cs typeface="Calibri (MS) Bold"/>
                  <a:sym typeface="Calibri (MS) Bold"/>
                </a:rPr>
                <a:t>Counter</a:t>
              </a:r>
            </a:p>
          </p:txBody>
        </p:sp>
      </p:grpSp>
      <p:grpSp>
        <p:nvGrpSpPr>
          <p:cNvPr name="Group 37" id="37"/>
          <p:cNvGrpSpPr/>
          <p:nvPr/>
        </p:nvGrpSpPr>
        <p:grpSpPr>
          <a:xfrm rot="0">
            <a:off x="1234440" y="5143500"/>
            <a:ext cx="9052560" cy="548640"/>
            <a:chOff x="0" y="0"/>
            <a:chExt cx="12070080" cy="731520"/>
          </a:xfrm>
        </p:grpSpPr>
        <p:sp>
          <p:nvSpPr>
            <p:cNvPr name="Freeform 38" id="38"/>
            <p:cNvSpPr/>
            <p:nvPr/>
          </p:nvSpPr>
          <p:spPr>
            <a:xfrm flipH="false" flipV="false" rot="0">
              <a:off x="0" y="0"/>
              <a:ext cx="12070080" cy="731520"/>
            </a:xfrm>
            <a:custGeom>
              <a:avLst/>
              <a:gdLst/>
              <a:ahLst/>
              <a:cxnLst/>
              <a:rect r="r" b="b" t="t" l="l"/>
              <a:pathLst>
                <a:path h="731520" w="12070080">
                  <a:moveTo>
                    <a:pt x="0" y="0"/>
                  </a:moveTo>
                  <a:lnTo>
                    <a:pt x="12070080" y="0"/>
                  </a:lnTo>
                  <a:lnTo>
                    <a:pt x="12070080" y="731520"/>
                  </a:lnTo>
                  <a:lnTo>
                    <a:pt x="0" y="731520"/>
                  </a:lnTo>
                  <a:close/>
                </a:path>
              </a:pathLst>
            </a:custGeom>
            <a:blipFill>
              <a:blip r:embed="rId2">
                <a:alphaModFix amt="0"/>
              </a:blip>
              <a:stretch>
                <a:fillRect l="0" t="-271503" r="0" b="-271503"/>
              </a:stretch>
            </a:blipFill>
          </p:spPr>
        </p:sp>
        <p:sp>
          <p:nvSpPr>
            <p:cNvPr name="TextBox 39" id="39"/>
            <p:cNvSpPr txBox="true"/>
            <p:nvPr/>
          </p:nvSpPr>
          <p:spPr>
            <a:xfrm>
              <a:off x="0" y="-19050"/>
              <a:ext cx="12070080" cy="750570"/>
            </a:xfrm>
            <a:prstGeom prst="rect">
              <a:avLst/>
            </a:prstGeom>
          </p:spPr>
          <p:txBody>
            <a:bodyPr anchor="ctr" rtlCol="false" tIns="0" lIns="0" bIns="0" rIns="0"/>
            <a:lstStyle/>
            <a:p>
              <a:pPr algn="l" marL="0" indent="0" lvl="0">
                <a:lnSpc>
                  <a:spcPts val="1889"/>
                </a:lnSpc>
                <a:spcBef>
                  <a:spcPct val="0"/>
                </a:spcBef>
              </a:pPr>
              <a:r>
                <a:rPr lang="en-US" sz="1575" strike="noStrike" u="none">
                  <a:solidFill>
                    <a:srgbClr val="9FB0C9"/>
                  </a:solidFill>
                  <a:latin typeface="Calibri (MS)"/>
                  <a:ea typeface="Calibri (MS)"/>
                  <a:cs typeface="Calibri (MS)"/>
                  <a:sym typeface="Calibri (MS)"/>
                </a:rPr>
                <a:t>Total des anomalies réseau détectées</a:t>
              </a:r>
            </a:p>
          </p:txBody>
        </p:sp>
      </p:grpSp>
      <p:grpSp>
        <p:nvGrpSpPr>
          <p:cNvPr name="Group 40" id="40"/>
          <p:cNvGrpSpPr/>
          <p:nvPr/>
        </p:nvGrpSpPr>
        <p:grpSpPr>
          <a:xfrm rot="0">
            <a:off x="813435" y="6025515"/>
            <a:ext cx="9894570" cy="1459230"/>
            <a:chOff x="0" y="0"/>
            <a:chExt cx="13192760" cy="1945640"/>
          </a:xfrm>
        </p:grpSpPr>
        <p:sp>
          <p:nvSpPr>
            <p:cNvPr name="Freeform 41" id="41"/>
            <p:cNvSpPr/>
            <p:nvPr/>
          </p:nvSpPr>
          <p:spPr>
            <a:xfrm flipH="false" flipV="false" rot="0">
              <a:off x="0" y="0"/>
              <a:ext cx="13192761" cy="1945640"/>
            </a:xfrm>
            <a:custGeom>
              <a:avLst/>
              <a:gdLst/>
              <a:ahLst/>
              <a:cxnLst/>
              <a:rect r="r" b="b" t="t" l="l"/>
              <a:pathLst>
                <a:path h="1945640" w="13192761">
                  <a:moveTo>
                    <a:pt x="0" y="148209"/>
                  </a:moveTo>
                  <a:cubicBezTo>
                    <a:pt x="0" y="66421"/>
                    <a:pt x="66421" y="0"/>
                    <a:pt x="148209" y="0"/>
                  </a:cubicBezTo>
                  <a:lnTo>
                    <a:pt x="13044551" y="0"/>
                  </a:lnTo>
                  <a:cubicBezTo>
                    <a:pt x="13126465" y="0"/>
                    <a:pt x="13192761" y="66421"/>
                    <a:pt x="13192761" y="148209"/>
                  </a:cubicBezTo>
                  <a:lnTo>
                    <a:pt x="13192761" y="1797431"/>
                  </a:lnTo>
                  <a:cubicBezTo>
                    <a:pt x="13192761" y="1879346"/>
                    <a:pt x="13126340" y="1945640"/>
                    <a:pt x="13044551" y="1945640"/>
                  </a:cubicBezTo>
                  <a:lnTo>
                    <a:pt x="148209" y="1945640"/>
                  </a:lnTo>
                  <a:cubicBezTo>
                    <a:pt x="66421" y="1945640"/>
                    <a:pt x="0" y="1879219"/>
                    <a:pt x="0" y="1797431"/>
                  </a:cubicBezTo>
                  <a:close/>
                </a:path>
              </a:pathLst>
            </a:custGeom>
            <a:solidFill>
              <a:srgbClr val="0F2038"/>
            </a:solidFill>
            <a:ln w="19050" cap="sq">
              <a:solidFill>
                <a:srgbClr val="1E3358"/>
              </a:solidFill>
              <a:prstDash val="solid"/>
              <a:miter/>
            </a:ln>
          </p:spPr>
        </p:sp>
      </p:grpSp>
      <p:grpSp>
        <p:nvGrpSpPr>
          <p:cNvPr name="Group 42" id="42"/>
          <p:cNvGrpSpPr/>
          <p:nvPr/>
        </p:nvGrpSpPr>
        <p:grpSpPr>
          <a:xfrm rot="0">
            <a:off x="1234440" y="6227064"/>
            <a:ext cx="5897880" cy="548640"/>
            <a:chOff x="0" y="0"/>
            <a:chExt cx="7863840" cy="731520"/>
          </a:xfrm>
        </p:grpSpPr>
        <p:sp>
          <p:nvSpPr>
            <p:cNvPr name="Freeform 43" id="43"/>
            <p:cNvSpPr/>
            <p:nvPr/>
          </p:nvSpPr>
          <p:spPr>
            <a:xfrm flipH="false" flipV="false" rot="0">
              <a:off x="0" y="0"/>
              <a:ext cx="7863840" cy="731520"/>
            </a:xfrm>
            <a:custGeom>
              <a:avLst/>
              <a:gdLst/>
              <a:ahLst/>
              <a:cxnLst/>
              <a:rect r="r" b="b" t="t" l="l"/>
              <a:pathLst>
                <a:path h="731520" w="7863840">
                  <a:moveTo>
                    <a:pt x="0" y="0"/>
                  </a:moveTo>
                  <a:lnTo>
                    <a:pt x="7863840" y="0"/>
                  </a:lnTo>
                  <a:lnTo>
                    <a:pt x="7863840" y="731520"/>
                  </a:lnTo>
                  <a:lnTo>
                    <a:pt x="0" y="731520"/>
                  </a:lnTo>
                  <a:close/>
                </a:path>
              </a:pathLst>
            </a:custGeom>
            <a:blipFill>
              <a:blip r:embed="rId2">
                <a:alphaModFix amt="0"/>
              </a:blip>
              <a:stretch>
                <a:fillRect l="0" t="-159464" r="0" b="-159464"/>
              </a:stretch>
            </a:blipFill>
          </p:spPr>
        </p:sp>
        <p:sp>
          <p:nvSpPr>
            <p:cNvPr name="TextBox 44" id="44"/>
            <p:cNvSpPr txBox="true"/>
            <p:nvPr/>
          </p:nvSpPr>
          <p:spPr>
            <a:xfrm>
              <a:off x="0" y="-38100"/>
              <a:ext cx="7863840" cy="769620"/>
            </a:xfrm>
            <a:prstGeom prst="rect">
              <a:avLst/>
            </a:prstGeom>
          </p:spPr>
          <p:txBody>
            <a:bodyPr anchor="ctr" rtlCol="false" tIns="0" lIns="0" bIns="0" rIns="0"/>
            <a:lstStyle/>
            <a:p>
              <a:pPr algn="l">
                <a:lnSpc>
                  <a:spcPts val="2340"/>
                </a:lnSpc>
              </a:pPr>
              <a:r>
                <a:rPr lang="en-US" sz="1950" b="true">
                  <a:solidFill>
                    <a:srgbClr val="00E5C7"/>
                  </a:solidFill>
                  <a:latin typeface="Consolas Bold"/>
                  <a:ea typeface="Consolas Bold"/>
                  <a:cs typeface="Consolas Bold"/>
                  <a:sym typeface="Consolas Bold"/>
                </a:rPr>
                <a:t>model_inference_seconds</a:t>
              </a:r>
            </a:p>
          </p:txBody>
        </p:sp>
      </p:grpSp>
      <p:grpSp>
        <p:nvGrpSpPr>
          <p:cNvPr name="Group 45" id="45"/>
          <p:cNvGrpSpPr/>
          <p:nvPr/>
        </p:nvGrpSpPr>
        <p:grpSpPr>
          <a:xfrm rot="0">
            <a:off x="7259955" y="6244971"/>
            <a:ext cx="1452372" cy="457962"/>
            <a:chOff x="0" y="0"/>
            <a:chExt cx="1936496" cy="610616"/>
          </a:xfrm>
        </p:grpSpPr>
        <p:sp>
          <p:nvSpPr>
            <p:cNvPr name="Freeform 46" id="46"/>
            <p:cNvSpPr/>
            <p:nvPr/>
          </p:nvSpPr>
          <p:spPr>
            <a:xfrm flipH="false" flipV="false" rot="0">
              <a:off x="0" y="0"/>
              <a:ext cx="1936496" cy="610616"/>
            </a:xfrm>
            <a:custGeom>
              <a:avLst/>
              <a:gdLst/>
              <a:ahLst/>
              <a:cxnLst/>
              <a:rect r="r" b="b" t="t" l="l"/>
              <a:pathLst>
                <a:path h="610616" w="1936496">
                  <a:moveTo>
                    <a:pt x="0" y="305308"/>
                  </a:moveTo>
                  <a:cubicBezTo>
                    <a:pt x="0" y="136652"/>
                    <a:pt x="136652" y="0"/>
                    <a:pt x="305308" y="0"/>
                  </a:cubicBezTo>
                  <a:lnTo>
                    <a:pt x="1631188" y="0"/>
                  </a:lnTo>
                  <a:cubicBezTo>
                    <a:pt x="1799844" y="0"/>
                    <a:pt x="1936496" y="136652"/>
                    <a:pt x="1936496" y="305308"/>
                  </a:cubicBezTo>
                  <a:cubicBezTo>
                    <a:pt x="1936496" y="473964"/>
                    <a:pt x="1799844" y="610616"/>
                    <a:pt x="1631188" y="610616"/>
                  </a:cubicBezTo>
                  <a:lnTo>
                    <a:pt x="305308" y="610616"/>
                  </a:lnTo>
                  <a:cubicBezTo>
                    <a:pt x="136652" y="610616"/>
                    <a:pt x="0" y="473964"/>
                    <a:pt x="0" y="305308"/>
                  </a:cubicBezTo>
                  <a:close/>
                </a:path>
              </a:pathLst>
            </a:custGeom>
            <a:solidFill>
              <a:srgbClr val="13294A"/>
            </a:solidFill>
            <a:ln w="19050" cap="sq">
              <a:solidFill>
                <a:srgbClr val="4C7CFF"/>
              </a:solidFill>
              <a:prstDash val="solid"/>
              <a:miter/>
            </a:ln>
          </p:spPr>
        </p:sp>
      </p:grpSp>
      <p:grpSp>
        <p:nvGrpSpPr>
          <p:cNvPr name="Group 47" id="47"/>
          <p:cNvGrpSpPr/>
          <p:nvPr/>
        </p:nvGrpSpPr>
        <p:grpSpPr>
          <a:xfrm rot="0">
            <a:off x="7269480" y="6240780"/>
            <a:ext cx="1433322" cy="466344"/>
            <a:chOff x="0" y="0"/>
            <a:chExt cx="1911096" cy="621792"/>
          </a:xfrm>
        </p:grpSpPr>
        <p:sp>
          <p:nvSpPr>
            <p:cNvPr name="Freeform 48" id="48"/>
            <p:cNvSpPr/>
            <p:nvPr/>
          </p:nvSpPr>
          <p:spPr>
            <a:xfrm flipH="false" flipV="false" rot="0">
              <a:off x="0" y="0"/>
              <a:ext cx="1911096" cy="621792"/>
            </a:xfrm>
            <a:custGeom>
              <a:avLst/>
              <a:gdLst/>
              <a:ahLst/>
              <a:cxnLst/>
              <a:rect r="r" b="b" t="t" l="l"/>
              <a:pathLst>
                <a:path h="621792" w="1911096">
                  <a:moveTo>
                    <a:pt x="0" y="0"/>
                  </a:moveTo>
                  <a:lnTo>
                    <a:pt x="1911096" y="0"/>
                  </a:lnTo>
                  <a:lnTo>
                    <a:pt x="1911096" y="621792"/>
                  </a:lnTo>
                  <a:lnTo>
                    <a:pt x="0" y="621792"/>
                  </a:lnTo>
                  <a:close/>
                </a:path>
              </a:pathLst>
            </a:custGeom>
            <a:blipFill>
              <a:blip r:embed="rId2">
                <a:alphaModFix amt="0"/>
              </a:blip>
              <a:stretch>
                <a:fillRect l="0" t="-9887" r="0" b="-9887"/>
              </a:stretch>
            </a:blipFill>
          </p:spPr>
        </p:sp>
        <p:sp>
          <p:nvSpPr>
            <p:cNvPr name="TextBox 49" id="49"/>
            <p:cNvSpPr txBox="true"/>
            <p:nvPr/>
          </p:nvSpPr>
          <p:spPr>
            <a:xfrm>
              <a:off x="0" y="-38100"/>
              <a:ext cx="1911096" cy="659892"/>
            </a:xfrm>
            <a:prstGeom prst="rect">
              <a:avLst/>
            </a:prstGeom>
          </p:spPr>
          <p:txBody>
            <a:bodyPr anchor="ctr" rtlCol="false" tIns="0" lIns="0" bIns="0" rIns="0"/>
            <a:lstStyle/>
            <a:p>
              <a:pPr algn="ctr">
                <a:lnSpc>
                  <a:spcPts val="1800"/>
                </a:lnSpc>
              </a:pPr>
              <a:r>
                <a:rPr lang="en-US" sz="1500" b="true">
                  <a:solidFill>
                    <a:srgbClr val="4C7CFF"/>
                  </a:solidFill>
                  <a:latin typeface="Calibri (MS) Bold"/>
                  <a:ea typeface="Calibri (MS) Bold"/>
                  <a:cs typeface="Calibri (MS) Bold"/>
                  <a:sym typeface="Calibri (MS) Bold"/>
                </a:rPr>
                <a:t>Histogram</a:t>
              </a:r>
            </a:p>
          </p:txBody>
        </p:sp>
      </p:grpSp>
      <p:grpSp>
        <p:nvGrpSpPr>
          <p:cNvPr name="Group 50" id="50"/>
          <p:cNvGrpSpPr/>
          <p:nvPr/>
        </p:nvGrpSpPr>
        <p:grpSpPr>
          <a:xfrm rot="0">
            <a:off x="1234440" y="6789420"/>
            <a:ext cx="9052560" cy="548640"/>
            <a:chOff x="0" y="0"/>
            <a:chExt cx="12070080" cy="731520"/>
          </a:xfrm>
        </p:grpSpPr>
        <p:sp>
          <p:nvSpPr>
            <p:cNvPr name="Freeform 51" id="51"/>
            <p:cNvSpPr/>
            <p:nvPr/>
          </p:nvSpPr>
          <p:spPr>
            <a:xfrm flipH="false" flipV="false" rot="0">
              <a:off x="0" y="0"/>
              <a:ext cx="12070080" cy="731520"/>
            </a:xfrm>
            <a:custGeom>
              <a:avLst/>
              <a:gdLst/>
              <a:ahLst/>
              <a:cxnLst/>
              <a:rect r="r" b="b" t="t" l="l"/>
              <a:pathLst>
                <a:path h="731520" w="12070080">
                  <a:moveTo>
                    <a:pt x="0" y="0"/>
                  </a:moveTo>
                  <a:lnTo>
                    <a:pt x="12070080" y="0"/>
                  </a:lnTo>
                  <a:lnTo>
                    <a:pt x="12070080" y="731520"/>
                  </a:lnTo>
                  <a:lnTo>
                    <a:pt x="0" y="731520"/>
                  </a:lnTo>
                  <a:close/>
                </a:path>
              </a:pathLst>
            </a:custGeom>
            <a:blipFill>
              <a:blip r:embed="rId2">
                <a:alphaModFix amt="0"/>
              </a:blip>
              <a:stretch>
                <a:fillRect l="0" t="-271503" r="0" b="-271503"/>
              </a:stretch>
            </a:blipFill>
          </p:spPr>
        </p:sp>
        <p:sp>
          <p:nvSpPr>
            <p:cNvPr name="TextBox 52" id="52"/>
            <p:cNvSpPr txBox="true"/>
            <p:nvPr/>
          </p:nvSpPr>
          <p:spPr>
            <a:xfrm>
              <a:off x="0" y="-19050"/>
              <a:ext cx="12070080" cy="750570"/>
            </a:xfrm>
            <a:prstGeom prst="rect">
              <a:avLst/>
            </a:prstGeom>
          </p:spPr>
          <p:txBody>
            <a:bodyPr anchor="ctr" rtlCol="false" tIns="0" lIns="0" bIns="0" rIns="0"/>
            <a:lstStyle/>
            <a:p>
              <a:pPr algn="l" marL="0" indent="0" lvl="0">
                <a:lnSpc>
                  <a:spcPts val="1889"/>
                </a:lnSpc>
                <a:spcBef>
                  <a:spcPct val="0"/>
                </a:spcBef>
              </a:pPr>
              <a:r>
                <a:rPr lang="en-US" sz="1575" strike="noStrike" u="none">
                  <a:solidFill>
                    <a:srgbClr val="9FB0C9"/>
                  </a:solidFill>
                  <a:latin typeface="Calibri (MS)"/>
                  <a:ea typeface="Calibri (MS)"/>
                  <a:cs typeface="Calibri (MS)"/>
                  <a:sym typeface="Calibri (MS)"/>
                </a:rPr>
                <a:t>Distribution de la latence d'inférence</a:t>
              </a:r>
            </a:p>
          </p:txBody>
        </p:sp>
      </p:grpSp>
      <p:grpSp>
        <p:nvGrpSpPr>
          <p:cNvPr name="Group 53" id="53"/>
          <p:cNvGrpSpPr/>
          <p:nvPr/>
        </p:nvGrpSpPr>
        <p:grpSpPr>
          <a:xfrm rot="0">
            <a:off x="11031855" y="2733675"/>
            <a:ext cx="6465570" cy="5025390"/>
            <a:chOff x="0" y="0"/>
            <a:chExt cx="8620760" cy="6700520"/>
          </a:xfrm>
        </p:grpSpPr>
        <p:sp>
          <p:nvSpPr>
            <p:cNvPr name="Freeform 54" id="54"/>
            <p:cNvSpPr/>
            <p:nvPr/>
          </p:nvSpPr>
          <p:spPr>
            <a:xfrm flipH="false" flipV="false" rot="0">
              <a:off x="0" y="0"/>
              <a:ext cx="8620760" cy="6700520"/>
            </a:xfrm>
            <a:custGeom>
              <a:avLst/>
              <a:gdLst/>
              <a:ahLst/>
              <a:cxnLst/>
              <a:rect r="r" b="b" t="t" l="l"/>
              <a:pathLst>
                <a:path h="6700520" w="8620760">
                  <a:moveTo>
                    <a:pt x="0" y="146812"/>
                  </a:moveTo>
                  <a:cubicBezTo>
                    <a:pt x="0" y="65786"/>
                    <a:pt x="65786" y="0"/>
                    <a:pt x="146812" y="0"/>
                  </a:cubicBezTo>
                  <a:lnTo>
                    <a:pt x="8473948" y="0"/>
                  </a:lnTo>
                  <a:cubicBezTo>
                    <a:pt x="8555101" y="0"/>
                    <a:pt x="8620760" y="65786"/>
                    <a:pt x="8620760" y="146812"/>
                  </a:cubicBezTo>
                  <a:lnTo>
                    <a:pt x="8620760" y="6553708"/>
                  </a:lnTo>
                  <a:cubicBezTo>
                    <a:pt x="8620760" y="6634861"/>
                    <a:pt x="8554974" y="6700520"/>
                    <a:pt x="8473948" y="6700520"/>
                  </a:cubicBezTo>
                  <a:lnTo>
                    <a:pt x="146812" y="6700520"/>
                  </a:lnTo>
                  <a:cubicBezTo>
                    <a:pt x="65786" y="6700520"/>
                    <a:pt x="0" y="6634734"/>
                    <a:pt x="0" y="6553708"/>
                  </a:cubicBezTo>
                  <a:close/>
                </a:path>
              </a:pathLst>
            </a:custGeom>
            <a:solidFill>
              <a:srgbClr val="13294A"/>
            </a:solidFill>
            <a:ln w="19050" cap="sq">
              <a:solidFill>
                <a:srgbClr val="1E3358"/>
              </a:solidFill>
              <a:prstDash val="solid"/>
              <a:miter/>
            </a:ln>
          </p:spPr>
        </p:sp>
      </p:grpSp>
      <p:grpSp>
        <p:nvGrpSpPr>
          <p:cNvPr name="Group 55" id="55"/>
          <p:cNvGrpSpPr/>
          <p:nvPr/>
        </p:nvGrpSpPr>
        <p:grpSpPr>
          <a:xfrm rot="0">
            <a:off x="11452860" y="3017520"/>
            <a:ext cx="5623560" cy="411480"/>
            <a:chOff x="0" y="0"/>
            <a:chExt cx="7498080" cy="548640"/>
          </a:xfrm>
        </p:grpSpPr>
        <p:sp>
          <p:nvSpPr>
            <p:cNvPr name="Freeform 56" id="56"/>
            <p:cNvSpPr/>
            <p:nvPr/>
          </p:nvSpPr>
          <p:spPr>
            <a:xfrm flipH="false" flipV="false" rot="0">
              <a:off x="0" y="0"/>
              <a:ext cx="7498080" cy="548640"/>
            </a:xfrm>
            <a:custGeom>
              <a:avLst/>
              <a:gdLst/>
              <a:ahLst/>
              <a:cxnLst/>
              <a:rect r="r" b="b" t="t" l="l"/>
              <a:pathLst>
                <a:path h="548640" w="7498080">
                  <a:moveTo>
                    <a:pt x="0" y="0"/>
                  </a:moveTo>
                  <a:lnTo>
                    <a:pt x="7498080" y="0"/>
                  </a:lnTo>
                  <a:lnTo>
                    <a:pt x="7498080" y="548640"/>
                  </a:lnTo>
                  <a:lnTo>
                    <a:pt x="0" y="548640"/>
                  </a:lnTo>
                  <a:close/>
                </a:path>
              </a:pathLst>
            </a:custGeom>
            <a:blipFill>
              <a:blip r:embed="rId2">
                <a:alphaModFix amt="0"/>
              </a:blip>
              <a:stretch>
                <a:fillRect l="0" t="-216295" r="0" b="-216295"/>
              </a:stretch>
            </a:blipFill>
          </p:spPr>
        </p:sp>
        <p:sp>
          <p:nvSpPr>
            <p:cNvPr name="TextBox 57" id="57"/>
            <p:cNvSpPr txBox="true"/>
            <p:nvPr/>
          </p:nvSpPr>
          <p:spPr>
            <a:xfrm>
              <a:off x="0" y="-19050"/>
              <a:ext cx="7498080" cy="567690"/>
            </a:xfrm>
            <a:prstGeom prst="rect">
              <a:avLst/>
            </a:prstGeom>
          </p:spPr>
          <p:txBody>
            <a:bodyPr anchor="ctr" rtlCol="false" tIns="0" lIns="0" bIns="0" rIns="0"/>
            <a:lstStyle/>
            <a:p>
              <a:pPr algn="l" marL="0" indent="0" lvl="0">
                <a:lnSpc>
                  <a:spcPts val="1889"/>
                </a:lnSpc>
                <a:spcBef>
                  <a:spcPct val="0"/>
                </a:spcBef>
              </a:pPr>
              <a:r>
                <a:rPr lang="en-US" b="true" sz="1575" spc="150" strike="noStrike" u="none">
                  <a:solidFill>
                    <a:srgbClr val="00E5C7"/>
                  </a:solidFill>
                  <a:latin typeface="Calibri (MS) Bold"/>
                  <a:ea typeface="Calibri (MS) Bold"/>
                  <a:cs typeface="Calibri (MS) Bold"/>
                  <a:sym typeface="Calibri (MS) Bold"/>
                </a:rPr>
                <a:t>CONFIGURATION DU SCRAPING</a:t>
              </a:r>
            </a:p>
          </p:txBody>
        </p:sp>
      </p:grpSp>
      <p:grpSp>
        <p:nvGrpSpPr>
          <p:cNvPr name="Group 58" id="58"/>
          <p:cNvGrpSpPr/>
          <p:nvPr/>
        </p:nvGrpSpPr>
        <p:grpSpPr>
          <a:xfrm rot="0">
            <a:off x="11452860" y="3497580"/>
            <a:ext cx="5623560" cy="1371600"/>
            <a:chOff x="0" y="0"/>
            <a:chExt cx="7498080" cy="1828800"/>
          </a:xfrm>
        </p:grpSpPr>
        <p:sp>
          <p:nvSpPr>
            <p:cNvPr name="Freeform 59" id="59"/>
            <p:cNvSpPr/>
            <p:nvPr/>
          </p:nvSpPr>
          <p:spPr>
            <a:xfrm flipH="false" flipV="false" rot="0">
              <a:off x="0" y="0"/>
              <a:ext cx="7498080" cy="1828800"/>
            </a:xfrm>
            <a:custGeom>
              <a:avLst/>
              <a:gdLst/>
              <a:ahLst/>
              <a:cxnLst/>
              <a:rect r="r" b="b" t="t" l="l"/>
              <a:pathLst>
                <a:path h="1828800" w="7498080">
                  <a:moveTo>
                    <a:pt x="0" y="0"/>
                  </a:moveTo>
                  <a:lnTo>
                    <a:pt x="7498080" y="0"/>
                  </a:lnTo>
                  <a:lnTo>
                    <a:pt x="7498080" y="1828800"/>
                  </a:lnTo>
                  <a:lnTo>
                    <a:pt x="0" y="1828800"/>
                  </a:lnTo>
                  <a:close/>
                </a:path>
              </a:pathLst>
            </a:custGeom>
            <a:blipFill>
              <a:blip r:embed="rId2">
                <a:alphaModFix amt="0"/>
              </a:blip>
              <a:stretch>
                <a:fillRect l="0" t="-29888" r="0" b="-29888"/>
              </a:stretch>
            </a:blipFill>
          </p:spPr>
        </p:sp>
        <p:sp>
          <p:nvSpPr>
            <p:cNvPr name="TextBox 60" id="60"/>
            <p:cNvSpPr txBox="true"/>
            <p:nvPr/>
          </p:nvSpPr>
          <p:spPr>
            <a:xfrm>
              <a:off x="0" y="-85725"/>
              <a:ext cx="7498080" cy="1914525"/>
            </a:xfrm>
            <a:prstGeom prst="rect">
              <a:avLst/>
            </a:prstGeom>
          </p:spPr>
          <p:txBody>
            <a:bodyPr anchor="ctr" rtlCol="false" tIns="0" lIns="0" bIns="0" rIns="0"/>
            <a:lstStyle/>
            <a:p>
              <a:pPr algn="l">
                <a:lnSpc>
                  <a:spcPts val="2574"/>
                </a:lnSpc>
              </a:pPr>
              <a:r>
                <a:rPr lang="en-US" sz="1650">
                  <a:solidFill>
                    <a:srgbClr val="FFFFFF"/>
                  </a:solidFill>
                  <a:latin typeface="Consolas"/>
                  <a:ea typeface="Consolas"/>
                  <a:cs typeface="Consolas"/>
                  <a:sym typeface="Consolas"/>
                </a:rPr>
                <a:t>scrape_interval: 15s</a:t>
              </a:r>
            </a:p>
            <a:p>
              <a:pPr algn="l">
                <a:lnSpc>
                  <a:spcPts val="2574"/>
                </a:lnSpc>
              </a:pPr>
              <a:r>
                <a:rPr lang="en-US" sz="1650">
                  <a:solidFill>
                    <a:srgbClr val="FFFFFF"/>
                  </a:solidFill>
                  <a:latin typeface="Consolas"/>
                  <a:ea typeface="Consolas"/>
                  <a:cs typeface="Consolas"/>
                  <a:sym typeface="Consolas"/>
                </a:rPr>
                <a:t>job_name: fastapi_anomaly_detection</a:t>
              </a:r>
            </a:p>
            <a:p>
              <a:pPr algn="l">
                <a:lnSpc>
                  <a:spcPts val="2574"/>
                </a:lnSpc>
              </a:pPr>
              <a:r>
                <a:rPr lang="en-US" sz="1650">
                  <a:solidFill>
                    <a:srgbClr val="FFFFFF"/>
                  </a:solidFill>
                  <a:latin typeface="Consolas"/>
                  <a:ea typeface="Consolas"/>
                  <a:cs typeface="Consolas"/>
                  <a:sym typeface="Consolas"/>
                </a:rPr>
                <a:t>target: fastapi-app:8000</a:t>
              </a:r>
            </a:p>
          </p:txBody>
        </p:sp>
      </p:grpSp>
      <p:sp>
        <p:nvSpPr>
          <p:cNvPr name="AutoShape 61" id="61"/>
          <p:cNvSpPr/>
          <p:nvPr/>
        </p:nvSpPr>
        <p:spPr>
          <a:xfrm rot="11580">
            <a:off x="11443316" y="5001578"/>
            <a:ext cx="5642639" cy="0"/>
          </a:xfrm>
          <a:prstGeom prst="line">
            <a:avLst/>
          </a:prstGeom>
          <a:ln cap="rnd" w="9525">
            <a:solidFill>
              <a:srgbClr val="1E3358"/>
            </a:solidFill>
            <a:prstDash val="solid"/>
            <a:headEnd type="none" len="sm" w="sm"/>
            <a:tailEnd type="none" len="sm" w="sm"/>
          </a:ln>
        </p:spPr>
      </p:sp>
      <p:sp>
        <p:nvSpPr>
          <p:cNvPr name="TextBox 62" id="62"/>
          <p:cNvSpPr txBox="true"/>
          <p:nvPr/>
        </p:nvSpPr>
        <p:spPr>
          <a:xfrm rot="0">
            <a:off x="11452860" y="5233035"/>
            <a:ext cx="5623560" cy="1345121"/>
          </a:xfrm>
          <a:prstGeom prst="rect">
            <a:avLst/>
          </a:prstGeom>
        </p:spPr>
        <p:txBody>
          <a:bodyPr anchor="t" rtlCol="false" tIns="0" lIns="0" bIns="0" rIns="0">
            <a:spAutoFit/>
          </a:bodyPr>
          <a:lstStyle/>
          <a:p>
            <a:pPr algn="l" marL="285036" indent="-142518" lvl="1">
              <a:lnSpc>
                <a:spcPts val="2173"/>
              </a:lnSpc>
              <a:spcBef>
                <a:spcPct val="0"/>
              </a:spcBef>
              <a:buFont typeface="Arial"/>
              <a:buChar char="•"/>
            </a:pPr>
            <a:r>
              <a:rPr lang="en-US" sz="1575" strike="noStrike" u="none">
                <a:solidFill>
                  <a:srgbClr val="9FB0C9"/>
                </a:solidFill>
                <a:latin typeface="Calibri (MS)"/>
                <a:ea typeface="Calibri (MS)"/>
                <a:cs typeface="Calibri (MS)"/>
                <a:sym typeface="Calibri (MS)"/>
              </a:rPr>
              <a:t>/metrics expose le format d'exposition Prometheus</a:t>
            </a:r>
          </a:p>
          <a:p>
            <a:pPr algn="l" marL="285036" indent="-142518" lvl="1">
              <a:lnSpc>
                <a:spcPts val="2173"/>
              </a:lnSpc>
              <a:spcBef>
                <a:spcPct val="0"/>
              </a:spcBef>
              <a:buFont typeface="Arial"/>
              <a:buChar char="•"/>
            </a:pPr>
            <a:r>
              <a:rPr lang="en-US" sz="1575" strike="noStrike" u="none">
                <a:solidFill>
                  <a:srgbClr val="9FB0C9"/>
                </a:solidFill>
                <a:latin typeface="Calibri (MS)"/>
                <a:ea typeface="Calibri (MS)"/>
                <a:cs typeface="Calibri (MS)"/>
                <a:sym typeface="Calibri (MS)"/>
              </a:rPr>
              <a:t>Les contrôles de santé n'acheminent le trafic que vers les instances saines</a:t>
            </a:r>
          </a:p>
          <a:p>
            <a:pPr algn="l" marL="285036" indent="-142518" lvl="1">
              <a:lnSpc>
                <a:spcPts val="2173"/>
              </a:lnSpc>
              <a:spcBef>
                <a:spcPct val="0"/>
              </a:spcBef>
              <a:buFont typeface="Arial"/>
              <a:buChar char="•"/>
            </a:pPr>
            <a:r>
              <a:rPr lang="en-US" sz="1575" strike="noStrike" u="none">
                <a:solidFill>
                  <a:srgbClr val="9FB0C9"/>
                </a:solidFill>
                <a:latin typeface="Calibri (MS)"/>
                <a:ea typeface="Calibri (MS)"/>
                <a:cs typeface="Calibri (MS)"/>
                <a:sym typeface="Calibri (MS)"/>
              </a:rPr>
              <a:t>Les erreurs sont assainies avant journalisation pour éviter les fuites d'informations</a:t>
            </a:r>
          </a:p>
        </p:txBody>
      </p:sp>
      <p:grpSp>
        <p:nvGrpSpPr>
          <p:cNvPr name="Group 63" id="63"/>
          <p:cNvGrpSpPr/>
          <p:nvPr/>
        </p:nvGrpSpPr>
        <p:grpSpPr>
          <a:xfrm rot="0">
            <a:off x="685800" y="9710928"/>
            <a:ext cx="10972800" cy="411480"/>
            <a:chOff x="0" y="0"/>
            <a:chExt cx="14630400" cy="548640"/>
          </a:xfrm>
        </p:grpSpPr>
        <p:sp>
          <p:nvSpPr>
            <p:cNvPr name="Freeform 64" id="6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5" id="65"/>
            <p:cNvSpPr txBox="true"/>
            <p:nvPr/>
          </p:nvSpPr>
          <p:spPr>
            <a:xfrm>
              <a:off x="0" y="-28575"/>
              <a:ext cx="14630400" cy="577215"/>
            </a:xfrm>
            <a:prstGeom prst="rect">
              <a:avLst/>
            </a:prstGeom>
          </p:spPr>
          <p:txBody>
            <a:bodyPr anchor="ctr" rtlCol="false" tIns="0" lIns="0" bIns="0" rIns="0"/>
            <a:lstStyle/>
            <a:p>
              <a:pPr algn="l" marL="0" indent="0" lvl="0">
                <a:lnSpc>
                  <a:spcPts val="1620"/>
                </a:lnSpc>
                <a:spcBef>
                  <a:spcPct val="0"/>
                </a:spcBef>
              </a:pPr>
              <a:r>
                <a:rPr lang="en-US" sz="1350" spc="149" strike="noStrike" u="none">
                  <a:solidFill>
                    <a:srgbClr val="6E84A6"/>
                  </a:solidFill>
                  <a:latin typeface="Calibri (MS)"/>
                  <a:ea typeface="Calibri (MS)"/>
                  <a:cs typeface="Calibri (MS)"/>
                  <a:sym typeface="Calibri (MS)"/>
                </a:rPr>
                <a:t>PLATEFORME MLSECOPS · BACKEND &amp; OBSERVABILITÉ</a:t>
              </a:r>
            </a:p>
          </p:txBody>
        </p:sp>
      </p:grpSp>
      <p:grpSp>
        <p:nvGrpSpPr>
          <p:cNvPr name="Group 66" id="66"/>
          <p:cNvGrpSpPr/>
          <p:nvPr/>
        </p:nvGrpSpPr>
        <p:grpSpPr>
          <a:xfrm rot="0">
            <a:off x="16500348" y="9710928"/>
            <a:ext cx="1097280" cy="411480"/>
            <a:chOff x="0" y="0"/>
            <a:chExt cx="1463040" cy="548640"/>
          </a:xfrm>
        </p:grpSpPr>
        <p:sp>
          <p:nvSpPr>
            <p:cNvPr name="Freeform 67" id="67"/>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68" id="68"/>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23 / 32</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marL="0" indent="0" lvl="0">
                <a:lnSpc>
                  <a:spcPts val="2250"/>
                </a:lnSpc>
                <a:spcBef>
                  <a:spcPct val="0"/>
                </a:spcBef>
              </a:pPr>
              <a:r>
                <a:rPr lang="en-US" b="true" sz="1875" spc="300" strike="noStrike" u="none">
                  <a:solidFill>
                    <a:srgbClr val="00E5C7"/>
                  </a:solidFill>
                  <a:latin typeface="Calibri (MS) Bold"/>
                  <a:ea typeface="Calibri (MS) Bold"/>
                  <a:cs typeface="Calibri (MS) Bold"/>
                  <a:sym typeface="Calibri (MS) Bold"/>
                </a:rPr>
                <a:t>BACKEND &amp; OBSERVABILITÉ</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marL="0" indent="0" lvl="0">
                <a:lnSpc>
                  <a:spcPts val="1800"/>
                </a:lnSpc>
                <a:spcBef>
                  <a:spcPct val="0"/>
                </a:spcBef>
              </a:pPr>
              <a:r>
                <a:rPr lang="en-US" b="true" sz="1500" spc="225" strike="noStrike" u="none">
                  <a:solidFill>
                    <a:srgbClr val="00E5C7"/>
                  </a:solidFill>
                  <a:latin typeface="Calibri (MS) Bold"/>
                  <a:ea typeface="Calibri (MS) Bold"/>
                  <a:cs typeface="Calibri (MS) Bold"/>
                  <a:sym typeface="Calibri (MS) Bold"/>
                </a:rPr>
                <a:t>INTERVENANT 6</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marL="0" indent="0" lvl="0">
                <a:lnSpc>
                  <a:spcPts val="1889"/>
                </a:lnSpc>
                <a:spcBef>
                  <a:spcPct val="0"/>
                </a:spcBef>
              </a:pPr>
              <a:r>
                <a:rPr lang="en-US" sz="1575" strike="noStrike" u="none">
                  <a:solidFill>
                    <a:srgbClr val="9FB0C9"/>
                  </a:solidFill>
                  <a:latin typeface="Calibri (MS)"/>
                  <a:ea typeface="Calibri (MS)"/>
                  <a:cs typeface="Calibri (MS)"/>
                  <a:sym typeface="Calibri (MS)"/>
                </a:rPr>
                <a:t>Houssame Bouyous — Ingénieur backend</a:t>
              </a:r>
            </a:p>
          </p:txBody>
        </p:sp>
      </p:grpSp>
      <p:grpSp>
        <p:nvGrpSpPr>
          <p:cNvPr name="Group 11" id="11"/>
          <p:cNvGrpSpPr/>
          <p:nvPr/>
        </p:nvGrpSpPr>
        <p:grpSpPr>
          <a:xfrm rot="0">
            <a:off x="822960" y="352150"/>
            <a:ext cx="16596360" cy="3516213"/>
            <a:chOff x="0" y="0"/>
            <a:chExt cx="22128480" cy="4688284"/>
          </a:xfrm>
        </p:grpSpPr>
        <p:sp>
          <p:nvSpPr>
            <p:cNvPr name="Freeform 12" id="12"/>
            <p:cNvSpPr/>
            <p:nvPr/>
          </p:nvSpPr>
          <p:spPr>
            <a:xfrm flipH="false" flipV="false" rot="0">
              <a:off x="0" y="0"/>
              <a:ext cx="22128480" cy="4688284"/>
            </a:xfrm>
            <a:custGeom>
              <a:avLst/>
              <a:gdLst/>
              <a:ahLst/>
              <a:cxnLst/>
              <a:rect r="r" b="b" t="t" l="l"/>
              <a:pathLst>
                <a:path h="4688284" w="22128480">
                  <a:moveTo>
                    <a:pt x="0" y="0"/>
                  </a:moveTo>
                  <a:lnTo>
                    <a:pt x="22128480" y="0"/>
                  </a:lnTo>
                  <a:lnTo>
                    <a:pt x="22128480" y="4688284"/>
                  </a:lnTo>
                  <a:lnTo>
                    <a:pt x="0" y="4688284"/>
                  </a:lnTo>
                  <a:close/>
                </a:path>
              </a:pathLst>
            </a:custGeom>
            <a:blipFill>
              <a:blip r:embed="rId2">
                <a:alphaModFix amt="0"/>
              </a:blip>
              <a:stretch>
                <a:fillRect l="0" t="-73439" r="0" b="-10497"/>
              </a:stretch>
            </a:blipFill>
          </p:spPr>
        </p:sp>
        <p:sp>
          <p:nvSpPr>
            <p:cNvPr name="TextBox 13" id="13"/>
            <p:cNvSpPr txBox="true"/>
            <p:nvPr/>
          </p:nvSpPr>
          <p:spPr>
            <a:xfrm>
              <a:off x="0" y="-9525"/>
              <a:ext cx="22128480" cy="4697809"/>
            </a:xfrm>
            <a:prstGeom prst="rect">
              <a:avLst/>
            </a:prstGeom>
          </p:spPr>
          <p:txBody>
            <a:bodyPr anchor="ctr" rtlCol="false" tIns="0" lIns="0" bIns="0" rIns="0"/>
            <a:lstStyle/>
            <a:p>
              <a:pPr algn="l" marL="0" indent="0" lvl="0">
                <a:lnSpc>
                  <a:spcPts val="5759"/>
                </a:lnSpc>
                <a:spcBef>
                  <a:spcPct val="0"/>
                </a:spcBef>
              </a:pPr>
              <a:r>
                <a:rPr lang="en-US" b="true" sz="4800" strike="noStrike" u="none">
                  <a:solidFill>
                    <a:srgbClr val="FFFFFF"/>
                  </a:solidFill>
                  <a:latin typeface="Cambria Bold"/>
                  <a:ea typeface="Cambria Bold"/>
                  <a:cs typeface="Cambria Bold"/>
                  <a:sym typeface="Cambria Bold"/>
                </a:rPr>
                <a:t>Supervision opérationnelle — Grafana</a:t>
              </a:r>
            </a:p>
          </p:txBody>
        </p:sp>
      </p:grpSp>
      <p:grpSp>
        <p:nvGrpSpPr>
          <p:cNvPr name="Group 14" id="14"/>
          <p:cNvGrpSpPr/>
          <p:nvPr/>
        </p:nvGrpSpPr>
        <p:grpSpPr>
          <a:xfrm rot="0">
            <a:off x="822960" y="2674620"/>
            <a:ext cx="4114800" cy="1028700"/>
            <a:chOff x="0" y="0"/>
            <a:chExt cx="5486400" cy="1371600"/>
          </a:xfrm>
        </p:grpSpPr>
        <p:sp>
          <p:nvSpPr>
            <p:cNvPr name="Freeform 15" id="15"/>
            <p:cNvSpPr/>
            <p:nvPr/>
          </p:nvSpPr>
          <p:spPr>
            <a:xfrm flipH="false" flipV="false" rot="0">
              <a:off x="0" y="0"/>
              <a:ext cx="5486400" cy="1371600"/>
            </a:xfrm>
            <a:custGeom>
              <a:avLst/>
              <a:gdLst/>
              <a:ahLst/>
              <a:cxnLst/>
              <a:rect r="r" b="b" t="t" l="l"/>
              <a:pathLst>
                <a:path h="1371600" w="5486400">
                  <a:moveTo>
                    <a:pt x="0" y="0"/>
                  </a:moveTo>
                  <a:lnTo>
                    <a:pt x="5486400" y="0"/>
                  </a:lnTo>
                  <a:lnTo>
                    <a:pt x="5486400" y="1371600"/>
                  </a:lnTo>
                  <a:lnTo>
                    <a:pt x="0" y="1371600"/>
                  </a:lnTo>
                  <a:close/>
                </a:path>
              </a:pathLst>
            </a:custGeom>
            <a:blipFill>
              <a:blip r:embed="rId2">
                <a:alphaModFix amt="0"/>
              </a:blip>
              <a:stretch>
                <a:fillRect l="0" t="-27940" r="0" b="-27940"/>
              </a:stretch>
            </a:blipFill>
          </p:spPr>
        </p:sp>
        <p:sp>
          <p:nvSpPr>
            <p:cNvPr name="TextBox 16" id="16"/>
            <p:cNvSpPr txBox="true"/>
            <p:nvPr/>
          </p:nvSpPr>
          <p:spPr>
            <a:xfrm>
              <a:off x="0" y="-9525"/>
              <a:ext cx="5486400" cy="1381125"/>
            </a:xfrm>
            <a:prstGeom prst="rect">
              <a:avLst/>
            </a:prstGeom>
          </p:spPr>
          <p:txBody>
            <a:bodyPr anchor="ctr" rtlCol="false" tIns="0" lIns="0" bIns="0" rIns="0"/>
            <a:lstStyle/>
            <a:p>
              <a:pPr algn="l">
                <a:lnSpc>
                  <a:spcPts val="7200"/>
                </a:lnSpc>
              </a:pPr>
              <a:r>
                <a:rPr lang="en-US" sz="6000" b="true">
                  <a:solidFill>
                    <a:srgbClr val="00E5C7"/>
                  </a:solidFill>
                  <a:latin typeface="Cambria Bold"/>
                  <a:ea typeface="Cambria Bold"/>
                  <a:cs typeface="Cambria Bold"/>
                  <a:sym typeface="Cambria Bold"/>
                </a:rPr>
                <a:t>0</a:t>
              </a:r>
            </a:p>
          </p:txBody>
        </p:sp>
      </p:grpSp>
      <p:grpSp>
        <p:nvGrpSpPr>
          <p:cNvPr name="Group 17" id="17"/>
          <p:cNvGrpSpPr/>
          <p:nvPr/>
        </p:nvGrpSpPr>
        <p:grpSpPr>
          <a:xfrm rot="0">
            <a:off x="822960" y="3662172"/>
            <a:ext cx="4114800" cy="685800"/>
            <a:chOff x="0" y="0"/>
            <a:chExt cx="5486400" cy="914400"/>
          </a:xfrm>
        </p:grpSpPr>
        <p:sp>
          <p:nvSpPr>
            <p:cNvPr name="Freeform 18" id="18"/>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2">
                <a:alphaModFix amt="0"/>
              </a:blip>
              <a:stretch>
                <a:fillRect l="0" t="-66910" r="0" b="-66910"/>
              </a:stretch>
            </a:blipFill>
          </p:spPr>
        </p:sp>
        <p:sp>
          <p:nvSpPr>
            <p:cNvPr name="TextBox 19" id="19"/>
            <p:cNvSpPr txBox="true"/>
            <p:nvPr/>
          </p:nvSpPr>
          <p:spPr>
            <a:xfrm>
              <a:off x="0" y="-19050"/>
              <a:ext cx="5486400" cy="933450"/>
            </a:xfrm>
            <a:prstGeom prst="rect">
              <a:avLst/>
            </a:prstGeom>
          </p:spPr>
          <p:txBody>
            <a:bodyPr anchor="ctr" rtlCol="false" tIns="0" lIns="0" bIns="0" rIns="0"/>
            <a:lstStyle/>
            <a:p>
              <a:pPr algn="l" marL="0" indent="0" lvl="0">
                <a:lnSpc>
                  <a:spcPts val="1889"/>
                </a:lnSpc>
                <a:spcBef>
                  <a:spcPct val="0"/>
                </a:spcBef>
              </a:pPr>
              <a:r>
                <a:rPr lang="en-US" sz="1575" spc="150" strike="noStrike" u="none">
                  <a:solidFill>
                    <a:srgbClr val="9FB0C9"/>
                  </a:solidFill>
                  <a:latin typeface="Calibri (MS)"/>
                  <a:ea typeface="Calibri (MS)"/>
                  <a:cs typeface="Calibri (MS)"/>
                  <a:sym typeface="Calibri (MS)"/>
                </a:rPr>
                <a:t>ANOMALIES RÉCENTES (EN DIRECT)</a:t>
              </a:r>
            </a:p>
          </p:txBody>
        </p:sp>
      </p:grpSp>
      <p:grpSp>
        <p:nvGrpSpPr>
          <p:cNvPr name="Group 20" id="20"/>
          <p:cNvGrpSpPr/>
          <p:nvPr/>
        </p:nvGrpSpPr>
        <p:grpSpPr>
          <a:xfrm rot="0">
            <a:off x="5074920" y="2674620"/>
            <a:ext cx="4114800" cy="1028700"/>
            <a:chOff x="0" y="0"/>
            <a:chExt cx="5486400" cy="1371600"/>
          </a:xfrm>
        </p:grpSpPr>
        <p:sp>
          <p:nvSpPr>
            <p:cNvPr name="Freeform 21" id="21"/>
            <p:cNvSpPr/>
            <p:nvPr/>
          </p:nvSpPr>
          <p:spPr>
            <a:xfrm flipH="false" flipV="false" rot="0">
              <a:off x="0" y="0"/>
              <a:ext cx="5486400" cy="1371600"/>
            </a:xfrm>
            <a:custGeom>
              <a:avLst/>
              <a:gdLst/>
              <a:ahLst/>
              <a:cxnLst/>
              <a:rect r="r" b="b" t="t" l="l"/>
              <a:pathLst>
                <a:path h="1371600" w="5486400">
                  <a:moveTo>
                    <a:pt x="0" y="0"/>
                  </a:moveTo>
                  <a:lnTo>
                    <a:pt x="5486400" y="0"/>
                  </a:lnTo>
                  <a:lnTo>
                    <a:pt x="5486400" y="1371600"/>
                  </a:lnTo>
                  <a:lnTo>
                    <a:pt x="0" y="1371600"/>
                  </a:lnTo>
                  <a:close/>
                </a:path>
              </a:pathLst>
            </a:custGeom>
            <a:blipFill>
              <a:blip r:embed="rId2">
                <a:alphaModFix amt="0"/>
              </a:blip>
              <a:stretch>
                <a:fillRect l="0" t="-27940" r="0" b="-27940"/>
              </a:stretch>
            </a:blipFill>
          </p:spPr>
        </p:sp>
        <p:sp>
          <p:nvSpPr>
            <p:cNvPr name="TextBox 22" id="22"/>
            <p:cNvSpPr txBox="true"/>
            <p:nvPr/>
          </p:nvSpPr>
          <p:spPr>
            <a:xfrm>
              <a:off x="0" y="-9525"/>
              <a:ext cx="5486400" cy="1381125"/>
            </a:xfrm>
            <a:prstGeom prst="rect">
              <a:avLst/>
            </a:prstGeom>
          </p:spPr>
          <p:txBody>
            <a:bodyPr anchor="ctr" rtlCol="false" tIns="0" lIns="0" bIns="0" rIns="0"/>
            <a:lstStyle/>
            <a:p>
              <a:pPr algn="l">
                <a:lnSpc>
                  <a:spcPts val="7200"/>
                </a:lnSpc>
              </a:pPr>
              <a:r>
                <a:rPr lang="en-US" sz="6000" b="true">
                  <a:solidFill>
                    <a:srgbClr val="4C7CFF"/>
                  </a:solidFill>
                  <a:latin typeface="Cambria Bold"/>
                  <a:ea typeface="Cambria Bold"/>
                  <a:cs typeface="Cambria Bold"/>
                  <a:sym typeface="Cambria Bold"/>
                </a:rPr>
                <a:t>82</a:t>
              </a:r>
            </a:p>
          </p:txBody>
        </p:sp>
      </p:grpSp>
      <p:grpSp>
        <p:nvGrpSpPr>
          <p:cNvPr name="Group 23" id="23"/>
          <p:cNvGrpSpPr/>
          <p:nvPr/>
        </p:nvGrpSpPr>
        <p:grpSpPr>
          <a:xfrm rot="0">
            <a:off x="5074920" y="3662172"/>
            <a:ext cx="4114800" cy="685800"/>
            <a:chOff x="0" y="0"/>
            <a:chExt cx="5486400" cy="914400"/>
          </a:xfrm>
        </p:grpSpPr>
        <p:sp>
          <p:nvSpPr>
            <p:cNvPr name="Freeform 24" id="24"/>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2">
                <a:alphaModFix amt="0"/>
              </a:blip>
              <a:stretch>
                <a:fillRect l="0" t="-66910" r="0" b="-66910"/>
              </a:stretch>
            </a:blipFill>
          </p:spPr>
        </p:sp>
        <p:sp>
          <p:nvSpPr>
            <p:cNvPr name="TextBox 25" id="25"/>
            <p:cNvSpPr txBox="true"/>
            <p:nvPr/>
          </p:nvSpPr>
          <p:spPr>
            <a:xfrm>
              <a:off x="0" y="-19050"/>
              <a:ext cx="5486400" cy="933450"/>
            </a:xfrm>
            <a:prstGeom prst="rect">
              <a:avLst/>
            </a:prstGeom>
          </p:spPr>
          <p:txBody>
            <a:bodyPr anchor="ctr" rtlCol="false" tIns="0" lIns="0" bIns="0" rIns="0"/>
            <a:lstStyle/>
            <a:p>
              <a:pPr algn="l" marL="0" indent="0" lvl="0">
                <a:lnSpc>
                  <a:spcPts val="1889"/>
                </a:lnSpc>
                <a:spcBef>
                  <a:spcPct val="0"/>
                </a:spcBef>
              </a:pPr>
              <a:r>
                <a:rPr lang="en-US" sz="1575" spc="150" strike="noStrike" u="none">
                  <a:solidFill>
                    <a:srgbClr val="9FB0C9"/>
                  </a:solidFill>
                  <a:latin typeface="Calibri (MS)"/>
                  <a:ea typeface="Calibri (MS)"/>
                  <a:cs typeface="Calibri (MS)"/>
                  <a:sym typeface="Calibri (MS)"/>
                </a:rPr>
                <a:t>PRÉDICTIONS CUMULÉES</a:t>
              </a:r>
            </a:p>
          </p:txBody>
        </p:sp>
      </p:grpSp>
      <p:grpSp>
        <p:nvGrpSpPr>
          <p:cNvPr name="Group 26" id="26"/>
          <p:cNvGrpSpPr/>
          <p:nvPr/>
        </p:nvGrpSpPr>
        <p:grpSpPr>
          <a:xfrm rot="0">
            <a:off x="9326880" y="2674620"/>
            <a:ext cx="4114800" cy="1028700"/>
            <a:chOff x="0" y="0"/>
            <a:chExt cx="5486400" cy="1371600"/>
          </a:xfrm>
        </p:grpSpPr>
        <p:sp>
          <p:nvSpPr>
            <p:cNvPr name="Freeform 27" id="27"/>
            <p:cNvSpPr/>
            <p:nvPr/>
          </p:nvSpPr>
          <p:spPr>
            <a:xfrm flipH="false" flipV="false" rot="0">
              <a:off x="0" y="0"/>
              <a:ext cx="5486400" cy="1371600"/>
            </a:xfrm>
            <a:custGeom>
              <a:avLst/>
              <a:gdLst/>
              <a:ahLst/>
              <a:cxnLst/>
              <a:rect r="r" b="b" t="t" l="l"/>
              <a:pathLst>
                <a:path h="1371600" w="5486400">
                  <a:moveTo>
                    <a:pt x="0" y="0"/>
                  </a:moveTo>
                  <a:lnTo>
                    <a:pt x="5486400" y="0"/>
                  </a:lnTo>
                  <a:lnTo>
                    <a:pt x="5486400" y="1371600"/>
                  </a:lnTo>
                  <a:lnTo>
                    <a:pt x="0" y="1371600"/>
                  </a:lnTo>
                  <a:close/>
                </a:path>
              </a:pathLst>
            </a:custGeom>
            <a:blipFill>
              <a:blip r:embed="rId2">
                <a:alphaModFix amt="0"/>
              </a:blip>
              <a:stretch>
                <a:fillRect l="0" t="-27940" r="0" b="-27940"/>
              </a:stretch>
            </a:blipFill>
          </p:spPr>
        </p:sp>
        <p:sp>
          <p:nvSpPr>
            <p:cNvPr name="TextBox 28" id="28"/>
            <p:cNvSpPr txBox="true"/>
            <p:nvPr/>
          </p:nvSpPr>
          <p:spPr>
            <a:xfrm>
              <a:off x="0" y="-9525"/>
              <a:ext cx="5486400" cy="1381125"/>
            </a:xfrm>
            <a:prstGeom prst="rect">
              <a:avLst/>
            </a:prstGeom>
          </p:spPr>
          <p:txBody>
            <a:bodyPr anchor="ctr" rtlCol="false" tIns="0" lIns="0" bIns="0" rIns="0"/>
            <a:lstStyle/>
            <a:p>
              <a:pPr algn="l">
                <a:lnSpc>
                  <a:spcPts val="7200"/>
                </a:lnSpc>
              </a:pPr>
              <a:r>
                <a:rPr lang="en-US" sz="6000" b="true">
                  <a:solidFill>
                    <a:srgbClr val="FFB020"/>
                  </a:solidFill>
                  <a:latin typeface="Cambria Bold"/>
                  <a:ea typeface="Cambria Bold"/>
                  <a:cs typeface="Cambria Bold"/>
                  <a:sym typeface="Cambria Bold"/>
                </a:rPr>
                <a:t>15s</a:t>
              </a:r>
            </a:p>
          </p:txBody>
        </p:sp>
      </p:grpSp>
      <p:grpSp>
        <p:nvGrpSpPr>
          <p:cNvPr name="Group 29" id="29"/>
          <p:cNvGrpSpPr/>
          <p:nvPr/>
        </p:nvGrpSpPr>
        <p:grpSpPr>
          <a:xfrm rot="0">
            <a:off x="9326880" y="3662172"/>
            <a:ext cx="4114800" cy="685800"/>
            <a:chOff x="0" y="0"/>
            <a:chExt cx="5486400" cy="914400"/>
          </a:xfrm>
        </p:grpSpPr>
        <p:sp>
          <p:nvSpPr>
            <p:cNvPr name="Freeform 30" id="30"/>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2">
                <a:alphaModFix amt="0"/>
              </a:blip>
              <a:stretch>
                <a:fillRect l="0" t="-66910" r="0" b="-66910"/>
              </a:stretch>
            </a:blipFill>
          </p:spPr>
        </p:sp>
        <p:sp>
          <p:nvSpPr>
            <p:cNvPr name="TextBox 31" id="31"/>
            <p:cNvSpPr txBox="true"/>
            <p:nvPr/>
          </p:nvSpPr>
          <p:spPr>
            <a:xfrm>
              <a:off x="0" y="-19050"/>
              <a:ext cx="5486400" cy="933450"/>
            </a:xfrm>
            <a:prstGeom prst="rect">
              <a:avLst/>
            </a:prstGeom>
          </p:spPr>
          <p:txBody>
            <a:bodyPr anchor="ctr" rtlCol="false" tIns="0" lIns="0" bIns="0" rIns="0"/>
            <a:lstStyle/>
            <a:p>
              <a:pPr algn="l" marL="0" indent="0" lvl="0">
                <a:lnSpc>
                  <a:spcPts val="1889"/>
                </a:lnSpc>
                <a:spcBef>
                  <a:spcPct val="0"/>
                </a:spcBef>
              </a:pPr>
              <a:r>
                <a:rPr lang="en-US" sz="1575" spc="150" strike="noStrike" u="none">
                  <a:solidFill>
                    <a:srgbClr val="9FB0C9"/>
                  </a:solidFill>
                  <a:latin typeface="Calibri (MS)"/>
                  <a:ea typeface="Calibri (MS)"/>
                  <a:cs typeface="Calibri (MS)"/>
                  <a:sym typeface="Calibri (MS)"/>
                </a:rPr>
                <a:t>INTERVALLE DE SCRAPING PROMETHEUS</a:t>
              </a:r>
            </a:p>
          </p:txBody>
        </p:sp>
      </p:grpSp>
      <p:grpSp>
        <p:nvGrpSpPr>
          <p:cNvPr name="Group 32" id="32"/>
          <p:cNvGrpSpPr/>
          <p:nvPr/>
        </p:nvGrpSpPr>
        <p:grpSpPr>
          <a:xfrm rot="0">
            <a:off x="813435" y="4379595"/>
            <a:ext cx="16615410" cy="4202430"/>
            <a:chOff x="0" y="0"/>
            <a:chExt cx="22153880" cy="5603240"/>
          </a:xfrm>
        </p:grpSpPr>
        <p:sp>
          <p:nvSpPr>
            <p:cNvPr name="Freeform 33" id="33"/>
            <p:cNvSpPr/>
            <p:nvPr/>
          </p:nvSpPr>
          <p:spPr>
            <a:xfrm flipH="false" flipV="false" rot="0">
              <a:off x="0" y="0"/>
              <a:ext cx="22153879" cy="5603240"/>
            </a:xfrm>
            <a:custGeom>
              <a:avLst/>
              <a:gdLst/>
              <a:ahLst/>
              <a:cxnLst/>
              <a:rect r="r" b="b" t="t" l="l"/>
              <a:pathLst>
                <a:path h="5603240" w="22153879">
                  <a:moveTo>
                    <a:pt x="0" y="146939"/>
                  </a:moveTo>
                  <a:cubicBezTo>
                    <a:pt x="0" y="65786"/>
                    <a:pt x="65786" y="0"/>
                    <a:pt x="146939" y="0"/>
                  </a:cubicBezTo>
                  <a:lnTo>
                    <a:pt x="22006940" y="0"/>
                  </a:lnTo>
                  <a:cubicBezTo>
                    <a:pt x="22088094" y="0"/>
                    <a:pt x="22153879" y="65786"/>
                    <a:pt x="22153879" y="146939"/>
                  </a:cubicBezTo>
                  <a:lnTo>
                    <a:pt x="22153879" y="5456301"/>
                  </a:lnTo>
                  <a:cubicBezTo>
                    <a:pt x="22153879" y="5537454"/>
                    <a:pt x="22088094" y="5603240"/>
                    <a:pt x="22006940" y="5603240"/>
                  </a:cubicBezTo>
                  <a:lnTo>
                    <a:pt x="146939" y="5603240"/>
                  </a:lnTo>
                  <a:cubicBezTo>
                    <a:pt x="65786" y="5603240"/>
                    <a:pt x="0" y="5537454"/>
                    <a:pt x="0" y="5456301"/>
                  </a:cubicBezTo>
                  <a:close/>
                </a:path>
              </a:pathLst>
            </a:custGeom>
            <a:solidFill>
              <a:srgbClr val="13294A"/>
            </a:solidFill>
            <a:ln w="19050" cap="sq">
              <a:solidFill>
                <a:srgbClr val="1E3358"/>
              </a:solidFill>
              <a:prstDash val="solid"/>
              <a:miter/>
            </a:ln>
          </p:spPr>
        </p:sp>
      </p:grpSp>
      <p:grpSp>
        <p:nvGrpSpPr>
          <p:cNvPr name="Group 34" id="34"/>
          <p:cNvGrpSpPr/>
          <p:nvPr/>
        </p:nvGrpSpPr>
        <p:grpSpPr>
          <a:xfrm rot="0">
            <a:off x="1234440" y="4663440"/>
            <a:ext cx="10972800" cy="411480"/>
            <a:chOff x="0" y="0"/>
            <a:chExt cx="14630400" cy="548640"/>
          </a:xfrm>
        </p:grpSpPr>
        <p:sp>
          <p:nvSpPr>
            <p:cNvPr name="Freeform 35" id="3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36" id="36"/>
            <p:cNvSpPr txBox="true"/>
            <p:nvPr/>
          </p:nvSpPr>
          <p:spPr>
            <a:xfrm>
              <a:off x="0" y="-19050"/>
              <a:ext cx="14630400" cy="567690"/>
            </a:xfrm>
            <a:prstGeom prst="rect">
              <a:avLst/>
            </a:prstGeom>
          </p:spPr>
          <p:txBody>
            <a:bodyPr anchor="ctr" rtlCol="false" tIns="0" lIns="0" bIns="0" rIns="0"/>
            <a:lstStyle/>
            <a:p>
              <a:pPr algn="l" marL="0" indent="0" lvl="0">
                <a:lnSpc>
                  <a:spcPts val="1889"/>
                </a:lnSpc>
                <a:spcBef>
                  <a:spcPct val="0"/>
                </a:spcBef>
              </a:pPr>
              <a:r>
                <a:rPr lang="en-US" b="true" sz="1575" spc="150" strike="noStrike" u="none">
                  <a:solidFill>
                    <a:srgbClr val="00E5C7"/>
                  </a:solidFill>
                  <a:latin typeface="Calibri (MS) Bold"/>
                  <a:ea typeface="Calibri (MS) Bold"/>
                  <a:cs typeface="Calibri (MS) Bold"/>
                  <a:sym typeface="Calibri (MS) Bold"/>
                </a:rPr>
                <a:t>COMPOSITION DU TABLEAU DE BORD</a:t>
              </a:r>
            </a:p>
          </p:txBody>
        </p:sp>
      </p:grpSp>
      <p:grpSp>
        <p:nvGrpSpPr>
          <p:cNvPr name="Group 37" id="37"/>
          <p:cNvGrpSpPr/>
          <p:nvPr/>
        </p:nvGrpSpPr>
        <p:grpSpPr>
          <a:xfrm rot="0">
            <a:off x="1224915" y="5202555"/>
            <a:ext cx="3928110" cy="3036570"/>
            <a:chOff x="0" y="0"/>
            <a:chExt cx="5237480" cy="4048760"/>
          </a:xfrm>
        </p:grpSpPr>
        <p:sp>
          <p:nvSpPr>
            <p:cNvPr name="Freeform 38" id="38"/>
            <p:cNvSpPr/>
            <p:nvPr/>
          </p:nvSpPr>
          <p:spPr>
            <a:xfrm flipH="false" flipV="false" rot="0">
              <a:off x="0" y="0"/>
              <a:ext cx="5237480" cy="4048760"/>
            </a:xfrm>
            <a:custGeom>
              <a:avLst/>
              <a:gdLst/>
              <a:ahLst/>
              <a:cxnLst/>
              <a:rect r="r" b="b" t="t" l="l"/>
              <a:pathLst>
                <a:path h="4048760" w="5237480">
                  <a:moveTo>
                    <a:pt x="0" y="147193"/>
                  </a:moveTo>
                  <a:cubicBezTo>
                    <a:pt x="0" y="65913"/>
                    <a:pt x="65913" y="0"/>
                    <a:pt x="147193" y="0"/>
                  </a:cubicBezTo>
                  <a:lnTo>
                    <a:pt x="5090287" y="0"/>
                  </a:lnTo>
                  <a:cubicBezTo>
                    <a:pt x="5171567" y="0"/>
                    <a:pt x="5237480" y="65913"/>
                    <a:pt x="5237480" y="147193"/>
                  </a:cubicBezTo>
                  <a:lnTo>
                    <a:pt x="5237480" y="3901567"/>
                  </a:lnTo>
                  <a:cubicBezTo>
                    <a:pt x="5237480" y="3982847"/>
                    <a:pt x="5171567" y="4048760"/>
                    <a:pt x="5090287" y="4048760"/>
                  </a:cubicBezTo>
                  <a:lnTo>
                    <a:pt x="147193" y="4048760"/>
                  </a:lnTo>
                  <a:cubicBezTo>
                    <a:pt x="65913" y="4048760"/>
                    <a:pt x="0" y="3982847"/>
                    <a:pt x="0" y="3901567"/>
                  </a:cubicBezTo>
                  <a:close/>
                </a:path>
              </a:pathLst>
            </a:custGeom>
            <a:solidFill>
              <a:srgbClr val="0F2038"/>
            </a:solidFill>
            <a:ln w="19050" cap="sq">
              <a:solidFill>
                <a:srgbClr val="1E3358"/>
              </a:solidFill>
              <a:prstDash val="solid"/>
              <a:miter/>
            </a:ln>
          </p:spPr>
        </p:sp>
      </p:grpSp>
      <p:grpSp>
        <p:nvGrpSpPr>
          <p:cNvPr name="Group 39" id="39"/>
          <p:cNvGrpSpPr/>
          <p:nvPr/>
        </p:nvGrpSpPr>
        <p:grpSpPr>
          <a:xfrm rot="0">
            <a:off x="1508760" y="5417820"/>
            <a:ext cx="3360420" cy="480060"/>
            <a:chOff x="0" y="0"/>
            <a:chExt cx="4480560" cy="640080"/>
          </a:xfrm>
        </p:grpSpPr>
        <p:sp>
          <p:nvSpPr>
            <p:cNvPr name="Freeform 40" id="40"/>
            <p:cNvSpPr/>
            <p:nvPr/>
          </p:nvSpPr>
          <p:spPr>
            <a:xfrm flipH="false" flipV="false" rot="0">
              <a:off x="0" y="0"/>
              <a:ext cx="4480560" cy="640080"/>
            </a:xfrm>
            <a:custGeom>
              <a:avLst/>
              <a:gdLst/>
              <a:ahLst/>
              <a:cxnLst/>
              <a:rect r="r" b="b" t="t" l="l"/>
              <a:pathLst>
                <a:path h="640080" w="4480560">
                  <a:moveTo>
                    <a:pt x="0" y="0"/>
                  </a:moveTo>
                  <a:lnTo>
                    <a:pt x="4480560" y="0"/>
                  </a:lnTo>
                  <a:lnTo>
                    <a:pt x="4480560" y="640080"/>
                  </a:lnTo>
                  <a:lnTo>
                    <a:pt x="0" y="640080"/>
                  </a:lnTo>
                  <a:close/>
                </a:path>
              </a:pathLst>
            </a:custGeom>
            <a:blipFill>
              <a:blip r:embed="rId2">
                <a:alphaModFix amt="0"/>
              </a:blip>
              <a:stretch>
                <a:fillRect l="0" t="-86395" r="0" b="-86395"/>
              </a:stretch>
            </a:blipFill>
          </p:spPr>
        </p:sp>
        <p:sp>
          <p:nvSpPr>
            <p:cNvPr name="TextBox 41" id="41"/>
            <p:cNvSpPr txBox="true"/>
            <p:nvPr/>
          </p:nvSpPr>
          <p:spPr>
            <a:xfrm>
              <a:off x="0" y="-38100"/>
              <a:ext cx="4480560" cy="678180"/>
            </a:xfrm>
            <a:prstGeom prst="rect">
              <a:avLst/>
            </a:prstGeom>
          </p:spPr>
          <p:txBody>
            <a:bodyPr anchor="ctr" rtlCol="false" tIns="0" lIns="0" bIns="0" rIns="0"/>
            <a:lstStyle/>
            <a:p>
              <a:pPr algn="l" marL="0" indent="0" lvl="0">
                <a:lnSpc>
                  <a:spcPts val="2160"/>
                </a:lnSpc>
                <a:spcBef>
                  <a:spcPct val="0"/>
                </a:spcBef>
              </a:pPr>
              <a:r>
                <a:rPr lang="en-US" b="true" sz="1800" strike="noStrike" u="none">
                  <a:solidFill>
                    <a:srgbClr val="FFFFFF"/>
                  </a:solidFill>
                  <a:latin typeface="Calibri (MS) Bold"/>
                  <a:ea typeface="Calibri (MS) Bold"/>
                  <a:cs typeface="Calibri (MS) Bold"/>
                  <a:sym typeface="Calibri (MS) Bold"/>
                </a:rPr>
                <a:t>Série temporelle</a:t>
              </a:r>
            </a:p>
          </p:txBody>
        </p:sp>
      </p:grpSp>
      <p:grpSp>
        <p:nvGrpSpPr>
          <p:cNvPr name="Group 42" id="42"/>
          <p:cNvGrpSpPr/>
          <p:nvPr/>
        </p:nvGrpSpPr>
        <p:grpSpPr>
          <a:xfrm rot="0">
            <a:off x="1508760" y="5897880"/>
            <a:ext cx="3360420" cy="1920240"/>
            <a:chOff x="0" y="0"/>
            <a:chExt cx="4480560" cy="2560320"/>
          </a:xfrm>
        </p:grpSpPr>
        <p:sp>
          <p:nvSpPr>
            <p:cNvPr name="Freeform 43" id="43"/>
            <p:cNvSpPr/>
            <p:nvPr/>
          </p:nvSpPr>
          <p:spPr>
            <a:xfrm flipH="false" flipV="false" rot="0">
              <a:off x="0" y="0"/>
              <a:ext cx="4480560" cy="2560320"/>
            </a:xfrm>
            <a:custGeom>
              <a:avLst/>
              <a:gdLst/>
              <a:ahLst/>
              <a:cxnLst/>
              <a:rect r="r" b="b" t="t" l="l"/>
              <a:pathLst>
                <a:path h="2560320" w="4480560">
                  <a:moveTo>
                    <a:pt x="0" y="0"/>
                  </a:moveTo>
                  <a:lnTo>
                    <a:pt x="4480560" y="0"/>
                  </a:lnTo>
                  <a:lnTo>
                    <a:pt x="4480560" y="2560320"/>
                  </a:lnTo>
                  <a:lnTo>
                    <a:pt x="0" y="2560320"/>
                  </a:lnTo>
                  <a:close/>
                </a:path>
              </a:pathLst>
            </a:custGeom>
            <a:blipFill>
              <a:blip r:embed="rId2">
                <a:alphaModFix amt="0"/>
              </a:blip>
              <a:stretch>
                <a:fillRect l="-23316" t="0" r="-23316" b="0"/>
              </a:stretch>
            </a:blipFill>
          </p:spPr>
        </p:sp>
        <p:sp>
          <p:nvSpPr>
            <p:cNvPr name="TextBox 44" id="44"/>
            <p:cNvSpPr txBox="true"/>
            <p:nvPr/>
          </p:nvSpPr>
          <p:spPr>
            <a:xfrm>
              <a:off x="0" y="-38100"/>
              <a:ext cx="4480560" cy="2598420"/>
            </a:xfrm>
            <a:prstGeom prst="rect">
              <a:avLst/>
            </a:prstGeom>
          </p:spPr>
          <p:txBody>
            <a:bodyPr anchor="ctr" rtlCol="false" tIns="0" lIns="0" bIns="0" rIns="0"/>
            <a:lstStyle/>
            <a:p>
              <a:pPr algn="l" marL="0" indent="0" lvl="0">
                <a:lnSpc>
                  <a:spcPts val="1800"/>
                </a:lnSpc>
                <a:spcBef>
                  <a:spcPct val="0"/>
                </a:spcBef>
              </a:pPr>
              <a:r>
                <a:rPr lang="en-US" sz="1500" strike="noStrike" u="none">
                  <a:solidFill>
                    <a:srgbClr val="9FB0C9"/>
                  </a:solidFill>
                  <a:latin typeface="Calibri (MS)"/>
                  <a:ea typeface="Calibri (MS)"/>
                  <a:cs typeface="Calibri (MS)"/>
                  <a:sym typeface="Calibri (MS)"/>
                </a:rPr>
                <a:t>anomalies_detected_total au fil du temps</a:t>
              </a:r>
            </a:p>
          </p:txBody>
        </p:sp>
      </p:grpSp>
      <p:grpSp>
        <p:nvGrpSpPr>
          <p:cNvPr name="Group 45" id="45"/>
          <p:cNvGrpSpPr/>
          <p:nvPr/>
        </p:nvGrpSpPr>
        <p:grpSpPr>
          <a:xfrm rot="0">
            <a:off x="5339715" y="5202555"/>
            <a:ext cx="3928110" cy="3036570"/>
            <a:chOff x="0" y="0"/>
            <a:chExt cx="5237480" cy="4048760"/>
          </a:xfrm>
        </p:grpSpPr>
        <p:sp>
          <p:nvSpPr>
            <p:cNvPr name="Freeform 46" id="46"/>
            <p:cNvSpPr/>
            <p:nvPr/>
          </p:nvSpPr>
          <p:spPr>
            <a:xfrm flipH="false" flipV="false" rot="0">
              <a:off x="0" y="0"/>
              <a:ext cx="5237480" cy="4048760"/>
            </a:xfrm>
            <a:custGeom>
              <a:avLst/>
              <a:gdLst/>
              <a:ahLst/>
              <a:cxnLst/>
              <a:rect r="r" b="b" t="t" l="l"/>
              <a:pathLst>
                <a:path h="4048760" w="5237480">
                  <a:moveTo>
                    <a:pt x="0" y="147193"/>
                  </a:moveTo>
                  <a:cubicBezTo>
                    <a:pt x="0" y="65913"/>
                    <a:pt x="65913" y="0"/>
                    <a:pt x="147193" y="0"/>
                  </a:cubicBezTo>
                  <a:lnTo>
                    <a:pt x="5090287" y="0"/>
                  </a:lnTo>
                  <a:cubicBezTo>
                    <a:pt x="5171567" y="0"/>
                    <a:pt x="5237480" y="65913"/>
                    <a:pt x="5237480" y="147193"/>
                  </a:cubicBezTo>
                  <a:lnTo>
                    <a:pt x="5237480" y="3901567"/>
                  </a:lnTo>
                  <a:cubicBezTo>
                    <a:pt x="5237480" y="3982847"/>
                    <a:pt x="5171567" y="4048760"/>
                    <a:pt x="5090287" y="4048760"/>
                  </a:cubicBezTo>
                  <a:lnTo>
                    <a:pt x="147193" y="4048760"/>
                  </a:lnTo>
                  <a:cubicBezTo>
                    <a:pt x="65913" y="4048760"/>
                    <a:pt x="0" y="3982847"/>
                    <a:pt x="0" y="3901567"/>
                  </a:cubicBezTo>
                  <a:close/>
                </a:path>
              </a:pathLst>
            </a:custGeom>
            <a:solidFill>
              <a:srgbClr val="0F2038"/>
            </a:solidFill>
            <a:ln w="19050" cap="sq">
              <a:solidFill>
                <a:srgbClr val="1E3358"/>
              </a:solidFill>
              <a:prstDash val="solid"/>
              <a:miter/>
            </a:ln>
          </p:spPr>
        </p:sp>
      </p:grpSp>
      <p:grpSp>
        <p:nvGrpSpPr>
          <p:cNvPr name="Group 47" id="47"/>
          <p:cNvGrpSpPr/>
          <p:nvPr/>
        </p:nvGrpSpPr>
        <p:grpSpPr>
          <a:xfrm rot="0">
            <a:off x="5623560" y="5417820"/>
            <a:ext cx="3360420" cy="480060"/>
            <a:chOff x="0" y="0"/>
            <a:chExt cx="4480560" cy="640080"/>
          </a:xfrm>
        </p:grpSpPr>
        <p:sp>
          <p:nvSpPr>
            <p:cNvPr name="Freeform 48" id="48"/>
            <p:cNvSpPr/>
            <p:nvPr/>
          </p:nvSpPr>
          <p:spPr>
            <a:xfrm flipH="false" flipV="false" rot="0">
              <a:off x="0" y="0"/>
              <a:ext cx="4480560" cy="640080"/>
            </a:xfrm>
            <a:custGeom>
              <a:avLst/>
              <a:gdLst/>
              <a:ahLst/>
              <a:cxnLst/>
              <a:rect r="r" b="b" t="t" l="l"/>
              <a:pathLst>
                <a:path h="640080" w="4480560">
                  <a:moveTo>
                    <a:pt x="0" y="0"/>
                  </a:moveTo>
                  <a:lnTo>
                    <a:pt x="4480560" y="0"/>
                  </a:lnTo>
                  <a:lnTo>
                    <a:pt x="4480560" y="640080"/>
                  </a:lnTo>
                  <a:lnTo>
                    <a:pt x="0" y="640080"/>
                  </a:lnTo>
                  <a:close/>
                </a:path>
              </a:pathLst>
            </a:custGeom>
            <a:blipFill>
              <a:blip r:embed="rId2">
                <a:alphaModFix amt="0"/>
              </a:blip>
              <a:stretch>
                <a:fillRect l="0" t="-86395" r="0" b="-86395"/>
              </a:stretch>
            </a:blipFill>
          </p:spPr>
        </p:sp>
        <p:sp>
          <p:nvSpPr>
            <p:cNvPr name="TextBox 49" id="49"/>
            <p:cNvSpPr txBox="true"/>
            <p:nvPr/>
          </p:nvSpPr>
          <p:spPr>
            <a:xfrm>
              <a:off x="0" y="-38100"/>
              <a:ext cx="4480560" cy="678180"/>
            </a:xfrm>
            <a:prstGeom prst="rect">
              <a:avLst/>
            </a:prstGeom>
          </p:spPr>
          <p:txBody>
            <a:bodyPr anchor="ctr" rtlCol="false" tIns="0" lIns="0" bIns="0" rIns="0"/>
            <a:lstStyle/>
            <a:p>
              <a:pPr algn="l" marL="0" indent="0" lvl="0">
                <a:lnSpc>
                  <a:spcPts val="2160"/>
                </a:lnSpc>
                <a:spcBef>
                  <a:spcPct val="0"/>
                </a:spcBef>
              </a:pPr>
              <a:r>
                <a:rPr lang="en-US" b="true" sz="1800" strike="noStrike" u="none">
                  <a:solidFill>
                    <a:srgbClr val="FFFFFF"/>
                  </a:solidFill>
                  <a:latin typeface="Calibri (MS) Bold"/>
                  <a:ea typeface="Calibri (MS) Bold"/>
                  <a:cs typeface="Calibri (MS) Bold"/>
                  <a:sym typeface="Calibri (MS) Bold"/>
                </a:rPr>
                <a:t>Histogramme</a:t>
              </a:r>
            </a:p>
          </p:txBody>
        </p:sp>
      </p:grpSp>
      <p:grpSp>
        <p:nvGrpSpPr>
          <p:cNvPr name="Group 50" id="50"/>
          <p:cNvGrpSpPr/>
          <p:nvPr/>
        </p:nvGrpSpPr>
        <p:grpSpPr>
          <a:xfrm rot="0">
            <a:off x="5623560" y="5897880"/>
            <a:ext cx="3360420" cy="1920240"/>
            <a:chOff x="0" y="0"/>
            <a:chExt cx="4480560" cy="2560320"/>
          </a:xfrm>
        </p:grpSpPr>
        <p:sp>
          <p:nvSpPr>
            <p:cNvPr name="Freeform 51" id="51"/>
            <p:cNvSpPr/>
            <p:nvPr/>
          </p:nvSpPr>
          <p:spPr>
            <a:xfrm flipH="false" flipV="false" rot="0">
              <a:off x="0" y="0"/>
              <a:ext cx="4480560" cy="2560320"/>
            </a:xfrm>
            <a:custGeom>
              <a:avLst/>
              <a:gdLst/>
              <a:ahLst/>
              <a:cxnLst/>
              <a:rect r="r" b="b" t="t" l="l"/>
              <a:pathLst>
                <a:path h="2560320" w="4480560">
                  <a:moveTo>
                    <a:pt x="0" y="0"/>
                  </a:moveTo>
                  <a:lnTo>
                    <a:pt x="4480560" y="0"/>
                  </a:lnTo>
                  <a:lnTo>
                    <a:pt x="4480560" y="2560320"/>
                  </a:lnTo>
                  <a:lnTo>
                    <a:pt x="0" y="2560320"/>
                  </a:lnTo>
                  <a:close/>
                </a:path>
              </a:pathLst>
            </a:custGeom>
            <a:blipFill>
              <a:blip r:embed="rId2">
                <a:alphaModFix amt="0"/>
              </a:blip>
              <a:stretch>
                <a:fillRect l="-23316" t="0" r="-23316" b="0"/>
              </a:stretch>
            </a:blipFill>
          </p:spPr>
        </p:sp>
        <p:sp>
          <p:nvSpPr>
            <p:cNvPr name="TextBox 52" id="52"/>
            <p:cNvSpPr txBox="true"/>
            <p:nvPr/>
          </p:nvSpPr>
          <p:spPr>
            <a:xfrm>
              <a:off x="0" y="-38100"/>
              <a:ext cx="4480560" cy="2598420"/>
            </a:xfrm>
            <a:prstGeom prst="rect">
              <a:avLst/>
            </a:prstGeom>
          </p:spPr>
          <p:txBody>
            <a:bodyPr anchor="ctr" rtlCol="false" tIns="0" lIns="0" bIns="0" rIns="0"/>
            <a:lstStyle/>
            <a:p>
              <a:pPr algn="l" marL="0" indent="0" lvl="0">
                <a:lnSpc>
                  <a:spcPts val="1800"/>
                </a:lnSpc>
                <a:spcBef>
                  <a:spcPct val="0"/>
                </a:spcBef>
              </a:pPr>
              <a:r>
                <a:rPr lang="en-US" sz="1500" strike="noStrike" u="none">
                  <a:solidFill>
                    <a:srgbClr val="9FB0C9"/>
                  </a:solidFill>
                  <a:latin typeface="Calibri (MS)"/>
                  <a:ea typeface="Calibri (MS)"/>
                  <a:cs typeface="Calibri (MS)"/>
                  <a:sym typeface="Calibri (MS)"/>
                </a:rPr>
                <a:t>Charge des requêtes/de l'inférence en direct</a:t>
              </a:r>
            </a:p>
          </p:txBody>
        </p:sp>
      </p:grpSp>
      <p:grpSp>
        <p:nvGrpSpPr>
          <p:cNvPr name="Group 53" id="53"/>
          <p:cNvGrpSpPr/>
          <p:nvPr/>
        </p:nvGrpSpPr>
        <p:grpSpPr>
          <a:xfrm rot="0">
            <a:off x="9454515" y="5202555"/>
            <a:ext cx="3928110" cy="3036570"/>
            <a:chOff x="0" y="0"/>
            <a:chExt cx="5237480" cy="4048760"/>
          </a:xfrm>
        </p:grpSpPr>
        <p:sp>
          <p:nvSpPr>
            <p:cNvPr name="Freeform 54" id="54"/>
            <p:cNvSpPr/>
            <p:nvPr/>
          </p:nvSpPr>
          <p:spPr>
            <a:xfrm flipH="false" flipV="false" rot="0">
              <a:off x="0" y="0"/>
              <a:ext cx="5237480" cy="4048760"/>
            </a:xfrm>
            <a:custGeom>
              <a:avLst/>
              <a:gdLst/>
              <a:ahLst/>
              <a:cxnLst/>
              <a:rect r="r" b="b" t="t" l="l"/>
              <a:pathLst>
                <a:path h="4048760" w="5237480">
                  <a:moveTo>
                    <a:pt x="0" y="147193"/>
                  </a:moveTo>
                  <a:cubicBezTo>
                    <a:pt x="0" y="65913"/>
                    <a:pt x="65913" y="0"/>
                    <a:pt x="147193" y="0"/>
                  </a:cubicBezTo>
                  <a:lnTo>
                    <a:pt x="5090287" y="0"/>
                  </a:lnTo>
                  <a:cubicBezTo>
                    <a:pt x="5171567" y="0"/>
                    <a:pt x="5237480" y="65913"/>
                    <a:pt x="5237480" y="147193"/>
                  </a:cubicBezTo>
                  <a:lnTo>
                    <a:pt x="5237480" y="3901567"/>
                  </a:lnTo>
                  <a:cubicBezTo>
                    <a:pt x="5237480" y="3982847"/>
                    <a:pt x="5171567" y="4048760"/>
                    <a:pt x="5090287" y="4048760"/>
                  </a:cubicBezTo>
                  <a:lnTo>
                    <a:pt x="147193" y="4048760"/>
                  </a:lnTo>
                  <a:cubicBezTo>
                    <a:pt x="65913" y="4048760"/>
                    <a:pt x="0" y="3982847"/>
                    <a:pt x="0" y="3901567"/>
                  </a:cubicBezTo>
                  <a:close/>
                </a:path>
              </a:pathLst>
            </a:custGeom>
            <a:solidFill>
              <a:srgbClr val="0F2038"/>
            </a:solidFill>
            <a:ln w="19050" cap="sq">
              <a:solidFill>
                <a:srgbClr val="1E3358"/>
              </a:solidFill>
              <a:prstDash val="solid"/>
              <a:miter/>
            </a:ln>
          </p:spPr>
        </p:sp>
      </p:grpSp>
      <p:grpSp>
        <p:nvGrpSpPr>
          <p:cNvPr name="Group 55" id="55"/>
          <p:cNvGrpSpPr/>
          <p:nvPr/>
        </p:nvGrpSpPr>
        <p:grpSpPr>
          <a:xfrm rot="0">
            <a:off x="9738360" y="5417820"/>
            <a:ext cx="3360420" cy="480060"/>
            <a:chOff x="0" y="0"/>
            <a:chExt cx="4480560" cy="640080"/>
          </a:xfrm>
        </p:grpSpPr>
        <p:sp>
          <p:nvSpPr>
            <p:cNvPr name="Freeform 56" id="56"/>
            <p:cNvSpPr/>
            <p:nvPr/>
          </p:nvSpPr>
          <p:spPr>
            <a:xfrm flipH="false" flipV="false" rot="0">
              <a:off x="0" y="0"/>
              <a:ext cx="4480560" cy="640080"/>
            </a:xfrm>
            <a:custGeom>
              <a:avLst/>
              <a:gdLst/>
              <a:ahLst/>
              <a:cxnLst/>
              <a:rect r="r" b="b" t="t" l="l"/>
              <a:pathLst>
                <a:path h="640080" w="4480560">
                  <a:moveTo>
                    <a:pt x="0" y="0"/>
                  </a:moveTo>
                  <a:lnTo>
                    <a:pt x="4480560" y="0"/>
                  </a:lnTo>
                  <a:lnTo>
                    <a:pt x="4480560" y="640080"/>
                  </a:lnTo>
                  <a:lnTo>
                    <a:pt x="0" y="640080"/>
                  </a:lnTo>
                  <a:close/>
                </a:path>
              </a:pathLst>
            </a:custGeom>
            <a:blipFill>
              <a:blip r:embed="rId2">
                <a:alphaModFix amt="0"/>
              </a:blip>
              <a:stretch>
                <a:fillRect l="0" t="-86395" r="0" b="-86395"/>
              </a:stretch>
            </a:blipFill>
          </p:spPr>
        </p:sp>
        <p:sp>
          <p:nvSpPr>
            <p:cNvPr name="TextBox 57" id="57"/>
            <p:cNvSpPr txBox="true"/>
            <p:nvPr/>
          </p:nvSpPr>
          <p:spPr>
            <a:xfrm>
              <a:off x="0" y="-38100"/>
              <a:ext cx="4480560" cy="678180"/>
            </a:xfrm>
            <a:prstGeom prst="rect">
              <a:avLst/>
            </a:prstGeom>
          </p:spPr>
          <p:txBody>
            <a:bodyPr anchor="ctr" rtlCol="false" tIns="0" lIns="0" bIns="0" rIns="0"/>
            <a:lstStyle/>
            <a:p>
              <a:pPr algn="l" marL="0" indent="0" lvl="0">
                <a:lnSpc>
                  <a:spcPts val="2160"/>
                </a:lnSpc>
                <a:spcBef>
                  <a:spcPct val="0"/>
                </a:spcBef>
              </a:pPr>
              <a:r>
                <a:rPr lang="en-US" b="true" sz="1800" strike="noStrike" u="none">
                  <a:solidFill>
                    <a:srgbClr val="FFFFFF"/>
                  </a:solidFill>
                  <a:latin typeface="Calibri (MS) Bold"/>
                  <a:ea typeface="Calibri (MS) Bold"/>
                  <a:cs typeface="Calibri (MS) Bold"/>
                  <a:sym typeface="Calibri (MS) Bold"/>
                </a:rPr>
                <a:t>Panneau de statistiques</a:t>
              </a:r>
            </a:p>
          </p:txBody>
        </p:sp>
      </p:grpSp>
      <p:grpSp>
        <p:nvGrpSpPr>
          <p:cNvPr name="Group 58" id="58"/>
          <p:cNvGrpSpPr/>
          <p:nvPr/>
        </p:nvGrpSpPr>
        <p:grpSpPr>
          <a:xfrm rot="0">
            <a:off x="9738360" y="5897880"/>
            <a:ext cx="3360420" cy="1920240"/>
            <a:chOff x="0" y="0"/>
            <a:chExt cx="4480560" cy="2560320"/>
          </a:xfrm>
        </p:grpSpPr>
        <p:sp>
          <p:nvSpPr>
            <p:cNvPr name="Freeform 59" id="59"/>
            <p:cNvSpPr/>
            <p:nvPr/>
          </p:nvSpPr>
          <p:spPr>
            <a:xfrm flipH="false" flipV="false" rot="0">
              <a:off x="0" y="0"/>
              <a:ext cx="4480560" cy="2560320"/>
            </a:xfrm>
            <a:custGeom>
              <a:avLst/>
              <a:gdLst/>
              <a:ahLst/>
              <a:cxnLst/>
              <a:rect r="r" b="b" t="t" l="l"/>
              <a:pathLst>
                <a:path h="2560320" w="4480560">
                  <a:moveTo>
                    <a:pt x="0" y="0"/>
                  </a:moveTo>
                  <a:lnTo>
                    <a:pt x="4480560" y="0"/>
                  </a:lnTo>
                  <a:lnTo>
                    <a:pt x="4480560" y="2560320"/>
                  </a:lnTo>
                  <a:lnTo>
                    <a:pt x="0" y="2560320"/>
                  </a:lnTo>
                  <a:close/>
                </a:path>
              </a:pathLst>
            </a:custGeom>
            <a:blipFill>
              <a:blip r:embed="rId2">
                <a:alphaModFix amt="0"/>
              </a:blip>
              <a:stretch>
                <a:fillRect l="-23316" t="0" r="-23316" b="0"/>
              </a:stretch>
            </a:blipFill>
          </p:spPr>
        </p:sp>
        <p:sp>
          <p:nvSpPr>
            <p:cNvPr name="TextBox 60" id="60"/>
            <p:cNvSpPr txBox="true"/>
            <p:nvPr/>
          </p:nvSpPr>
          <p:spPr>
            <a:xfrm>
              <a:off x="0" y="-38100"/>
              <a:ext cx="4480560" cy="2598420"/>
            </a:xfrm>
            <a:prstGeom prst="rect">
              <a:avLst/>
            </a:prstGeom>
          </p:spPr>
          <p:txBody>
            <a:bodyPr anchor="ctr" rtlCol="false" tIns="0" lIns="0" bIns="0" rIns="0"/>
            <a:lstStyle/>
            <a:p>
              <a:pPr algn="l" marL="0" indent="0" lvl="0">
                <a:lnSpc>
                  <a:spcPts val="1800"/>
                </a:lnSpc>
                <a:spcBef>
                  <a:spcPct val="0"/>
                </a:spcBef>
              </a:pPr>
              <a:r>
                <a:rPr lang="en-US" sz="1500" strike="noStrike" u="none">
                  <a:solidFill>
                    <a:srgbClr val="9FB0C9"/>
                  </a:solidFill>
                  <a:latin typeface="Calibri (MS)"/>
                  <a:ea typeface="Calibri (MS)"/>
                  <a:cs typeface="Calibri (MS)"/>
                  <a:sym typeface="Calibri (MS)"/>
                </a:rPr>
                <a:t>Nombre récent d'anomalies (jauge)</a:t>
              </a:r>
            </a:p>
          </p:txBody>
        </p:sp>
      </p:grpSp>
      <p:grpSp>
        <p:nvGrpSpPr>
          <p:cNvPr name="Group 61" id="61"/>
          <p:cNvGrpSpPr/>
          <p:nvPr/>
        </p:nvGrpSpPr>
        <p:grpSpPr>
          <a:xfrm rot="0">
            <a:off x="13569315" y="5202555"/>
            <a:ext cx="3928110" cy="3036570"/>
            <a:chOff x="0" y="0"/>
            <a:chExt cx="5237480" cy="4048760"/>
          </a:xfrm>
        </p:grpSpPr>
        <p:sp>
          <p:nvSpPr>
            <p:cNvPr name="Freeform 62" id="62"/>
            <p:cNvSpPr/>
            <p:nvPr/>
          </p:nvSpPr>
          <p:spPr>
            <a:xfrm flipH="false" flipV="false" rot="0">
              <a:off x="0" y="0"/>
              <a:ext cx="5237480" cy="4048760"/>
            </a:xfrm>
            <a:custGeom>
              <a:avLst/>
              <a:gdLst/>
              <a:ahLst/>
              <a:cxnLst/>
              <a:rect r="r" b="b" t="t" l="l"/>
              <a:pathLst>
                <a:path h="4048760" w="5237480">
                  <a:moveTo>
                    <a:pt x="0" y="147193"/>
                  </a:moveTo>
                  <a:cubicBezTo>
                    <a:pt x="0" y="65913"/>
                    <a:pt x="65913" y="0"/>
                    <a:pt x="147193" y="0"/>
                  </a:cubicBezTo>
                  <a:lnTo>
                    <a:pt x="5090287" y="0"/>
                  </a:lnTo>
                  <a:cubicBezTo>
                    <a:pt x="5171567" y="0"/>
                    <a:pt x="5237480" y="65913"/>
                    <a:pt x="5237480" y="147193"/>
                  </a:cubicBezTo>
                  <a:lnTo>
                    <a:pt x="5237480" y="3901567"/>
                  </a:lnTo>
                  <a:cubicBezTo>
                    <a:pt x="5237480" y="3982847"/>
                    <a:pt x="5171567" y="4048760"/>
                    <a:pt x="5090287" y="4048760"/>
                  </a:cubicBezTo>
                  <a:lnTo>
                    <a:pt x="147193" y="4048760"/>
                  </a:lnTo>
                  <a:cubicBezTo>
                    <a:pt x="65913" y="4048760"/>
                    <a:pt x="0" y="3982847"/>
                    <a:pt x="0" y="3901567"/>
                  </a:cubicBezTo>
                  <a:close/>
                </a:path>
              </a:pathLst>
            </a:custGeom>
            <a:solidFill>
              <a:srgbClr val="0F2038"/>
            </a:solidFill>
            <a:ln w="19050" cap="sq">
              <a:solidFill>
                <a:srgbClr val="1E3358"/>
              </a:solidFill>
              <a:prstDash val="solid"/>
              <a:miter/>
            </a:ln>
          </p:spPr>
        </p:sp>
      </p:grpSp>
      <p:grpSp>
        <p:nvGrpSpPr>
          <p:cNvPr name="Group 63" id="63"/>
          <p:cNvGrpSpPr/>
          <p:nvPr/>
        </p:nvGrpSpPr>
        <p:grpSpPr>
          <a:xfrm rot="0">
            <a:off x="13853160" y="5417820"/>
            <a:ext cx="3360420" cy="480060"/>
            <a:chOff x="0" y="0"/>
            <a:chExt cx="4480560" cy="640080"/>
          </a:xfrm>
        </p:grpSpPr>
        <p:sp>
          <p:nvSpPr>
            <p:cNvPr name="Freeform 64" id="64"/>
            <p:cNvSpPr/>
            <p:nvPr/>
          </p:nvSpPr>
          <p:spPr>
            <a:xfrm flipH="false" flipV="false" rot="0">
              <a:off x="0" y="0"/>
              <a:ext cx="4480560" cy="640080"/>
            </a:xfrm>
            <a:custGeom>
              <a:avLst/>
              <a:gdLst/>
              <a:ahLst/>
              <a:cxnLst/>
              <a:rect r="r" b="b" t="t" l="l"/>
              <a:pathLst>
                <a:path h="640080" w="4480560">
                  <a:moveTo>
                    <a:pt x="0" y="0"/>
                  </a:moveTo>
                  <a:lnTo>
                    <a:pt x="4480560" y="0"/>
                  </a:lnTo>
                  <a:lnTo>
                    <a:pt x="4480560" y="640080"/>
                  </a:lnTo>
                  <a:lnTo>
                    <a:pt x="0" y="640080"/>
                  </a:lnTo>
                  <a:close/>
                </a:path>
              </a:pathLst>
            </a:custGeom>
            <a:blipFill>
              <a:blip r:embed="rId2">
                <a:alphaModFix amt="0"/>
              </a:blip>
              <a:stretch>
                <a:fillRect l="0" t="-86395" r="0" b="-86395"/>
              </a:stretch>
            </a:blipFill>
          </p:spPr>
        </p:sp>
        <p:sp>
          <p:nvSpPr>
            <p:cNvPr name="TextBox 65" id="65"/>
            <p:cNvSpPr txBox="true"/>
            <p:nvPr/>
          </p:nvSpPr>
          <p:spPr>
            <a:xfrm>
              <a:off x="0" y="-38100"/>
              <a:ext cx="4480560" cy="678180"/>
            </a:xfrm>
            <a:prstGeom prst="rect">
              <a:avLst/>
            </a:prstGeom>
          </p:spPr>
          <p:txBody>
            <a:bodyPr anchor="ctr" rtlCol="false" tIns="0" lIns="0" bIns="0" rIns="0"/>
            <a:lstStyle/>
            <a:p>
              <a:pPr algn="l" marL="0" indent="0" lvl="0">
                <a:lnSpc>
                  <a:spcPts val="2160"/>
                </a:lnSpc>
                <a:spcBef>
                  <a:spcPct val="0"/>
                </a:spcBef>
              </a:pPr>
              <a:r>
                <a:rPr lang="en-US" b="true" sz="1800" strike="noStrike" u="none">
                  <a:solidFill>
                    <a:srgbClr val="FFFFFF"/>
                  </a:solidFill>
                  <a:latin typeface="Calibri (MS) Bold"/>
                  <a:ea typeface="Calibri (MS) Bold"/>
                  <a:cs typeface="Calibri (MS) Bold"/>
                  <a:sym typeface="Calibri (MS) Bold"/>
                </a:rPr>
                <a:t>Panneau de statistiques</a:t>
              </a:r>
            </a:p>
          </p:txBody>
        </p:sp>
      </p:grpSp>
      <p:grpSp>
        <p:nvGrpSpPr>
          <p:cNvPr name="Group 66" id="66"/>
          <p:cNvGrpSpPr/>
          <p:nvPr/>
        </p:nvGrpSpPr>
        <p:grpSpPr>
          <a:xfrm rot="0">
            <a:off x="13853160" y="5897880"/>
            <a:ext cx="3360420" cy="1920240"/>
            <a:chOff x="0" y="0"/>
            <a:chExt cx="4480560" cy="2560320"/>
          </a:xfrm>
        </p:grpSpPr>
        <p:sp>
          <p:nvSpPr>
            <p:cNvPr name="Freeform 67" id="67"/>
            <p:cNvSpPr/>
            <p:nvPr/>
          </p:nvSpPr>
          <p:spPr>
            <a:xfrm flipH="false" flipV="false" rot="0">
              <a:off x="0" y="0"/>
              <a:ext cx="4480560" cy="2560320"/>
            </a:xfrm>
            <a:custGeom>
              <a:avLst/>
              <a:gdLst/>
              <a:ahLst/>
              <a:cxnLst/>
              <a:rect r="r" b="b" t="t" l="l"/>
              <a:pathLst>
                <a:path h="2560320" w="4480560">
                  <a:moveTo>
                    <a:pt x="0" y="0"/>
                  </a:moveTo>
                  <a:lnTo>
                    <a:pt x="4480560" y="0"/>
                  </a:lnTo>
                  <a:lnTo>
                    <a:pt x="4480560" y="2560320"/>
                  </a:lnTo>
                  <a:lnTo>
                    <a:pt x="0" y="2560320"/>
                  </a:lnTo>
                  <a:close/>
                </a:path>
              </a:pathLst>
            </a:custGeom>
            <a:blipFill>
              <a:blip r:embed="rId2">
                <a:alphaModFix amt="0"/>
              </a:blip>
              <a:stretch>
                <a:fillRect l="-23316" t="0" r="-23316" b="0"/>
              </a:stretch>
            </a:blipFill>
          </p:spPr>
        </p:sp>
        <p:sp>
          <p:nvSpPr>
            <p:cNvPr name="TextBox 68" id="68"/>
            <p:cNvSpPr txBox="true"/>
            <p:nvPr/>
          </p:nvSpPr>
          <p:spPr>
            <a:xfrm>
              <a:off x="0" y="-38100"/>
              <a:ext cx="4480560" cy="2598420"/>
            </a:xfrm>
            <a:prstGeom prst="rect">
              <a:avLst/>
            </a:prstGeom>
          </p:spPr>
          <p:txBody>
            <a:bodyPr anchor="ctr" rtlCol="false" tIns="0" lIns="0" bIns="0" rIns="0"/>
            <a:lstStyle/>
            <a:p>
              <a:pPr algn="l" marL="0" indent="0" lvl="0">
                <a:lnSpc>
                  <a:spcPts val="1800"/>
                </a:lnSpc>
                <a:spcBef>
                  <a:spcPct val="0"/>
                </a:spcBef>
              </a:pPr>
              <a:r>
                <a:rPr lang="en-US" sz="1500" strike="noStrike" u="none">
                  <a:solidFill>
                    <a:srgbClr val="9FB0C9"/>
                  </a:solidFill>
                  <a:latin typeface="Calibri (MS)"/>
                  <a:ea typeface="Calibri (MS)"/>
                  <a:cs typeface="Calibri (MS)"/>
                  <a:sym typeface="Calibri (MS)"/>
                </a:rPr>
                <a:t>Prédictions cumulées (jauge)</a:t>
              </a:r>
            </a:p>
          </p:txBody>
        </p:sp>
      </p:grpSp>
      <p:grpSp>
        <p:nvGrpSpPr>
          <p:cNvPr name="Group 69" id="69"/>
          <p:cNvGrpSpPr/>
          <p:nvPr/>
        </p:nvGrpSpPr>
        <p:grpSpPr>
          <a:xfrm rot="0">
            <a:off x="685800" y="9710928"/>
            <a:ext cx="10972800" cy="411480"/>
            <a:chOff x="0" y="0"/>
            <a:chExt cx="14630400" cy="548640"/>
          </a:xfrm>
        </p:grpSpPr>
        <p:sp>
          <p:nvSpPr>
            <p:cNvPr name="Freeform 70" id="7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71" id="71"/>
            <p:cNvSpPr txBox="true"/>
            <p:nvPr/>
          </p:nvSpPr>
          <p:spPr>
            <a:xfrm>
              <a:off x="0" y="-28575"/>
              <a:ext cx="14630400" cy="577215"/>
            </a:xfrm>
            <a:prstGeom prst="rect">
              <a:avLst/>
            </a:prstGeom>
          </p:spPr>
          <p:txBody>
            <a:bodyPr anchor="ctr" rtlCol="false" tIns="0" lIns="0" bIns="0" rIns="0"/>
            <a:lstStyle/>
            <a:p>
              <a:pPr algn="l" marL="0" indent="0" lvl="0">
                <a:lnSpc>
                  <a:spcPts val="1620"/>
                </a:lnSpc>
                <a:spcBef>
                  <a:spcPct val="0"/>
                </a:spcBef>
              </a:pPr>
              <a:r>
                <a:rPr lang="en-US" sz="1350" spc="149" strike="noStrike" u="none">
                  <a:solidFill>
                    <a:srgbClr val="6E84A6"/>
                  </a:solidFill>
                  <a:latin typeface="Calibri (MS)"/>
                  <a:ea typeface="Calibri (MS)"/>
                  <a:cs typeface="Calibri (MS)"/>
                  <a:sym typeface="Calibri (MS)"/>
                </a:rPr>
                <a:t>PLATEFORME MLSECOPS · BACKEND &amp; OBSERVABILITÉ</a:t>
              </a:r>
            </a:p>
          </p:txBody>
        </p:sp>
      </p:grpSp>
      <p:grpSp>
        <p:nvGrpSpPr>
          <p:cNvPr name="Group 72" id="72"/>
          <p:cNvGrpSpPr/>
          <p:nvPr/>
        </p:nvGrpSpPr>
        <p:grpSpPr>
          <a:xfrm rot="0">
            <a:off x="16500348" y="9710928"/>
            <a:ext cx="1097280" cy="411480"/>
            <a:chOff x="0" y="0"/>
            <a:chExt cx="1463040" cy="548640"/>
          </a:xfrm>
        </p:grpSpPr>
        <p:sp>
          <p:nvSpPr>
            <p:cNvPr name="Freeform 73" id="73"/>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74" id="74"/>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24 / 32</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UI &amp; API INTEGRATION</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7</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Abderrahamane Benjoullen — Frontend / Backend</a:t>
              </a:r>
            </a:p>
          </p:txBody>
        </p:sp>
      </p:grpSp>
      <p:grpSp>
        <p:nvGrpSpPr>
          <p:cNvPr name="Group 11" id="11"/>
          <p:cNvGrpSpPr/>
          <p:nvPr/>
        </p:nvGrpSpPr>
        <p:grpSpPr>
          <a:xfrm rot="0">
            <a:off x="822960" y="1069848"/>
            <a:ext cx="16596360" cy="1303020"/>
            <a:chOff x="0" y="0"/>
            <a:chExt cx="22128480" cy="1737360"/>
          </a:xfrm>
        </p:grpSpPr>
        <p:sp>
          <p:nvSpPr>
            <p:cNvPr name="Freeform 12" id="12"/>
            <p:cNvSpPr/>
            <p:nvPr/>
          </p:nvSpPr>
          <p:spPr>
            <a:xfrm flipH="false" flipV="false" rot="0">
              <a:off x="0" y="0"/>
              <a:ext cx="22128480" cy="1737360"/>
            </a:xfrm>
            <a:custGeom>
              <a:avLst/>
              <a:gdLst/>
              <a:ahLst/>
              <a:cxnLst/>
              <a:rect r="r" b="b" t="t" l="l"/>
              <a:pathLst>
                <a:path h="1737360" w="22128480">
                  <a:moveTo>
                    <a:pt x="0" y="0"/>
                  </a:moveTo>
                  <a:lnTo>
                    <a:pt x="22128480" y="0"/>
                  </a:lnTo>
                  <a:lnTo>
                    <a:pt x="22128480" y="1737360"/>
                  </a:lnTo>
                  <a:lnTo>
                    <a:pt x="0" y="1737360"/>
                  </a:lnTo>
                  <a:close/>
                </a:path>
              </a:pathLst>
            </a:custGeom>
            <a:blipFill>
              <a:blip r:embed="rId2">
                <a:alphaModFix amt="0"/>
              </a:blip>
              <a:stretch>
                <a:fillRect l="0" t="-198177" r="0" b="-198177"/>
              </a:stretch>
            </a:blipFill>
          </p:spPr>
        </p:sp>
        <p:sp>
          <p:nvSpPr>
            <p:cNvPr name="TextBox 13" id="13"/>
            <p:cNvSpPr txBox="true"/>
            <p:nvPr/>
          </p:nvSpPr>
          <p:spPr>
            <a:xfrm>
              <a:off x="0" y="-9525"/>
              <a:ext cx="22128480" cy="1746885"/>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Frontend Architecture — React + TypeScript</a:t>
              </a:r>
            </a:p>
          </p:txBody>
        </p:sp>
      </p:grpSp>
      <p:grpSp>
        <p:nvGrpSpPr>
          <p:cNvPr name="Group 14" id="14"/>
          <p:cNvGrpSpPr/>
          <p:nvPr/>
        </p:nvGrpSpPr>
        <p:grpSpPr>
          <a:xfrm rot="0">
            <a:off x="822960" y="2400300"/>
            <a:ext cx="16184880" cy="685800"/>
            <a:chOff x="0" y="0"/>
            <a:chExt cx="21579840" cy="914400"/>
          </a:xfrm>
        </p:grpSpPr>
        <p:sp>
          <p:nvSpPr>
            <p:cNvPr name="Freeform 15" id="15"/>
            <p:cNvSpPr/>
            <p:nvPr/>
          </p:nvSpPr>
          <p:spPr>
            <a:xfrm flipH="false" flipV="false" rot="0">
              <a:off x="0" y="0"/>
              <a:ext cx="21579839" cy="914400"/>
            </a:xfrm>
            <a:custGeom>
              <a:avLst/>
              <a:gdLst/>
              <a:ahLst/>
              <a:cxnLst/>
              <a:rect r="r" b="b" t="t" l="l"/>
              <a:pathLst>
                <a:path h="914400" w="21579839">
                  <a:moveTo>
                    <a:pt x="0" y="0"/>
                  </a:moveTo>
                  <a:lnTo>
                    <a:pt x="21579839" y="0"/>
                  </a:lnTo>
                  <a:lnTo>
                    <a:pt x="21579839" y="914400"/>
                  </a:lnTo>
                  <a:lnTo>
                    <a:pt x="0" y="914400"/>
                  </a:lnTo>
                  <a:close/>
                </a:path>
              </a:pathLst>
            </a:custGeom>
            <a:blipFill>
              <a:blip r:embed="rId2">
                <a:alphaModFix amt="0"/>
              </a:blip>
              <a:stretch>
                <a:fillRect l="0" t="-409846" r="0" b="-409846"/>
              </a:stretch>
            </a:blipFill>
          </p:spPr>
        </p:sp>
        <p:sp>
          <p:nvSpPr>
            <p:cNvPr name="TextBox 16" id="16"/>
            <p:cNvSpPr txBox="true"/>
            <p:nvPr/>
          </p:nvSpPr>
          <p:spPr>
            <a:xfrm>
              <a:off x="0" y="-47625"/>
              <a:ext cx="21579840" cy="962025"/>
            </a:xfrm>
            <a:prstGeom prst="rect">
              <a:avLst/>
            </a:prstGeom>
          </p:spPr>
          <p:txBody>
            <a:bodyPr anchor="ctr" rtlCol="false" tIns="0" lIns="0" bIns="0" rIns="0"/>
            <a:lstStyle/>
            <a:p>
              <a:pPr algn="l">
                <a:lnSpc>
                  <a:spcPts val="2340"/>
                </a:lnSpc>
              </a:pPr>
              <a:r>
                <a:rPr lang="en-US" sz="1950" i="true">
                  <a:solidFill>
                    <a:srgbClr val="9FB0C9"/>
                  </a:solidFill>
                  <a:latin typeface="Calibri (MS) Italics"/>
                  <a:ea typeface="Calibri (MS) Italics"/>
                  <a:cs typeface="Calibri (MS) Italics"/>
                  <a:sym typeface="Calibri (MS) Italics"/>
                </a:rPr>
                <a:t>S</a:t>
              </a:r>
              <a:r>
                <a:rPr lang="en-US" sz="1950" i="true">
                  <a:solidFill>
                    <a:srgbClr val="9FB0C9"/>
                  </a:solidFill>
                  <a:latin typeface="Calibri (MS) Italics"/>
                  <a:ea typeface="Calibri (MS) Italics"/>
                  <a:cs typeface="Calibri (MS) Italics"/>
                  <a:sym typeface="Calibri (MS) Italics"/>
                </a:rPr>
                <a:t>tructure en composants, communication API fortement typée et clarté d'affichage pour les analystes opérant sous un fort volume d'alertes.</a:t>
              </a:r>
            </a:p>
          </p:txBody>
        </p:sp>
      </p:grpSp>
      <p:grpSp>
        <p:nvGrpSpPr>
          <p:cNvPr name="Group 17" id="17"/>
          <p:cNvGrpSpPr/>
          <p:nvPr/>
        </p:nvGrpSpPr>
        <p:grpSpPr>
          <a:xfrm rot="0">
            <a:off x="813435" y="3419475"/>
            <a:ext cx="5368290" cy="2145030"/>
            <a:chOff x="0" y="0"/>
            <a:chExt cx="7157720" cy="2860040"/>
          </a:xfrm>
        </p:grpSpPr>
        <p:sp>
          <p:nvSpPr>
            <p:cNvPr name="Freeform 18" id="18"/>
            <p:cNvSpPr/>
            <p:nvPr/>
          </p:nvSpPr>
          <p:spPr>
            <a:xfrm flipH="false" flipV="false" rot="0">
              <a:off x="0" y="0"/>
              <a:ext cx="7157720" cy="2860040"/>
            </a:xfrm>
            <a:custGeom>
              <a:avLst/>
              <a:gdLst/>
              <a:ahLst/>
              <a:cxnLst/>
              <a:rect r="r" b="b" t="t" l="l"/>
              <a:pathLst>
                <a:path h="2860040" w="7157720">
                  <a:moveTo>
                    <a:pt x="0" y="147574"/>
                  </a:moveTo>
                  <a:cubicBezTo>
                    <a:pt x="0" y="66040"/>
                    <a:pt x="66040" y="0"/>
                    <a:pt x="147574" y="0"/>
                  </a:cubicBezTo>
                  <a:lnTo>
                    <a:pt x="7010146" y="0"/>
                  </a:lnTo>
                  <a:cubicBezTo>
                    <a:pt x="7091680" y="0"/>
                    <a:pt x="7157720" y="66040"/>
                    <a:pt x="7157720" y="147574"/>
                  </a:cubicBezTo>
                  <a:lnTo>
                    <a:pt x="7157720" y="2712466"/>
                  </a:lnTo>
                  <a:cubicBezTo>
                    <a:pt x="7157720" y="2794000"/>
                    <a:pt x="7091680" y="2860040"/>
                    <a:pt x="7010146" y="2860040"/>
                  </a:cubicBezTo>
                  <a:lnTo>
                    <a:pt x="147574" y="2860040"/>
                  </a:lnTo>
                  <a:cubicBezTo>
                    <a:pt x="66040" y="2860040"/>
                    <a:pt x="0" y="2794000"/>
                    <a:pt x="0" y="2712466"/>
                  </a:cubicBezTo>
                  <a:close/>
                </a:path>
              </a:pathLst>
            </a:custGeom>
            <a:solidFill>
              <a:srgbClr val="0F2038"/>
            </a:solidFill>
            <a:ln w="19050" cap="sq">
              <a:solidFill>
                <a:srgbClr val="1E3358"/>
              </a:solidFill>
              <a:prstDash val="solid"/>
              <a:miter/>
            </a:ln>
          </p:spPr>
        </p:sp>
      </p:grpSp>
      <p:grpSp>
        <p:nvGrpSpPr>
          <p:cNvPr name="Group 19" id="19"/>
          <p:cNvGrpSpPr/>
          <p:nvPr/>
        </p:nvGrpSpPr>
        <p:grpSpPr>
          <a:xfrm rot="0">
            <a:off x="1097280" y="3634740"/>
            <a:ext cx="4800600" cy="480060"/>
            <a:chOff x="0" y="0"/>
            <a:chExt cx="6400800" cy="640080"/>
          </a:xfrm>
        </p:grpSpPr>
        <p:sp>
          <p:nvSpPr>
            <p:cNvPr name="Freeform 20" id="20"/>
            <p:cNvSpPr/>
            <p:nvPr/>
          </p:nvSpPr>
          <p:spPr>
            <a:xfrm flipH="false" flipV="false" rot="0">
              <a:off x="0" y="0"/>
              <a:ext cx="6400800" cy="640080"/>
            </a:xfrm>
            <a:custGeom>
              <a:avLst/>
              <a:gdLst/>
              <a:ahLst/>
              <a:cxnLst/>
              <a:rect r="r" b="b" t="t" l="l"/>
              <a:pathLst>
                <a:path h="640080" w="6400800">
                  <a:moveTo>
                    <a:pt x="0" y="0"/>
                  </a:moveTo>
                  <a:lnTo>
                    <a:pt x="6400800" y="0"/>
                  </a:lnTo>
                  <a:lnTo>
                    <a:pt x="6400800" y="640080"/>
                  </a:lnTo>
                  <a:lnTo>
                    <a:pt x="0" y="640080"/>
                  </a:lnTo>
                  <a:close/>
                </a:path>
              </a:pathLst>
            </a:custGeom>
            <a:blipFill>
              <a:blip r:embed="rId2">
                <a:alphaModFix amt="0"/>
              </a:blip>
              <a:stretch>
                <a:fillRect l="0" t="-144850" r="0" b="-144850"/>
              </a:stretch>
            </a:blipFill>
          </p:spPr>
        </p:sp>
        <p:sp>
          <p:nvSpPr>
            <p:cNvPr name="TextBox 21" id="21"/>
            <p:cNvSpPr txBox="true"/>
            <p:nvPr/>
          </p:nvSpPr>
          <p:spPr>
            <a:xfrm>
              <a:off x="0" y="-47625"/>
              <a:ext cx="6400800" cy="687705"/>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Dashboard</a:t>
              </a:r>
            </a:p>
          </p:txBody>
        </p:sp>
      </p:grpSp>
      <p:grpSp>
        <p:nvGrpSpPr>
          <p:cNvPr name="Group 22" id="22"/>
          <p:cNvGrpSpPr/>
          <p:nvPr/>
        </p:nvGrpSpPr>
        <p:grpSpPr>
          <a:xfrm rot="0">
            <a:off x="1097280" y="4114800"/>
            <a:ext cx="4800600" cy="411480"/>
            <a:chOff x="0" y="0"/>
            <a:chExt cx="6400800" cy="548640"/>
          </a:xfrm>
        </p:grpSpPr>
        <p:sp>
          <p:nvSpPr>
            <p:cNvPr name="Freeform 23" id="23"/>
            <p:cNvSpPr/>
            <p:nvPr/>
          </p:nvSpPr>
          <p:spPr>
            <a:xfrm flipH="false" flipV="false" rot="0">
              <a:off x="0" y="0"/>
              <a:ext cx="6400800" cy="548640"/>
            </a:xfrm>
            <a:custGeom>
              <a:avLst/>
              <a:gdLst/>
              <a:ahLst/>
              <a:cxnLst/>
              <a:rect r="r" b="b" t="t" l="l"/>
              <a:pathLst>
                <a:path h="548640" w="6400800">
                  <a:moveTo>
                    <a:pt x="0" y="0"/>
                  </a:moveTo>
                  <a:lnTo>
                    <a:pt x="6400800" y="0"/>
                  </a:lnTo>
                  <a:lnTo>
                    <a:pt x="6400800" y="548640"/>
                  </a:lnTo>
                  <a:lnTo>
                    <a:pt x="0" y="548640"/>
                  </a:lnTo>
                  <a:close/>
                </a:path>
              </a:pathLst>
            </a:custGeom>
            <a:blipFill>
              <a:blip r:embed="rId2">
                <a:alphaModFix amt="0"/>
              </a:blip>
              <a:stretch>
                <a:fillRect l="0" t="-177325" r="0" b="-177325"/>
              </a:stretch>
            </a:blipFill>
          </p:spPr>
        </p:sp>
        <p:sp>
          <p:nvSpPr>
            <p:cNvPr name="TextBox 24" id="24"/>
            <p:cNvSpPr txBox="true"/>
            <p:nvPr/>
          </p:nvSpPr>
          <p:spPr>
            <a:xfrm>
              <a:off x="0" y="-38100"/>
              <a:ext cx="6400800" cy="586740"/>
            </a:xfrm>
            <a:prstGeom prst="rect">
              <a:avLst/>
            </a:prstGeom>
          </p:spPr>
          <p:txBody>
            <a:bodyPr anchor="ctr" rtlCol="false" tIns="0" lIns="0" bIns="0" rIns="0"/>
            <a:lstStyle/>
            <a:p>
              <a:pPr algn="l">
                <a:lnSpc>
                  <a:spcPts val="1800"/>
                </a:lnSpc>
              </a:pPr>
              <a:r>
                <a:rPr lang="en-US" sz="1500">
                  <a:solidFill>
                    <a:srgbClr val="00E5C7"/>
                  </a:solidFill>
                  <a:latin typeface="Consolas"/>
                  <a:ea typeface="Consolas"/>
                  <a:cs typeface="Consolas"/>
                  <a:sym typeface="Consolas"/>
                </a:rPr>
                <a:t>/</a:t>
              </a:r>
            </a:p>
          </p:txBody>
        </p:sp>
      </p:grpSp>
      <p:grpSp>
        <p:nvGrpSpPr>
          <p:cNvPr name="Group 25" id="25"/>
          <p:cNvGrpSpPr/>
          <p:nvPr/>
        </p:nvGrpSpPr>
        <p:grpSpPr>
          <a:xfrm rot="0">
            <a:off x="1097280" y="4594860"/>
            <a:ext cx="4800600" cy="822960"/>
            <a:chOff x="0" y="0"/>
            <a:chExt cx="6400800" cy="1097280"/>
          </a:xfrm>
        </p:grpSpPr>
        <p:sp>
          <p:nvSpPr>
            <p:cNvPr name="Freeform 26" id="26"/>
            <p:cNvSpPr/>
            <p:nvPr/>
          </p:nvSpPr>
          <p:spPr>
            <a:xfrm flipH="false" flipV="false" rot="0">
              <a:off x="0" y="0"/>
              <a:ext cx="6400800" cy="1097280"/>
            </a:xfrm>
            <a:custGeom>
              <a:avLst/>
              <a:gdLst/>
              <a:ahLst/>
              <a:cxnLst/>
              <a:rect r="r" b="b" t="t" l="l"/>
              <a:pathLst>
                <a:path h="1097280" w="6400800">
                  <a:moveTo>
                    <a:pt x="0" y="0"/>
                  </a:moveTo>
                  <a:lnTo>
                    <a:pt x="6400800" y="0"/>
                  </a:lnTo>
                  <a:lnTo>
                    <a:pt x="6400800" y="1097280"/>
                  </a:lnTo>
                  <a:lnTo>
                    <a:pt x="0" y="1097280"/>
                  </a:lnTo>
                  <a:close/>
                </a:path>
              </a:pathLst>
            </a:custGeom>
            <a:blipFill>
              <a:blip r:embed="rId2">
                <a:alphaModFix amt="0"/>
              </a:blip>
              <a:stretch>
                <a:fillRect l="0" t="-63662" r="0" b="-63662"/>
              </a:stretch>
            </a:blipFill>
          </p:spPr>
        </p:sp>
        <p:sp>
          <p:nvSpPr>
            <p:cNvPr name="TextBox 27" id="27"/>
            <p:cNvSpPr txBox="true"/>
            <p:nvPr/>
          </p:nvSpPr>
          <p:spPr>
            <a:xfrm>
              <a:off x="0" y="-38100"/>
              <a:ext cx="6400800" cy="113538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Overview with prediction stats &amp; charts</a:t>
              </a:r>
            </a:p>
          </p:txBody>
        </p:sp>
      </p:grpSp>
      <p:grpSp>
        <p:nvGrpSpPr>
          <p:cNvPr name="Group 28" id="28"/>
          <p:cNvGrpSpPr/>
          <p:nvPr/>
        </p:nvGrpSpPr>
        <p:grpSpPr>
          <a:xfrm rot="0">
            <a:off x="6436995" y="3419475"/>
            <a:ext cx="5368290" cy="2145030"/>
            <a:chOff x="0" y="0"/>
            <a:chExt cx="7157720" cy="2860040"/>
          </a:xfrm>
        </p:grpSpPr>
        <p:sp>
          <p:nvSpPr>
            <p:cNvPr name="Freeform 29" id="29"/>
            <p:cNvSpPr/>
            <p:nvPr/>
          </p:nvSpPr>
          <p:spPr>
            <a:xfrm flipH="false" flipV="false" rot="0">
              <a:off x="0" y="0"/>
              <a:ext cx="7157720" cy="2860040"/>
            </a:xfrm>
            <a:custGeom>
              <a:avLst/>
              <a:gdLst/>
              <a:ahLst/>
              <a:cxnLst/>
              <a:rect r="r" b="b" t="t" l="l"/>
              <a:pathLst>
                <a:path h="2860040" w="7157720">
                  <a:moveTo>
                    <a:pt x="0" y="147574"/>
                  </a:moveTo>
                  <a:cubicBezTo>
                    <a:pt x="0" y="66040"/>
                    <a:pt x="66040" y="0"/>
                    <a:pt x="147574" y="0"/>
                  </a:cubicBezTo>
                  <a:lnTo>
                    <a:pt x="7010146" y="0"/>
                  </a:lnTo>
                  <a:cubicBezTo>
                    <a:pt x="7091680" y="0"/>
                    <a:pt x="7157720" y="66040"/>
                    <a:pt x="7157720" y="147574"/>
                  </a:cubicBezTo>
                  <a:lnTo>
                    <a:pt x="7157720" y="2712466"/>
                  </a:lnTo>
                  <a:cubicBezTo>
                    <a:pt x="7157720" y="2794000"/>
                    <a:pt x="7091680" y="2860040"/>
                    <a:pt x="7010146" y="2860040"/>
                  </a:cubicBezTo>
                  <a:lnTo>
                    <a:pt x="147574" y="2860040"/>
                  </a:lnTo>
                  <a:cubicBezTo>
                    <a:pt x="66040" y="2860040"/>
                    <a:pt x="0" y="2794000"/>
                    <a:pt x="0" y="2712466"/>
                  </a:cubicBezTo>
                  <a:close/>
                </a:path>
              </a:pathLst>
            </a:custGeom>
            <a:solidFill>
              <a:srgbClr val="0F2038"/>
            </a:solidFill>
            <a:ln w="19050" cap="sq">
              <a:solidFill>
                <a:srgbClr val="1E3358"/>
              </a:solidFill>
              <a:prstDash val="solid"/>
              <a:miter/>
            </a:ln>
          </p:spPr>
        </p:sp>
      </p:grpSp>
      <p:grpSp>
        <p:nvGrpSpPr>
          <p:cNvPr name="Group 30" id="30"/>
          <p:cNvGrpSpPr/>
          <p:nvPr/>
        </p:nvGrpSpPr>
        <p:grpSpPr>
          <a:xfrm rot="0">
            <a:off x="6720840" y="3634740"/>
            <a:ext cx="4800600" cy="480060"/>
            <a:chOff x="0" y="0"/>
            <a:chExt cx="6400800" cy="640080"/>
          </a:xfrm>
        </p:grpSpPr>
        <p:sp>
          <p:nvSpPr>
            <p:cNvPr name="Freeform 31" id="31"/>
            <p:cNvSpPr/>
            <p:nvPr/>
          </p:nvSpPr>
          <p:spPr>
            <a:xfrm flipH="false" flipV="false" rot="0">
              <a:off x="0" y="0"/>
              <a:ext cx="6400800" cy="640080"/>
            </a:xfrm>
            <a:custGeom>
              <a:avLst/>
              <a:gdLst/>
              <a:ahLst/>
              <a:cxnLst/>
              <a:rect r="r" b="b" t="t" l="l"/>
              <a:pathLst>
                <a:path h="640080" w="6400800">
                  <a:moveTo>
                    <a:pt x="0" y="0"/>
                  </a:moveTo>
                  <a:lnTo>
                    <a:pt x="6400800" y="0"/>
                  </a:lnTo>
                  <a:lnTo>
                    <a:pt x="6400800" y="640080"/>
                  </a:lnTo>
                  <a:lnTo>
                    <a:pt x="0" y="640080"/>
                  </a:lnTo>
                  <a:close/>
                </a:path>
              </a:pathLst>
            </a:custGeom>
            <a:blipFill>
              <a:blip r:embed="rId2">
                <a:alphaModFix amt="0"/>
              </a:blip>
              <a:stretch>
                <a:fillRect l="0" t="-144850" r="0" b="-144850"/>
              </a:stretch>
            </a:blipFill>
          </p:spPr>
        </p:sp>
        <p:sp>
          <p:nvSpPr>
            <p:cNvPr name="TextBox 32" id="32"/>
            <p:cNvSpPr txBox="true"/>
            <p:nvPr/>
          </p:nvSpPr>
          <p:spPr>
            <a:xfrm>
              <a:off x="0" y="-47625"/>
              <a:ext cx="6400800" cy="687705"/>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Inspector</a:t>
              </a:r>
            </a:p>
          </p:txBody>
        </p:sp>
      </p:grpSp>
      <p:grpSp>
        <p:nvGrpSpPr>
          <p:cNvPr name="Group 33" id="33"/>
          <p:cNvGrpSpPr/>
          <p:nvPr/>
        </p:nvGrpSpPr>
        <p:grpSpPr>
          <a:xfrm rot="0">
            <a:off x="6720840" y="4114800"/>
            <a:ext cx="4800600" cy="411480"/>
            <a:chOff x="0" y="0"/>
            <a:chExt cx="6400800" cy="548640"/>
          </a:xfrm>
        </p:grpSpPr>
        <p:sp>
          <p:nvSpPr>
            <p:cNvPr name="Freeform 34" id="34"/>
            <p:cNvSpPr/>
            <p:nvPr/>
          </p:nvSpPr>
          <p:spPr>
            <a:xfrm flipH="false" flipV="false" rot="0">
              <a:off x="0" y="0"/>
              <a:ext cx="6400800" cy="548640"/>
            </a:xfrm>
            <a:custGeom>
              <a:avLst/>
              <a:gdLst/>
              <a:ahLst/>
              <a:cxnLst/>
              <a:rect r="r" b="b" t="t" l="l"/>
              <a:pathLst>
                <a:path h="548640" w="6400800">
                  <a:moveTo>
                    <a:pt x="0" y="0"/>
                  </a:moveTo>
                  <a:lnTo>
                    <a:pt x="6400800" y="0"/>
                  </a:lnTo>
                  <a:lnTo>
                    <a:pt x="6400800" y="548640"/>
                  </a:lnTo>
                  <a:lnTo>
                    <a:pt x="0" y="548640"/>
                  </a:lnTo>
                  <a:close/>
                </a:path>
              </a:pathLst>
            </a:custGeom>
            <a:blipFill>
              <a:blip r:embed="rId2">
                <a:alphaModFix amt="0"/>
              </a:blip>
              <a:stretch>
                <a:fillRect l="0" t="-177325" r="0" b="-177325"/>
              </a:stretch>
            </a:blipFill>
          </p:spPr>
        </p:sp>
        <p:sp>
          <p:nvSpPr>
            <p:cNvPr name="TextBox 35" id="35"/>
            <p:cNvSpPr txBox="true"/>
            <p:nvPr/>
          </p:nvSpPr>
          <p:spPr>
            <a:xfrm>
              <a:off x="0" y="-38100"/>
              <a:ext cx="6400800" cy="586740"/>
            </a:xfrm>
            <a:prstGeom prst="rect">
              <a:avLst/>
            </a:prstGeom>
          </p:spPr>
          <p:txBody>
            <a:bodyPr anchor="ctr" rtlCol="false" tIns="0" lIns="0" bIns="0" rIns="0"/>
            <a:lstStyle/>
            <a:p>
              <a:pPr algn="l">
                <a:lnSpc>
                  <a:spcPts val="1800"/>
                </a:lnSpc>
              </a:pPr>
              <a:r>
                <a:rPr lang="en-US" sz="1500">
                  <a:solidFill>
                    <a:srgbClr val="00E5C7"/>
                  </a:solidFill>
                  <a:latin typeface="Consolas"/>
                  <a:ea typeface="Consolas"/>
                  <a:cs typeface="Consolas"/>
                  <a:sym typeface="Consolas"/>
                </a:rPr>
                <a:t>/inspect</a:t>
              </a:r>
            </a:p>
          </p:txBody>
        </p:sp>
      </p:grpSp>
      <p:grpSp>
        <p:nvGrpSpPr>
          <p:cNvPr name="Group 36" id="36"/>
          <p:cNvGrpSpPr/>
          <p:nvPr/>
        </p:nvGrpSpPr>
        <p:grpSpPr>
          <a:xfrm rot="0">
            <a:off x="6720840" y="4594860"/>
            <a:ext cx="4800600" cy="822960"/>
            <a:chOff x="0" y="0"/>
            <a:chExt cx="6400800" cy="1097280"/>
          </a:xfrm>
        </p:grpSpPr>
        <p:sp>
          <p:nvSpPr>
            <p:cNvPr name="Freeform 37" id="37"/>
            <p:cNvSpPr/>
            <p:nvPr/>
          </p:nvSpPr>
          <p:spPr>
            <a:xfrm flipH="false" flipV="false" rot="0">
              <a:off x="0" y="0"/>
              <a:ext cx="6400800" cy="1097280"/>
            </a:xfrm>
            <a:custGeom>
              <a:avLst/>
              <a:gdLst/>
              <a:ahLst/>
              <a:cxnLst/>
              <a:rect r="r" b="b" t="t" l="l"/>
              <a:pathLst>
                <a:path h="1097280" w="6400800">
                  <a:moveTo>
                    <a:pt x="0" y="0"/>
                  </a:moveTo>
                  <a:lnTo>
                    <a:pt x="6400800" y="0"/>
                  </a:lnTo>
                  <a:lnTo>
                    <a:pt x="6400800" y="1097280"/>
                  </a:lnTo>
                  <a:lnTo>
                    <a:pt x="0" y="1097280"/>
                  </a:lnTo>
                  <a:close/>
                </a:path>
              </a:pathLst>
            </a:custGeom>
            <a:blipFill>
              <a:blip r:embed="rId2">
                <a:alphaModFix amt="0"/>
              </a:blip>
              <a:stretch>
                <a:fillRect l="0" t="-63662" r="0" b="-63662"/>
              </a:stretch>
            </a:blipFill>
          </p:spPr>
        </p:sp>
        <p:sp>
          <p:nvSpPr>
            <p:cNvPr name="TextBox 38" id="38"/>
            <p:cNvSpPr txBox="true"/>
            <p:nvPr/>
          </p:nvSpPr>
          <p:spPr>
            <a:xfrm>
              <a:off x="0" y="-38100"/>
              <a:ext cx="6400800" cy="113538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Manual 33-feature single prediction</a:t>
              </a:r>
            </a:p>
          </p:txBody>
        </p:sp>
      </p:grpSp>
      <p:grpSp>
        <p:nvGrpSpPr>
          <p:cNvPr name="Group 39" id="39"/>
          <p:cNvGrpSpPr/>
          <p:nvPr/>
        </p:nvGrpSpPr>
        <p:grpSpPr>
          <a:xfrm rot="0">
            <a:off x="12060555" y="3419475"/>
            <a:ext cx="5368290" cy="2145030"/>
            <a:chOff x="0" y="0"/>
            <a:chExt cx="7157720" cy="2860040"/>
          </a:xfrm>
        </p:grpSpPr>
        <p:sp>
          <p:nvSpPr>
            <p:cNvPr name="Freeform 40" id="40"/>
            <p:cNvSpPr/>
            <p:nvPr/>
          </p:nvSpPr>
          <p:spPr>
            <a:xfrm flipH="false" flipV="false" rot="0">
              <a:off x="0" y="0"/>
              <a:ext cx="7157720" cy="2860040"/>
            </a:xfrm>
            <a:custGeom>
              <a:avLst/>
              <a:gdLst/>
              <a:ahLst/>
              <a:cxnLst/>
              <a:rect r="r" b="b" t="t" l="l"/>
              <a:pathLst>
                <a:path h="2860040" w="7157720">
                  <a:moveTo>
                    <a:pt x="0" y="147574"/>
                  </a:moveTo>
                  <a:cubicBezTo>
                    <a:pt x="0" y="66040"/>
                    <a:pt x="66040" y="0"/>
                    <a:pt x="147574" y="0"/>
                  </a:cubicBezTo>
                  <a:lnTo>
                    <a:pt x="7010146" y="0"/>
                  </a:lnTo>
                  <a:cubicBezTo>
                    <a:pt x="7091680" y="0"/>
                    <a:pt x="7157720" y="66040"/>
                    <a:pt x="7157720" y="147574"/>
                  </a:cubicBezTo>
                  <a:lnTo>
                    <a:pt x="7157720" y="2712466"/>
                  </a:lnTo>
                  <a:cubicBezTo>
                    <a:pt x="7157720" y="2794000"/>
                    <a:pt x="7091680" y="2860040"/>
                    <a:pt x="7010146" y="2860040"/>
                  </a:cubicBezTo>
                  <a:lnTo>
                    <a:pt x="147574" y="2860040"/>
                  </a:lnTo>
                  <a:cubicBezTo>
                    <a:pt x="66040" y="2860040"/>
                    <a:pt x="0" y="2794000"/>
                    <a:pt x="0" y="2712466"/>
                  </a:cubicBezTo>
                  <a:close/>
                </a:path>
              </a:pathLst>
            </a:custGeom>
            <a:solidFill>
              <a:srgbClr val="0F2038"/>
            </a:solidFill>
            <a:ln w="19050" cap="sq">
              <a:solidFill>
                <a:srgbClr val="1E3358"/>
              </a:solidFill>
              <a:prstDash val="solid"/>
              <a:miter/>
            </a:ln>
          </p:spPr>
        </p:sp>
      </p:grpSp>
      <p:grpSp>
        <p:nvGrpSpPr>
          <p:cNvPr name="Group 41" id="41"/>
          <p:cNvGrpSpPr/>
          <p:nvPr/>
        </p:nvGrpSpPr>
        <p:grpSpPr>
          <a:xfrm rot="0">
            <a:off x="12344400" y="3634740"/>
            <a:ext cx="4800600" cy="480060"/>
            <a:chOff x="0" y="0"/>
            <a:chExt cx="6400800" cy="640080"/>
          </a:xfrm>
        </p:grpSpPr>
        <p:sp>
          <p:nvSpPr>
            <p:cNvPr name="Freeform 42" id="42"/>
            <p:cNvSpPr/>
            <p:nvPr/>
          </p:nvSpPr>
          <p:spPr>
            <a:xfrm flipH="false" flipV="false" rot="0">
              <a:off x="0" y="0"/>
              <a:ext cx="6400800" cy="640080"/>
            </a:xfrm>
            <a:custGeom>
              <a:avLst/>
              <a:gdLst/>
              <a:ahLst/>
              <a:cxnLst/>
              <a:rect r="r" b="b" t="t" l="l"/>
              <a:pathLst>
                <a:path h="640080" w="6400800">
                  <a:moveTo>
                    <a:pt x="0" y="0"/>
                  </a:moveTo>
                  <a:lnTo>
                    <a:pt x="6400800" y="0"/>
                  </a:lnTo>
                  <a:lnTo>
                    <a:pt x="6400800" y="640080"/>
                  </a:lnTo>
                  <a:lnTo>
                    <a:pt x="0" y="640080"/>
                  </a:lnTo>
                  <a:close/>
                </a:path>
              </a:pathLst>
            </a:custGeom>
            <a:blipFill>
              <a:blip r:embed="rId2">
                <a:alphaModFix amt="0"/>
              </a:blip>
              <a:stretch>
                <a:fillRect l="0" t="-144850" r="0" b="-144850"/>
              </a:stretch>
            </a:blipFill>
          </p:spPr>
        </p:sp>
        <p:sp>
          <p:nvSpPr>
            <p:cNvPr name="TextBox 43" id="43"/>
            <p:cNvSpPr txBox="true"/>
            <p:nvPr/>
          </p:nvSpPr>
          <p:spPr>
            <a:xfrm>
              <a:off x="0" y="-47625"/>
              <a:ext cx="6400800" cy="687705"/>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Batch</a:t>
              </a:r>
            </a:p>
          </p:txBody>
        </p:sp>
      </p:grpSp>
      <p:grpSp>
        <p:nvGrpSpPr>
          <p:cNvPr name="Group 44" id="44"/>
          <p:cNvGrpSpPr/>
          <p:nvPr/>
        </p:nvGrpSpPr>
        <p:grpSpPr>
          <a:xfrm rot="0">
            <a:off x="12344400" y="4114800"/>
            <a:ext cx="4800600" cy="411480"/>
            <a:chOff x="0" y="0"/>
            <a:chExt cx="6400800" cy="548640"/>
          </a:xfrm>
        </p:grpSpPr>
        <p:sp>
          <p:nvSpPr>
            <p:cNvPr name="Freeform 45" id="45"/>
            <p:cNvSpPr/>
            <p:nvPr/>
          </p:nvSpPr>
          <p:spPr>
            <a:xfrm flipH="false" flipV="false" rot="0">
              <a:off x="0" y="0"/>
              <a:ext cx="6400800" cy="548640"/>
            </a:xfrm>
            <a:custGeom>
              <a:avLst/>
              <a:gdLst/>
              <a:ahLst/>
              <a:cxnLst/>
              <a:rect r="r" b="b" t="t" l="l"/>
              <a:pathLst>
                <a:path h="548640" w="6400800">
                  <a:moveTo>
                    <a:pt x="0" y="0"/>
                  </a:moveTo>
                  <a:lnTo>
                    <a:pt x="6400800" y="0"/>
                  </a:lnTo>
                  <a:lnTo>
                    <a:pt x="6400800" y="548640"/>
                  </a:lnTo>
                  <a:lnTo>
                    <a:pt x="0" y="548640"/>
                  </a:lnTo>
                  <a:close/>
                </a:path>
              </a:pathLst>
            </a:custGeom>
            <a:blipFill>
              <a:blip r:embed="rId2">
                <a:alphaModFix amt="0"/>
              </a:blip>
              <a:stretch>
                <a:fillRect l="0" t="-177325" r="0" b="-177325"/>
              </a:stretch>
            </a:blipFill>
          </p:spPr>
        </p:sp>
        <p:sp>
          <p:nvSpPr>
            <p:cNvPr name="TextBox 46" id="46"/>
            <p:cNvSpPr txBox="true"/>
            <p:nvPr/>
          </p:nvSpPr>
          <p:spPr>
            <a:xfrm>
              <a:off x="0" y="-38100"/>
              <a:ext cx="6400800" cy="586740"/>
            </a:xfrm>
            <a:prstGeom prst="rect">
              <a:avLst/>
            </a:prstGeom>
          </p:spPr>
          <p:txBody>
            <a:bodyPr anchor="ctr" rtlCol="false" tIns="0" lIns="0" bIns="0" rIns="0"/>
            <a:lstStyle/>
            <a:p>
              <a:pPr algn="l">
                <a:lnSpc>
                  <a:spcPts val="1800"/>
                </a:lnSpc>
              </a:pPr>
              <a:r>
                <a:rPr lang="en-US" sz="1500">
                  <a:solidFill>
                    <a:srgbClr val="00E5C7"/>
                  </a:solidFill>
                  <a:latin typeface="Consolas"/>
                  <a:ea typeface="Consolas"/>
                  <a:cs typeface="Consolas"/>
                  <a:sym typeface="Consolas"/>
                </a:rPr>
                <a:t>/batch</a:t>
              </a:r>
            </a:p>
          </p:txBody>
        </p:sp>
      </p:grpSp>
      <p:grpSp>
        <p:nvGrpSpPr>
          <p:cNvPr name="Group 47" id="47"/>
          <p:cNvGrpSpPr/>
          <p:nvPr/>
        </p:nvGrpSpPr>
        <p:grpSpPr>
          <a:xfrm rot="0">
            <a:off x="12344400" y="4594860"/>
            <a:ext cx="4800600" cy="822960"/>
            <a:chOff x="0" y="0"/>
            <a:chExt cx="6400800" cy="1097280"/>
          </a:xfrm>
        </p:grpSpPr>
        <p:sp>
          <p:nvSpPr>
            <p:cNvPr name="Freeform 48" id="48"/>
            <p:cNvSpPr/>
            <p:nvPr/>
          </p:nvSpPr>
          <p:spPr>
            <a:xfrm flipH="false" flipV="false" rot="0">
              <a:off x="0" y="0"/>
              <a:ext cx="6400800" cy="1097280"/>
            </a:xfrm>
            <a:custGeom>
              <a:avLst/>
              <a:gdLst/>
              <a:ahLst/>
              <a:cxnLst/>
              <a:rect r="r" b="b" t="t" l="l"/>
              <a:pathLst>
                <a:path h="1097280" w="6400800">
                  <a:moveTo>
                    <a:pt x="0" y="0"/>
                  </a:moveTo>
                  <a:lnTo>
                    <a:pt x="6400800" y="0"/>
                  </a:lnTo>
                  <a:lnTo>
                    <a:pt x="6400800" y="1097280"/>
                  </a:lnTo>
                  <a:lnTo>
                    <a:pt x="0" y="1097280"/>
                  </a:lnTo>
                  <a:close/>
                </a:path>
              </a:pathLst>
            </a:custGeom>
            <a:blipFill>
              <a:blip r:embed="rId2">
                <a:alphaModFix amt="0"/>
              </a:blip>
              <a:stretch>
                <a:fillRect l="0" t="-63662" r="0" b="-63662"/>
              </a:stretch>
            </a:blipFill>
          </p:spPr>
        </p:sp>
        <p:sp>
          <p:nvSpPr>
            <p:cNvPr name="TextBox 49" id="49"/>
            <p:cNvSpPr txBox="true"/>
            <p:nvPr/>
          </p:nvSpPr>
          <p:spPr>
            <a:xfrm>
              <a:off x="0" y="-38100"/>
              <a:ext cx="6400800" cy="113538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CSV upload for bulk prediction</a:t>
              </a:r>
            </a:p>
          </p:txBody>
        </p:sp>
      </p:grpSp>
      <p:grpSp>
        <p:nvGrpSpPr>
          <p:cNvPr name="Group 50" id="50"/>
          <p:cNvGrpSpPr/>
          <p:nvPr/>
        </p:nvGrpSpPr>
        <p:grpSpPr>
          <a:xfrm rot="0">
            <a:off x="813435" y="5819775"/>
            <a:ext cx="5368290" cy="2145030"/>
            <a:chOff x="0" y="0"/>
            <a:chExt cx="7157720" cy="2860040"/>
          </a:xfrm>
        </p:grpSpPr>
        <p:sp>
          <p:nvSpPr>
            <p:cNvPr name="Freeform 51" id="51"/>
            <p:cNvSpPr/>
            <p:nvPr/>
          </p:nvSpPr>
          <p:spPr>
            <a:xfrm flipH="false" flipV="false" rot="0">
              <a:off x="0" y="0"/>
              <a:ext cx="7157720" cy="2860040"/>
            </a:xfrm>
            <a:custGeom>
              <a:avLst/>
              <a:gdLst/>
              <a:ahLst/>
              <a:cxnLst/>
              <a:rect r="r" b="b" t="t" l="l"/>
              <a:pathLst>
                <a:path h="2860040" w="7157720">
                  <a:moveTo>
                    <a:pt x="0" y="147574"/>
                  </a:moveTo>
                  <a:cubicBezTo>
                    <a:pt x="0" y="66040"/>
                    <a:pt x="66040" y="0"/>
                    <a:pt x="147574" y="0"/>
                  </a:cubicBezTo>
                  <a:lnTo>
                    <a:pt x="7010146" y="0"/>
                  </a:lnTo>
                  <a:cubicBezTo>
                    <a:pt x="7091680" y="0"/>
                    <a:pt x="7157720" y="66040"/>
                    <a:pt x="7157720" y="147574"/>
                  </a:cubicBezTo>
                  <a:lnTo>
                    <a:pt x="7157720" y="2712466"/>
                  </a:lnTo>
                  <a:cubicBezTo>
                    <a:pt x="7157720" y="2794000"/>
                    <a:pt x="7091680" y="2860040"/>
                    <a:pt x="7010146" y="2860040"/>
                  </a:cubicBezTo>
                  <a:lnTo>
                    <a:pt x="147574" y="2860040"/>
                  </a:lnTo>
                  <a:cubicBezTo>
                    <a:pt x="66040" y="2860040"/>
                    <a:pt x="0" y="2794000"/>
                    <a:pt x="0" y="2712466"/>
                  </a:cubicBezTo>
                  <a:close/>
                </a:path>
              </a:pathLst>
            </a:custGeom>
            <a:solidFill>
              <a:srgbClr val="0F2038"/>
            </a:solidFill>
            <a:ln w="19050" cap="sq">
              <a:solidFill>
                <a:srgbClr val="1E3358"/>
              </a:solidFill>
              <a:prstDash val="solid"/>
              <a:miter/>
            </a:ln>
          </p:spPr>
        </p:sp>
      </p:grpSp>
      <p:grpSp>
        <p:nvGrpSpPr>
          <p:cNvPr name="Group 52" id="52"/>
          <p:cNvGrpSpPr/>
          <p:nvPr/>
        </p:nvGrpSpPr>
        <p:grpSpPr>
          <a:xfrm rot="0">
            <a:off x="1097280" y="6035040"/>
            <a:ext cx="4800600" cy="480060"/>
            <a:chOff x="0" y="0"/>
            <a:chExt cx="6400800" cy="640080"/>
          </a:xfrm>
        </p:grpSpPr>
        <p:sp>
          <p:nvSpPr>
            <p:cNvPr name="Freeform 53" id="53"/>
            <p:cNvSpPr/>
            <p:nvPr/>
          </p:nvSpPr>
          <p:spPr>
            <a:xfrm flipH="false" flipV="false" rot="0">
              <a:off x="0" y="0"/>
              <a:ext cx="6400800" cy="640080"/>
            </a:xfrm>
            <a:custGeom>
              <a:avLst/>
              <a:gdLst/>
              <a:ahLst/>
              <a:cxnLst/>
              <a:rect r="r" b="b" t="t" l="l"/>
              <a:pathLst>
                <a:path h="640080" w="6400800">
                  <a:moveTo>
                    <a:pt x="0" y="0"/>
                  </a:moveTo>
                  <a:lnTo>
                    <a:pt x="6400800" y="0"/>
                  </a:lnTo>
                  <a:lnTo>
                    <a:pt x="6400800" y="640080"/>
                  </a:lnTo>
                  <a:lnTo>
                    <a:pt x="0" y="640080"/>
                  </a:lnTo>
                  <a:close/>
                </a:path>
              </a:pathLst>
            </a:custGeom>
            <a:blipFill>
              <a:blip r:embed="rId2">
                <a:alphaModFix amt="0"/>
              </a:blip>
              <a:stretch>
                <a:fillRect l="0" t="-144850" r="0" b="-144850"/>
              </a:stretch>
            </a:blipFill>
          </p:spPr>
        </p:sp>
        <p:sp>
          <p:nvSpPr>
            <p:cNvPr name="TextBox 54" id="54"/>
            <p:cNvSpPr txBox="true"/>
            <p:nvPr/>
          </p:nvSpPr>
          <p:spPr>
            <a:xfrm>
              <a:off x="0" y="-47625"/>
              <a:ext cx="6400800" cy="687705"/>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Alerts</a:t>
              </a:r>
            </a:p>
          </p:txBody>
        </p:sp>
      </p:grpSp>
      <p:grpSp>
        <p:nvGrpSpPr>
          <p:cNvPr name="Group 55" id="55"/>
          <p:cNvGrpSpPr/>
          <p:nvPr/>
        </p:nvGrpSpPr>
        <p:grpSpPr>
          <a:xfrm rot="0">
            <a:off x="1097280" y="6515100"/>
            <a:ext cx="4800600" cy="411480"/>
            <a:chOff x="0" y="0"/>
            <a:chExt cx="6400800" cy="548640"/>
          </a:xfrm>
        </p:grpSpPr>
        <p:sp>
          <p:nvSpPr>
            <p:cNvPr name="Freeform 56" id="56"/>
            <p:cNvSpPr/>
            <p:nvPr/>
          </p:nvSpPr>
          <p:spPr>
            <a:xfrm flipH="false" flipV="false" rot="0">
              <a:off x="0" y="0"/>
              <a:ext cx="6400800" cy="548640"/>
            </a:xfrm>
            <a:custGeom>
              <a:avLst/>
              <a:gdLst/>
              <a:ahLst/>
              <a:cxnLst/>
              <a:rect r="r" b="b" t="t" l="l"/>
              <a:pathLst>
                <a:path h="548640" w="6400800">
                  <a:moveTo>
                    <a:pt x="0" y="0"/>
                  </a:moveTo>
                  <a:lnTo>
                    <a:pt x="6400800" y="0"/>
                  </a:lnTo>
                  <a:lnTo>
                    <a:pt x="6400800" y="548640"/>
                  </a:lnTo>
                  <a:lnTo>
                    <a:pt x="0" y="548640"/>
                  </a:lnTo>
                  <a:close/>
                </a:path>
              </a:pathLst>
            </a:custGeom>
            <a:blipFill>
              <a:blip r:embed="rId2">
                <a:alphaModFix amt="0"/>
              </a:blip>
              <a:stretch>
                <a:fillRect l="0" t="-177325" r="0" b="-177325"/>
              </a:stretch>
            </a:blipFill>
          </p:spPr>
        </p:sp>
        <p:sp>
          <p:nvSpPr>
            <p:cNvPr name="TextBox 57" id="57"/>
            <p:cNvSpPr txBox="true"/>
            <p:nvPr/>
          </p:nvSpPr>
          <p:spPr>
            <a:xfrm>
              <a:off x="0" y="-38100"/>
              <a:ext cx="6400800" cy="586740"/>
            </a:xfrm>
            <a:prstGeom prst="rect">
              <a:avLst/>
            </a:prstGeom>
          </p:spPr>
          <p:txBody>
            <a:bodyPr anchor="ctr" rtlCol="false" tIns="0" lIns="0" bIns="0" rIns="0"/>
            <a:lstStyle/>
            <a:p>
              <a:pPr algn="l">
                <a:lnSpc>
                  <a:spcPts val="1800"/>
                </a:lnSpc>
              </a:pPr>
              <a:r>
                <a:rPr lang="en-US" sz="1500">
                  <a:solidFill>
                    <a:srgbClr val="00E5C7"/>
                  </a:solidFill>
                  <a:latin typeface="Consolas"/>
                  <a:ea typeface="Consolas"/>
                  <a:cs typeface="Consolas"/>
                  <a:sym typeface="Consolas"/>
                </a:rPr>
                <a:t>/alerts</a:t>
              </a:r>
            </a:p>
          </p:txBody>
        </p:sp>
      </p:grpSp>
      <p:grpSp>
        <p:nvGrpSpPr>
          <p:cNvPr name="Group 58" id="58"/>
          <p:cNvGrpSpPr/>
          <p:nvPr/>
        </p:nvGrpSpPr>
        <p:grpSpPr>
          <a:xfrm rot="0">
            <a:off x="1097280" y="6995160"/>
            <a:ext cx="4800600" cy="822960"/>
            <a:chOff x="0" y="0"/>
            <a:chExt cx="6400800" cy="1097280"/>
          </a:xfrm>
        </p:grpSpPr>
        <p:sp>
          <p:nvSpPr>
            <p:cNvPr name="Freeform 59" id="59"/>
            <p:cNvSpPr/>
            <p:nvPr/>
          </p:nvSpPr>
          <p:spPr>
            <a:xfrm flipH="false" flipV="false" rot="0">
              <a:off x="0" y="0"/>
              <a:ext cx="6400800" cy="1097280"/>
            </a:xfrm>
            <a:custGeom>
              <a:avLst/>
              <a:gdLst/>
              <a:ahLst/>
              <a:cxnLst/>
              <a:rect r="r" b="b" t="t" l="l"/>
              <a:pathLst>
                <a:path h="1097280" w="6400800">
                  <a:moveTo>
                    <a:pt x="0" y="0"/>
                  </a:moveTo>
                  <a:lnTo>
                    <a:pt x="6400800" y="0"/>
                  </a:lnTo>
                  <a:lnTo>
                    <a:pt x="6400800" y="1097280"/>
                  </a:lnTo>
                  <a:lnTo>
                    <a:pt x="0" y="1097280"/>
                  </a:lnTo>
                  <a:close/>
                </a:path>
              </a:pathLst>
            </a:custGeom>
            <a:blipFill>
              <a:blip r:embed="rId2">
                <a:alphaModFix amt="0"/>
              </a:blip>
              <a:stretch>
                <a:fillRect l="0" t="-63662" r="0" b="-63662"/>
              </a:stretch>
            </a:blipFill>
          </p:spPr>
        </p:sp>
        <p:sp>
          <p:nvSpPr>
            <p:cNvPr name="TextBox 60" id="60"/>
            <p:cNvSpPr txBox="true"/>
            <p:nvPr/>
          </p:nvSpPr>
          <p:spPr>
            <a:xfrm>
              <a:off x="0" y="-38100"/>
              <a:ext cx="6400800" cy="113538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Real-time anomaly alerts</a:t>
              </a:r>
            </a:p>
          </p:txBody>
        </p:sp>
      </p:grpSp>
      <p:grpSp>
        <p:nvGrpSpPr>
          <p:cNvPr name="Group 61" id="61"/>
          <p:cNvGrpSpPr/>
          <p:nvPr/>
        </p:nvGrpSpPr>
        <p:grpSpPr>
          <a:xfrm rot="0">
            <a:off x="6436995" y="5819775"/>
            <a:ext cx="5368290" cy="2145030"/>
            <a:chOff x="0" y="0"/>
            <a:chExt cx="7157720" cy="2860040"/>
          </a:xfrm>
        </p:grpSpPr>
        <p:sp>
          <p:nvSpPr>
            <p:cNvPr name="Freeform 62" id="62"/>
            <p:cNvSpPr/>
            <p:nvPr/>
          </p:nvSpPr>
          <p:spPr>
            <a:xfrm flipH="false" flipV="false" rot="0">
              <a:off x="0" y="0"/>
              <a:ext cx="7157720" cy="2860040"/>
            </a:xfrm>
            <a:custGeom>
              <a:avLst/>
              <a:gdLst/>
              <a:ahLst/>
              <a:cxnLst/>
              <a:rect r="r" b="b" t="t" l="l"/>
              <a:pathLst>
                <a:path h="2860040" w="7157720">
                  <a:moveTo>
                    <a:pt x="0" y="147574"/>
                  </a:moveTo>
                  <a:cubicBezTo>
                    <a:pt x="0" y="66040"/>
                    <a:pt x="66040" y="0"/>
                    <a:pt x="147574" y="0"/>
                  </a:cubicBezTo>
                  <a:lnTo>
                    <a:pt x="7010146" y="0"/>
                  </a:lnTo>
                  <a:cubicBezTo>
                    <a:pt x="7091680" y="0"/>
                    <a:pt x="7157720" y="66040"/>
                    <a:pt x="7157720" y="147574"/>
                  </a:cubicBezTo>
                  <a:lnTo>
                    <a:pt x="7157720" y="2712466"/>
                  </a:lnTo>
                  <a:cubicBezTo>
                    <a:pt x="7157720" y="2794000"/>
                    <a:pt x="7091680" y="2860040"/>
                    <a:pt x="7010146" y="2860040"/>
                  </a:cubicBezTo>
                  <a:lnTo>
                    <a:pt x="147574" y="2860040"/>
                  </a:lnTo>
                  <a:cubicBezTo>
                    <a:pt x="66040" y="2860040"/>
                    <a:pt x="0" y="2794000"/>
                    <a:pt x="0" y="2712466"/>
                  </a:cubicBezTo>
                  <a:close/>
                </a:path>
              </a:pathLst>
            </a:custGeom>
            <a:solidFill>
              <a:srgbClr val="0F2038"/>
            </a:solidFill>
            <a:ln w="19050" cap="sq">
              <a:solidFill>
                <a:srgbClr val="1E3358"/>
              </a:solidFill>
              <a:prstDash val="solid"/>
              <a:miter/>
            </a:ln>
          </p:spPr>
        </p:sp>
      </p:grpSp>
      <p:grpSp>
        <p:nvGrpSpPr>
          <p:cNvPr name="Group 63" id="63"/>
          <p:cNvGrpSpPr/>
          <p:nvPr/>
        </p:nvGrpSpPr>
        <p:grpSpPr>
          <a:xfrm rot="0">
            <a:off x="6720840" y="6035040"/>
            <a:ext cx="4800600" cy="480060"/>
            <a:chOff x="0" y="0"/>
            <a:chExt cx="6400800" cy="640080"/>
          </a:xfrm>
        </p:grpSpPr>
        <p:sp>
          <p:nvSpPr>
            <p:cNvPr name="Freeform 64" id="64"/>
            <p:cNvSpPr/>
            <p:nvPr/>
          </p:nvSpPr>
          <p:spPr>
            <a:xfrm flipH="false" flipV="false" rot="0">
              <a:off x="0" y="0"/>
              <a:ext cx="6400800" cy="640080"/>
            </a:xfrm>
            <a:custGeom>
              <a:avLst/>
              <a:gdLst/>
              <a:ahLst/>
              <a:cxnLst/>
              <a:rect r="r" b="b" t="t" l="l"/>
              <a:pathLst>
                <a:path h="640080" w="6400800">
                  <a:moveTo>
                    <a:pt x="0" y="0"/>
                  </a:moveTo>
                  <a:lnTo>
                    <a:pt x="6400800" y="0"/>
                  </a:lnTo>
                  <a:lnTo>
                    <a:pt x="6400800" y="640080"/>
                  </a:lnTo>
                  <a:lnTo>
                    <a:pt x="0" y="640080"/>
                  </a:lnTo>
                  <a:close/>
                </a:path>
              </a:pathLst>
            </a:custGeom>
            <a:blipFill>
              <a:blip r:embed="rId2">
                <a:alphaModFix amt="0"/>
              </a:blip>
              <a:stretch>
                <a:fillRect l="0" t="-144850" r="0" b="-144850"/>
              </a:stretch>
            </a:blipFill>
          </p:spPr>
        </p:sp>
        <p:sp>
          <p:nvSpPr>
            <p:cNvPr name="TextBox 65" id="65"/>
            <p:cNvSpPr txBox="true"/>
            <p:nvPr/>
          </p:nvSpPr>
          <p:spPr>
            <a:xfrm>
              <a:off x="0" y="-47625"/>
              <a:ext cx="6400800" cy="687705"/>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Status</a:t>
              </a:r>
            </a:p>
          </p:txBody>
        </p:sp>
      </p:grpSp>
      <p:grpSp>
        <p:nvGrpSpPr>
          <p:cNvPr name="Group 66" id="66"/>
          <p:cNvGrpSpPr/>
          <p:nvPr/>
        </p:nvGrpSpPr>
        <p:grpSpPr>
          <a:xfrm rot="0">
            <a:off x="6720840" y="6515100"/>
            <a:ext cx="4800600" cy="411480"/>
            <a:chOff x="0" y="0"/>
            <a:chExt cx="6400800" cy="548640"/>
          </a:xfrm>
        </p:grpSpPr>
        <p:sp>
          <p:nvSpPr>
            <p:cNvPr name="Freeform 67" id="67"/>
            <p:cNvSpPr/>
            <p:nvPr/>
          </p:nvSpPr>
          <p:spPr>
            <a:xfrm flipH="false" flipV="false" rot="0">
              <a:off x="0" y="0"/>
              <a:ext cx="6400800" cy="548640"/>
            </a:xfrm>
            <a:custGeom>
              <a:avLst/>
              <a:gdLst/>
              <a:ahLst/>
              <a:cxnLst/>
              <a:rect r="r" b="b" t="t" l="l"/>
              <a:pathLst>
                <a:path h="548640" w="6400800">
                  <a:moveTo>
                    <a:pt x="0" y="0"/>
                  </a:moveTo>
                  <a:lnTo>
                    <a:pt x="6400800" y="0"/>
                  </a:lnTo>
                  <a:lnTo>
                    <a:pt x="6400800" y="548640"/>
                  </a:lnTo>
                  <a:lnTo>
                    <a:pt x="0" y="548640"/>
                  </a:lnTo>
                  <a:close/>
                </a:path>
              </a:pathLst>
            </a:custGeom>
            <a:blipFill>
              <a:blip r:embed="rId2">
                <a:alphaModFix amt="0"/>
              </a:blip>
              <a:stretch>
                <a:fillRect l="0" t="-177325" r="0" b="-177325"/>
              </a:stretch>
            </a:blipFill>
          </p:spPr>
        </p:sp>
        <p:sp>
          <p:nvSpPr>
            <p:cNvPr name="TextBox 68" id="68"/>
            <p:cNvSpPr txBox="true"/>
            <p:nvPr/>
          </p:nvSpPr>
          <p:spPr>
            <a:xfrm>
              <a:off x="0" y="-38100"/>
              <a:ext cx="6400800" cy="586740"/>
            </a:xfrm>
            <a:prstGeom prst="rect">
              <a:avLst/>
            </a:prstGeom>
          </p:spPr>
          <p:txBody>
            <a:bodyPr anchor="ctr" rtlCol="false" tIns="0" lIns="0" bIns="0" rIns="0"/>
            <a:lstStyle/>
            <a:p>
              <a:pPr algn="l">
                <a:lnSpc>
                  <a:spcPts val="1800"/>
                </a:lnSpc>
              </a:pPr>
              <a:r>
                <a:rPr lang="en-US" sz="1500">
                  <a:solidFill>
                    <a:srgbClr val="00E5C7"/>
                  </a:solidFill>
                  <a:latin typeface="Consolas"/>
                  <a:ea typeface="Consolas"/>
                  <a:cs typeface="Consolas"/>
                  <a:sym typeface="Consolas"/>
                </a:rPr>
                <a:t>/status</a:t>
              </a:r>
            </a:p>
          </p:txBody>
        </p:sp>
      </p:grpSp>
      <p:grpSp>
        <p:nvGrpSpPr>
          <p:cNvPr name="Group 69" id="69"/>
          <p:cNvGrpSpPr/>
          <p:nvPr/>
        </p:nvGrpSpPr>
        <p:grpSpPr>
          <a:xfrm rot="0">
            <a:off x="6720840" y="6995160"/>
            <a:ext cx="4800600" cy="822960"/>
            <a:chOff x="0" y="0"/>
            <a:chExt cx="6400800" cy="1097280"/>
          </a:xfrm>
        </p:grpSpPr>
        <p:sp>
          <p:nvSpPr>
            <p:cNvPr name="Freeform 70" id="70"/>
            <p:cNvSpPr/>
            <p:nvPr/>
          </p:nvSpPr>
          <p:spPr>
            <a:xfrm flipH="false" flipV="false" rot="0">
              <a:off x="0" y="0"/>
              <a:ext cx="6400800" cy="1097280"/>
            </a:xfrm>
            <a:custGeom>
              <a:avLst/>
              <a:gdLst/>
              <a:ahLst/>
              <a:cxnLst/>
              <a:rect r="r" b="b" t="t" l="l"/>
              <a:pathLst>
                <a:path h="1097280" w="6400800">
                  <a:moveTo>
                    <a:pt x="0" y="0"/>
                  </a:moveTo>
                  <a:lnTo>
                    <a:pt x="6400800" y="0"/>
                  </a:lnTo>
                  <a:lnTo>
                    <a:pt x="6400800" y="1097280"/>
                  </a:lnTo>
                  <a:lnTo>
                    <a:pt x="0" y="1097280"/>
                  </a:lnTo>
                  <a:close/>
                </a:path>
              </a:pathLst>
            </a:custGeom>
            <a:blipFill>
              <a:blip r:embed="rId2">
                <a:alphaModFix amt="0"/>
              </a:blip>
              <a:stretch>
                <a:fillRect l="0" t="-63662" r="0" b="-63662"/>
              </a:stretch>
            </a:blipFill>
          </p:spPr>
        </p:sp>
        <p:sp>
          <p:nvSpPr>
            <p:cNvPr name="TextBox 71" id="71"/>
            <p:cNvSpPr txBox="true"/>
            <p:nvPr/>
          </p:nvSpPr>
          <p:spPr>
            <a:xfrm>
              <a:off x="0" y="-38100"/>
              <a:ext cx="6400800" cy="113538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API health &amp; model load state</a:t>
              </a:r>
            </a:p>
          </p:txBody>
        </p:sp>
      </p:grpSp>
      <p:grpSp>
        <p:nvGrpSpPr>
          <p:cNvPr name="Group 72" id="72"/>
          <p:cNvGrpSpPr/>
          <p:nvPr/>
        </p:nvGrpSpPr>
        <p:grpSpPr>
          <a:xfrm rot="0">
            <a:off x="12060555" y="5819775"/>
            <a:ext cx="5368290" cy="2145030"/>
            <a:chOff x="0" y="0"/>
            <a:chExt cx="7157720" cy="2860040"/>
          </a:xfrm>
        </p:grpSpPr>
        <p:sp>
          <p:nvSpPr>
            <p:cNvPr name="Freeform 73" id="73"/>
            <p:cNvSpPr/>
            <p:nvPr/>
          </p:nvSpPr>
          <p:spPr>
            <a:xfrm flipH="false" flipV="false" rot="0">
              <a:off x="0" y="0"/>
              <a:ext cx="7157720" cy="2860040"/>
            </a:xfrm>
            <a:custGeom>
              <a:avLst/>
              <a:gdLst/>
              <a:ahLst/>
              <a:cxnLst/>
              <a:rect r="r" b="b" t="t" l="l"/>
              <a:pathLst>
                <a:path h="2860040" w="7157720">
                  <a:moveTo>
                    <a:pt x="0" y="147574"/>
                  </a:moveTo>
                  <a:cubicBezTo>
                    <a:pt x="0" y="66040"/>
                    <a:pt x="66040" y="0"/>
                    <a:pt x="147574" y="0"/>
                  </a:cubicBezTo>
                  <a:lnTo>
                    <a:pt x="7010146" y="0"/>
                  </a:lnTo>
                  <a:cubicBezTo>
                    <a:pt x="7091680" y="0"/>
                    <a:pt x="7157720" y="66040"/>
                    <a:pt x="7157720" y="147574"/>
                  </a:cubicBezTo>
                  <a:lnTo>
                    <a:pt x="7157720" y="2712466"/>
                  </a:lnTo>
                  <a:cubicBezTo>
                    <a:pt x="7157720" y="2794000"/>
                    <a:pt x="7091680" y="2860040"/>
                    <a:pt x="7010146" y="2860040"/>
                  </a:cubicBezTo>
                  <a:lnTo>
                    <a:pt x="147574" y="2860040"/>
                  </a:lnTo>
                  <a:cubicBezTo>
                    <a:pt x="66040" y="2860040"/>
                    <a:pt x="0" y="2794000"/>
                    <a:pt x="0" y="2712466"/>
                  </a:cubicBezTo>
                  <a:close/>
                </a:path>
              </a:pathLst>
            </a:custGeom>
            <a:solidFill>
              <a:srgbClr val="0F2038"/>
            </a:solidFill>
            <a:ln w="19050" cap="sq">
              <a:solidFill>
                <a:srgbClr val="1E3358"/>
              </a:solidFill>
              <a:prstDash val="solid"/>
              <a:miter/>
            </a:ln>
          </p:spPr>
        </p:sp>
      </p:grpSp>
      <p:grpSp>
        <p:nvGrpSpPr>
          <p:cNvPr name="Group 74" id="74"/>
          <p:cNvGrpSpPr/>
          <p:nvPr/>
        </p:nvGrpSpPr>
        <p:grpSpPr>
          <a:xfrm rot="0">
            <a:off x="12344400" y="6035040"/>
            <a:ext cx="4800600" cy="480060"/>
            <a:chOff x="0" y="0"/>
            <a:chExt cx="6400800" cy="640080"/>
          </a:xfrm>
        </p:grpSpPr>
        <p:sp>
          <p:nvSpPr>
            <p:cNvPr name="Freeform 75" id="75"/>
            <p:cNvSpPr/>
            <p:nvPr/>
          </p:nvSpPr>
          <p:spPr>
            <a:xfrm flipH="false" flipV="false" rot="0">
              <a:off x="0" y="0"/>
              <a:ext cx="6400800" cy="640080"/>
            </a:xfrm>
            <a:custGeom>
              <a:avLst/>
              <a:gdLst/>
              <a:ahLst/>
              <a:cxnLst/>
              <a:rect r="r" b="b" t="t" l="l"/>
              <a:pathLst>
                <a:path h="640080" w="6400800">
                  <a:moveTo>
                    <a:pt x="0" y="0"/>
                  </a:moveTo>
                  <a:lnTo>
                    <a:pt x="6400800" y="0"/>
                  </a:lnTo>
                  <a:lnTo>
                    <a:pt x="6400800" y="640080"/>
                  </a:lnTo>
                  <a:lnTo>
                    <a:pt x="0" y="640080"/>
                  </a:lnTo>
                  <a:close/>
                </a:path>
              </a:pathLst>
            </a:custGeom>
            <a:blipFill>
              <a:blip r:embed="rId2">
                <a:alphaModFix amt="0"/>
              </a:blip>
              <a:stretch>
                <a:fillRect l="0" t="-144850" r="0" b="-144850"/>
              </a:stretch>
            </a:blipFill>
          </p:spPr>
        </p:sp>
        <p:sp>
          <p:nvSpPr>
            <p:cNvPr name="TextBox 76" id="76"/>
            <p:cNvSpPr txBox="true"/>
            <p:nvPr/>
          </p:nvSpPr>
          <p:spPr>
            <a:xfrm>
              <a:off x="0" y="-47625"/>
              <a:ext cx="6400800" cy="687705"/>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Settings</a:t>
              </a:r>
            </a:p>
          </p:txBody>
        </p:sp>
      </p:grpSp>
      <p:grpSp>
        <p:nvGrpSpPr>
          <p:cNvPr name="Group 77" id="77"/>
          <p:cNvGrpSpPr/>
          <p:nvPr/>
        </p:nvGrpSpPr>
        <p:grpSpPr>
          <a:xfrm rot="0">
            <a:off x="12344400" y="6515100"/>
            <a:ext cx="4800600" cy="411480"/>
            <a:chOff x="0" y="0"/>
            <a:chExt cx="6400800" cy="548640"/>
          </a:xfrm>
        </p:grpSpPr>
        <p:sp>
          <p:nvSpPr>
            <p:cNvPr name="Freeform 78" id="78"/>
            <p:cNvSpPr/>
            <p:nvPr/>
          </p:nvSpPr>
          <p:spPr>
            <a:xfrm flipH="false" flipV="false" rot="0">
              <a:off x="0" y="0"/>
              <a:ext cx="6400800" cy="548640"/>
            </a:xfrm>
            <a:custGeom>
              <a:avLst/>
              <a:gdLst/>
              <a:ahLst/>
              <a:cxnLst/>
              <a:rect r="r" b="b" t="t" l="l"/>
              <a:pathLst>
                <a:path h="548640" w="6400800">
                  <a:moveTo>
                    <a:pt x="0" y="0"/>
                  </a:moveTo>
                  <a:lnTo>
                    <a:pt x="6400800" y="0"/>
                  </a:lnTo>
                  <a:lnTo>
                    <a:pt x="6400800" y="548640"/>
                  </a:lnTo>
                  <a:lnTo>
                    <a:pt x="0" y="548640"/>
                  </a:lnTo>
                  <a:close/>
                </a:path>
              </a:pathLst>
            </a:custGeom>
            <a:blipFill>
              <a:blip r:embed="rId2">
                <a:alphaModFix amt="0"/>
              </a:blip>
              <a:stretch>
                <a:fillRect l="0" t="-177325" r="0" b="-177325"/>
              </a:stretch>
            </a:blipFill>
          </p:spPr>
        </p:sp>
        <p:sp>
          <p:nvSpPr>
            <p:cNvPr name="TextBox 79" id="79"/>
            <p:cNvSpPr txBox="true"/>
            <p:nvPr/>
          </p:nvSpPr>
          <p:spPr>
            <a:xfrm>
              <a:off x="0" y="-38100"/>
              <a:ext cx="6400800" cy="586740"/>
            </a:xfrm>
            <a:prstGeom prst="rect">
              <a:avLst/>
            </a:prstGeom>
          </p:spPr>
          <p:txBody>
            <a:bodyPr anchor="ctr" rtlCol="false" tIns="0" lIns="0" bIns="0" rIns="0"/>
            <a:lstStyle/>
            <a:p>
              <a:pPr algn="l">
                <a:lnSpc>
                  <a:spcPts val="1800"/>
                </a:lnSpc>
              </a:pPr>
              <a:r>
                <a:rPr lang="en-US" sz="1500">
                  <a:solidFill>
                    <a:srgbClr val="00E5C7"/>
                  </a:solidFill>
                  <a:latin typeface="Consolas"/>
                  <a:ea typeface="Consolas"/>
                  <a:cs typeface="Consolas"/>
                  <a:sym typeface="Consolas"/>
                </a:rPr>
                <a:t>/settings</a:t>
              </a:r>
            </a:p>
          </p:txBody>
        </p:sp>
      </p:grpSp>
      <p:grpSp>
        <p:nvGrpSpPr>
          <p:cNvPr name="Group 80" id="80"/>
          <p:cNvGrpSpPr/>
          <p:nvPr/>
        </p:nvGrpSpPr>
        <p:grpSpPr>
          <a:xfrm rot="0">
            <a:off x="12344400" y="6995160"/>
            <a:ext cx="4800600" cy="822960"/>
            <a:chOff x="0" y="0"/>
            <a:chExt cx="6400800" cy="1097280"/>
          </a:xfrm>
        </p:grpSpPr>
        <p:sp>
          <p:nvSpPr>
            <p:cNvPr name="Freeform 81" id="81"/>
            <p:cNvSpPr/>
            <p:nvPr/>
          </p:nvSpPr>
          <p:spPr>
            <a:xfrm flipH="false" flipV="false" rot="0">
              <a:off x="0" y="0"/>
              <a:ext cx="6400800" cy="1097280"/>
            </a:xfrm>
            <a:custGeom>
              <a:avLst/>
              <a:gdLst/>
              <a:ahLst/>
              <a:cxnLst/>
              <a:rect r="r" b="b" t="t" l="l"/>
              <a:pathLst>
                <a:path h="1097280" w="6400800">
                  <a:moveTo>
                    <a:pt x="0" y="0"/>
                  </a:moveTo>
                  <a:lnTo>
                    <a:pt x="6400800" y="0"/>
                  </a:lnTo>
                  <a:lnTo>
                    <a:pt x="6400800" y="1097280"/>
                  </a:lnTo>
                  <a:lnTo>
                    <a:pt x="0" y="1097280"/>
                  </a:lnTo>
                  <a:close/>
                </a:path>
              </a:pathLst>
            </a:custGeom>
            <a:blipFill>
              <a:blip r:embed="rId2">
                <a:alphaModFix amt="0"/>
              </a:blip>
              <a:stretch>
                <a:fillRect l="0" t="-63662" r="0" b="-63662"/>
              </a:stretch>
            </a:blipFill>
          </p:spPr>
        </p:sp>
        <p:sp>
          <p:nvSpPr>
            <p:cNvPr name="TextBox 82" id="82"/>
            <p:cNvSpPr txBox="true"/>
            <p:nvPr/>
          </p:nvSpPr>
          <p:spPr>
            <a:xfrm>
              <a:off x="0" y="-38100"/>
              <a:ext cx="6400800" cy="113538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Configurable API base URL</a:t>
              </a:r>
            </a:p>
          </p:txBody>
        </p:sp>
      </p:grpSp>
      <p:grpSp>
        <p:nvGrpSpPr>
          <p:cNvPr name="Group 83" id="83"/>
          <p:cNvGrpSpPr/>
          <p:nvPr/>
        </p:nvGrpSpPr>
        <p:grpSpPr>
          <a:xfrm rot="0">
            <a:off x="685800" y="9710928"/>
            <a:ext cx="10972800" cy="411480"/>
            <a:chOff x="0" y="0"/>
            <a:chExt cx="14630400" cy="548640"/>
          </a:xfrm>
        </p:grpSpPr>
        <p:sp>
          <p:nvSpPr>
            <p:cNvPr name="Freeform 84" id="8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85" id="85"/>
            <p:cNvSpPr txBox="true"/>
            <p:nvPr/>
          </p:nvSpPr>
          <p:spPr>
            <a:xfrm>
              <a:off x="0" y="-28575"/>
              <a:ext cx="14630400" cy="577215"/>
            </a:xfrm>
            <a:prstGeom prst="rect">
              <a:avLst/>
            </a:prstGeom>
          </p:spPr>
          <p:txBody>
            <a:bodyPr anchor="ctr" rtlCol="false" tIns="0" lIns="0" bIns="0" rIns="0"/>
            <a:lstStyle/>
            <a:p>
              <a:pPr algn="l">
                <a:lnSpc>
                  <a:spcPts val="1620"/>
                </a:lnSpc>
              </a:pPr>
              <a:r>
                <a:rPr lang="en-US" sz="1350" spc="149">
                  <a:solidFill>
                    <a:srgbClr val="6E84A6"/>
                  </a:solidFill>
                  <a:latin typeface="Calibri (MS)"/>
                  <a:ea typeface="Calibri (MS)"/>
                  <a:cs typeface="Calibri (MS)"/>
                  <a:sym typeface="Calibri (MS)"/>
                </a:rPr>
                <a:t>MLSECOPS PLATFORM · UI &amp; API INTEGRATION</a:t>
              </a:r>
            </a:p>
          </p:txBody>
        </p:sp>
      </p:grpSp>
      <p:grpSp>
        <p:nvGrpSpPr>
          <p:cNvPr name="Group 86" id="86"/>
          <p:cNvGrpSpPr/>
          <p:nvPr/>
        </p:nvGrpSpPr>
        <p:grpSpPr>
          <a:xfrm rot="0">
            <a:off x="16500348" y="9710928"/>
            <a:ext cx="1097280" cy="411480"/>
            <a:chOff x="0" y="0"/>
            <a:chExt cx="1463040" cy="548640"/>
          </a:xfrm>
        </p:grpSpPr>
        <p:sp>
          <p:nvSpPr>
            <p:cNvPr name="Freeform 87" id="87"/>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88" id="88"/>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25 / 32</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UI &amp; API INTEGRATION</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7</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Abderrahamane Benjoullen — Frontend / Backend</a:t>
              </a:r>
            </a:p>
          </p:txBody>
        </p:sp>
      </p:grpSp>
      <p:grpSp>
        <p:nvGrpSpPr>
          <p:cNvPr name="Group 11" id="11"/>
          <p:cNvGrpSpPr/>
          <p:nvPr/>
        </p:nvGrpSpPr>
        <p:grpSpPr>
          <a:xfrm rot="0">
            <a:off x="822960" y="1069848"/>
            <a:ext cx="16596360" cy="1303020"/>
            <a:chOff x="0" y="0"/>
            <a:chExt cx="22128480" cy="1737360"/>
          </a:xfrm>
        </p:grpSpPr>
        <p:sp>
          <p:nvSpPr>
            <p:cNvPr name="Freeform 12" id="12"/>
            <p:cNvSpPr/>
            <p:nvPr/>
          </p:nvSpPr>
          <p:spPr>
            <a:xfrm flipH="false" flipV="false" rot="0">
              <a:off x="0" y="0"/>
              <a:ext cx="22128480" cy="1737360"/>
            </a:xfrm>
            <a:custGeom>
              <a:avLst/>
              <a:gdLst/>
              <a:ahLst/>
              <a:cxnLst/>
              <a:rect r="r" b="b" t="t" l="l"/>
              <a:pathLst>
                <a:path h="1737360" w="22128480">
                  <a:moveTo>
                    <a:pt x="0" y="0"/>
                  </a:moveTo>
                  <a:lnTo>
                    <a:pt x="22128480" y="0"/>
                  </a:lnTo>
                  <a:lnTo>
                    <a:pt x="22128480" y="1737360"/>
                  </a:lnTo>
                  <a:lnTo>
                    <a:pt x="0" y="1737360"/>
                  </a:lnTo>
                  <a:close/>
                </a:path>
              </a:pathLst>
            </a:custGeom>
            <a:blipFill>
              <a:blip r:embed="rId2">
                <a:alphaModFix amt="0"/>
              </a:blip>
              <a:stretch>
                <a:fillRect l="0" t="-198177" r="0" b="-198177"/>
              </a:stretch>
            </a:blipFill>
          </p:spPr>
        </p:sp>
        <p:sp>
          <p:nvSpPr>
            <p:cNvPr name="TextBox 13" id="13"/>
            <p:cNvSpPr txBox="true"/>
            <p:nvPr/>
          </p:nvSpPr>
          <p:spPr>
            <a:xfrm>
              <a:off x="0" y="-9525"/>
              <a:ext cx="22128480" cy="1746885"/>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The Batch Analyzer Dashboard</a:t>
              </a:r>
            </a:p>
          </p:txBody>
        </p:sp>
      </p:grpSp>
      <p:grpSp>
        <p:nvGrpSpPr>
          <p:cNvPr name="Group 14" id="14"/>
          <p:cNvGrpSpPr/>
          <p:nvPr/>
        </p:nvGrpSpPr>
        <p:grpSpPr>
          <a:xfrm rot="0">
            <a:off x="813435" y="2596515"/>
            <a:ext cx="9071610" cy="6054090"/>
            <a:chOff x="0" y="0"/>
            <a:chExt cx="12095480" cy="8072120"/>
          </a:xfrm>
        </p:grpSpPr>
        <p:sp>
          <p:nvSpPr>
            <p:cNvPr name="Freeform 15" id="15"/>
            <p:cNvSpPr/>
            <p:nvPr/>
          </p:nvSpPr>
          <p:spPr>
            <a:xfrm flipH="false" flipV="false" rot="0">
              <a:off x="0" y="0"/>
              <a:ext cx="12095480" cy="8072120"/>
            </a:xfrm>
            <a:custGeom>
              <a:avLst/>
              <a:gdLst/>
              <a:ahLst/>
              <a:cxnLst/>
              <a:rect r="r" b="b" t="t" l="l"/>
              <a:pathLst>
                <a:path h="8072120" w="12095480">
                  <a:moveTo>
                    <a:pt x="0" y="146812"/>
                  </a:moveTo>
                  <a:cubicBezTo>
                    <a:pt x="0" y="65659"/>
                    <a:pt x="65659" y="0"/>
                    <a:pt x="146812" y="0"/>
                  </a:cubicBezTo>
                  <a:lnTo>
                    <a:pt x="11948668" y="0"/>
                  </a:lnTo>
                  <a:cubicBezTo>
                    <a:pt x="12029694" y="0"/>
                    <a:pt x="12095480" y="65659"/>
                    <a:pt x="12095480" y="146812"/>
                  </a:cubicBezTo>
                  <a:lnTo>
                    <a:pt x="12095480" y="7925308"/>
                  </a:lnTo>
                  <a:cubicBezTo>
                    <a:pt x="12095480" y="8006334"/>
                    <a:pt x="12029822" y="8072120"/>
                    <a:pt x="11948668" y="8072120"/>
                  </a:cubicBezTo>
                  <a:lnTo>
                    <a:pt x="146812" y="8072120"/>
                  </a:lnTo>
                  <a:cubicBezTo>
                    <a:pt x="65659" y="8072120"/>
                    <a:pt x="0" y="8006461"/>
                    <a:pt x="0" y="7925308"/>
                  </a:cubicBezTo>
                  <a:close/>
                </a:path>
              </a:pathLst>
            </a:custGeom>
            <a:solidFill>
              <a:srgbClr val="0F2038"/>
            </a:solidFill>
            <a:ln w="19050" cap="sq">
              <a:solidFill>
                <a:srgbClr val="1E3358"/>
              </a:solidFill>
              <a:prstDash val="solid"/>
              <a:miter/>
            </a:ln>
          </p:spPr>
        </p:sp>
      </p:grpSp>
      <p:grpSp>
        <p:nvGrpSpPr>
          <p:cNvPr name="Group 16" id="16"/>
          <p:cNvGrpSpPr/>
          <p:nvPr/>
        </p:nvGrpSpPr>
        <p:grpSpPr>
          <a:xfrm rot="0">
            <a:off x="1234440" y="2948940"/>
            <a:ext cx="8229600" cy="411480"/>
            <a:chOff x="0" y="0"/>
            <a:chExt cx="10972800" cy="548640"/>
          </a:xfrm>
        </p:grpSpPr>
        <p:sp>
          <p:nvSpPr>
            <p:cNvPr name="Freeform 17" id="17"/>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8" id="18"/>
            <p:cNvSpPr txBox="true"/>
            <p:nvPr/>
          </p:nvSpPr>
          <p:spPr>
            <a:xfrm>
              <a:off x="0" y="-19050"/>
              <a:ext cx="10972800" cy="567690"/>
            </a:xfrm>
            <a:prstGeom prst="rect">
              <a:avLst/>
            </a:prstGeom>
          </p:spPr>
          <p:txBody>
            <a:bodyPr anchor="ctr" rtlCol="false" tIns="0" lIns="0" bIns="0" rIns="0"/>
            <a:lstStyle/>
            <a:p>
              <a:pPr algn="l">
                <a:lnSpc>
                  <a:spcPts val="1889"/>
                </a:lnSpc>
              </a:pPr>
              <a:r>
                <a:rPr lang="en-US" b="true" sz="1575" spc="150">
                  <a:solidFill>
                    <a:srgbClr val="00E5C7"/>
                  </a:solidFill>
                  <a:latin typeface="Calibri (MS) Bold"/>
                  <a:ea typeface="Calibri (MS) Bold"/>
                  <a:cs typeface="Calibri (MS) Bold"/>
                  <a:sym typeface="Calibri (MS) Bold"/>
                </a:rPr>
                <a:t>CSV / LOG UPLOAD FLOW</a:t>
              </a:r>
            </a:p>
          </p:txBody>
        </p:sp>
      </p:grpSp>
      <p:grpSp>
        <p:nvGrpSpPr>
          <p:cNvPr name="Group 19" id="19"/>
          <p:cNvGrpSpPr/>
          <p:nvPr/>
        </p:nvGrpSpPr>
        <p:grpSpPr>
          <a:xfrm rot="0">
            <a:off x="10277475" y="1612283"/>
            <a:ext cx="7151370" cy="6054090"/>
            <a:chOff x="0" y="0"/>
            <a:chExt cx="9535160" cy="8072120"/>
          </a:xfrm>
        </p:grpSpPr>
        <p:sp>
          <p:nvSpPr>
            <p:cNvPr name="Freeform 20" id="20"/>
            <p:cNvSpPr/>
            <p:nvPr/>
          </p:nvSpPr>
          <p:spPr>
            <a:xfrm flipH="false" flipV="false" rot="0">
              <a:off x="0" y="0"/>
              <a:ext cx="9535160" cy="8072120"/>
            </a:xfrm>
            <a:custGeom>
              <a:avLst/>
              <a:gdLst/>
              <a:ahLst/>
              <a:cxnLst/>
              <a:rect r="r" b="b" t="t" l="l"/>
              <a:pathLst>
                <a:path h="8072120" w="9535160">
                  <a:moveTo>
                    <a:pt x="0" y="146812"/>
                  </a:moveTo>
                  <a:cubicBezTo>
                    <a:pt x="0" y="65659"/>
                    <a:pt x="65659" y="0"/>
                    <a:pt x="146812" y="0"/>
                  </a:cubicBezTo>
                  <a:lnTo>
                    <a:pt x="9388348" y="0"/>
                  </a:lnTo>
                  <a:cubicBezTo>
                    <a:pt x="9469374" y="0"/>
                    <a:pt x="9535160" y="65659"/>
                    <a:pt x="9535160" y="146812"/>
                  </a:cubicBezTo>
                  <a:lnTo>
                    <a:pt x="9535160" y="7925308"/>
                  </a:lnTo>
                  <a:cubicBezTo>
                    <a:pt x="9535160" y="8006334"/>
                    <a:pt x="9469501" y="8072120"/>
                    <a:pt x="9388348" y="8072120"/>
                  </a:cubicBezTo>
                  <a:lnTo>
                    <a:pt x="146812" y="8072120"/>
                  </a:lnTo>
                  <a:cubicBezTo>
                    <a:pt x="65659" y="8072120"/>
                    <a:pt x="0" y="8006461"/>
                    <a:pt x="0" y="7925308"/>
                  </a:cubicBezTo>
                  <a:close/>
                </a:path>
              </a:pathLst>
            </a:custGeom>
            <a:solidFill>
              <a:srgbClr val="13294A"/>
            </a:solidFill>
            <a:ln w="19050" cap="sq">
              <a:solidFill>
                <a:srgbClr val="1E3358"/>
              </a:solidFill>
              <a:prstDash val="solid"/>
              <a:miter/>
            </a:ln>
          </p:spPr>
        </p:sp>
      </p:grpSp>
      <p:grpSp>
        <p:nvGrpSpPr>
          <p:cNvPr name="Group 21" id="21"/>
          <p:cNvGrpSpPr/>
          <p:nvPr/>
        </p:nvGrpSpPr>
        <p:grpSpPr>
          <a:xfrm rot="0">
            <a:off x="10698480" y="1838216"/>
            <a:ext cx="6309360" cy="411480"/>
            <a:chOff x="0" y="0"/>
            <a:chExt cx="8412480" cy="548640"/>
          </a:xfrm>
        </p:grpSpPr>
        <p:sp>
          <p:nvSpPr>
            <p:cNvPr name="Freeform 22" id="22"/>
            <p:cNvSpPr/>
            <p:nvPr/>
          </p:nvSpPr>
          <p:spPr>
            <a:xfrm flipH="false" flipV="false" rot="0">
              <a:off x="0" y="0"/>
              <a:ext cx="8412480" cy="548640"/>
            </a:xfrm>
            <a:custGeom>
              <a:avLst/>
              <a:gdLst/>
              <a:ahLst/>
              <a:cxnLst/>
              <a:rect r="r" b="b" t="t" l="l"/>
              <a:pathLst>
                <a:path h="548640" w="8412480">
                  <a:moveTo>
                    <a:pt x="0" y="0"/>
                  </a:moveTo>
                  <a:lnTo>
                    <a:pt x="8412480" y="0"/>
                  </a:lnTo>
                  <a:lnTo>
                    <a:pt x="8412480" y="548640"/>
                  </a:lnTo>
                  <a:lnTo>
                    <a:pt x="0" y="548640"/>
                  </a:lnTo>
                  <a:close/>
                </a:path>
              </a:pathLst>
            </a:custGeom>
            <a:blipFill>
              <a:blip r:embed="rId2">
                <a:alphaModFix amt="0"/>
              </a:blip>
              <a:stretch>
                <a:fillRect l="0" t="-248770" r="0" b="-248770"/>
              </a:stretch>
            </a:blipFill>
          </p:spPr>
        </p:sp>
        <p:sp>
          <p:nvSpPr>
            <p:cNvPr name="TextBox 23" id="23"/>
            <p:cNvSpPr txBox="true"/>
            <p:nvPr/>
          </p:nvSpPr>
          <p:spPr>
            <a:xfrm>
              <a:off x="0" y="-19050"/>
              <a:ext cx="8412480" cy="567690"/>
            </a:xfrm>
            <a:prstGeom prst="rect">
              <a:avLst/>
            </a:prstGeom>
          </p:spPr>
          <p:txBody>
            <a:bodyPr anchor="ctr" rtlCol="false" tIns="0" lIns="0" bIns="0" rIns="0"/>
            <a:lstStyle/>
            <a:p>
              <a:pPr algn="l">
                <a:lnSpc>
                  <a:spcPts val="1889"/>
                </a:lnSpc>
              </a:pPr>
              <a:r>
                <a:rPr lang="en-US" b="true" sz="1575" spc="150">
                  <a:solidFill>
                    <a:srgbClr val="00E5C7"/>
                  </a:solidFill>
                  <a:latin typeface="Calibri (MS) Bold"/>
                  <a:ea typeface="Calibri (MS) Bold"/>
                  <a:cs typeface="Calibri (MS) Bold"/>
                  <a:sym typeface="Calibri (MS) Bold"/>
                </a:rPr>
                <a:t>SAMPLE BATCH RESULT</a:t>
              </a:r>
            </a:p>
          </p:txBody>
        </p:sp>
      </p:grpSp>
      <p:grpSp>
        <p:nvGrpSpPr>
          <p:cNvPr name="Group 24" id="24"/>
          <p:cNvGrpSpPr/>
          <p:nvPr/>
        </p:nvGrpSpPr>
        <p:grpSpPr>
          <a:xfrm rot="0">
            <a:off x="10698480" y="2455436"/>
            <a:ext cx="1783080" cy="548640"/>
            <a:chOff x="0" y="0"/>
            <a:chExt cx="2377440" cy="731520"/>
          </a:xfrm>
        </p:grpSpPr>
        <p:sp>
          <p:nvSpPr>
            <p:cNvPr name="Freeform 25" id="25"/>
            <p:cNvSpPr/>
            <p:nvPr/>
          </p:nvSpPr>
          <p:spPr>
            <a:xfrm flipH="false" flipV="false" rot="0">
              <a:off x="0" y="0"/>
              <a:ext cx="2377440" cy="731520"/>
            </a:xfrm>
            <a:custGeom>
              <a:avLst/>
              <a:gdLst/>
              <a:ahLst/>
              <a:cxnLst/>
              <a:rect r="r" b="b" t="t" l="l"/>
              <a:pathLst>
                <a:path h="731520" w="2377440">
                  <a:moveTo>
                    <a:pt x="0" y="0"/>
                  </a:moveTo>
                  <a:lnTo>
                    <a:pt x="2377440" y="0"/>
                  </a:lnTo>
                  <a:lnTo>
                    <a:pt x="2377440" y="731520"/>
                  </a:lnTo>
                  <a:lnTo>
                    <a:pt x="0" y="731520"/>
                  </a:lnTo>
                  <a:close/>
                </a:path>
              </a:pathLst>
            </a:custGeom>
            <a:blipFill>
              <a:blip r:embed="rId2">
                <a:alphaModFix amt="0"/>
              </a:blip>
              <a:stretch>
                <a:fillRect l="0" t="-13326" r="0" b="-13326"/>
              </a:stretch>
            </a:blipFill>
          </p:spPr>
        </p:sp>
        <p:sp>
          <p:nvSpPr>
            <p:cNvPr name="TextBox 26" id="26"/>
            <p:cNvSpPr txBox="true"/>
            <p:nvPr/>
          </p:nvSpPr>
          <p:spPr>
            <a:xfrm>
              <a:off x="0" y="-28575"/>
              <a:ext cx="2377440" cy="76009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Row 1</a:t>
              </a:r>
            </a:p>
          </p:txBody>
        </p:sp>
      </p:grpSp>
      <p:grpSp>
        <p:nvGrpSpPr>
          <p:cNvPr name="Group 27" id="27"/>
          <p:cNvGrpSpPr/>
          <p:nvPr/>
        </p:nvGrpSpPr>
        <p:grpSpPr>
          <a:xfrm rot="0">
            <a:off x="12540615" y="2418479"/>
            <a:ext cx="1102614" cy="457962"/>
            <a:chOff x="0" y="0"/>
            <a:chExt cx="1470152" cy="610616"/>
          </a:xfrm>
        </p:grpSpPr>
        <p:sp>
          <p:nvSpPr>
            <p:cNvPr name="Freeform 28" id="28"/>
            <p:cNvSpPr/>
            <p:nvPr/>
          </p:nvSpPr>
          <p:spPr>
            <a:xfrm flipH="false" flipV="false" rot="0">
              <a:off x="0" y="0"/>
              <a:ext cx="1470152" cy="610616"/>
            </a:xfrm>
            <a:custGeom>
              <a:avLst/>
              <a:gdLst/>
              <a:ahLst/>
              <a:cxnLst/>
              <a:rect r="r" b="b" t="t" l="l"/>
              <a:pathLst>
                <a:path h="610616" w="1470152">
                  <a:moveTo>
                    <a:pt x="0" y="305308"/>
                  </a:moveTo>
                  <a:cubicBezTo>
                    <a:pt x="0" y="136652"/>
                    <a:pt x="136652" y="0"/>
                    <a:pt x="305308" y="0"/>
                  </a:cubicBezTo>
                  <a:lnTo>
                    <a:pt x="1164844" y="0"/>
                  </a:lnTo>
                  <a:cubicBezTo>
                    <a:pt x="1333500" y="0"/>
                    <a:pt x="1470152" y="136652"/>
                    <a:pt x="1470152" y="305308"/>
                  </a:cubicBezTo>
                  <a:cubicBezTo>
                    <a:pt x="1470152" y="473964"/>
                    <a:pt x="1333500" y="610616"/>
                    <a:pt x="1164844" y="610616"/>
                  </a:cubicBezTo>
                  <a:lnTo>
                    <a:pt x="305308" y="610616"/>
                  </a:lnTo>
                  <a:cubicBezTo>
                    <a:pt x="136652" y="610616"/>
                    <a:pt x="0" y="473964"/>
                    <a:pt x="0" y="305308"/>
                  </a:cubicBezTo>
                  <a:close/>
                </a:path>
              </a:pathLst>
            </a:custGeom>
            <a:solidFill>
              <a:srgbClr val="13294A"/>
            </a:solidFill>
            <a:ln w="19050" cap="sq">
              <a:solidFill>
                <a:srgbClr val="00E5C7"/>
              </a:solidFill>
              <a:prstDash val="solid"/>
              <a:miter/>
            </a:ln>
          </p:spPr>
        </p:sp>
      </p:grpSp>
      <p:grpSp>
        <p:nvGrpSpPr>
          <p:cNvPr name="Group 29" id="29"/>
          <p:cNvGrpSpPr/>
          <p:nvPr/>
        </p:nvGrpSpPr>
        <p:grpSpPr>
          <a:xfrm rot="0">
            <a:off x="12550140" y="2414288"/>
            <a:ext cx="1083564" cy="466344"/>
            <a:chOff x="0" y="0"/>
            <a:chExt cx="1444752" cy="621792"/>
          </a:xfrm>
        </p:grpSpPr>
        <p:sp>
          <p:nvSpPr>
            <p:cNvPr name="Freeform 30" id="30"/>
            <p:cNvSpPr/>
            <p:nvPr/>
          </p:nvSpPr>
          <p:spPr>
            <a:xfrm flipH="false" flipV="false" rot="0">
              <a:off x="0" y="0"/>
              <a:ext cx="1444752" cy="621792"/>
            </a:xfrm>
            <a:custGeom>
              <a:avLst/>
              <a:gdLst/>
              <a:ahLst/>
              <a:cxnLst/>
              <a:rect r="r" b="b" t="t" l="l"/>
              <a:pathLst>
                <a:path h="621792" w="1444752">
                  <a:moveTo>
                    <a:pt x="0" y="0"/>
                  </a:moveTo>
                  <a:lnTo>
                    <a:pt x="1444752" y="0"/>
                  </a:lnTo>
                  <a:lnTo>
                    <a:pt x="1444752" y="621792"/>
                  </a:lnTo>
                  <a:lnTo>
                    <a:pt x="0" y="621792"/>
                  </a:lnTo>
                  <a:close/>
                </a:path>
              </a:pathLst>
            </a:custGeom>
            <a:blipFill>
              <a:blip r:embed="rId2">
                <a:alphaModFix amt="0"/>
              </a:blip>
              <a:stretch>
                <a:fillRect l="-5219" t="0" r="-5219" b="0"/>
              </a:stretch>
            </a:blipFill>
          </p:spPr>
        </p:sp>
        <p:sp>
          <p:nvSpPr>
            <p:cNvPr name="TextBox 31" id="31"/>
            <p:cNvSpPr txBox="true"/>
            <p:nvPr/>
          </p:nvSpPr>
          <p:spPr>
            <a:xfrm>
              <a:off x="0" y="-38100"/>
              <a:ext cx="1444752" cy="659892"/>
            </a:xfrm>
            <a:prstGeom prst="rect">
              <a:avLst/>
            </a:prstGeom>
          </p:spPr>
          <p:txBody>
            <a:bodyPr anchor="ctr" rtlCol="false" tIns="0" lIns="0" bIns="0" rIns="0"/>
            <a:lstStyle/>
            <a:p>
              <a:pPr algn="ctr">
                <a:lnSpc>
                  <a:spcPts val="1800"/>
                </a:lnSpc>
              </a:pPr>
              <a:r>
                <a:rPr lang="en-US" sz="1500" b="true">
                  <a:solidFill>
                    <a:srgbClr val="00E5C7"/>
                  </a:solidFill>
                  <a:latin typeface="Calibri (MS) Bold"/>
                  <a:ea typeface="Calibri (MS) Bold"/>
                  <a:cs typeface="Calibri (MS) Bold"/>
                  <a:sym typeface="Calibri (MS) Bold"/>
                </a:rPr>
                <a:t>Benign</a:t>
              </a:r>
            </a:p>
          </p:txBody>
        </p:sp>
      </p:grpSp>
      <p:grpSp>
        <p:nvGrpSpPr>
          <p:cNvPr name="Group 32" id="32"/>
          <p:cNvGrpSpPr/>
          <p:nvPr/>
        </p:nvGrpSpPr>
        <p:grpSpPr>
          <a:xfrm rot="0">
            <a:off x="14259877" y="2560402"/>
            <a:ext cx="2752725" cy="256413"/>
            <a:chOff x="0" y="0"/>
            <a:chExt cx="3670300" cy="341884"/>
          </a:xfrm>
        </p:grpSpPr>
        <p:sp>
          <p:nvSpPr>
            <p:cNvPr name="Freeform 33" id="33"/>
            <p:cNvSpPr/>
            <p:nvPr/>
          </p:nvSpPr>
          <p:spPr>
            <a:xfrm flipH="false" flipV="false" rot="0">
              <a:off x="0" y="0"/>
              <a:ext cx="3670300" cy="341884"/>
            </a:xfrm>
            <a:custGeom>
              <a:avLst/>
              <a:gdLst/>
              <a:ahLst/>
              <a:cxnLst/>
              <a:rect r="r" b="b" t="t" l="l"/>
              <a:pathLst>
                <a:path h="341884" w="3670300">
                  <a:moveTo>
                    <a:pt x="0" y="170942"/>
                  </a:moveTo>
                  <a:cubicBezTo>
                    <a:pt x="0" y="76581"/>
                    <a:pt x="76581" y="0"/>
                    <a:pt x="170942" y="0"/>
                  </a:cubicBezTo>
                  <a:lnTo>
                    <a:pt x="3499358" y="0"/>
                  </a:lnTo>
                  <a:cubicBezTo>
                    <a:pt x="3593719" y="0"/>
                    <a:pt x="3670300" y="76581"/>
                    <a:pt x="3670300" y="170942"/>
                  </a:cubicBezTo>
                  <a:cubicBezTo>
                    <a:pt x="3670300" y="265303"/>
                    <a:pt x="3593719" y="341884"/>
                    <a:pt x="3499358" y="341884"/>
                  </a:cubicBezTo>
                  <a:lnTo>
                    <a:pt x="170942" y="341884"/>
                  </a:lnTo>
                  <a:cubicBezTo>
                    <a:pt x="76581" y="341884"/>
                    <a:pt x="0" y="265303"/>
                    <a:pt x="0" y="170942"/>
                  </a:cubicBezTo>
                  <a:close/>
                </a:path>
              </a:pathLst>
            </a:custGeom>
            <a:solidFill>
              <a:srgbClr val="0F2038"/>
            </a:solidFill>
            <a:ln w="9525" cap="sq">
              <a:solidFill>
                <a:srgbClr val="1E3358"/>
              </a:solidFill>
              <a:prstDash val="solid"/>
              <a:miter/>
            </a:ln>
          </p:spPr>
        </p:sp>
      </p:grpSp>
      <p:grpSp>
        <p:nvGrpSpPr>
          <p:cNvPr name="Group 34" id="34"/>
          <p:cNvGrpSpPr/>
          <p:nvPr/>
        </p:nvGrpSpPr>
        <p:grpSpPr>
          <a:xfrm rot="0">
            <a:off x="14264640" y="2565164"/>
            <a:ext cx="2674620" cy="246888"/>
            <a:chOff x="0" y="0"/>
            <a:chExt cx="3566160" cy="329184"/>
          </a:xfrm>
        </p:grpSpPr>
        <p:sp>
          <p:nvSpPr>
            <p:cNvPr name="Freeform 35" id="35"/>
            <p:cNvSpPr/>
            <p:nvPr/>
          </p:nvSpPr>
          <p:spPr>
            <a:xfrm flipH="false" flipV="false" rot="0">
              <a:off x="0" y="0"/>
              <a:ext cx="3566160" cy="329184"/>
            </a:xfrm>
            <a:custGeom>
              <a:avLst/>
              <a:gdLst/>
              <a:ahLst/>
              <a:cxnLst/>
              <a:rect r="r" b="b" t="t" l="l"/>
              <a:pathLst>
                <a:path h="329184" w="3566160">
                  <a:moveTo>
                    <a:pt x="0" y="164592"/>
                  </a:moveTo>
                  <a:cubicBezTo>
                    <a:pt x="0" y="73660"/>
                    <a:pt x="73660" y="0"/>
                    <a:pt x="164592" y="0"/>
                  </a:cubicBezTo>
                  <a:lnTo>
                    <a:pt x="3401568" y="0"/>
                  </a:lnTo>
                  <a:cubicBezTo>
                    <a:pt x="3492500" y="0"/>
                    <a:pt x="3566160" y="73660"/>
                    <a:pt x="3566160" y="164592"/>
                  </a:cubicBezTo>
                  <a:cubicBezTo>
                    <a:pt x="3566160" y="255524"/>
                    <a:pt x="3492500" y="329184"/>
                    <a:pt x="3401568" y="329184"/>
                  </a:cubicBezTo>
                  <a:lnTo>
                    <a:pt x="164592" y="329184"/>
                  </a:lnTo>
                  <a:cubicBezTo>
                    <a:pt x="73660" y="329184"/>
                    <a:pt x="0" y="255524"/>
                    <a:pt x="0" y="164592"/>
                  </a:cubicBezTo>
                  <a:close/>
                </a:path>
              </a:pathLst>
            </a:custGeom>
            <a:solidFill>
              <a:srgbClr val="00E5C7"/>
            </a:solidFill>
          </p:spPr>
        </p:sp>
      </p:grpSp>
      <p:grpSp>
        <p:nvGrpSpPr>
          <p:cNvPr name="Group 36" id="36"/>
          <p:cNvGrpSpPr/>
          <p:nvPr/>
        </p:nvGrpSpPr>
        <p:grpSpPr>
          <a:xfrm rot="0">
            <a:off x="14264640" y="2235980"/>
            <a:ext cx="2743200" cy="342900"/>
            <a:chOff x="0" y="0"/>
            <a:chExt cx="3657600" cy="457200"/>
          </a:xfrm>
        </p:grpSpPr>
        <p:sp>
          <p:nvSpPr>
            <p:cNvPr name="Freeform 37" id="37"/>
            <p:cNvSpPr/>
            <p:nvPr/>
          </p:nvSpPr>
          <p:spPr>
            <a:xfrm flipH="false" flipV="false" rot="0">
              <a:off x="0" y="0"/>
              <a:ext cx="3657600" cy="457200"/>
            </a:xfrm>
            <a:custGeom>
              <a:avLst/>
              <a:gdLst/>
              <a:ahLst/>
              <a:cxnLst/>
              <a:rect r="r" b="b" t="t" l="l"/>
              <a:pathLst>
                <a:path h="457200" w="3657600">
                  <a:moveTo>
                    <a:pt x="0" y="0"/>
                  </a:moveTo>
                  <a:lnTo>
                    <a:pt x="3657600" y="0"/>
                  </a:lnTo>
                  <a:lnTo>
                    <a:pt x="3657600" y="457200"/>
                  </a:lnTo>
                  <a:lnTo>
                    <a:pt x="0" y="457200"/>
                  </a:lnTo>
                  <a:close/>
                </a:path>
              </a:pathLst>
            </a:custGeom>
            <a:blipFill>
              <a:blip r:embed="rId2">
                <a:alphaModFix amt="0"/>
              </a:blip>
              <a:stretch>
                <a:fillRect l="0" t="-105880" r="0" b="-105880"/>
              </a:stretch>
            </a:blipFill>
          </p:spPr>
        </p:sp>
        <p:sp>
          <p:nvSpPr>
            <p:cNvPr name="TextBox 38" id="38"/>
            <p:cNvSpPr txBox="true"/>
            <p:nvPr/>
          </p:nvSpPr>
          <p:spPr>
            <a:xfrm>
              <a:off x="0" y="-28575"/>
              <a:ext cx="3657600" cy="485775"/>
            </a:xfrm>
            <a:prstGeom prst="rect">
              <a:avLst/>
            </a:prstGeom>
          </p:spPr>
          <p:txBody>
            <a:bodyPr anchor="ctr" rtlCol="false" tIns="0" lIns="0" bIns="0" rIns="0"/>
            <a:lstStyle/>
            <a:p>
              <a:pPr algn="r">
                <a:lnSpc>
                  <a:spcPts val="1530"/>
                </a:lnSpc>
              </a:pPr>
              <a:r>
                <a:rPr lang="en-US" sz="1275">
                  <a:solidFill>
                    <a:srgbClr val="9FB0C9"/>
                  </a:solidFill>
                  <a:latin typeface="Calibri (MS)"/>
                  <a:ea typeface="Calibri (MS)"/>
                  <a:cs typeface="Calibri (MS)"/>
                  <a:sym typeface="Calibri (MS)"/>
                </a:rPr>
                <a:t>97.5%</a:t>
              </a:r>
            </a:p>
          </p:txBody>
        </p:sp>
      </p:grpSp>
      <p:grpSp>
        <p:nvGrpSpPr>
          <p:cNvPr name="Group 39" id="39"/>
          <p:cNvGrpSpPr/>
          <p:nvPr/>
        </p:nvGrpSpPr>
        <p:grpSpPr>
          <a:xfrm rot="0">
            <a:off x="10698480" y="3388124"/>
            <a:ext cx="1783080" cy="548640"/>
            <a:chOff x="0" y="0"/>
            <a:chExt cx="2377440" cy="731520"/>
          </a:xfrm>
        </p:grpSpPr>
        <p:sp>
          <p:nvSpPr>
            <p:cNvPr name="Freeform 40" id="40"/>
            <p:cNvSpPr/>
            <p:nvPr/>
          </p:nvSpPr>
          <p:spPr>
            <a:xfrm flipH="false" flipV="false" rot="0">
              <a:off x="0" y="0"/>
              <a:ext cx="2377440" cy="731520"/>
            </a:xfrm>
            <a:custGeom>
              <a:avLst/>
              <a:gdLst/>
              <a:ahLst/>
              <a:cxnLst/>
              <a:rect r="r" b="b" t="t" l="l"/>
              <a:pathLst>
                <a:path h="731520" w="2377440">
                  <a:moveTo>
                    <a:pt x="0" y="0"/>
                  </a:moveTo>
                  <a:lnTo>
                    <a:pt x="2377440" y="0"/>
                  </a:lnTo>
                  <a:lnTo>
                    <a:pt x="2377440" y="731520"/>
                  </a:lnTo>
                  <a:lnTo>
                    <a:pt x="0" y="731520"/>
                  </a:lnTo>
                  <a:close/>
                </a:path>
              </a:pathLst>
            </a:custGeom>
            <a:blipFill>
              <a:blip r:embed="rId2">
                <a:alphaModFix amt="0"/>
              </a:blip>
              <a:stretch>
                <a:fillRect l="0" t="-13326" r="0" b="-13326"/>
              </a:stretch>
            </a:blipFill>
          </p:spPr>
        </p:sp>
        <p:sp>
          <p:nvSpPr>
            <p:cNvPr name="TextBox 41" id="41"/>
            <p:cNvSpPr txBox="true"/>
            <p:nvPr/>
          </p:nvSpPr>
          <p:spPr>
            <a:xfrm>
              <a:off x="0" y="-28575"/>
              <a:ext cx="2377440" cy="76009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Row 2</a:t>
              </a:r>
            </a:p>
          </p:txBody>
        </p:sp>
      </p:grpSp>
      <p:grpSp>
        <p:nvGrpSpPr>
          <p:cNvPr name="Group 42" id="42"/>
          <p:cNvGrpSpPr/>
          <p:nvPr/>
        </p:nvGrpSpPr>
        <p:grpSpPr>
          <a:xfrm rot="0">
            <a:off x="12540615" y="3351167"/>
            <a:ext cx="1102614" cy="457962"/>
            <a:chOff x="0" y="0"/>
            <a:chExt cx="1470152" cy="610616"/>
          </a:xfrm>
        </p:grpSpPr>
        <p:sp>
          <p:nvSpPr>
            <p:cNvPr name="Freeform 43" id="43"/>
            <p:cNvSpPr/>
            <p:nvPr/>
          </p:nvSpPr>
          <p:spPr>
            <a:xfrm flipH="false" flipV="false" rot="0">
              <a:off x="0" y="0"/>
              <a:ext cx="1470152" cy="610616"/>
            </a:xfrm>
            <a:custGeom>
              <a:avLst/>
              <a:gdLst/>
              <a:ahLst/>
              <a:cxnLst/>
              <a:rect r="r" b="b" t="t" l="l"/>
              <a:pathLst>
                <a:path h="610616" w="1470152">
                  <a:moveTo>
                    <a:pt x="0" y="305308"/>
                  </a:moveTo>
                  <a:cubicBezTo>
                    <a:pt x="0" y="136652"/>
                    <a:pt x="136652" y="0"/>
                    <a:pt x="305308" y="0"/>
                  </a:cubicBezTo>
                  <a:lnTo>
                    <a:pt x="1164844" y="0"/>
                  </a:lnTo>
                  <a:cubicBezTo>
                    <a:pt x="1333500" y="0"/>
                    <a:pt x="1470152" y="136652"/>
                    <a:pt x="1470152" y="305308"/>
                  </a:cubicBezTo>
                  <a:cubicBezTo>
                    <a:pt x="1470152" y="473964"/>
                    <a:pt x="1333500" y="610616"/>
                    <a:pt x="1164844" y="610616"/>
                  </a:cubicBezTo>
                  <a:lnTo>
                    <a:pt x="305308" y="610616"/>
                  </a:lnTo>
                  <a:cubicBezTo>
                    <a:pt x="136652" y="610616"/>
                    <a:pt x="0" y="473964"/>
                    <a:pt x="0" y="305308"/>
                  </a:cubicBezTo>
                  <a:close/>
                </a:path>
              </a:pathLst>
            </a:custGeom>
            <a:solidFill>
              <a:srgbClr val="13294A"/>
            </a:solidFill>
            <a:ln w="19050" cap="sq">
              <a:solidFill>
                <a:srgbClr val="FF4B5C"/>
              </a:solidFill>
              <a:prstDash val="solid"/>
              <a:miter/>
            </a:ln>
          </p:spPr>
        </p:sp>
      </p:grpSp>
      <p:grpSp>
        <p:nvGrpSpPr>
          <p:cNvPr name="Group 44" id="44"/>
          <p:cNvGrpSpPr/>
          <p:nvPr/>
        </p:nvGrpSpPr>
        <p:grpSpPr>
          <a:xfrm rot="0">
            <a:off x="12550140" y="3346976"/>
            <a:ext cx="1083564" cy="466344"/>
            <a:chOff x="0" y="0"/>
            <a:chExt cx="1444752" cy="621792"/>
          </a:xfrm>
        </p:grpSpPr>
        <p:sp>
          <p:nvSpPr>
            <p:cNvPr name="Freeform 45" id="45"/>
            <p:cNvSpPr/>
            <p:nvPr/>
          </p:nvSpPr>
          <p:spPr>
            <a:xfrm flipH="false" flipV="false" rot="0">
              <a:off x="0" y="0"/>
              <a:ext cx="1444752" cy="621792"/>
            </a:xfrm>
            <a:custGeom>
              <a:avLst/>
              <a:gdLst/>
              <a:ahLst/>
              <a:cxnLst/>
              <a:rect r="r" b="b" t="t" l="l"/>
              <a:pathLst>
                <a:path h="621792" w="1444752">
                  <a:moveTo>
                    <a:pt x="0" y="0"/>
                  </a:moveTo>
                  <a:lnTo>
                    <a:pt x="1444752" y="0"/>
                  </a:lnTo>
                  <a:lnTo>
                    <a:pt x="1444752" y="621792"/>
                  </a:lnTo>
                  <a:lnTo>
                    <a:pt x="0" y="621792"/>
                  </a:lnTo>
                  <a:close/>
                </a:path>
              </a:pathLst>
            </a:custGeom>
            <a:blipFill>
              <a:blip r:embed="rId2">
                <a:alphaModFix amt="0"/>
              </a:blip>
              <a:stretch>
                <a:fillRect l="-5219" t="0" r="-5219" b="0"/>
              </a:stretch>
            </a:blipFill>
          </p:spPr>
        </p:sp>
        <p:sp>
          <p:nvSpPr>
            <p:cNvPr name="TextBox 46" id="46"/>
            <p:cNvSpPr txBox="true"/>
            <p:nvPr/>
          </p:nvSpPr>
          <p:spPr>
            <a:xfrm>
              <a:off x="0" y="-38100"/>
              <a:ext cx="1444752" cy="659892"/>
            </a:xfrm>
            <a:prstGeom prst="rect">
              <a:avLst/>
            </a:prstGeom>
          </p:spPr>
          <p:txBody>
            <a:bodyPr anchor="ctr" rtlCol="false" tIns="0" lIns="0" bIns="0" rIns="0"/>
            <a:lstStyle/>
            <a:p>
              <a:pPr algn="ctr">
                <a:lnSpc>
                  <a:spcPts val="1800"/>
                </a:lnSpc>
              </a:pPr>
              <a:r>
                <a:rPr lang="en-US" sz="1500" b="true">
                  <a:solidFill>
                    <a:srgbClr val="FF4B5C"/>
                  </a:solidFill>
                  <a:latin typeface="Calibri (MS) Bold"/>
                  <a:ea typeface="Calibri (MS) Bold"/>
                  <a:cs typeface="Calibri (MS) Bold"/>
                  <a:sym typeface="Calibri (MS) Bold"/>
                </a:rPr>
                <a:t>Attack</a:t>
              </a:r>
            </a:p>
          </p:txBody>
        </p:sp>
      </p:grpSp>
      <p:grpSp>
        <p:nvGrpSpPr>
          <p:cNvPr name="Group 47" id="47"/>
          <p:cNvGrpSpPr/>
          <p:nvPr/>
        </p:nvGrpSpPr>
        <p:grpSpPr>
          <a:xfrm rot="0">
            <a:off x="14259877" y="3493090"/>
            <a:ext cx="2752725" cy="256413"/>
            <a:chOff x="0" y="0"/>
            <a:chExt cx="3670300" cy="341884"/>
          </a:xfrm>
        </p:grpSpPr>
        <p:sp>
          <p:nvSpPr>
            <p:cNvPr name="Freeform 48" id="48"/>
            <p:cNvSpPr/>
            <p:nvPr/>
          </p:nvSpPr>
          <p:spPr>
            <a:xfrm flipH="false" flipV="false" rot="0">
              <a:off x="0" y="0"/>
              <a:ext cx="3670300" cy="341884"/>
            </a:xfrm>
            <a:custGeom>
              <a:avLst/>
              <a:gdLst/>
              <a:ahLst/>
              <a:cxnLst/>
              <a:rect r="r" b="b" t="t" l="l"/>
              <a:pathLst>
                <a:path h="341884" w="3670300">
                  <a:moveTo>
                    <a:pt x="0" y="170942"/>
                  </a:moveTo>
                  <a:cubicBezTo>
                    <a:pt x="0" y="76581"/>
                    <a:pt x="76581" y="0"/>
                    <a:pt x="170942" y="0"/>
                  </a:cubicBezTo>
                  <a:lnTo>
                    <a:pt x="3499358" y="0"/>
                  </a:lnTo>
                  <a:cubicBezTo>
                    <a:pt x="3593719" y="0"/>
                    <a:pt x="3670300" y="76581"/>
                    <a:pt x="3670300" y="170942"/>
                  </a:cubicBezTo>
                  <a:cubicBezTo>
                    <a:pt x="3670300" y="265303"/>
                    <a:pt x="3593719" y="341884"/>
                    <a:pt x="3499358" y="341884"/>
                  </a:cubicBezTo>
                  <a:lnTo>
                    <a:pt x="170942" y="341884"/>
                  </a:lnTo>
                  <a:cubicBezTo>
                    <a:pt x="76581" y="341884"/>
                    <a:pt x="0" y="265303"/>
                    <a:pt x="0" y="170942"/>
                  </a:cubicBezTo>
                  <a:close/>
                </a:path>
              </a:pathLst>
            </a:custGeom>
            <a:solidFill>
              <a:srgbClr val="0F2038"/>
            </a:solidFill>
            <a:ln w="9525" cap="sq">
              <a:solidFill>
                <a:srgbClr val="1E3358"/>
              </a:solidFill>
              <a:prstDash val="solid"/>
              <a:miter/>
            </a:ln>
          </p:spPr>
        </p:sp>
      </p:grpSp>
      <p:grpSp>
        <p:nvGrpSpPr>
          <p:cNvPr name="Group 49" id="49"/>
          <p:cNvGrpSpPr/>
          <p:nvPr/>
        </p:nvGrpSpPr>
        <p:grpSpPr>
          <a:xfrm rot="0">
            <a:off x="14264640" y="3497852"/>
            <a:ext cx="2743200" cy="246888"/>
            <a:chOff x="0" y="0"/>
            <a:chExt cx="3657600" cy="329184"/>
          </a:xfrm>
        </p:grpSpPr>
        <p:sp>
          <p:nvSpPr>
            <p:cNvPr name="Freeform 50" id="50"/>
            <p:cNvSpPr/>
            <p:nvPr/>
          </p:nvSpPr>
          <p:spPr>
            <a:xfrm flipH="false" flipV="false" rot="0">
              <a:off x="0" y="0"/>
              <a:ext cx="3657600" cy="329184"/>
            </a:xfrm>
            <a:custGeom>
              <a:avLst/>
              <a:gdLst/>
              <a:ahLst/>
              <a:cxnLst/>
              <a:rect r="r" b="b" t="t" l="l"/>
              <a:pathLst>
                <a:path h="329184" w="3657600">
                  <a:moveTo>
                    <a:pt x="0" y="164592"/>
                  </a:moveTo>
                  <a:cubicBezTo>
                    <a:pt x="0" y="73660"/>
                    <a:pt x="73660" y="0"/>
                    <a:pt x="164592" y="0"/>
                  </a:cubicBezTo>
                  <a:lnTo>
                    <a:pt x="3493008" y="0"/>
                  </a:lnTo>
                  <a:cubicBezTo>
                    <a:pt x="3583940" y="0"/>
                    <a:pt x="3657600" y="73660"/>
                    <a:pt x="3657600" y="164592"/>
                  </a:cubicBezTo>
                  <a:cubicBezTo>
                    <a:pt x="3657600" y="255524"/>
                    <a:pt x="3583940" y="329184"/>
                    <a:pt x="3493008" y="329184"/>
                  </a:cubicBezTo>
                  <a:lnTo>
                    <a:pt x="164592" y="329184"/>
                  </a:lnTo>
                  <a:cubicBezTo>
                    <a:pt x="73660" y="329184"/>
                    <a:pt x="0" y="255524"/>
                    <a:pt x="0" y="164592"/>
                  </a:cubicBezTo>
                  <a:close/>
                </a:path>
              </a:pathLst>
            </a:custGeom>
            <a:solidFill>
              <a:srgbClr val="FF4B5C"/>
            </a:solidFill>
          </p:spPr>
        </p:sp>
      </p:grpSp>
      <p:grpSp>
        <p:nvGrpSpPr>
          <p:cNvPr name="Group 51" id="51"/>
          <p:cNvGrpSpPr/>
          <p:nvPr/>
        </p:nvGrpSpPr>
        <p:grpSpPr>
          <a:xfrm rot="0">
            <a:off x="14264640" y="3168668"/>
            <a:ext cx="2743200" cy="342900"/>
            <a:chOff x="0" y="0"/>
            <a:chExt cx="3657600" cy="457200"/>
          </a:xfrm>
        </p:grpSpPr>
        <p:sp>
          <p:nvSpPr>
            <p:cNvPr name="Freeform 52" id="52"/>
            <p:cNvSpPr/>
            <p:nvPr/>
          </p:nvSpPr>
          <p:spPr>
            <a:xfrm flipH="false" flipV="false" rot="0">
              <a:off x="0" y="0"/>
              <a:ext cx="3657600" cy="457200"/>
            </a:xfrm>
            <a:custGeom>
              <a:avLst/>
              <a:gdLst/>
              <a:ahLst/>
              <a:cxnLst/>
              <a:rect r="r" b="b" t="t" l="l"/>
              <a:pathLst>
                <a:path h="457200" w="3657600">
                  <a:moveTo>
                    <a:pt x="0" y="0"/>
                  </a:moveTo>
                  <a:lnTo>
                    <a:pt x="3657600" y="0"/>
                  </a:lnTo>
                  <a:lnTo>
                    <a:pt x="3657600" y="457200"/>
                  </a:lnTo>
                  <a:lnTo>
                    <a:pt x="0" y="457200"/>
                  </a:lnTo>
                  <a:close/>
                </a:path>
              </a:pathLst>
            </a:custGeom>
            <a:blipFill>
              <a:blip r:embed="rId2">
                <a:alphaModFix amt="0"/>
              </a:blip>
              <a:stretch>
                <a:fillRect l="0" t="-105880" r="0" b="-105880"/>
              </a:stretch>
            </a:blipFill>
          </p:spPr>
        </p:sp>
        <p:sp>
          <p:nvSpPr>
            <p:cNvPr name="TextBox 53" id="53"/>
            <p:cNvSpPr txBox="true"/>
            <p:nvPr/>
          </p:nvSpPr>
          <p:spPr>
            <a:xfrm>
              <a:off x="0" y="-28575"/>
              <a:ext cx="3657600" cy="485775"/>
            </a:xfrm>
            <a:prstGeom prst="rect">
              <a:avLst/>
            </a:prstGeom>
          </p:spPr>
          <p:txBody>
            <a:bodyPr anchor="ctr" rtlCol="false" tIns="0" lIns="0" bIns="0" rIns="0"/>
            <a:lstStyle/>
            <a:p>
              <a:pPr algn="r">
                <a:lnSpc>
                  <a:spcPts val="1530"/>
                </a:lnSpc>
              </a:pPr>
              <a:r>
                <a:rPr lang="en-US" sz="1275">
                  <a:solidFill>
                    <a:srgbClr val="9FB0C9"/>
                  </a:solidFill>
                  <a:latin typeface="Calibri (MS)"/>
                  <a:ea typeface="Calibri (MS)"/>
                  <a:cs typeface="Calibri (MS)"/>
                  <a:sym typeface="Calibri (MS)"/>
                </a:rPr>
                <a:t>100.0%</a:t>
              </a:r>
            </a:p>
          </p:txBody>
        </p:sp>
      </p:grpSp>
      <p:grpSp>
        <p:nvGrpSpPr>
          <p:cNvPr name="Group 54" id="54"/>
          <p:cNvGrpSpPr/>
          <p:nvPr/>
        </p:nvGrpSpPr>
        <p:grpSpPr>
          <a:xfrm rot="0">
            <a:off x="10698480" y="4320812"/>
            <a:ext cx="1783080" cy="548640"/>
            <a:chOff x="0" y="0"/>
            <a:chExt cx="2377440" cy="731520"/>
          </a:xfrm>
        </p:grpSpPr>
        <p:sp>
          <p:nvSpPr>
            <p:cNvPr name="Freeform 55" id="55"/>
            <p:cNvSpPr/>
            <p:nvPr/>
          </p:nvSpPr>
          <p:spPr>
            <a:xfrm flipH="false" flipV="false" rot="0">
              <a:off x="0" y="0"/>
              <a:ext cx="2377440" cy="731520"/>
            </a:xfrm>
            <a:custGeom>
              <a:avLst/>
              <a:gdLst/>
              <a:ahLst/>
              <a:cxnLst/>
              <a:rect r="r" b="b" t="t" l="l"/>
              <a:pathLst>
                <a:path h="731520" w="2377440">
                  <a:moveTo>
                    <a:pt x="0" y="0"/>
                  </a:moveTo>
                  <a:lnTo>
                    <a:pt x="2377440" y="0"/>
                  </a:lnTo>
                  <a:lnTo>
                    <a:pt x="2377440" y="731520"/>
                  </a:lnTo>
                  <a:lnTo>
                    <a:pt x="0" y="731520"/>
                  </a:lnTo>
                  <a:close/>
                </a:path>
              </a:pathLst>
            </a:custGeom>
            <a:blipFill>
              <a:blip r:embed="rId2">
                <a:alphaModFix amt="0"/>
              </a:blip>
              <a:stretch>
                <a:fillRect l="0" t="-13326" r="0" b="-13326"/>
              </a:stretch>
            </a:blipFill>
          </p:spPr>
        </p:sp>
        <p:sp>
          <p:nvSpPr>
            <p:cNvPr name="TextBox 56" id="56"/>
            <p:cNvSpPr txBox="true"/>
            <p:nvPr/>
          </p:nvSpPr>
          <p:spPr>
            <a:xfrm>
              <a:off x="0" y="-28575"/>
              <a:ext cx="2377440" cy="76009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Row 3</a:t>
              </a:r>
            </a:p>
          </p:txBody>
        </p:sp>
      </p:grpSp>
      <p:grpSp>
        <p:nvGrpSpPr>
          <p:cNvPr name="Group 57" id="57"/>
          <p:cNvGrpSpPr/>
          <p:nvPr/>
        </p:nvGrpSpPr>
        <p:grpSpPr>
          <a:xfrm rot="0">
            <a:off x="12540615" y="4283855"/>
            <a:ext cx="1102614" cy="457962"/>
            <a:chOff x="0" y="0"/>
            <a:chExt cx="1470152" cy="610616"/>
          </a:xfrm>
        </p:grpSpPr>
        <p:sp>
          <p:nvSpPr>
            <p:cNvPr name="Freeform 58" id="58"/>
            <p:cNvSpPr/>
            <p:nvPr/>
          </p:nvSpPr>
          <p:spPr>
            <a:xfrm flipH="false" flipV="false" rot="0">
              <a:off x="0" y="0"/>
              <a:ext cx="1470152" cy="610616"/>
            </a:xfrm>
            <a:custGeom>
              <a:avLst/>
              <a:gdLst/>
              <a:ahLst/>
              <a:cxnLst/>
              <a:rect r="r" b="b" t="t" l="l"/>
              <a:pathLst>
                <a:path h="610616" w="1470152">
                  <a:moveTo>
                    <a:pt x="0" y="305308"/>
                  </a:moveTo>
                  <a:cubicBezTo>
                    <a:pt x="0" y="136652"/>
                    <a:pt x="136652" y="0"/>
                    <a:pt x="305308" y="0"/>
                  </a:cubicBezTo>
                  <a:lnTo>
                    <a:pt x="1164844" y="0"/>
                  </a:lnTo>
                  <a:cubicBezTo>
                    <a:pt x="1333500" y="0"/>
                    <a:pt x="1470152" y="136652"/>
                    <a:pt x="1470152" y="305308"/>
                  </a:cubicBezTo>
                  <a:cubicBezTo>
                    <a:pt x="1470152" y="473964"/>
                    <a:pt x="1333500" y="610616"/>
                    <a:pt x="1164844" y="610616"/>
                  </a:cubicBezTo>
                  <a:lnTo>
                    <a:pt x="305308" y="610616"/>
                  </a:lnTo>
                  <a:cubicBezTo>
                    <a:pt x="136652" y="610616"/>
                    <a:pt x="0" y="473964"/>
                    <a:pt x="0" y="305308"/>
                  </a:cubicBezTo>
                  <a:close/>
                </a:path>
              </a:pathLst>
            </a:custGeom>
            <a:solidFill>
              <a:srgbClr val="13294A"/>
            </a:solidFill>
            <a:ln w="19050" cap="sq">
              <a:solidFill>
                <a:srgbClr val="00E5C7"/>
              </a:solidFill>
              <a:prstDash val="solid"/>
              <a:miter/>
            </a:ln>
          </p:spPr>
        </p:sp>
      </p:grpSp>
      <p:grpSp>
        <p:nvGrpSpPr>
          <p:cNvPr name="Group 59" id="59"/>
          <p:cNvGrpSpPr/>
          <p:nvPr/>
        </p:nvGrpSpPr>
        <p:grpSpPr>
          <a:xfrm rot="0">
            <a:off x="12550140" y="4279664"/>
            <a:ext cx="1083564" cy="466344"/>
            <a:chOff x="0" y="0"/>
            <a:chExt cx="1444752" cy="621792"/>
          </a:xfrm>
        </p:grpSpPr>
        <p:sp>
          <p:nvSpPr>
            <p:cNvPr name="Freeform 60" id="60"/>
            <p:cNvSpPr/>
            <p:nvPr/>
          </p:nvSpPr>
          <p:spPr>
            <a:xfrm flipH="false" flipV="false" rot="0">
              <a:off x="0" y="0"/>
              <a:ext cx="1444752" cy="621792"/>
            </a:xfrm>
            <a:custGeom>
              <a:avLst/>
              <a:gdLst/>
              <a:ahLst/>
              <a:cxnLst/>
              <a:rect r="r" b="b" t="t" l="l"/>
              <a:pathLst>
                <a:path h="621792" w="1444752">
                  <a:moveTo>
                    <a:pt x="0" y="0"/>
                  </a:moveTo>
                  <a:lnTo>
                    <a:pt x="1444752" y="0"/>
                  </a:lnTo>
                  <a:lnTo>
                    <a:pt x="1444752" y="621792"/>
                  </a:lnTo>
                  <a:lnTo>
                    <a:pt x="0" y="621792"/>
                  </a:lnTo>
                  <a:close/>
                </a:path>
              </a:pathLst>
            </a:custGeom>
            <a:blipFill>
              <a:blip r:embed="rId2">
                <a:alphaModFix amt="0"/>
              </a:blip>
              <a:stretch>
                <a:fillRect l="-5219" t="0" r="-5219" b="0"/>
              </a:stretch>
            </a:blipFill>
          </p:spPr>
        </p:sp>
        <p:sp>
          <p:nvSpPr>
            <p:cNvPr name="TextBox 61" id="61"/>
            <p:cNvSpPr txBox="true"/>
            <p:nvPr/>
          </p:nvSpPr>
          <p:spPr>
            <a:xfrm>
              <a:off x="0" y="-38100"/>
              <a:ext cx="1444752" cy="659892"/>
            </a:xfrm>
            <a:prstGeom prst="rect">
              <a:avLst/>
            </a:prstGeom>
          </p:spPr>
          <p:txBody>
            <a:bodyPr anchor="ctr" rtlCol="false" tIns="0" lIns="0" bIns="0" rIns="0"/>
            <a:lstStyle/>
            <a:p>
              <a:pPr algn="ctr">
                <a:lnSpc>
                  <a:spcPts val="1800"/>
                </a:lnSpc>
              </a:pPr>
              <a:r>
                <a:rPr lang="en-US" sz="1500" b="true">
                  <a:solidFill>
                    <a:srgbClr val="00E5C7"/>
                  </a:solidFill>
                  <a:latin typeface="Calibri (MS) Bold"/>
                  <a:ea typeface="Calibri (MS) Bold"/>
                  <a:cs typeface="Calibri (MS) Bold"/>
                  <a:sym typeface="Calibri (MS) Bold"/>
                </a:rPr>
                <a:t>Benign</a:t>
              </a:r>
            </a:p>
          </p:txBody>
        </p:sp>
      </p:grpSp>
      <p:grpSp>
        <p:nvGrpSpPr>
          <p:cNvPr name="Group 62" id="62"/>
          <p:cNvGrpSpPr/>
          <p:nvPr/>
        </p:nvGrpSpPr>
        <p:grpSpPr>
          <a:xfrm rot="0">
            <a:off x="14259877" y="4425778"/>
            <a:ext cx="2752725" cy="256413"/>
            <a:chOff x="0" y="0"/>
            <a:chExt cx="3670300" cy="341884"/>
          </a:xfrm>
        </p:grpSpPr>
        <p:sp>
          <p:nvSpPr>
            <p:cNvPr name="Freeform 63" id="63"/>
            <p:cNvSpPr/>
            <p:nvPr/>
          </p:nvSpPr>
          <p:spPr>
            <a:xfrm flipH="false" flipV="false" rot="0">
              <a:off x="0" y="0"/>
              <a:ext cx="3670300" cy="341884"/>
            </a:xfrm>
            <a:custGeom>
              <a:avLst/>
              <a:gdLst/>
              <a:ahLst/>
              <a:cxnLst/>
              <a:rect r="r" b="b" t="t" l="l"/>
              <a:pathLst>
                <a:path h="341884" w="3670300">
                  <a:moveTo>
                    <a:pt x="0" y="170942"/>
                  </a:moveTo>
                  <a:cubicBezTo>
                    <a:pt x="0" y="76581"/>
                    <a:pt x="76581" y="0"/>
                    <a:pt x="170942" y="0"/>
                  </a:cubicBezTo>
                  <a:lnTo>
                    <a:pt x="3499358" y="0"/>
                  </a:lnTo>
                  <a:cubicBezTo>
                    <a:pt x="3593719" y="0"/>
                    <a:pt x="3670300" y="76581"/>
                    <a:pt x="3670300" y="170942"/>
                  </a:cubicBezTo>
                  <a:cubicBezTo>
                    <a:pt x="3670300" y="265303"/>
                    <a:pt x="3593719" y="341884"/>
                    <a:pt x="3499358" y="341884"/>
                  </a:cubicBezTo>
                  <a:lnTo>
                    <a:pt x="170942" y="341884"/>
                  </a:lnTo>
                  <a:cubicBezTo>
                    <a:pt x="76581" y="341884"/>
                    <a:pt x="0" y="265303"/>
                    <a:pt x="0" y="170942"/>
                  </a:cubicBezTo>
                  <a:close/>
                </a:path>
              </a:pathLst>
            </a:custGeom>
            <a:solidFill>
              <a:srgbClr val="0F2038"/>
            </a:solidFill>
            <a:ln w="9525" cap="sq">
              <a:solidFill>
                <a:srgbClr val="1E3358"/>
              </a:solidFill>
              <a:prstDash val="solid"/>
              <a:miter/>
            </a:ln>
          </p:spPr>
        </p:sp>
      </p:grpSp>
      <p:grpSp>
        <p:nvGrpSpPr>
          <p:cNvPr name="Group 64" id="64"/>
          <p:cNvGrpSpPr/>
          <p:nvPr/>
        </p:nvGrpSpPr>
        <p:grpSpPr>
          <a:xfrm rot="0">
            <a:off x="14264640" y="4430540"/>
            <a:ext cx="2743200" cy="246888"/>
            <a:chOff x="0" y="0"/>
            <a:chExt cx="3657600" cy="329184"/>
          </a:xfrm>
        </p:grpSpPr>
        <p:sp>
          <p:nvSpPr>
            <p:cNvPr name="Freeform 65" id="65"/>
            <p:cNvSpPr/>
            <p:nvPr/>
          </p:nvSpPr>
          <p:spPr>
            <a:xfrm flipH="false" flipV="false" rot="0">
              <a:off x="0" y="0"/>
              <a:ext cx="3657600" cy="329184"/>
            </a:xfrm>
            <a:custGeom>
              <a:avLst/>
              <a:gdLst/>
              <a:ahLst/>
              <a:cxnLst/>
              <a:rect r="r" b="b" t="t" l="l"/>
              <a:pathLst>
                <a:path h="329184" w="3657600">
                  <a:moveTo>
                    <a:pt x="0" y="164592"/>
                  </a:moveTo>
                  <a:cubicBezTo>
                    <a:pt x="0" y="73660"/>
                    <a:pt x="73660" y="0"/>
                    <a:pt x="164592" y="0"/>
                  </a:cubicBezTo>
                  <a:lnTo>
                    <a:pt x="3493008" y="0"/>
                  </a:lnTo>
                  <a:cubicBezTo>
                    <a:pt x="3583940" y="0"/>
                    <a:pt x="3657600" y="73660"/>
                    <a:pt x="3657600" y="164592"/>
                  </a:cubicBezTo>
                  <a:cubicBezTo>
                    <a:pt x="3657600" y="255524"/>
                    <a:pt x="3583940" y="329184"/>
                    <a:pt x="3493008" y="329184"/>
                  </a:cubicBezTo>
                  <a:lnTo>
                    <a:pt x="164592" y="329184"/>
                  </a:lnTo>
                  <a:cubicBezTo>
                    <a:pt x="73660" y="329184"/>
                    <a:pt x="0" y="255524"/>
                    <a:pt x="0" y="164592"/>
                  </a:cubicBezTo>
                  <a:close/>
                </a:path>
              </a:pathLst>
            </a:custGeom>
            <a:solidFill>
              <a:srgbClr val="00E5C7"/>
            </a:solidFill>
          </p:spPr>
        </p:sp>
      </p:grpSp>
      <p:grpSp>
        <p:nvGrpSpPr>
          <p:cNvPr name="Group 66" id="66"/>
          <p:cNvGrpSpPr/>
          <p:nvPr/>
        </p:nvGrpSpPr>
        <p:grpSpPr>
          <a:xfrm rot="0">
            <a:off x="14264640" y="4101356"/>
            <a:ext cx="2743200" cy="342900"/>
            <a:chOff x="0" y="0"/>
            <a:chExt cx="3657600" cy="457200"/>
          </a:xfrm>
        </p:grpSpPr>
        <p:sp>
          <p:nvSpPr>
            <p:cNvPr name="Freeform 67" id="67"/>
            <p:cNvSpPr/>
            <p:nvPr/>
          </p:nvSpPr>
          <p:spPr>
            <a:xfrm flipH="false" flipV="false" rot="0">
              <a:off x="0" y="0"/>
              <a:ext cx="3657600" cy="457200"/>
            </a:xfrm>
            <a:custGeom>
              <a:avLst/>
              <a:gdLst/>
              <a:ahLst/>
              <a:cxnLst/>
              <a:rect r="r" b="b" t="t" l="l"/>
              <a:pathLst>
                <a:path h="457200" w="3657600">
                  <a:moveTo>
                    <a:pt x="0" y="0"/>
                  </a:moveTo>
                  <a:lnTo>
                    <a:pt x="3657600" y="0"/>
                  </a:lnTo>
                  <a:lnTo>
                    <a:pt x="3657600" y="457200"/>
                  </a:lnTo>
                  <a:lnTo>
                    <a:pt x="0" y="457200"/>
                  </a:lnTo>
                  <a:close/>
                </a:path>
              </a:pathLst>
            </a:custGeom>
            <a:blipFill>
              <a:blip r:embed="rId2">
                <a:alphaModFix amt="0"/>
              </a:blip>
              <a:stretch>
                <a:fillRect l="0" t="-105880" r="0" b="-105880"/>
              </a:stretch>
            </a:blipFill>
          </p:spPr>
        </p:sp>
        <p:sp>
          <p:nvSpPr>
            <p:cNvPr name="TextBox 68" id="68"/>
            <p:cNvSpPr txBox="true"/>
            <p:nvPr/>
          </p:nvSpPr>
          <p:spPr>
            <a:xfrm>
              <a:off x="0" y="-28575"/>
              <a:ext cx="3657600" cy="485775"/>
            </a:xfrm>
            <a:prstGeom prst="rect">
              <a:avLst/>
            </a:prstGeom>
          </p:spPr>
          <p:txBody>
            <a:bodyPr anchor="ctr" rtlCol="false" tIns="0" lIns="0" bIns="0" rIns="0"/>
            <a:lstStyle/>
            <a:p>
              <a:pPr algn="r">
                <a:lnSpc>
                  <a:spcPts val="1530"/>
                </a:lnSpc>
              </a:pPr>
              <a:r>
                <a:rPr lang="en-US" sz="1275">
                  <a:solidFill>
                    <a:srgbClr val="9FB0C9"/>
                  </a:solidFill>
                  <a:latin typeface="Calibri (MS)"/>
                  <a:ea typeface="Calibri (MS)"/>
                  <a:cs typeface="Calibri (MS)"/>
                  <a:sym typeface="Calibri (MS)"/>
                </a:rPr>
                <a:t>100.0%</a:t>
              </a:r>
            </a:p>
          </p:txBody>
        </p:sp>
      </p:grpSp>
      <p:grpSp>
        <p:nvGrpSpPr>
          <p:cNvPr name="Group 69" id="69"/>
          <p:cNvGrpSpPr/>
          <p:nvPr/>
        </p:nvGrpSpPr>
        <p:grpSpPr>
          <a:xfrm rot="0">
            <a:off x="10698480" y="5253500"/>
            <a:ext cx="1783080" cy="548640"/>
            <a:chOff x="0" y="0"/>
            <a:chExt cx="2377440" cy="731520"/>
          </a:xfrm>
        </p:grpSpPr>
        <p:sp>
          <p:nvSpPr>
            <p:cNvPr name="Freeform 70" id="70"/>
            <p:cNvSpPr/>
            <p:nvPr/>
          </p:nvSpPr>
          <p:spPr>
            <a:xfrm flipH="false" flipV="false" rot="0">
              <a:off x="0" y="0"/>
              <a:ext cx="2377440" cy="731520"/>
            </a:xfrm>
            <a:custGeom>
              <a:avLst/>
              <a:gdLst/>
              <a:ahLst/>
              <a:cxnLst/>
              <a:rect r="r" b="b" t="t" l="l"/>
              <a:pathLst>
                <a:path h="731520" w="2377440">
                  <a:moveTo>
                    <a:pt x="0" y="0"/>
                  </a:moveTo>
                  <a:lnTo>
                    <a:pt x="2377440" y="0"/>
                  </a:lnTo>
                  <a:lnTo>
                    <a:pt x="2377440" y="731520"/>
                  </a:lnTo>
                  <a:lnTo>
                    <a:pt x="0" y="731520"/>
                  </a:lnTo>
                  <a:close/>
                </a:path>
              </a:pathLst>
            </a:custGeom>
            <a:blipFill>
              <a:blip r:embed="rId2">
                <a:alphaModFix amt="0"/>
              </a:blip>
              <a:stretch>
                <a:fillRect l="0" t="-13326" r="0" b="-13326"/>
              </a:stretch>
            </a:blipFill>
          </p:spPr>
        </p:sp>
        <p:sp>
          <p:nvSpPr>
            <p:cNvPr name="TextBox 71" id="71"/>
            <p:cNvSpPr txBox="true"/>
            <p:nvPr/>
          </p:nvSpPr>
          <p:spPr>
            <a:xfrm>
              <a:off x="0" y="-28575"/>
              <a:ext cx="2377440" cy="76009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Row 4</a:t>
              </a:r>
            </a:p>
          </p:txBody>
        </p:sp>
      </p:grpSp>
      <p:grpSp>
        <p:nvGrpSpPr>
          <p:cNvPr name="Group 72" id="72"/>
          <p:cNvGrpSpPr/>
          <p:nvPr/>
        </p:nvGrpSpPr>
        <p:grpSpPr>
          <a:xfrm rot="0">
            <a:off x="12540615" y="5216543"/>
            <a:ext cx="1102614" cy="457962"/>
            <a:chOff x="0" y="0"/>
            <a:chExt cx="1470152" cy="610616"/>
          </a:xfrm>
        </p:grpSpPr>
        <p:sp>
          <p:nvSpPr>
            <p:cNvPr name="Freeform 73" id="73"/>
            <p:cNvSpPr/>
            <p:nvPr/>
          </p:nvSpPr>
          <p:spPr>
            <a:xfrm flipH="false" flipV="false" rot="0">
              <a:off x="0" y="0"/>
              <a:ext cx="1470152" cy="610616"/>
            </a:xfrm>
            <a:custGeom>
              <a:avLst/>
              <a:gdLst/>
              <a:ahLst/>
              <a:cxnLst/>
              <a:rect r="r" b="b" t="t" l="l"/>
              <a:pathLst>
                <a:path h="610616" w="1470152">
                  <a:moveTo>
                    <a:pt x="0" y="305308"/>
                  </a:moveTo>
                  <a:cubicBezTo>
                    <a:pt x="0" y="136652"/>
                    <a:pt x="136652" y="0"/>
                    <a:pt x="305308" y="0"/>
                  </a:cubicBezTo>
                  <a:lnTo>
                    <a:pt x="1164844" y="0"/>
                  </a:lnTo>
                  <a:cubicBezTo>
                    <a:pt x="1333500" y="0"/>
                    <a:pt x="1470152" y="136652"/>
                    <a:pt x="1470152" y="305308"/>
                  </a:cubicBezTo>
                  <a:cubicBezTo>
                    <a:pt x="1470152" y="473964"/>
                    <a:pt x="1333500" y="610616"/>
                    <a:pt x="1164844" y="610616"/>
                  </a:cubicBezTo>
                  <a:lnTo>
                    <a:pt x="305308" y="610616"/>
                  </a:lnTo>
                  <a:cubicBezTo>
                    <a:pt x="136652" y="610616"/>
                    <a:pt x="0" y="473964"/>
                    <a:pt x="0" y="305308"/>
                  </a:cubicBezTo>
                  <a:close/>
                </a:path>
              </a:pathLst>
            </a:custGeom>
            <a:solidFill>
              <a:srgbClr val="13294A"/>
            </a:solidFill>
            <a:ln w="19050" cap="sq">
              <a:solidFill>
                <a:srgbClr val="00E5C7"/>
              </a:solidFill>
              <a:prstDash val="solid"/>
              <a:miter/>
            </a:ln>
          </p:spPr>
        </p:sp>
      </p:grpSp>
      <p:grpSp>
        <p:nvGrpSpPr>
          <p:cNvPr name="Group 74" id="74"/>
          <p:cNvGrpSpPr/>
          <p:nvPr/>
        </p:nvGrpSpPr>
        <p:grpSpPr>
          <a:xfrm rot="0">
            <a:off x="12550140" y="5212352"/>
            <a:ext cx="1083564" cy="466344"/>
            <a:chOff x="0" y="0"/>
            <a:chExt cx="1444752" cy="621792"/>
          </a:xfrm>
        </p:grpSpPr>
        <p:sp>
          <p:nvSpPr>
            <p:cNvPr name="Freeform 75" id="75"/>
            <p:cNvSpPr/>
            <p:nvPr/>
          </p:nvSpPr>
          <p:spPr>
            <a:xfrm flipH="false" flipV="false" rot="0">
              <a:off x="0" y="0"/>
              <a:ext cx="1444752" cy="621792"/>
            </a:xfrm>
            <a:custGeom>
              <a:avLst/>
              <a:gdLst/>
              <a:ahLst/>
              <a:cxnLst/>
              <a:rect r="r" b="b" t="t" l="l"/>
              <a:pathLst>
                <a:path h="621792" w="1444752">
                  <a:moveTo>
                    <a:pt x="0" y="0"/>
                  </a:moveTo>
                  <a:lnTo>
                    <a:pt x="1444752" y="0"/>
                  </a:lnTo>
                  <a:lnTo>
                    <a:pt x="1444752" y="621792"/>
                  </a:lnTo>
                  <a:lnTo>
                    <a:pt x="0" y="621792"/>
                  </a:lnTo>
                  <a:close/>
                </a:path>
              </a:pathLst>
            </a:custGeom>
            <a:blipFill>
              <a:blip r:embed="rId2">
                <a:alphaModFix amt="0"/>
              </a:blip>
              <a:stretch>
                <a:fillRect l="-5219" t="0" r="-5219" b="0"/>
              </a:stretch>
            </a:blipFill>
          </p:spPr>
        </p:sp>
        <p:sp>
          <p:nvSpPr>
            <p:cNvPr name="TextBox 76" id="76"/>
            <p:cNvSpPr txBox="true"/>
            <p:nvPr/>
          </p:nvSpPr>
          <p:spPr>
            <a:xfrm>
              <a:off x="0" y="-38100"/>
              <a:ext cx="1444752" cy="659892"/>
            </a:xfrm>
            <a:prstGeom prst="rect">
              <a:avLst/>
            </a:prstGeom>
          </p:spPr>
          <p:txBody>
            <a:bodyPr anchor="ctr" rtlCol="false" tIns="0" lIns="0" bIns="0" rIns="0"/>
            <a:lstStyle/>
            <a:p>
              <a:pPr algn="ctr">
                <a:lnSpc>
                  <a:spcPts val="1800"/>
                </a:lnSpc>
              </a:pPr>
              <a:r>
                <a:rPr lang="en-US" sz="1500" b="true">
                  <a:solidFill>
                    <a:srgbClr val="00E5C7"/>
                  </a:solidFill>
                  <a:latin typeface="Calibri (MS) Bold"/>
                  <a:ea typeface="Calibri (MS) Bold"/>
                  <a:cs typeface="Calibri (MS) Bold"/>
                  <a:sym typeface="Calibri (MS) Bold"/>
                </a:rPr>
                <a:t>Benign</a:t>
              </a:r>
            </a:p>
          </p:txBody>
        </p:sp>
      </p:grpSp>
      <p:grpSp>
        <p:nvGrpSpPr>
          <p:cNvPr name="Group 77" id="77"/>
          <p:cNvGrpSpPr/>
          <p:nvPr/>
        </p:nvGrpSpPr>
        <p:grpSpPr>
          <a:xfrm rot="0">
            <a:off x="14259877" y="5358466"/>
            <a:ext cx="2752725" cy="256413"/>
            <a:chOff x="0" y="0"/>
            <a:chExt cx="3670300" cy="341884"/>
          </a:xfrm>
        </p:grpSpPr>
        <p:sp>
          <p:nvSpPr>
            <p:cNvPr name="Freeform 78" id="78"/>
            <p:cNvSpPr/>
            <p:nvPr/>
          </p:nvSpPr>
          <p:spPr>
            <a:xfrm flipH="false" flipV="false" rot="0">
              <a:off x="0" y="0"/>
              <a:ext cx="3670300" cy="341884"/>
            </a:xfrm>
            <a:custGeom>
              <a:avLst/>
              <a:gdLst/>
              <a:ahLst/>
              <a:cxnLst/>
              <a:rect r="r" b="b" t="t" l="l"/>
              <a:pathLst>
                <a:path h="341884" w="3670300">
                  <a:moveTo>
                    <a:pt x="0" y="170942"/>
                  </a:moveTo>
                  <a:cubicBezTo>
                    <a:pt x="0" y="76581"/>
                    <a:pt x="76581" y="0"/>
                    <a:pt x="170942" y="0"/>
                  </a:cubicBezTo>
                  <a:lnTo>
                    <a:pt x="3499358" y="0"/>
                  </a:lnTo>
                  <a:cubicBezTo>
                    <a:pt x="3593719" y="0"/>
                    <a:pt x="3670300" y="76581"/>
                    <a:pt x="3670300" y="170942"/>
                  </a:cubicBezTo>
                  <a:cubicBezTo>
                    <a:pt x="3670300" y="265303"/>
                    <a:pt x="3593719" y="341884"/>
                    <a:pt x="3499358" y="341884"/>
                  </a:cubicBezTo>
                  <a:lnTo>
                    <a:pt x="170942" y="341884"/>
                  </a:lnTo>
                  <a:cubicBezTo>
                    <a:pt x="76581" y="341884"/>
                    <a:pt x="0" y="265303"/>
                    <a:pt x="0" y="170942"/>
                  </a:cubicBezTo>
                  <a:close/>
                </a:path>
              </a:pathLst>
            </a:custGeom>
            <a:solidFill>
              <a:srgbClr val="0F2038"/>
            </a:solidFill>
            <a:ln w="9525" cap="sq">
              <a:solidFill>
                <a:srgbClr val="1E3358"/>
              </a:solidFill>
              <a:prstDash val="solid"/>
              <a:miter/>
            </a:ln>
          </p:spPr>
        </p:sp>
      </p:grpSp>
      <p:grpSp>
        <p:nvGrpSpPr>
          <p:cNvPr name="Group 79" id="79"/>
          <p:cNvGrpSpPr/>
          <p:nvPr/>
        </p:nvGrpSpPr>
        <p:grpSpPr>
          <a:xfrm rot="0">
            <a:off x="14264640" y="5363228"/>
            <a:ext cx="2729484" cy="246888"/>
            <a:chOff x="0" y="0"/>
            <a:chExt cx="3639312" cy="329184"/>
          </a:xfrm>
        </p:grpSpPr>
        <p:sp>
          <p:nvSpPr>
            <p:cNvPr name="Freeform 80" id="80"/>
            <p:cNvSpPr/>
            <p:nvPr/>
          </p:nvSpPr>
          <p:spPr>
            <a:xfrm flipH="false" flipV="false" rot="0">
              <a:off x="0" y="0"/>
              <a:ext cx="3639312" cy="329184"/>
            </a:xfrm>
            <a:custGeom>
              <a:avLst/>
              <a:gdLst/>
              <a:ahLst/>
              <a:cxnLst/>
              <a:rect r="r" b="b" t="t" l="l"/>
              <a:pathLst>
                <a:path h="329184" w="3639312">
                  <a:moveTo>
                    <a:pt x="0" y="164592"/>
                  </a:moveTo>
                  <a:cubicBezTo>
                    <a:pt x="0" y="73660"/>
                    <a:pt x="73660" y="0"/>
                    <a:pt x="164592" y="0"/>
                  </a:cubicBezTo>
                  <a:lnTo>
                    <a:pt x="3474720" y="0"/>
                  </a:lnTo>
                  <a:cubicBezTo>
                    <a:pt x="3565652" y="0"/>
                    <a:pt x="3639312" y="73660"/>
                    <a:pt x="3639312" y="164592"/>
                  </a:cubicBezTo>
                  <a:cubicBezTo>
                    <a:pt x="3639312" y="255524"/>
                    <a:pt x="3565652" y="329184"/>
                    <a:pt x="3474720" y="329184"/>
                  </a:cubicBezTo>
                  <a:lnTo>
                    <a:pt x="164592" y="329184"/>
                  </a:lnTo>
                  <a:cubicBezTo>
                    <a:pt x="73660" y="329184"/>
                    <a:pt x="0" y="255524"/>
                    <a:pt x="0" y="164592"/>
                  </a:cubicBezTo>
                  <a:close/>
                </a:path>
              </a:pathLst>
            </a:custGeom>
            <a:solidFill>
              <a:srgbClr val="00E5C7"/>
            </a:solidFill>
          </p:spPr>
        </p:sp>
      </p:grpSp>
      <p:grpSp>
        <p:nvGrpSpPr>
          <p:cNvPr name="Group 81" id="81"/>
          <p:cNvGrpSpPr/>
          <p:nvPr/>
        </p:nvGrpSpPr>
        <p:grpSpPr>
          <a:xfrm rot="0">
            <a:off x="14264640" y="5034044"/>
            <a:ext cx="2743200" cy="342900"/>
            <a:chOff x="0" y="0"/>
            <a:chExt cx="3657600" cy="457200"/>
          </a:xfrm>
        </p:grpSpPr>
        <p:sp>
          <p:nvSpPr>
            <p:cNvPr name="Freeform 82" id="82"/>
            <p:cNvSpPr/>
            <p:nvPr/>
          </p:nvSpPr>
          <p:spPr>
            <a:xfrm flipH="false" flipV="false" rot="0">
              <a:off x="0" y="0"/>
              <a:ext cx="3657600" cy="457200"/>
            </a:xfrm>
            <a:custGeom>
              <a:avLst/>
              <a:gdLst/>
              <a:ahLst/>
              <a:cxnLst/>
              <a:rect r="r" b="b" t="t" l="l"/>
              <a:pathLst>
                <a:path h="457200" w="3657600">
                  <a:moveTo>
                    <a:pt x="0" y="0"/>
                  </a:moveTo>
                  <a:lnTo>
                    <a:pt x="3657600" y="0"/>
                  </a:lnTo>
                  <a:lnTo>
                    <a:pt x="3657600" y="457200"/>
                  </a:lnTo>
                  <a:lnTo>
                    <a:pt x="0" y="457200"/>
                  </a:lnTo>
                  <a:close/>
                </a:path>
              </a:pathLst>
            </a:custGeom>
            <a:blipFill>
              <a:blip r:embed="rId2">
                <a:alphaModFix amt="0"/>
              </a:blip>
              <a:stretch>
                <a:fillRect l="0" t="-105880" r="0" b="-105880"/>
              </a:stretch>
            </a:blipFill>
          </p:spPr>
        </p:sp>
        <p:sp>
          <p:nvSpPr>
            <p:cNvPr name="TextBox 83" id="83"/>
            <p:cNvSpPr txBox="true"/>
            <p:nvPr/>
          </p:nvSpPr>
          <p:spPr>
            <a:xfrm>
              <a:off x="0" y="-28575"/>
              <a:ext cx="3657600" cy="485775"/>
            </a:xfrm>
            <a:prstGeom prst="rect">
              <a:avLst/>
            </a:prstGeom>
          </p:spPr>
          <p:txBody>
            <a:bodyPr anchor="ctr" rtlCol="false" tIns="0" lIns="0" bIns="0" rIns="0"/>
            <a:lstStyle/>
            <a:p>
              <a:pPr algn="r">
                <a:lnSpc>
                  <a:spcPts val="1530"/>
                </a:lnSpc>
              </a:pPr>
              <a:r>
                <a:rPr lang="en-US" sz="1275">
                  <a:solidFill>
                    <a:srgbClr val="9FB0C9"/>
                  </a:solidFill>
                  <a:latin typeface="Calibri (MS)"/>
                  <a:ea typeface="Calibri (MS)"/>
                  <a:cs typeface="Calibri (MS)"/>
                  <a:sym typeface="Calibri (MS)"/>
                </a:rPr>
                <a:t>99.5%</a:t>
              </a:r>
            </a:p>
          </p:txBody>
        </p:sp>
      </p:grpSp>
      <p:grpSp>
        <p:nvGrpSpPr>
          <p:cNvPr name="Group 84" id="84"/>
          <p:cNvGrpSpPr/>
          <p:nvPr/>
        </p:nvGrpSpPr>
        <p:grpSpPr>
          <a:xfrm rot="0">
            <a:off x="10698480" y="6186188"/>
            <a:ext cx="1783080" cy="548640"/>
            <a:chOff x="0" y="0"/>
            <a:chExt cx="2377440" cy="731520"/>
          </a:xfrm>
        </p:grpSpPr>
        <p:sp>
          <p:nvSpPr>
            <p:cNvPr name="Freeform 85" id="85"/>
            <p:cNvSpPr/>
            <p:nvPr/>
          </p:nvSpPr>
          <p:spPr>
            <a:xfrm flipH="false" flipV="false" rot="0">
              <a:off x="0" y="0"/>
              <a:ext cx="2377440" cy="731520"/>
            </a:xfrm>
            <a:custGeom>
              <a:avLst/>
              <a:gdLst/>
              <a:ahLst/>
              <a:cxnLst/>
              <a:rect r="r" b="b" t="t" l="l"/>
              <a:pathLst>
                <a:path h="731520" w="2377440">
                  <a:moveTo>
                    <a:pt x="0" y="0"/>
                  </a:moveTo>
                  <a:lnTo>
                    <a:pt x="2377440" y="0"/>
                  </a:lnTo>
                  <a:lnTo>
                    <a:pt x="2377440" y="731520"/>
                  </a:lnTo>
                  <a:lnTo>
                    <a:pt x="0" y="731520"/>
                  </a:lnTo>
                  <a:close/>
                </a:path>
              </a:pathLst>
            </a:custGeom>
            <a:blipFill>
              <a:blip r:embed="rId2">
                <a:alphaModFix amt="0"/>
              </a:blip>
              <a:stretch>
                <a:fillRect l="0" t="-13326" r="0" b="-13326"/>
              </a:stretch>
            </a:blipFill>
          </p:spPr>
        </p:sp>
        <p:sp>
          <p:nvSpPr>
            <p:cNvPr name="TextBox 86" id="86"/>
            <p:cNvSpPr txBox="true"/>
            <p:nvPr/>
          </p:nvSpPr>
          <p:spPr>
            <a:xfrm>
              <a:off x="0" y="-28575"/>
              <a:ext cx="2377440" cy="76009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Row 5</a:t>
              </a:r>
            </a:p>
          </p:txBody>
        </p:sp>
      </p:grpSp>
      <p:grpSp>
        <p:nvGrpSpPr>
          <p:cNvPr name="Group 87" id="87"/>
          <p:cNvGrpSpPr/>
          <p:nvPr/>
        </p:nvGrpSpPr>
        <p:grpSpPr>
          <a:xfrm rot="0">
            <a:off x="12540615" y="6149231"/>
            <a:ext cx="1102614" cy="457962"/>
            <a:chOff x="0" y="0"/>
            <a:chExt cx="1470152" cy="610616"/>
          </a:xfrm>
        </p:grpSpPr>
        <p:sp>
          <p:nvSpPr>
            <p:cNvPr name="Freeform 88" id="88"/>
            <p:cNvSpPr/>
            <p:nvPr/>
          </p:nvSpPr>
          <p:spPr>
            <a:xfrm flipH="false" flipV="false" rot="0">
              <a:off x="0" y="0"/>
              <a:ext cx="1470152" cy="610616"/>
            </a:xfrm>
            <a:custGeom>
              <a:avLst/>
              <a:gdLst/>
              <a:ahLst/>
              <a:cxnLst/>
              <a:rect r="r" b="b" t="t" l="l"/>
              <a:pathLst>
                <a:path h="610616" w="1470152">
                  <a:moveTo>
                    <a:pt x="0" y="305308"/>
                  </a:moveTo>
                  <a:cubicBezTo>
                    <a:pt x="0" y="136652"/>
                    <a:pt x="136652" y="0"/>
                    <a:pt x="305308" y="0"/>
                  </a:cubicBezTo>
                  <a:lnTo>
                    <a:pt x="1164844" y="0"/>
                  </a:lnTo>
                  <a:cubicBezTo>
                    <a:pt x="1333500" y="0"/>
                    <a:pt x="1470152" y="136652"/>
                    <a:pt x="1470152" y="305308"/>
                  </a:cubicBezTo>
                  <a:cubicBezTo>
                    <a:pt x="1470152" y="473964"/>
                    <a:pt x="1333500" y="610616"/>
                    <a:pt x="1164844" y="610616"/>
                  </a:cubicBezTo>
                  <a:lnTo>
                    <a:pt x="305308" y="610616"/>
                  </a:lnTo>
                  <a:cubicBezTo>
                    <a:pt x="136652" y="610616"/>
                    <a:pt x="0" y="473964"/>
                    <a:pt x="0" y="305308"/>
                  </a:cubicBezTo>
                  <a:close/>
                </a:path>
              </a:pathLst>
            </a:custGeom>
            <a:solidFill>
              <a:srgbClr val="13294A"/>
            </a:solidFill>
            <a:ln w="19050" cap="sq">
              <a:solidFill>
                <a:srgbClr val="FF4B5C"/>
              </a:solidFill>
              <a:prstDash val="solid"/>
              <a:miter/>
            </a:ln>
          </p:spPr>
        </p:sp>
      </p:grpSp>
      <p:grpSp>
        <p:nvGrpSpPr>
          <p:cNvPr name="Group 89" id="89"/>
          <p:cNvGrpSpPr/>
          <p:nvPr/>
        </p:nvGrpSpPr>
        <p:grpSpPr>
          <a:xfrm rot="0">
            <a:off x="12550140" y="6145040"/>
            <a:ext cx="1083564" cy="466344"/>
            <a:chOff x="0" y="0"/>
            <a:chExt cx="1444752" cy="621792"/>
          </a:xfrm>
        </p:grpSpPr>
        <p:sp>
          <p:nvSpPr>
            <p:cNvPr name="Freeform 90" id="90"/>
            <p:cNvSpPr/>
            <p:nvPr/>
          </p:nvSpPr>
          <p:spPr>
            <a:xfrm flipH="false" flipV="false" rot="0">
              <a:off x="0" y="0"/>
              <a:ext cx="1444752" cy="621792"/>
            </a:xfrm>
            <a:custGeom>
              <a:avLst/>
              <a:gdLst/>
              <a:ahLst/>
              <a:cxnLst/>
              <a:rect r="r" b="b" t="t" l="l"/>
              <a:pathLst>
                <a:path h="621792" w="1444752">
                  <a:moveTo>
                    <a:pt x="0" y="0"/>
                  </a:moveTo>
                  <a:lnTo>
                    <a:pt x="1444752" y="0"/>
                  </a:lnTo>
                  <a:lnTo>
                    <a:pt x="1444752" y="621792"/>
                  </a:lnTo>
                  <a:lnTo>
                    <a:pt x="0" y="621792"/>
                  </a:lnTo>
                  <a:close/>
                </a:path>
              </a:pathLst>
            </a:custGeom>
            <a:blipFill>
              <a:blip r:embed="rId2">
                <a:alphaModFix amt="0"/>
              </a:blip>
              <a:stretch>
                <a:fillRect l="-5219" t="0" r="-5219" b="0"/>
              </a:stretch>
            </a:blipFill>
          </p:spPr>
        </p:sp>
        <p:sp>
          <p:nvSpPr>
            <p:cNvPr name="TextBox 91" id="91"/>
            <p:cNvSpPr txBox="true"/>
            <p:nvPr/>
          </p:nvSpPr>
          <p:spPr>
            <a:xfrm>
              <a:off x="0" y="-38100"/>
              <a:ext cx="1444752" cy="659892"/>
            </a:xfrm>
            <a:prstGeom prst="rect">
              <a:avLst/>
            </a:prstGeom>
          </p:spPr>
          <p:txBody>
            <a:bodyPr anchor="ctr" rtlCol="false" tIns="0" lIns="0" bIns="0" rIns="0"/>
            <a:lstStyle/>
            <a:p>
              <a:pPr algn="ctr">
                <a:lnSpc>
                  <a:spcPts val="1800"/>
                </a:lnSpc>
              </a:pPr>
              <a:r>
                <a:rPr lang="en-US" sz="1500" b="true">
                  <a:solidFill>
                    <a:srgbClr val="FF4B5C"/>
                  </a:solidFill>
                  <a:latin typeface="Calibri (MS) Bold"/>
                  <a:ea typeface="Calibri (MS) Bold"/>
                  <a:cs typeface="Calibri (MS) Bold"/>
                  <a:sym typeface="Calibri (MS) Bold"/>
                </a:rPr>
                <a:t>Attack</a:t>
              </a:r>
            </a:p>
          </p:txBody>
        </p:sp>
      </p:grpSp>
      <p:grpSp>
        <p:nvGrpSpPr>
          <p:cNvPr name="Group 92" id="92"/>
          <p:cNvGrpSpPr/>
          <p:nvPr/>
        </p:nvGrpSpPr>
        <p:grpSpPr>
          <a:xfrm rot="0">
            <a:off x="14259877" y="6291154"/>
            <a:ext cx="2752725" cy="256413"/>
            <a:chOff x="0" y="0"/>
            <a:chExt cx="3670300" cy="341884"/>
          </a:xfrm>
        </p:grpSpPr>
        <p:sp>
          <p:nvSpPr>
            <p:cNvPr name="Freeform 93" id="93"/>
            <p:cNvSpPr/>
            <p:nvPr/>
          </p:nvSpPr>
          <p:spPr>
            <a:xfrm flipH="false" flipV="false" rot="0">
              <a:off x="0" y="0"/>
              <a:ext cx="3670300" cy="341884"/>
            </a:xfrm>
            <a:custGeom>
              <a:avLst/>
              <a:gdLst/>
              <a:ahLst/>
              <a:cxnLst/>
              <a:rect r="r" b="b" t="t" l="l"/>
              <a:pathLst>
                <a:path h="341884" w="3670300">
                  <a:moveTo>
                    <a:pt x="0" y="170942"/>
                  </a:moveTo>
                  <a:cubicBezTo>
                    <a:pt x="0" y="76581"/>
                    <a:pt x="76581" y="0"/>
                    <a:pt x="170942" y="0"/>
                  </a:cubicBezTo>
                  <a:lnTo>
                    <a:pt x="3499358" y="0"/>
                  </a:lnTo>
                  <a:cubicBezTo>
                    <a:pt x="3593719" y="0"/>
                    <a:pt x="3670300" y="76581"/>
                    <a:pt x="3670300" y="170942"/>
                  </a:cubicBezTo>
                  <a:cubicBezTo>
                    <a:pt x="3670300" y="265303"/>
                    <a:pt x="3593719" y="341884"/>
                    <a:pt x="3499358" y="341884"/>
                  </a:cubicBezTo>
                  <a:lnTo>
                    <a:pt x="170942" y="341884"/>
                  </a:lnTo>
                  <a:cubicBezTo>
                    <a:pt x="76581" y="341884"/>
                    <a:pt x="0" y="265303"/>
                    <a:pt x="0" y="170942"/>
                  </a:cubicBezTo>
                  <a:close/>
                </a:path>
              </a:pathLst>
            </a:custGeom>
            <a:solidFill>
              <a:srgbClr val="0F2038"/>
            </a:solidFill>
            <a:ln w="9525" cap="sq">
              <a:solidFill>
                <a:srgbClr val="1E3358"/>
              </a:solidFill>
              <a:prstDash val="solid"/>
              <a:miter/>
            </a:ln>
          </p:spPr>
        </p:sp>
      </p:grpSp>
      <p:grpSp>
        <p:nvGrpSpPr>
          <p:cNvPr name="Group 94" id="94"/>
          <p:cNvGrpSpPr/>
          <p:nvPr/>
        </p:nvGrpSpPr>
        <p:grpSpPr>
          <a:xfrm rot="0">
            <a:off x="14264640" y="6295916"/>
            <a:ext cx="2424989" cy="246888"/>
            <a:chOff x="0" y="0"/>
            <a:chExt cx="3233318" cy="329184"/>
          </a:xfrm>
        </p:grpSpPr>
        <p:sp>
          <p:nvSpPr>
            <p:cNvPr name="Freeform 95" id="95"/>
            <p:cNvSpPr/>
            <p:nvPr/>
          </p:nvSpPr>
          <p:spPr>
            <a:xfrm flipH="false" flipV="false" rot="0">
              <a:off x="0" y="0"/>
              <a:ext cx="3233293" cy="329184"/>
            </a:xfrm>
            <a:custGeom>
              <a:avLst/>
              <a:gdLst/>
              <a:ahLst/>
              <a:cxnLst/>
              <a:rect r="r" b="b" t="t" l="l"/>
              <a:pathLst>
                <a:path h="329184" w="3233293">
                  <a:moveTo>
                    <a:pt x="0" y="164592"/>
                  </a:moveTo>
                  <a:cubicBezTo>
                    <a:pt x="0" y="73660"/>
                    <a:pt x="73660" y="0"/>
                    <a:pt x="164592" y="0"/>
                  </a:cubicBezTo>
                  <a:lnTo>
                    <a:pt x="3068701" y="0"/>
                  </a:lnTo>
                  <a:cubicBezTo>
                    <a:pt x="3159633" y="0"/>
                    <a:pt x="3233293" y="73660"/>
                    <a:pt x="3233293" y="164592"/>
                  </a:cubicBezTo>
                  <a:cubicBezTo>
                    <a:pt x="3233293" y="255524"/>
                    <a:pt x="3159633" y="329184"/>
                    <a:pt x="3068701" y="329184"/>
                  </a:cubicBezTo>
                  <a:lnTo>
                    <a:pt x="164592" y="329184"/>
                  </a:lnTo>
                  <a:cubicBezTo>
                    <a:pt x="73660" y="329184"/>
                    <a:pt x="0" y="255524"/>
                    <a:pt x="0" y="164592"/>
                  </a:cubicBezTo>
                  <a:close/>
                </a:path>
              </a:pathLst>
            </a:custGeom>
            <a:solidFill>
              <a:srgbClr val="FF4B5C"/>
            </a:solidFill>
          </p:spPr>
        </p:sp>
      </p:grpSp>
      <p:grpSp>
        <p:nvGrpSpPr>
          <p:cNvPr name="Group 96" id="96"/>
          <p:cNvGrpSpPr/>
          <p:nvPr/>
        </p:nvGrpSpPr>
        <p:grpSpPr>
          <a:xfrm rot="0">
            <a:off x="14264640" y="5966732"/>
            <a:ext cx="2743200" cy="342900"/>
            <a:chOff x="0" y="0"/>
            <a:chExt cx="3657600" cy="457200"/>
          </a:xfrm>
        </p:grpSpPr>
        <p:sp>
          <p:nvSpPr>
            <p:cNvPr name="Freeform 97" id="97"/>
            <p:cNvSpPr/>
            <p:nvPr/>
          </p:nvSpPr>
          <p:spPr>
            <a:xfrm flipH="false" flipV="false" rot="0">
              <a:off x="0" y="0"/>
              <a:ext cx="3657600" cy="457200"/>
            </a:xfrm>
            <a:custGeom>
              <a:avLst/>
              <a:gdLst/>
              <a:ahLst/>
              <a:cxnLst/>
              <a:rect r="r" b="b" t="t" l="l"/>
              <a:pathLst>
                <a:path h="457200" w="3657600">
                  <a:moveTo>
                    <a:pt x="0" y="0"/>
                  </a:moveTo>
                  <a:lnTo>
                    <a:pt x="3657600" y="0"/>
                  </a:lnTo>
                  <a:lnTo>
                    <a:pt x="3657600" y="457200"/>
                  </a:lnTo>
                  <a:lnTo>
                    <a:pt x="0" y="457200"/>
                  </a:lnTo>
                  <a:close/>
                </a:path>
              </a:pathLst>
            </a:custGeom>
            <a:blipFill>
              <a:blip r:embed="rId2">
                <a:alphaModFix amt="0"/>
              </a:blip>
              <a:stretch>
                <a:fillRect l="0" t="-105880" r="0" b="-105880"/>
              </a:stretch>
            </a:blipFill>
          </p:spPr>
        </p:sp>
        <p:sp>
          <p:nvSpPr>
            <p:cNvPr name="TextBox 98" id="98"/>
            <p:cNvSpPr txBox="true"/>
            <p:nvPr/>
          </p:nvSpPr>
          <p:spPr>
            <a:xfrm>
              <a:off x="0" y="-28575"/>
              <a:ext cx="3657600" cy="485775"/>
            </a:xfrm>
            <a:prstGeom prst="rect">
              <a:avLst/>
            </a:prstGeom>
          </p:spPr>
          <p:txBody>
            <a:bodyPr anchor="ctr" rtlCol="false" tIns="0" lIns="0" bIns="0" rIns="0"/>
            <a:lstStyle/>
            <a:p>
              <a:pPr algn="r">
                <a:lnSpc>
                  <a:spcPts val="1530"/>
                </a:lnSpc>
              </a:pPr>
              <a:r>
                <a:rPr lang="en-US" sz="1275">
                  <a:solidFill>
                    <a:srgbClr val="9FB0C9"/>
                  </a:solidFill>
                  <a:latin typeface="Calibri (MS)"/>
                  <a:ea typeface="Calibri (MS)"/>
                  <a:cs typeface="Calibri (MS)"/>
                  <a:sym typeface="Calibri (MS)"/>
                </a:rPr>
                <a:t>88.4%</a:t>
              </a:r>
            </a:p>
          </p:txBody>
        </p:sp>
      </p:grpSp>
      <p:grpSp>
        <p:nvGrpSpPr>
          <p:cNvPr name="Group 99" id="99"/>
          <p:cNvGrpSpPr/>
          <p:nvPr/>
        </p:nvGrpSpPr>
        <p:grpSpPr>
          <a:xfrm rot="0">
            <a:off x="16500348" y="9710928"/>
            <a:ext cx="1097280" cy="411480"/>
            <a:chOff x="0" y="0"/>
            <a:chExt cx="1463040" cy="548640"/>
          </a:xfrm>
        </p:grpSpPr>
        <p:sp>
          <p:nvSpPr>
            <p:cNvPr name="Freeform 100" id="100"/>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101" id="101"/>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26 / 32</a:t>
              </a:r>
            </a:p>
          </p:txBody>
        </p:sp>
      </p:grpSp>
      <p:sp>
        <p:nvSpPr>
          <p:cNvPr name="TextBox 102" id="102"/>
          <p:cNvSpPr txBox="true"/>
          <p:nvPr/>
        </p:nvSpPr>
        <p:spPr>
          <a:xfrm rot="0">
            <a:off x="1234440" y="3537775"/>
            <a:ext cx="8229600" cy="2459831"/>
          </a:xfrm>
          <a:prstGeom prst="rect">
            <a:avLst/>
          </a:prstGeom>
        </p:spPr>
        <p:txBody>
          <a:bodyPr anchor="t" rtlCol="false" tIns="0" lIns="0" bIns="0" rIns="0">
            <a:spAutoFit/>
          </a:bodyPr>
          <a:lstStyle/>
          <a:p>
            <a:pPr algn="l" marL="339328" indent="-169664" lvl="1">
              <a:lnSpc>
                <a:spcPts val="3281"/>
              </a:lnSpc>
              <a:buFont typeface="Arial"/>
              <a:buChar char="•"/>
            </a:pPr>
            <a:r>
              <a:rPr lang="en-US" sz="1875">
                <a:solidFill>
                  <a:srgbClr val="9FB0C9"/>
                </a:solidFill>
                <a:latin typeface="Calibri (MS)"/>
                <a:ea typeface="Calibri (MS)"/>
                <a:cs typeface="Calibri (MS)"/>
                <a:sym typeface="Calibri (MS)"/>
              </a:rPr>
              <a:t>I</a:t>
            </a:r>
            <a:r>
              <a:rPr lang="en-US" sz="1875">
                <a:solidFill>
                  <a:srgbClr val="9FB0C9"/>
                </a:solidFill>
                <a:latin typeface="Calibri (MS)"/>
                <a:ea typeface="Calibri (MS)"/>
                <a:cs typeface="Calibri (MS)"/>
                <a:sym typeface="Calibri (MS)"/>
              </a:rPr>
              <a:t>ntégration directe avec l'endpoint /predict/batch</a:t>
            </a:r>
          </a:p>
          <a:p>
            <a:pPr algn="l" marL="339328" indent="-169664" lvl="1">
              <a:lnSpc>
                <a:spcPts val="3281"/>
              </a:lnSpc>
              <a:buFont typeface="Arial"/>
              <a:buChar char="•"/>
            </a:pPr>
            <a:r>
              <a:rPr lang="en-US" sz="1875">
                <a:solidFill>
                  <a:srgbClr val="9FB0C9"/>
                </a:solidFill>
                <a:latin typeface="Calibri (MS)"/>
                <a:ea typeface="Calibri (MS)"/>
                <a:cs typeface="Calibri (MS)"/>
                <a:sym typeface="Calibri (MS)"/>
              </a:rPr>
              <a:t>Téléversement par morceaux (chunking) — 500 enregistrements par requête</a:t>
            </a:r>
          </a:p>
          <a:p>
            <a:pPr algn="l" marL="339328" indent="-169664" lvl="1">
              <a:lnSpc>
                <a:spcPts val="3281"/>
              </a:lnSpc>
              <a:buFont typeface="Arial"/>
              <a:buChar char="•"/>
            </a:pPr>
            <a:r>
              <a:rPr lang="en-US" sz="1875">
                <a:solidFill>
                  <a:srgbClr val="9FB0C9"/>
                </a:solidFill>
                <a:latin typeface="Calibri (MS)"/>
                <a:ea typeface="Calibri (MS)"/>
                <a:cs typeface="Calibri (MS)"/>
                <a:sym typeface="Calibri (MS)"/>
              </a:rPr>
              <a:t>Mises à jour d'état asynchrones avec suivi de la progression en temps réel</a:t>
            </a:r>
          </a:p>
          <a:p>
            <a:pPr algn="l" marL="339328" indent="-169664" lvl="1">
              <a:lnSpc>
                <a:spcPts val="3281"/>
              </a:lnSpc>
              <a:buFont typeface="Arial"/>
              <a:buChar char="•"/>
            </a:pPr>
            <a:r>
              <a:rPr lang="en-US" sz="1875">
                <a:solidFill>
                  <a:srgbClr val="9FB0C9"/>
                </a:solidFill>
                <a:latin typeface="Calibri (MS)"/>
                <a:ea typeface="Calibri (MS)"/>
                <a:cs typeface="Calibri (MS)"/>
                <a:sym typeface="Calibri (MS)"/>
              </a:rPr>
              <a:t>Gestion dégradée des pannes partielles sur les lots (graceful handling)</a:t>
            </a:r>
          </a:p>
          <a:p>
            <a:pPr algn="l" marL="339328" indent="-169664" lvl="1">
              <a:lnSpc>
                <a:spcPts val="3281"/>
              </a:lnSpc>
              <a:buFont typeface="Arial"/>
              <a:buChar char="•"/>
            </a:pPr>
            <a:r>
              <a:rPr lang="en-US" sz="1875">
                <a:solidFill>
                  <a:srgbClr val="9FB0C9"/>
                </a:solidFill>
                <a:latin typeface="Calibri (MS)"/>
                <a:ea typeface="Calibri (MS)"/>
                <a:cs typeface="Calibri (MS)"/>
                <a:sym typeface="Calibri (MS)"/>
              </a:rPr>
              <a:t>Visualisation tabulaire : verdict (label) + score de confiance par enregistrement</a:t>
            </a:r>
          </a:p>
          <a:p>
            <a:pPr algn="l" marL="339328" indent="-169664" lvl="1">
              <a:lnSpc>
                <a:spcPts val="3281"/>
              </a:lnSpc>
              <a:buFont typeface="Arial"/>
              <a:buChar char="•"/>
            </a:pPr>
            <a:r>
              <a:rPr lang="en-US" sz="1875">
                <a:solidFill>
                  <a:srgbClr val="9FB0C9"/>
                </a:solidFill>
                <a:latin typeface="Calibri (MS)"/>
                <a:ea typeface="Calibri (MS)"/>
                <a:cs typeface="Calibri (MS)"/>
                <a:sym typeface="Calibri (MS)"/>
              </a:rPr>
              <a:t>Filtrage par résultat et exportation des données au format CSV</a:t>
            </a:r>
          </a:p>
        </p:txBody>
      </p:sp>
      <p:grpSp>
        <p:nvGrpSpPr>
          <p:cNvPr name="Group 103" id="103"/>
          <p:cNvGrpSpPr/>
          <p:nvPr/>
        </p:nvGrpSpPr>
        <p:grpSpPr>
          <a:xfrm rot="0">
            <a:off x="1171854" y="7481588"/>
            <a:ext cx="15767406" cy="2338033"/>
            <a:chOff x="0" y="0"/>
            <a:chExt cx="54437369" cy="8072120"/>
          </a:xfrm>
        </p:grpSpPr>
        <p:sp>
          <p:nvSpPr>
            <p:cNvPr name="Freeform 104" id="104"/>
            <p:cNvSpPr/>
            <p:nvPr/>
          </p:nvSpPr>
          <p:spPr>
            <a:xfrm flipH="false" flipV="false" rot="0">
              <a:off x="0" y="0"/>
              <a:ext cx="54437372" cy="8072120"/>
            </a:xfrm>
            <a:custGeom>
              <a:avLst/>
              <a:gdLst/>
              <a:ahLst/>
              <a:cxnLst/>
              <a:rect r="r" b="b" t="t" l="l"/>
              <a:pathLst>
                <a:path h="8072120" w="54437372">
                  <a:moveTo>
                    <a:pt x="0" y="146812"/>
                  </a:moveTo>
                  <a:cubicBezTo>
                    <a:pt x="0" y="65659"/>
                    <a:pt x="295507" y="0"/>
                    <a:pt x="660748" y="0"/>
                  </a:cubicBezTo>
                  <a:lnTo>
                    <a:pt x="53776625" y="0"/>
                  </a:lnTo>
                  <a:cubicBezTo>
                    <a:pt x="54141291" y="0"/>
                    <a:pt x="54437372" y="65659"/>
                    <a:pt x="54437372" y="146812"/>
                  </a:cubicBezTo>
                  <a:lnTo>
                    <a:pt x="54437372" y="7925308"/>
                  </a:lnTo>
                  <a:cubicBezTo>
                    <a:pt x="54437372" y="8006334"/>
                    <a:pt x="54141867" y="8072120"/>
                    <a:pt x="53776625" y="8072120"/>
                  </a:cubicBezTo>
                  <a:lnTo>
                    <a:pt x="660748" y="8072120"/>
                  </a:lnTo>
                  <a:cubicBezTo>
                    <a:pt x="295507" y="8072120"/>
                    <a:pt x="0" y="8006461"/>
                    <a:pt x="0" y="7925308"/>
                  </a:cubicBezTo>
                  <a:close/>
                </a:path>
              </a:pathLst>
            </a:custGeom>
            <a:blipFill>
              <a:blip r:embed="rId3"/>
              <a:stretch>
                <a:fillRect l="-972" t="0" r="-972" b="0"/>
              </a:stretch>
            </a:blipFill>
            <a:ln w="19050" cap="sq">
              <a:solidFill>
                <a:srgbClr val="1E3358"/>
              </a:solidFill>
              <a:prstDash val="solid"/>
              <a:miter/>
            </a:ln>
          </p:spPr>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UI &amp; API INTEGRATION</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7</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Abderrahamane Benjoullen — Frontend / Backend</a:t>
              </a:r>
            </a:p>
          </p:txBody>
        </p:sp>
      </p:grpSp>
      <p:grpSp>
        <p:nvGrpSpPr>
          <p:cNvPr name="Group 11" id="11"/>
          <p:cNvGrpSpPr/>
          <p:nvPr/>
        </p:nvGrpSpPr>
        <p:grpSpPr>
          <a:xfrm rot="0">
            <a:off x="822960" y="1069848"/>
            <a:ext cx="16596360" cy="1303020"/>
            <a:chOff x="0" y="0"/>
            <a:chExt cx="22128480" cy="1737360"/>
          </a:xfrm>
        </p:grpSpPr>
        <p:sp>
          <p:nvSpPr>
            <p:cNvPr name="Freeform 12" id="12"/>
            <p:cNvSpPr/>
            <p:nvPr/>
          </p:nvSpPr>
          <p:spPr>
            <a:xfrm flipH="false" flipV="false" rot="0">
              <a:off x="0" y="0"/>
              <a:ext cx="22128480" cy="1737360"/>
            </a:xfrm>
            <a:custGeom>
              <a:avLst/>
              <a:gdLst/>
              <a:ahLst/>
              <a:cxnLst/>
              <a:rect r="r" b="b" t="t" l="l"/>
              <a:pathLst>
                <a:path h="1737360" w="22128480">
                  <a:moveTo>
                    <a:pt x="0" y="0"/>
                  </a:moveTo>
                  <a:lnTo>
                    <a:pt x="22128480" y="0"/>
                  </a:lnTo>
                  <a:lnTo>
                    <a:pt x="22128480" y="1737360"/>
                  </a:lnTo>
                  <a:lnTo>
                    <a:pt x="0" y="1737360"/>
                  </a:lnTo>
                  <a:close/>
                </a:path>
              </a:pathLst>
            </a:custGeom>
            <a:blipFill>
              <a:blip r:embed="rId2">
                <a:alphaModFix amt="0"/>
              </a:blip>
              <a:stretch>
                <a:fillRect l="0" t="-198177" r="0" b="-198177"/>
              </a:stretch>
            </a:blipFill>
          </p:spPr>
        </p:sp>
        <p:sp>
          <p:nvSpPr>
            <p:cNvPr name="TextBox 13" id="13"/>
            <p:cNvSpPr txBox="true"/>
            <p:nvPr/>
          </p:nvSpPr>
          <p:spPr>
            <a:xfrm>
              <a:off x="0" y="-9525"/>
              <a:ext cx="22128480" cy="1746885"/>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Real-Time Security Alerts UI</a:t>
              </a:r>
            </a:p>
          </p:txBody>
        </p:sp>
      </p:grpSp>
      <p:grpSp>
        <p:nvGrpSpPr>
          <p:cNvPr name="Group 14" id="14"/>
          <p:cNvGrpSpPr/>
          <p:nvPr/>
        </p:nvGrpSpPr>
        <p:grpSpPr>
          <a:xfrm rot="0">
            <a:off x="822960" y="2400300"/>
            <a:ext cx="16184880" cy="685800"/>
            <a:chOff x="0" y="0"/>
            <a:chExt cx="21579840" cy="914400"/>
          </a:xfrm>
        </p:grpSpPr>
        <p:sp>
          <p:nvSpPr>
            <p:cNvPr name="Freeform 15" id="15"/>
            <p:cNvSpPr/>
            <p:nvPr/>
          </p:nvSpPr>
          <p:spPr>
            <a:xfrm flipH="false" flipV="false" rot="0">
              <a:off x="0" y="0"/>
              <a:ext cx="21579839" cy="914400"/>
            </a:xfrm>
            <a:custGeom>
              <a:avLst/>
              <a:gdLst/>
              <a:ahLst/>
              <a:cxnLst/>
              <a:rect r="r" b="b" t="t" l="l"/>
              <a:pathLst>
                <a:path h="914400" w="21579839">
                  <a:moveTo>
                    <a:pt x="0" y="0"/>
                  </a:moveTo>
                  <a:lnTo>
                    <a:pt x="21579839" y="0"/>
                  </a:lnTo>
                  <a:lnTo>
                    <a:pt x="21579839" y="914400"/>
                  </a:lnTo>
                  <a:lnTo>
                    <a:pt x="0" y="914400"/>
                  </a:lnTo>
                  <a:close/>
                </a:path>
              </a:pathLst>
            </a:custGeom>
            <a:blipFill>
              <a:blip r:embed="rId2">
                <a:alphaModFix amt="0"/>
              </a:blip>
              <a:stretch>
                <a:fillRect l="0" t="-409846" r="0" b="-409846"/>
              </a:stretch>
            </a:blipFill>
          </p:spPr>
        </p:sp>
        <p:sp>
          <p:nvSpPr>
            <p:cNvPr name="TextBox 16" id="16"/>
            <p:cNvSpPr txBox="true"/>
            <p:nvPr/>
          </p:nvSpPr>
          <p:spPr>
            <a:xfrm>
              <a:off x="0" y="-47625"/>
              <a:ext cx="21579840" cy="962025"/>
            </a:xfrm>
            <a:prstGeom prst="rect">
              <a:avLst/>
            </a:prstGeom>
          </p:spPr>
          <p:txBody>
            <a:bodyPr anchor="ctr" rtlCol="false" tIns="0" lIns="0" bIns="0" rIns="0"/>
            <a:lstStyle/>
            <a:p>
              <a:pPr algn="l">
                <a:lnSpc>
                  <a:spcPts val="2340"/>
                </a:lnSpc>
              </a:pPr>
              <a:r>
                <a:rPr lang="en-US" sz="1950" i="true">
                  <a:solidFill>
                    <a:srgbClr val="9FB0C9"/>
                  </a:solidFill>
                  <a:latin typeface="Calibri (MS) Italics"/>
                  <a:ea typeface="Calibri (MS) Italics"/>
                  <a:cs typeface="Calibri (MS) Italics"/>
                  <a:sym typeface="Calibri (MS) Italics"/>
                </a:rPr>
                <a:t>V</a:t>
              </a:r>
              <a:r>
                <a:rPr lang="en-US" sz="1950" i="true">
                  <a:solidFill>
                    <a:srgbClr val="9FB0C9"/>
                  </a:solidFill>
                  <a:latin typeface="Calibri (MS) Italics"/>
                  <a:ea typeface="Calibri (MS) Italics"/>
                  <a:cs typeface="Calibri (MS) Italics"/>
                  <a:sym typeface="Calibri (MS) Italics"/>
                </a:rPr>
                <a:t>isualisation en direct des détections d'anomalies réseau, conçue pour un tri rapide par les analystes.</a:t>
              </a:r>
            </a:p>
          </p:txBody>
        </p:sp>
      </p:grpSp>
      <p:grpSp>
        <p:nvGrpSpPr>
          <p:cNvPr name="Group 17" id="17"/>
          <p:cNvGrpSpPr/>
          <p:nvPr/>
        </p:nvGrpSpPr>
        <p:grpSpPr>
          <a:xfrm rot="0">
            <a:off x="813435" y="3282315"/>
            <a:ext cx="9757410" cy="5436870"/>
            <a:chOff x="0" y="0"/>
            <a:chExt cx="13009880" cy="7249160"/>
          </a:xfrm>
        </p:grpSpPr>
        <p:sp>
          <p:nvSpPr>
            <p:cNvPr name="Freeform 18" id="18"/>
            <p:cNvSpPr/>
            <p:nvPr/>
          </p:nvSpPr>
          <p:spPr>
            <a:xfrm flipH="false" flipV="false" rot="0">
              <a:off x="0" y="0"/>
              <a:ext cx="13009880" cy="7249160"/>
            </a:xfrm>
            <a:custGeom>
              <a:avLst/>
              <a:gdLst/>
              <a:ahLst/>
              <a:cxnLst/>
              <a:rect r="r" b="b" t="t" l="l"/>
              <a:pathLst>
                <a:path h="7249160" w="13009880">
                  <a:moveTo>
                    <a:pt x="0" y="146812"/>
                  </a:moveTo>
                  <a:cubicBezTo>
                    <a:pt x="0" y="65786"/>
                    <a:pt x="65786" y="0"/>
                    <a:pt x="146812" y="0"/>
                  </a:cubicBezTo>
                  <a:lnTo>
                    <a:pt x="12863068" y="0"/>
                  </a:lnTo>
                  <a:cubicBezTo>
                    <a:pt x="12944094" y="0"/>
                    <a:pt x="13009880" y="65786"/>
                    <a:pt x="13009880" y="146812"/>
                  </a:cubicBezTo>
                  <a:lnTo>
                    <a:pt x="13009880" y="7102348"/>
                  </a:lnTo>
                  <a:cubicBezTo>
                    <a:pt x="13009880" y="7183374"/>
                    <a:pt x="12944094" y="7249160"/>
                    <a:pt x="12863068" y="7249160"/>
                  </a:cubicBezTo>
                  <a:lnTo>
                    <a:pt x="146812" y="7249160"/>
                  </a:lnTo>
                  <a:cubicBezTo>
                    <a:pt x="65786" y="7249160"/>
                    <a:pt x="0" y="7183374"/>
                    <a:pt x="0" y="7102348"/>
                  </a:cubicBezTo>
                  <a:close/>
                </a:path>
              </a:pathLst>
            </a:custGeom>
            <a:solidFill>
              <a:srgbClr val="0F2038"/>
            </a:solidFill>
            <a:ln w="19050" cap="sq">
              <a:solidFill>
                <a:srgbClr val="1E3358"/>
              </a:solidFill>
              <a:prstDash val="solid"/>
              <a:miter/>
            </a:ln>
          </p:spPr>
        </p:sp>
      </p:grpSp>
      <p:grpSp>
        <p:nvGrpSpPr>
          <p:cNvPr name="Group 19" id="19"/>
          <p:cNvGrpSpPr/>
          <p:nvPr/>
        </p:nvGrpSpPr>
        <p:grpSpPr>
          <a:xfrm rot="0">
            <a:off x="1234440" y="3566160"/>
            <a:ext cx="8229600" cy="411480"/>
            <a:chOff x="0" y="0"/>
            <a:chExt cx="10972800" cy="548640"/>
          </a:xfrm>
        </p:grpSpPr>
        <p:sp>
          <p:nvSpPr>
            <p:cNvPr name="Freeform 20" id="20"/>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21" id="21"/>
            <p:cNvSpPr txBox="true"/>
            <p:nvPr/>
          </p:nvSpPr>
          <p:spPr>
            <a:xfrm>
              <a:off x="0" y="-19050"/>
              <a:ext cx="10972800" cy="567690"/>
            </a:xfrm>
            <a:prstGeom prst="rect">
              <a:avLst/>
            </a:prstGeom>
          </p:spPr>
          <p:txBody>
            <a:bodyPr anchor="ctr" rtlCol="false" tIns="0" lIns="0" bIns="0" rIns="0"/>
            <a:lstStyle/>
            <a:p>
              <a:pPr algn="l">
                <a:lnSpc>
                  <a:spcPts val="1889"/>
                </a:lnSpc>
              </a:pPr>
              <a:r>
                <a:rPr lang="en-US" b="true" sz="1575" spc="150">
                  <a:solidFill>
                    <a:srgbClr val="00E5C7"/>
                  </a:solidFill>
                  <a:latin typeface="Calibri (MS) Bold"/>
                  <a:ea typeface="Calibri (MS) Bold"/>
                  <a:cs typeface="Calibri (MS) Bold"/>
                  <a:sym typeface="Calibri (MS) Bold"/>
                </a:rPr>
                <a:t>DETECTIONS LOG</a:t>
              </a:r>
            </a:p>
          </p:txBody>
        </p:sp>
      </p:grpSp>
      <p:grpSp>
        <p:nvGrpSpPr>
          <p:cNvPr name="Group 22" id="22"/>
          <p:cNvGrpSpPr/>
          <p:nvPr/>
        </p:nvGrpSpPr>
        <p:grpSpPr>
          <a:xfrm rot="0">
            <a:off x="1224915" y="4105275"/>
            <a:ext cx="1102614" cy="457962"/>
            <a:chOff x="0" y="0"/>
            <a:chExt cx="1470152" cy="610616"/>
          </a:xfrm>
        </p:grpSpPr>
        <p:sp>
          <p:nvSpPr>
            <p:cNvPr name="Freeform 23" id="23"/>
            <p:cNvSpPr/>
            <p:nvPr/>
          </p:nvSpPr>
          <p:spPr>
            <a:xfrm flipH="false" flipV="false" rot="0">
              <a:off x="0" y="0"/>
              <a:ext cx="1470152" cy="610616"/>
            </a:xfrm>
            <a:custGeom>
              <a:avLst/>
              <a:gdLst/>
              <a:ahLst/>
              <a:cxnLst/>
              <a:rect r="r" b="b" t="t" l="l"/>
              <a:pathLst>
                <a:path h="610616" w="1470152">
                  <a:moveTo>
                    <a:pt x="0" y="305308"/>
                  </a:moveTo>
                  <a:cubicBezTo>
                    <a:pt x="0" y="136652"/>
                    <a:pt x="136652" y="0"/>
                    <a:pt x="305308" y="0"/>
                  </a:cubicBezTo>
                  <a:lnTo>
                    <a:pt x="1164844" y="0"/>
                  </a:lnTo>
                  <a:cubicBezTo>
                    <a:pt x="1333500" y="0"/>
                    <a:pt x="1470152" y="136652"/>
                    <a:pt x="1470152" y="305308"/>
                  </a:cubicBezTo>
                  <a:cubicBezTo>
                    <a:pt x="1470152" y="473964"/>
                    <a:pt x="1333500" y="610616"/>
                    <a:pt x="1164844" y="610616"/>
                  </a:cubicBezTo>
                  <a:lnTo>
                    <a:pt x="305308" y="610616"/>
                  </a:lnTo>
                  <a:cubicBezTo>
                    <a:pt x="136652" y="610616"/>
                    <a:pt x="0" y="473964"/>
                    <a:pt x="0" y="305308"/>
                  </a:cubicBezTo>
                  <a:close/>
                </a:path>
              </a:pathLst>
            </a:custGeom>
            <a:solidFill>
              <a:srgbClr val="13294A"/>
            </a:solidFill>
            <a:ln w="19050" cap="sq">
              <a:solidFill>
                <a:srgbClr val="FF4B5C"/>
              </a:solidFill>
              <a:prstDash val="solid"/>
              <a:miter/>
            </a:ln>
          </p:spPr>
        </p:sp>
      </p:grpSp>
      <p:grpSp>
        <p:nvGrpSpPr>
          <p:cNvPr name="Group 24" id="24"/>
          <p:cNvGrpSpPr/>
          <p:nvPr/>
        </p:nvGrpSpPr>
        <p:grpSpPr>
          <a:xfrm rot="0">
            <a:off x="1234440" y="4101084"/>
            <a:ext cx="1083564" cy="466344"/>
            <a:chOff x="0" y="0"/>
            <a:chExt cx="1444752" cy="621792"/>
          </a:xfrm>
        </p:grpSpPr>
        <p:sp>
          <p:nvSpPr>
            <p:cNvPr name="Freeform 25" id="25"/>
            <p:cNvSpPr/>
            <p:nvPr/>
          </p:nvSpPr>
          <p:spPr>
            <a:xfrm flipH="false" flipV="false" rot="0">
              <a:off x="0" y="0"/>
              <a:ext cx="1444752" cy="621792"/>
            </a:xfrm>
            <a:custGeom>
              <a:avLst/>
              <a:gdLst/>
              <a:ahLst/>
              <a:cxnLst/>
              <a:rect r="r" b="b" t="t" l="l"/>
              <a:pathLst>
                <a:path h="621792" w="1444752">
                  <a:moveTo>
                    <a:pt x="0" y="0"/>
                  </a:moveTo>
                  <a:lnTo>
                    <a:pt x="1444752" y="0"/>
                  </a:lnTo>
                  <a:lnTo>
                    <a:pt x="1444752" y="621792"/>
                  </a:lnTo>
                  <a:lnTo>
                    <a:pt x="0" y="621792"/>
                  </a:lnTo>
                  <a:close/>
                </a:path>
              </a:pathLst>
            </a:custGeom>
            <a:blipFill>
              <a:blip r:embed="rId2">
                <a:alphaModFix amt="0"/>
              </a:blip>
              <a:stretch>
                <a:fillRect l="-5219" t="0" r="-5219" b="0"/>
              </a:stretch>
            </a:blipFill>
          </p:spPr>
        </p:sp>
        <p:sp>
          <p:nvSpPr>
            <p:cNvPr name="TextBox 26" id="26"/>
            <p:cNvSpPr txBox="true"/>
            <p:nvPr/>
          </p:nvSpPr>
          <p:spPr>
            <a:xfrm>
              <a:off x="0" y="-38100"/>
              <a:ext cx="1444752" cy="659892"/>
            </a:xfrm>
            <a:prstGeom prst="rect">
              <a:avLst/>
            </a:prstGeom>
          </p:spPr>
          <p:txBody>
            <a:bodyPr anchor="ctr" rtlCol="false" tIns="0" lIns="0" bIns="0" rIns="0"/>
            <a:lstStyle/>
            <a:p>
              <a:pPr algn="ctr">
                <a:lnSpc>
                  <a:spcPts val="1800"/>
                </a:lnSpc>
              </a:pPr>
              <a:r>
                <a:rPr lang="en-US" sz="1500" b="true">
                  <a:solidFill>
                    <a:srgbClr val="FF4B5C"/>
                  </a:solidFill>
                  <a:latin typeface="Calibri (MS) Bold"/>
                  <a:ea typeface="Calibri (MS) Bold"/>
                  <a:cs typeface="Calibri (MS) Bold"/>
                  <a:sym typeface="Calibri (MS) Bold"/>
                </a:rPr>
                <a:t>Attack</a:t>
              </a:r>
            </a:p>
          </p:txBody>
        </p:sp>
      </p:grpSp>
      <p:grpSp>
        <p:nvGrpSpPr>
          <p:cNvPr name="Group 27" id="27"/>
          <p:cNvGrpSpPr/>
          <p:nvPr/>
        </p:nvGrpSpPr>
        <p:grpSpPr>
          <a:xfrm rot="0">
            <a:off x="3566160" y="4087368"/>
            <a:ext cx="1920240" cy="480060"/>
            <a:chOff x="0" y="0"/>
            <a:chExt cx="2560320" cy="640080"/>
          </a:xfrm>
        </p:grpSpPr>
        <p:sp>
          <p:nvSpPr>
            <p:cNvPr name="Freeform 28" id="28"/>
            <p:cNvSpPr/>
            <p:nvPr/>
          </p:nvSpPr>
          <p:spPr>
            <a:xfrm flipH="false" flipV="false" rot="0">
              <a:off x="0" y="0"/>
              <a:ext cx="2560320" cy="640080"/>
            </a:xfrm>
            <a:custGeom>
              <a:avLst/>
              <a:gdLst/>
              <a:ahLst/>
              <a:cxnLst/>
              <a:rect r="r" b="b" t="t" l="l"/>
              <a:pathLst>
                <a:path h="640080" w="2560320">
                  <a:moveTo>
                    <a:pt x="0" y="0"/>
                  </a:moveTo>
                  <a:lnTo>
                    <a:pt x="2560320" y="0"/>
                  </a:lnTo>
                  <a:lnTo>
                    <a:pt x="2560320" y="640080"/>
                  </a:lnTo>
                  <a:lnTo>
                    <a:pt x="0" y="640080"/>
                  </a:lnTo>
                  <a:close/>
                </a:path>
              </a:pathLst>
            </a:custGeom>
            <a:blipFill>
              <a:blip r:embed="rId2">
                <a:alphaModFix amt="0"/>
              </a:blip>
              <a:stretch>
                <a:fillRect l="0" t="-27940" r="0" b="-27940"/>
              </a:stretch>
            </a:blipFill>
          </p:spPr>
        </p:sp>
        <p:sp>
          <p:nvSpPr>
            <p:cNvPr name="TextBox 29" id="29"/>
            <p:cNvSpPr txBox="true"/>
            <p:nvPr/>
          </p:nvSpPr>
          <p:spPr>
            <a:xfrm>
              <a:off x="0" y="-28575"/>
              <a:ext cx="2560320" cy="668655"/>
            </a:xfrm>
            <a:prstGeom prst="rect">
              <a:avLst/>
            </a:prstGeom>
          </p:spPr>
          <p:txBody>
            <a:bodyPr anchor="ctr" rtlCol="false" tIns="0" lIns="0" bIns="0" rIns="0"/>
            <a:lstStyle/>
            <a:p>
              <a:pPr algn="l">
                <a:lnSpc>
                  <a:spcPts val="1980"/>
                </a:lnSpc>
              </a:pPr>
              <a:r>
                <a:rPr lang="en-US" sz="1650">
                  <a:solidFill>
                    <a:srgbClr val="FFFFFF"/>
                  </a:solidFill>
                  <a:latin typeface="Calibri (MS)"/>
                  <a:ea typeface="Calibri (MS)"/>
                  <a:cs typeface="Calibri (MS)"/>
                  <a:sym typeface="Calibri (MS)"/>
                </a:rPr>
                <a:t>100.0%</a:t>
              </a:r>
            </a:p>
          </p:txBody>
        </p:sp>
      </p:grpSp>
      <p:grpSp>
        <p:nvGrpSpPr>
          <p:cNvPr name="Group 30" id="30"/>
          <p:cNvGrpSpPr/>
          <p:nvPr/>
        </p:nvGrpSpPr>
        <p:grpSpPr>
          <a:xfrm rot="0">
            <a:off x="8229600" y="4087368"/>
            <a:ext cx="2057400" cy="480060"/>
            <a:chOff x="0" y="0"/>
            <a:chExt cx="2743200" cy="640080"/>
          </a:xfrm>
        </p:grpSpPr>
        <p:sp>
          <p:nvSpPr>
            <p:cNvPr name="Freeform 31" id="31"/>
            <p:cNvSpPr/>
            <p:nvPr/>
          </p:nvSpPr>
          <p:spPr>
            <a:xfrm flipH="false" flipV="false" rot="0">
              <a:off x="0" y="0"/>
              <a:ext cx="2743200" cy="640080"/>
            </a:xfrm>
            <a:custGeom>
              <a:avLst/>
              <a:gdLst/>
              <a:ahLst/>
              <a:cxnLst/>
              <a:rect r="r" b="b" t="t" l="l"/>
              <a:pathLst>
                <a:path h="640080" w="2743200">
                  <a:moveTo>
                    <a:pt x="0" y="0"/>
                  </a:moveTo>
                  <a:lnTo>
                    <a:pt x="2743200" y="0"/>
                  </a:lnTo>
                  <a:lnTo>
                    <a:pt x="2743200" y="640080"/>
                  </a:lnTo>
                  <a:lnTo>
                    <a:pt x="0" y="640080"/>
                  </a:lnTo>
                  <a:close/>
                </a:path>
              </a:pathLst>
            </a:custGeom>
            <a:blipFill>
              <a:blip r:embed="rId2">
                <a:alphaModFix amt="0"/>
              </a:blip>
              <a:stretch>
                <a:fillRect l="0" t="-33507" r="0" b="-33507"/>
              </a:stretch>
            </a:blipFill>
          </p:spPr>
        </p:sp>
        <p:sp>
          <p:nvSpPr>
            <p:cNvPr name="TextBox 32" id="32"/>
            <p:cNvSpPr txBox="true"/>
            <p:nvPr/>
          </p:nvSpPr>
          <p:spPr>
            <a:xfrm>
              <a:off x="0" y="-38100"/>
              <a:ext cx="2743200" cy="678180"/>
            </a:xfrm>
            <a:prstGeom prst="rect">
              <a:avLst/>
            </a:prstGeom>
          </p:spPr>
          <p:txBody>
            <a:bodyPr anchor="ctr" rtlCol="false" tIns="0" lIns="0" bIns="0" rIns="0"/>
            <a:lstStyle/>
            <a:p>
              <a:pPr algn="r">
                <a:lnSpc>
                  <a:spcPts val="1800"/>
                </a:lnSpc>
              </a:pPr>
              <a:r>
                <a:rPr lang="en-US" sz="1500">
                  <a:solidFill>
                    <a:srgbClr val="6E84A6"/>
                  </a:solidFill>
                  <a:latin typeface="Calibri (MS)"/>
                  <a:ea typeface="Calibri (MS)"/>
                  <a:cs typeface="Calibri (MS)"/>
                  <a:sym typeface="Calibri (MS)"/>
                </a:rPr>
                <a:t>2s ago</a:t>
              </a:r>
            </a:p>
          </p:txBody>
        </p:sp>
      </p:grpSp>
      <p:grpSp>
        <p:nvGrpSpPr>
          <p:cNvPr name="Group 33" id="33"/>
          <p:cNvGrpSpPr/>
          <p:nvPr/>
        </p:nvGrpSpPr>
        <p:grpSpPr>
          <a:xfrm rot="0">
            <a:off x="1224915" y="4928235"/>
            <a:ext cx="1102614" cy="457962"/>
            <a:chOff x="0" y="0"/>
            <a:chExt cx="1470152" cy="610616"/>
          </a:xfrm>
        </p:grpSpPr>
        <p:sp>
          <p:nvSpPr>
            <p:cNvPr name="Freeform 34" id="34"/>
            <p:cNvSpPr/>
            <p:nvPr/>
          </p:nvSpPr>
          <p:spPr>
            <a:xfrm flipH="false" flipV="false" rot="0">
              <a:off x="0" y="0"/>
              <a:ext cx="1470152" cy="610616"/>
            </a:xfrm>
            <a:custGeom>
              <a:avLst/>
              <a:gdLst/>
              <a:ahLst/>
              <a:cxnLst/>
              <a:rect r="r" b="b" t="t" l="l"/>
              <a:pathLst>
                <a:path h="610616" w="1470152">
                  <a:moveTo>
                    <a:pt x="0" y="305308"/>
                  </a:moveTo>
                  <a:cubicBezTo>
                    <a:pt x="0" y="136652"/>
                    <a:pt x="136652" y="0"/>
                    <a:pt x="305308" y="0"/>
                  </a:cubicBezTo>
                  <a:lnTo>
                    <a:pt x="1164844" y="0"/>
                  </a:lnTo>
                  <a:cubicBezTo>
                    <a:pt x="1333500" y="0"/>
                    <a:pt x="1470152" y="136652"/>
                    <a:pt x="1470152" y="305308"/>
                  </a:cubicBezTo>
                  <a:cubicBezTo>
                    <a:pt x="1470152" y="473964"/>
                    <a:pt x="1333500" y="610616"/>
                    <a:pt x="1164844" y="610616"/>
                  </a:cubicBezTo>
                  <a:lnTo>
                    <a:pt x="305308" y="610616"/>
                  </a:lnTo>
                  <a:cubicBezTo>
                    <a:pt x="136652" y="610616"/>
                    <a:pt x="0" y="473964"/>
                    <a:pt x="0" y="305308"/>
                  </a:cubicBezTo>
                  <a:close/>
                </a:path>
              </a:pathLst>
            </a:custGeom>
            <a:solidFill>
              <a:srgbClr val="13294A"/>
            </a:solidFill>
            <a:ln w="19050" cap="sq">
              <a:solidFill>
                <a:srgbClr val="FF4B5C"/>
              </a:solidFill>
              <a:prstDash val="solid"/>
              <a:miter/>
            </a:ln>
          </p:spPr>
        </p:sp>
      </p:grpSp>
      <p:grpSp>
        <p:nvGrpSpPr>
          <p:cNvPr name="Group 35" id="35"/>
          <p:cNvGrpSpPr/>
          <p:nvPr/>
        </p:nvGrpSpPr>
        <p:grpSpPr>
          <a:xfrm rot="0">
            <a:off x="1234440" y="4924044"/>
            <a:ext cx="1083564" cy="466344"/>
            <a:chOff x="0" y="0"/>
            <a:chExt cx="1444752" cy="621792"/>
          </a:xfrm>
        </p:grpSpPr>
        <p:sp>
          <p:nvSpPr>
            <p:cNvPr name="Freeform 36" id="36"/>
            <p:cNvSpPr/>
            <p:nvPr/>
          </p:nvSpPr>
          <p:spPr>
            <a:xfrm flipH="false" flipV="false" rot="0">
              <a:off x="0" y="0"/>
              <a:ext cx="1444752" cy="621792"/>
            </a:xfrm>
            <a:custGeom>
              <a:avLst/>
              <a:gdLst/>
              <a:ahLst/>
              <a:cxnLst/>
              <a:rect r="r" b="b" t="t" l="l"/>
              <a:pathLst>
                <a:path h="621792" w="1444752">
                  <a:moveTo>
                    <a:pt x="0" y="0"/>
                  </a:moveTo>
                  <a:lnTo>
                    <a:pt x="1444752" y="0"/>
                  </a:lnTo>
                  <a:lnTo>
                    <a:pt x="1444752" y="621792"/>
                  </a:lnTo>
                  <a:lnTo>
                    <a:pt x="0" y="621792"/>
                  </a:lnTo>
                  <a:close/>
                </a:path>
              </a:pathLst>
            </a:custGeom>
            <a:blipFill>
              <a:blip r:embed="rId2">
                <a:alphaModFix amt="0"/>
              </a:blip>
              <a:stretch>
                <a:fillRect l="-5219" t="0" r="-5219" b="0"/>
              </a:stretch>
            </a:blipFill>
          </p:spPr>
        </p:sp>
        <p:sp>
          <p:nvSpPr>
            <p:cNvPr name="TextBox 37" id="37"/>
            <p:cNvSpPr txBox="true"/>
            <p:nvPr/>
          </p:nvSpPr>
          <p:spPr>
            <a:xfrm>
              <a:off x="0" y="-38100"/>
              <a:ext cx="1444752" cy="659892"/>
            </a:xfrm>
            <a:prstGeom prst="rect">
              <a:avLst/>
            </a:prstGeom>
          </p:spPr>
          <p:txBody>
            <a:bodyPr anchor="ctr" rtlCol="false" tIns="0" lIns="0" bIns="0" rIns="0"/>
            <a:lstStyle/>
            <a:p>
              <a:pPr algn="ctr">
                <a:lnSpc>
                  <a:spcPts val="1800"/>
                </a:lnSpc>
              </a:pPr>
              <a:r>
                <a:rPr lang="en-US" sz="1500" b="true">
                  <a:solidFill>
                    <a:srgbClr val="FF4B5C"/>
                  </a:solidFill>
                  <a:latin typeface="Calibri (MS) Bold"/>
                  <a:ea typeface="Calibri (MS) Bold"/>
                  <a:cs typeface="Calibri (MS) Bold"/>
                  <a:sym typeface="Calibri (MS) Bold"/>
                </a:rPr>
                <a:t>Attack</a:t>
              </a:r>
            </a:p>
          </p:txBody>
        </p:sp>
      </p:grpSp>
      <p:grpSp>
        <p:nvGrpSpPr>
          <p:cNvPr name="Group 38" id="38"/>
          <p:cNvGrpSpPr/>
          <p:nvPr/>
        </p:nvGrpSpPr>
        <p:grpSpPr>
          <a:xfrm rot="0">
            <a:off x="3566160" y="4910328"/>
            <a:ext cx="1920240" cy="480060"/>
            <a:chOff x="0" y="0"/>
            <a:chExt cx="2560320" cy="640080"/>
          </a:xfrm>
        </p:grpSpPr>
        <p:sp>
          <p:nvSpPr>
            <p:cNvPr name="Freeform 39" id="39"/>
            <p:cNvSpPr/>
            <p:nvPr/>
          </p:nvSpPr>
          <p:spPr>
            <a:xfrm flipH="false" flipV="false" rot="0">
              <a:off x="0" y="0"/>
              <a:ext cx="2560320" cy="640080"/>
            </a:xfrm>
            <a:custGeom>
              <a:avLst/>
              <a:gdLst/>
              <a:ahLst/>
              <a:cxnLst/>
              <a:rect r="r" b="b" t="t" l="l"/>
              <a:pathLst>
                <a:path h="640080" w="2560320">
                  <a:moveTo>
                    <a:pt x="0" y="0"/>
                  </a:moveTo>
                  <a:lnTo>
                    <a:pt x="2560320" y="0"/>
                  </a:lnTo>
                  <a:lnTo>
                    <a:pt x="2560320" y="640080"/>
                  </a:lnTo>
                  <a:lnTo>
                    <a:pt x="0" y="640080"/>
                  </a:lnTo>
                  <a:close/>
                </a:path>
              </a:pathLst>
            </a:custGeom>
            <a:blipFill>
              <a:blip r:embed="rId2">
                <a:alphaModFix amt="0"/>
              </a:blip>
              <a:stretch>
                <a:fillRect l="0" t="-27940" r="0" b="-27940"/>
              </a:stretch>
            </a:blipFill>
          </p:spPr>
        </p:sp>
        <p:sp>
          <p:nvSpPr>
            <p:cNvPr name="TextBox 40" id="40"/>
            <p:cNvSpPr txBox="true"/>
            <p:nvPr/>
          </p:nvSpPr>
          <p:spPr>
            <a:xfrm>
              <a:off x="0" y="-28575"/>
              <a:ext cx="2560320" cy="668655"/>
            </a:xfrm>
            <a:prstGeom prst="rect">
              <a:avLst/>
            </a:prstGeom>
          </p:spPr>
          <p:txBody>
            <a:bodyPr anchor="ctr" rtlCol="false" tIns="0" lIns="0" bIns="0" rIns="0"/>
            <a:lstStyle/>
            <a:p>
              <a:pPr algn="l">
                <a:lnSpc>
                  <a:spcPts val="1980"/>
                </a:lnSpc>
              </a:pPr>
              <a:r>
                <a:rPr lang="en-US" sz="1650">
                  <a:solidFill>
                    <a:srgbClr val="FFFFFF"/>
                  </a:solidFill>
                  <a:latin typeface="Calibri (MS)"/>
                  <a:ea typeface="Calibri (MS)"/>
                  <a:cs typeface="Calibri (MS)"/>
                  <a:sym typeface="Calibri (MS)"/>
                </a:rPr>
                <a:t>100.0%</a:t>
              </a:r>
            </a:p>
          </p:txBody>
        </p:sp>
      </p:grpSp>
      <p:grpSp>
        <p:nvGrpSpPr>
          <p:cNvPr name="Group 41" id="41"/>
          <p:cNvGrpSpPr/>
          <p:nvPr/>
        </p:nvGrpSpPr>
        <p:grpSpPr>
          <a:xfrm rot="0">
            <a:off x="8229600" y="4910328"/>
            <a:ext cx="2057400" cy="480060"/>
            <a:chOff x="0" y="0"/>
            <a:chExt cx="2743200" cy="640080"/>
          </a:xfrm>
        </p:grpSpPr>
        <p:sp>
          <p:nvSpPr>
            <p:cNvPr name="Freeform 42" id="42"/>
            <p:cNvSpPr/>
            <p:nvPr/>
          </p:nvSpPr>
          <p:spPr>
            <a:xfrm flipH="false" flipV="false" rot="0">
              <a:off x="0" y="0"/>
              <a:ext cx="2743200" cy="640080"/>
            </a:xfrm>
            <a:custGeom>
              <a:avLst/>
              <a:gdLst/>
              <a:ahLst/>
              <a:cxnLst/>
              <a:rect r="r" b="b" t="t" l="l"/>
              <a:pathLst>
                <a:path h="640080" w="2743200">
                  <a:moveTo>
                    <a:pt x="0" y="0"/>
                  </a:moveTo>
                  <a:lnTo>
                    <a:pt x="2743200" y="0"/>
                  </a:lnTo>
                  <a:lnTo>
                    <a:pt x="2743200" y="640080"/>
                  </a:lnTo>
                  <a:lnTo>
                    <a:pt x="0" y="640080"/>
                  </a:lnTo>
                  <a:close/>
                </a:path>
              </a:pathLst>
            </a:custGeom>
            <a:blipFill>
              <a:blip r:embed="rId2">
                <a:alphaModFix amt="0"/>
              </a:blip>
              <a:stretch>
                <a:fillRect l="0" t="-33507" r="0" b="-33507"/>
              </a:stretch>
            </a:blipFill>
          </p:spPr>
        </p:sp>
        <p:sp>
          <p:nvSpPr>
            <p:cNvPr name="TextBox 43" id="43"/>
            <p:cNvSpPr txBox="true"/>
            <p:nvPr/>
          </p:nvSpPr>
          <p:spPr>
            <a:xfrm>
              <a:off x="0" y="-38100"/>
              <a:ext cx="2743200" cy="678180"/>
            </a:xfrm>
            <a:prstGeom prst="rect">
              <a:avLst/>
            </a:prstGeom>
          </p:spPr>
          <p:txBody>
            <a:bodyPr anchor="ctr" rtlCol="false" tIns="0" lIns="0" bIns="0" rIns="0"/>
            <a:lstStyle/>
            <a:p>
              <a:pPr algn="r">
                <a:lnSpc>
                  <a:spcPts val="1800"/>
                </a:lnSpc>
              </a:pPr>
              <a:r>
                <a:rPr lang="en-US" sz="1500">
                  <a:solidFill>
                    <a:srgbClr val="6E84A6"/>
                  </a:solidFill>
                  <a:latin typeface="Calibri (MS)"/>
                  <a:ea typeface="Calibri (MS)"/>
                  <a:cs typeface="Calibri (MS)"/>
                  <a:sym typeface="Calibri (MS)"/>
                </a:rPr>
                <a:t>3s ago</a:t>
              </a:r>
            </a:p>
          </p:txBody>
        </p:sp>
      </p:grpSp>
      <p:grpSp>
        <p:nvGrpSpPr>
          <p:cNvPr name="Group 44" id="44"/>
          <p:cNvGrpSpPr/>
          <p:nvPr/>
        </p:nvGrpSpPr>
        <p:grpSpPr>
          <a:xfrm rot="0">
            <a:off x="1224915" y="5751195"/>
            <a:ext cx="1102614" cy="457962"/>
            <a:chOff x="0" y="0"/>
            <a:chExt cx="1470152" cy="610616"/>
          </a:xfrm>
        </p:grpSpPr>
        <p:sp>
          <p:nvSpPr>
            <p:cNvPr name="Freeform 45" id="45"/>
            <p:cNvSpPr/>
            <p:nvPr/>
          </p:nvSpPr>
          <p:spPr>
            <a:xfrm flipH="false" flipV="false" rot="0">
              <a:off x="0" y="0"/>
              <a:ext cx="1470152" cy="610616"/>
            </a:xfrm>
            <a:custGeom>
              <a:avLst/>
              <a:gdLst/>
              <a:ahLst/>
              <a:cxnLst/>
              <a:rect r="r" b="b" t="t" l="l"/>
              <a:pathLst>
                <a:path h="610616" w="1470152">
                  <a:moveTo>
                    <a:pt x="0" y="305308"/>
                  </a:moveTo>
                  <a:cubicBezTo>
                    <a:pt x="0" y="136652"/>
                    <a:pt x="136652" y="0"/>
                    <a:pt x="305308" y="0"/>
                  </a:cubicBezTo>
                  <a:lnTo>
                    <a:pt x="1164844" y="0"/>
                  </a:lnTo>
                  <a:cubicBezTo>
                    <a:pt x="1333500" y="0"/>
                    <a:pt x="1470152" y="136652"/>
                    <a:pt x="1470152" y="305308"/>
                  </a:cubicBezTo>
                  <a:cubicBezTo>
                    <a:pt x="1470152" y="473964"/>
                    <a:pt x="1333500" y="610616"/>
                    <a:pt x="1164844" y="610616"/>
                  </a:cubicBezTo>
                  <a:lnTo>
                    <a:pt x="305308" y="610616"/>
                  </a:lnTo>
                  <a:cubicBezTo>
                    <a:pt x="136652" y="610616"/>
                    <a:pt x="0" y="473964"/>
                    <a:pt x="0" y="305308"/>
                  </a:cubicBezTo>
                  <a:close/>
                </a:path>
              </a:pathLst>
            </a:custGeom>
            <a:solidFill>
              <a:srgbClr val="13294A"/>
            </a:solidFill>
            <a:ln w="19050" cap="sq">
              <a:solidFill>
                <a:srgbClr val="FF4B5C"/>
              </a:solidFill>
              <a:prstDash val="solid"/>
              <a:miter/>
            </a:ln>
          </p:spPr>
        </p:sp>
      </p:grpSp>
      <p:grpSp>
        <p:nvGrpSpPr>
          <p:cNvPr name="Group 46" id="46"/>
          <p:cNvGrpSpPr/>
          <p:nvPr/>
        </p:nvGrpSpPr>
        <p:grpSpPr>
          <a:xfrm rot="0">
            <a:off x="1234440" y="5747004"/>
            <a:ext cx="1083564" cy="466344"/>
            <a:chOff x="0" y="0"/>
            <a:chExt cx="1444752" cy="621792"/>
          </a:xfrm>
        </p:grpSpPr>
        <p:sp>
          <p:nvSpPr>
            <p:cNvPr name="Freeform 47" id="47"/>
            <p:cNvSpPr/>
            <p:nvPr/>
          </p:nvSpPr>
          <p:spPr>
            <a:xfrm flipH="false" flipV="false" rot="0">
              <a:off x="0" y="0"/>
              <a:ext cx="1444752" cy="621792"/>
            </a:xfrm>
            <a:custGeom>
              <a:avLst/>
              <a:gdLst/>
              <a:ahLst/>
              <a:cxnLst/>
              <a:rect r="r" b="b" t="t" l="l"/>
              <a:pathLst>
                <a:path h="621792" w="1444752">
                  <a:moveTo>
                    <a:pt x="0" y="0"/>
                  </a:moveTo>
                  <a:lnTo>
                    <a:pt x="1444752" y="0"/>
                  </a:lnTo>
                  <a:lnTo>
                    <a:pt x="1444752" y="621792"/>
                  </a:lnTo>
                  <a:lnTo>
                    <a:pt x="0" y="621792"/>
                  </a:lnTo>
                  <a:close/>
                </a:path>
              </a:pathLst>
            </a:custGeom>
            <a:blipFill>
              <a:blip r:embed="rId2">
                <a:alphaModFix amt="0"/>
              </a:blip>
              <a:stretch>
                <a:fillRect l="-5219" t="0" r="-5219" b="0"/>
              </a:stretch>
            </a:blipFill>
          </p:spPr>
        </p:sp>
        <p:sp>
          <p:nvSpPr>
            <p:cNvPr name="TextBox 48" id="48"/>
            <p:cNvSpPr txBox="true"/>
            <p:nvPr/>
          </p:nvSpPr>
          <p:spPr>
            <a:xfrm>
              <a:off x="0" y="-38100"/>
              <a:ext cx="1444752" cy="659892"/>
            </a:xfrm>
            <a:prstGeom prst="rect">
              <a:avLst/>
            </a:prstGeom>
          </p:spPr>
          <p:txBody>
            <a:bodyPr anchor="ctr" rtlCol="false" tIns="0" lIns="0" bIns="0" rIns="0"/>
            <a:lstStyle/>
            <a:p>
              <a:pPr algn="ctr">
                <a:lnSpc>
                  <a:spcPts val="1800"/>
                </a:lnSpc>
              </a:pPr>
              <a:r>
                <a:rPr lang="en-US" sz="1500" b="true">
                  <a:solidFill>
                    <a:srgbClr val="FF4B5C"/>
                  </a:solidFill>
                  <a:latin typeface="Calibri (MS) Bold"/>
                  <a:ea typeface="Calibri (MS) Bold"/>
                  <a:cs typeface="Calibri (MS) Bold"/>
                  <a:sym typeface="Calibri (MS) Bold"/>
                </a:rPr>
                <a:t>Attack</a:t>
              </a:r>
            </a:p>
          </p:txBody>
        </p:sp>
      </p:grpSp>
      <p:grpSp>
        <p:nvGrpSpPr>
          <p:cNvPr name="Group 49" id="49"/>
          <p:cNvGrpSpPr/>
          <p:nvPr/>
        </p:nvGrpSpPr>
        <p:grpSpPr>
          <a:xfrm rot="0">
            <a:off x="3566160" y="5733288"/>
            <a:ext cx="1920240" cy="480060"/>
            <a:chOff x="0" y="0"/>
            <a:chExt cx="2560320" cy="640080"/>
          </a:xfrm>
        </p:grpSpPr>
        <p:sp>
          <p:nvSpPr>
            <p:cNvPr name="Freeform 50" id="50"/>
            <p:cNvSpPr/>
            <p:nvPr/>
          </p:nvSpPr>
          <p:spPr>
            <a:xfrm flipH="false" flipV="false" rot="0">
              <a:off x="0" y="0"/>
              <a:ext cx="2560320" cy="640080"/>
            </a:xfrm>
            <a:custGeom>
              <a:avLst/>
              <a:gdLst/>
              <a:ahLst/>
              <a:cxnLst/>
              <a:rect r="r" b="b" t="t" l="l"/>
              <a:pathLst>
                <a:path h="640080" w="2560320">
                  <a:moveTo>
                    <a:pt x="0" y="0"/>
                  </a:moveTo>
                  <a:lnTo>
                    <a:pt x="2560320" y="0"/>
                  </a:lnTo>
                  <a:lnTo>
                    <a:pt x="2560320" y="640080"/>
                  </a:lnTo>
                  <a:lnTo>
                    <a:pt x="0" y="640080"/>
                  </a:lnTo>
                  <a:close/>
                </a:path>
              </a:pathLst>
            </a:custGeom>
            <a:blipFill>
              <a:blip r:embed="rId2">
                <a:alphaModFix amt="0"/>
              </a:blip>
              <a:stretch>
                <a:fillRect l="0" t="-27940" r="0" b="-27940"/>
              </a:stretch>
            </a:blipFill>
          </p:spPr>
        </p:sp>
        <p:sp>
          <p:nvSpPr>
            <p:cNvPr name="TextBox 51" id="51"/>
            <p:cNvSpPr txBox="true"/>
            <p:nvPr/>
          </p:nvSpPr>
          <p:spPr>
            <a:xfrm>
              <a:off x="0" y="-28575"/>
              <a:ext cx="2560320" cy="668655"/>
            </a:xfrm>
            <a:prstGeom prst="rect">
              <a:avLst/>
            </a:prstGeom>
          </p:spPr>
          <p:txBody>
            <a:bodyPr anchor="ctr" rtlCol="false" tIns="0" lIns="0" bIns="0" rIns="0"/>
            <a:lstStyle/>
            <a:p>
              <a:pPr algn="l">
                <a:lnSpc>
                  <a:spcPts val="1980"/>
                </a:lnSpc>
              </a:pPr>
              <a:r>
                <a:rPr lang="en-US" sz="1650">
                  <a:solidFill>
                    <a:srgbClr val="FFFFFF"/>
                  </a:solidFill>
                  <a:latin typeface="Calibri (MS)"/>
                  <a:ea typeface="Calibri (MS)"/>
                  <a:cs typeface="Calibri (MS)"/>
                  <a:sym typeface="Calibri (MS)"/>
                </a:rPr>
                <a:t>100.0%</a:t>
              </a:r>
            </a:p>
          </p:txBody>
        </p:sp>
      </p:grpSp>
      <p:grpSp>
        <p:nvGrpSpPr>
          <p:cNvPr name="Group 52" id="52"/>
          <p:cNvGrpSpPr/>
          <p:nvPr/>
        </p:nvGrpSpPr>
        <p:grpSpPr>
          <a:xfrm rot="0">
            <a:off x="8229600" y="5733288"/>
            <a:ext cx="2057400" cy="480060"/>
            <a:chOff x="0" y="0"/>
            <a:chExt cx="2743200" cy="640080"/>
          </a:xfrm>
        </p:grpSpPr>
        <p:sp>
          <p:nvSpPr>
            <p:cNvPr name="Freeform 53" id="53"/>
            <p:cNvSpPr/>
            <p:nvPr/>
          </p:nvSpPr>
          <p:spPr>
            <a:xfrm flipH="false" flipV="false" rot="0">
              <a:off x="0" y="0"/>
              <a:ext cx="2743200" cy="640080"/>
            </a:xfrm>
            <a:custGeom>
              <a:avLst/>
              <a:gdLst/>
              <a:ahLst/>
              <a:cxnLst/>
              <a:rect r="r" b="b" t="t" l="l"/>
              <a:pathLst>
                <a:path h="640080" w="2743200">
                  <a:moveTo>
                    <a:pt x="0" y="0"/>
                  </a:moveTo>
                  <a:lnTo>
                    <a:pt x="2743200" y="0"/>
                  </a:lnTo>
                  <a:lnTo>
                    <a:pt x="2743200" y="640080"/>
                  </a:lnTo>
                  <a:lnTo>
                    <a:pt x="0" y="640080"/>
                  </a:lnTo>
                  <a:close/>
                </a:path>
              </a:pathLst>
            </a:custGeom>
            <a:blipFill>
              <a:blip r:embed="rId2">
                <a:alphaModFix amt="0"/>
              </a:blip>
              <a:stretch>
                <a:fillRect l="0" t="-33507" r="0" b="-33507"/>
              </a:stretch>
            </a:blipFill>
          </p:spPr>
        </p:sp>
        <p:sp>
          <p:nvSpPr>
            <p:cNvPr name="TextBox 54" id="54"/>
            <p:cNvSpPr txBox="true"/>
            <p:nvPr/>
          </p:nvSpPr>
          <p:spPr>
            <a:xfrm>
              <a:off x="0" y="-38100"/>
              <a:ext cx="2743200" cy="678180"/>
            </a:xfrm>
            <a:prstGeom prst="rect">
              <a:avLst/>
            </a:prstGeom>
          </p:spPr>
          <p:txBody>
            <a:bodyPr anchor="ctr" rtlCol="false" tIns="0" lIns="0" bIns="0" rIns="0"/>
            <a:lstStyle/>
            <a:p>
              <a:pPr algn="r">
                <a:lnSpc>
                  <a:spcPts val="1800"/>
                </a:lnSpc>
              </a:pPr>
              <a:r>
                <a:rPr lang="en-US" sz="1500">
                  <a:solidFill>
                    <a:srgbClr val="6E84A6"/>
                  </a:solidFill>
                  <a:latin typeface="Calibri (MS)"/>
                  <a:ea typeface="Calibri (MS)"/>
                  <a:cs typeface="Calibri (MS)"/>
                  <a:sym typeface="Calibri (MS)"/>
                </a:rPr>
                <a:t>3s ago</a:t>
              </a:r>
            </a:p>
          </p:txBody>
        </p:sp>
      </p:grpSp>
      <p:grpSp>
        <p:nvGrpSpPr>
          <p:cNvPr name="Group 55" id="55"/>
          <p:cNvGrpSpPr/>
          <p:nvPr/>
        </p:nvGrpSpPr>
        <p:grpSpPr>
          <a:xfrm rot="0">
            <a:off x="1224915" y="6574155"/>
            <a:ext cx="1102614" cy="457962"/>
            <a:chOff x="0" y="0"/>
            <a:chExt cx="1470152" cy="610616"/>
          </a:xfrm>
        </p:grpSpPr>
        <p:sp>
          <p:nvSpPr>
            <p:cNvPr name="Freeform 56" id="56"/>
            <p:cNvSpPr/>
            <p:nvPr/>
          </p:nvSpPr>
          <p:spPr>
            <a:xfrm flipH="false" flipV="false" rot="0">
              <a:off x="0" y="0"/>
              <a:ext cx="1470152" cy="610616"/>
            </a:xfrm>
            <a:custGeom>
              <a:avLst/>
              <a:gdLst/>
              <a:ahLst/>
              <a:cxnLst/>
              <a:rect r="r" b="b" t="t" l="l"/>
              <a:pathLst>
                <a:path h="610616" w="1470152">
                  <a:moveTo>
                    <a:pt x="0" y="305308"/>
                  </a:moveTo>
                  <a:cubicBezTo>
                    <a:pt x="0" y="136652"/>
                    <a:pt x="136652" y="0"/>
                    <a:pt x="305308" y="0"/>
                  </a:cubicBezTo>
                  <a:lnTo>
                    <a:pt x="1164844" y="0"/>
                  </a:lnTo>
                  <a:cubicBezTo>
                    <a:pt x="1333500" y="0"/>
                    <a:pt x="1470152" y="136652"/>
                    <a:pt x="1470152" y="305308"/>
                  </a:cubicBezTo>
                  <a:cubicBezTo>
                    <a:pt x="1470152" y="473964"/>
                    <a:pt x="1333500" y="610616"/>
                    <a:pt x="1164844" y="610616"/>
                  </a:cubicBezTo>
                  <a:lnTo>
                    <a:pt x="305308" y="610616"/>
                  </a:lnTo>
                  <a:cubicBezTo>
                    <a:pt x="136652" y="610616"/>
                    <a:pt x="0" y="473964"/>
                    <a:pt x="0" y="305308"/>
                  </a:cubicBezTo>
                  <a:close/>
                </a:path>
              </a:pathLst>
            </a:custGeom>
            <a:solidFill>
              <a:srgbClr val="13294A"/>
            </a:solidFill>
            <a:ln w="19050" cap="sq">
              <a:solidFill>
                <a:srgbClr val="FF4B5C"/>
              </a:solidFill>
              <a:prstDash val="solid"/>
              <a:miter/>
            </a:ln>
          </p:spPr>
        </p:sp>
      </p:grpSp>
      <p:grpSp>
        <p:nvGrpSpPr>
          <p:cNvPr name="Group 57" id="57"/>
          <p:cNvGrpSpPr/>
          <p:nvPr/>
        </p:nvGrpSpPr>
        <p:grpSpPr>
          <a:xfrm rot="0">
            <a:off x="1234440" y="6569964"/>
            <a:ext cx="1083564" cy="466344"/>
            <a:chOff x="0" y="0"/>
            <a:chExt cx="1444752" cy="621792"/>
          </a:xfrm>
        </p:grpSpPr>
        <p:sp>
          <p:nvSpPr>
            <p:cNvPr name="Freeform 58" id="58"/>
            <p:cNvSpPr/>
            <p:nvPr/>
          </p:nvSpPr>
          <p:spPr>
            <a:xfrm flipH="false" flipV="false" rot="0">
              <a:off x="0" y="0"/>
              <a:ext cx="1444752" cy="621792"/>
            </a:xfrm>
            <a:custGeom>
              <a:avLst/>
              <a:gdLst/>
              <a:ahLst/>
              <a:cxnLst/>
              <a:rect r="r" b="b" t="t" l="l"/>
              <a:pathLst>
                <a:path h="621792" w="1444752">
                  <a:moveTo>
                    <a:pt x="0" y="0"/>
                  </a:moveTo>
                  <a:lnTo>
                    <a:pt x="1444752" y="0"/>
                  </a:lnTo>
                  <a:lnTo>
                    <a:pt x="1444752" y="621792"/>
                  </a:lnTo>
                  <a:lnTo>
                    <a:pt x="0" y="621792"/>
                  </a:lnTo>
                  <a:close/>
                </a:path>
              </a:pathLst>
            </a:custGeom>
            <a:blipFill>
              <a:blip r:embed="rId2">
                <a:alphaModFix amt="0"/>
              </a:blip>
              <a:stretch>
                <a:fillRect l="-5219" t="0" r="-5219" b="0"/>
              </a:stretch>
            </a:blipFill>
          </p:spPr>
        </p:sp>
        <p:sp>
          <p:nvSpPr>
            <p:cNvPr name="TextBox 59" id="59"/>
            <p:cNvSpPr txBox="true"/>
            <p:nvPr/>
          </p:nvSpPr>
          <p:spPr>
            <a:xfrm>
              <a:off x="0" y="-38100"/>
              <a:ext cx="1444752" cy="659892"/>
            </a:xfrm>
            <a:prstGeom prst="rect">
              <a:avLst/>
            </a:prstGeom>
          </p:spPr>
          <p:txBody>
            <a:bodyPr anchor="ctr" rtlCol="false" tIns="0" lIns="0" bIns="0" rIns="0"/>
            <a:lstStyle/>
            <a:p>
              <a:pPr algn="ctr">
                <a:lnSpc>
                  <a:spcPts val="1800"/>
                </a:lnSpc>
              </a:pPr>
              <a:r>
                <a:rPr lang="en-US" sz="1500" b="true">
                  <a:solidFill>
                    <a:srgbClr val="FF4B5C"/>
                  </a:solidFill>
                  <a:latin typeface="Calibri (MS) Bold"/>
                  <a:ea typeface="Calibri (MS) Bold"/>
                  <a:cs typeface="Calibri (MS) Bold"/>
                  <a:sym typeface="Calibri (MS) Bold"/>
                </a:rPr>
                <a:t>Attack</a:t>
              </a:r>
            </a:p>
          </p:txBody>
        </p:sp>
      </p:grpSp>
      <p:grpSp>
        <p:nvGrpSpPr>
          <p:cNvPr name="Group 60" id="60"/>
          <p:cNvGrpSpPr/>
          <p:nvPr/>
        </p:nvGrpSpPr>
        <p:grpSpPr>
          <a:xfrm rot="0">
            <a:off x="3566160" y="6556248"/>
            <a:ext cx="1920240" cy="480060"/>
            <a:chOff x="0" y="0"/>
            <a:chExt cx="2560320" cy="640080"/>
          </a:xfrm>
        </p:grpSpPr>
        <p:sp>
          <p:nvSpPr>
            <p:cNvPr name="Freeform 61" id="61"/>
            <p:cNvSpPr/>
            <p:nvPr/>
          </p:nvSpPr>
          <p:spPr>
            <a:xfrm flipH="false" flipV="false" rot="0">
              <a:off x="0" y="0"/>
              <a:ext cx="2560320" cy="640080"/>
            </a:xfrm>
            <a:custGeom>
              <a:avLst/>
              <a:gdLst/>
              <a:ahLst/>
              <a:cxnLst/>
              <a:rect r="r" b="b" t="t" l="l"/>
              <a:pathLst>
                <a:path h="640080" w="2560320">
                  <a:moveTo>
                    <a:pt x="0" y="0"/>
                  </a:moveTo>
                  <a:lnTo>
                    <a:pt x="2560320" y="0"/>
                  </a:lnTo>
                  <a:lnTo>
                    <a:pt x="2560320" y="640080"/>
                  </a:lnTo>
                  <a:lnTo>
                    <a:pt x="0" y="640080"/>
                  </a:lnTo>
                  <a:close/>
                </a:path>
              </a:pathLst>
            </a:custGeom>
            <a:blipFill>
              <a:blip r:embed="rId2">
                <a:alphaModFix amt="0"/>
              </a:blip>
              <a:stretch>
                <a:fillRect l="0" t="-27940" r="0" b="-27940"/>
              </a:stretch>
            </a:blipFill>
          </p:spPr>
        </p:sp>
        <p:sp>
          <p:nvSpPr>
            <p:cNvPr name="TextBox 62" id="62"/>
            <p:cNvSpPr txBox="true"/>
            <p:nvPr/>
          </p:nvSpPr>
          <p:spPr>
            <a:xfrm>
              <a:off x="0" y="-28575"/>
              <a:ext cx="2560320" cy="668655"/>
            </a:xfrm>
            <a:prstGeom prst="rect">
              <a:avLst/>
            </a:prstGeom>
          </p:spPr>
          <p:txBody>
            <a:bodyPr anchor="ctr" rtlCol="false" tIns="0" lIns="0" bIns="0" rIns="0"/>
            <a:lstStyle/>
            <a:p>
              <a:pPr algn="l">
                <a:lnSpc>
                  <a:spcPts val="1980"/>
                </a:lnSpc>
              </a:pPr>
              <a:r>
                <a:rPr lang="en-US" sz="1650">
                  <a:solidFill>
                    <a:srgbClr val="FFFFFF"/>
                  </a:solidFill>
                  <a:latin typeface="Calibri (MS)"/>
                  <a:ea typeface="Calibri (MS)"/>
                  <a:cs typeface="Calibri (MS)"/>
                  <a:sym typeface="Calibri (MS)"/>
                </a:rPr>
                <a:t>100.0%</a:t>
              </a:r>
            </a:p>
          </p:txBody>
        </p:sp>
      </p:grpSp>
      <p:grpSp>
        <p:nvGrpSpPr>
          <p:cNvPr name="Group 63" id="63"/>
          <p:cNvGrpSpPr/>
          <p:nvPr/>
        </p:nvGrpSpPr>
        <p:grpSpPr>
          <a:xfrm rot="0">
            <a:off x="8229600" y="6556248"/>
            <a:ext cx="2057400" cy="480060"/>
            <a:chOff x="0" y="0"/>
            <a:chExt cx="2743200" cy="640080"/>
          </a:xfrm>
        </p:grpSpPr>
        <p:sp>
          <p:nvSpPr>
            <p:cNvPr name="Freeform 64" id="64"/>
            <p:cNvSpPr/>
            <p:nvPr/>
          </p:nvSpPr>
          <p:spPr>
            <a:xfrm flipH="false" flipV="false" rot="0">
              <a:off x="0" y="0"/>
              <a:ext cx="2743200" cy="640080"/>
            </a:xfrm>
            <a:custGeom>
              <a:avLst/>
              <a:gdLst/>
              <a:ahLst/>
              <a:cxnLst/>
              <a:rect r="r" b="b" t="t" l="l"/>
              <a:pathLst>
                <a:path h="640080" w="2743200">
                  <a:moveTo>
                    <a:pt x="0" y="0"/>
                  </a:moveTo>
                  <a:lnTo>
                    <a:pt x="2743200" y="0"/>
                  </a:lnTo>
                  <a:lnTo>
                    <a:pt x="2743200" y="640080"/>
                  </a:lnTo>
                  <a:lnTo>
                    <a:pt x="0" y="640080"/>
                  </a:lnTo>
                  <a:close/>
                </a:path>
              </a:pathLst>
            </a:custGeom>
            <a:blipFill>
              <a:blip r:embed="rId2">
                <a:alphaModFix amt="0"/>
              </a:blip>
              <a:stretch>
                <a:fillRect l="0" t="-33507" r="0" b="-33507"/>
              </a:stretch>
            </a:blipFill>
          </p:spPr>
        </p:sp>
        <p:sp>
          <p:nvSpPr>
            <p:cNvPr name="TextBox 65" id="65"/>
            <p:cNvSpPr txBox="true"/>
            <p:nvPr/>
          </p:nvSpPr>
          <p:spPr>
            <a:xfrm>
              <a:off x="0" y="-38100"/>
              <a:ext cx="2743200" cy="678180"/>
            </a:xfrm>
            <a:prstGeom prst="rect">
              <a:avLst/>
            </a:prstGeom>
          </p:spPr>
          <p:txBody>
            <a:bodyPr anchor="ctr" rtlCol="false" tIns="0" lIns="0" bIns="0" rIns="0"/>
            <a:lstStyle/>
            <a:p>
              <a:pPr algn="r">
                <a:lnSpc>
                  <a:spcPts val="1800"/>
                </a:lnSpc>
              </a:pPr>
              <a:r>
                <a:rPr lang="en-US" sz="1500">
                  <a:solidFill>
                    <a:srgbClr val="6E84A6"/>
                  </a:solidFill>
                  <a:latin typeface="Calibri (MS)"/>
                  <a:ea typeface="Calibri (MS)"/>
                  <a:cs typeface="Calibri (MS)"/>
                  <a:sym typeface="Calibri (MS)"/>
                </a:rPr>
                <a:t>5s ago</a:t>
              </a:r>
            </a:p>
          </p:txBody>
        </p:sp>
      </p:grpSp>
      <p:grpSp>
        <p:nvGrpSpPr>
          <p:cNvPr name="Group 66" id="66"/>
          <p:cNvGrpSpPr/>
          <p:nvPr/>
        </p:nvGrpSpPr>
        <p:grpSpPr>
          <a:xfrm rot="0">
            <a:off x="1224915" y="7397115"/>
            <a:ext cx="1102614" cy="457962"/>
            <a:chOff x="0" y="0"/>
            <a:chExt cx="1470152" cy="610616"/>
          </a:xfrm>
        </p:grpSpPr>
        <p:sp>
          <p:nvSpPr>
            <p:cNvPr name="Freeform 67" id="67"/>
            <p:cNvSpPr/>
            <p:nvPr/>
          </p:nvSpPr>
          <p:spPr>
            <a:xfrm flipH="false" flipV="false" rot="0">
              <a:off x="0" y="0"/>
              <a:ext cx="1470152" cy="610616"/>
            </a:xfrm>
            <a:custGeom>
              <a:avLst/>
              <a:gdLst/>
              <a:ahLst/>
              <a:cxnLst/>
              <a:rect r="r" b="b" t="t" l="l"/>
              <a:pathLst>
                <a:path h="610616" w="1470152">
                  <a:moveTo>
                    <a:pt x="0" y="305308"/>
                  </a:moveTo>
                  <a:cubicBezTo>
                    <a:pt x="0" y="136652"/>
                    <a:pt x="136652" y="0"/>
                    <a:pt x="305308" y="0"/>
                  </a:cubicBezTo>
                  <a:lnTo>
                    <a:pt x="1164844" y="0"/>
                  </a:lnTo>
                  <a:cubicBezTo>
                    <a:pt x="1333500" y="0"/>
                    <a:pt x="1470152" y="136652"/>
                    <a:pt x="1470152" y="305308"/>
                  </a:cubicBezTo>
                  <a:cubicBezTo>
                    <a:pt x="1470152" y="473964"/>
                    <a:pt x="1333500" y="610616"/>
                    <a:pt x="1164844" y="610616"/>
                  </a:cubicBezTo>
                  <a:lnTo>
                    <a:pt x="305308" y="610616"/>
                  </a:lnTo>
                  <a:cubicBezTo>
                    <a:pt x="136652" y="610616"/>
                    <a:pt x="0" y="473964"/>
                    <a:pt x="0" y="305308"/>
                  </a:cubicBezTo>
                  <a:close/>
                </a:path>
              </a:pathLst>
            </a:custGeom>
            <a:solidFill>
              <a:srgbClr val="13294A"/>
            </a:solidFill>
            <a:ln w="19050" cap="sq">
              <a:solidFill>
                <a:srgbClr val="FF4B5C"/>
              </a:solidFill>
              <a:prstDash val="solid"/>
              <a:miter/>
            </a:ln>
          </p:spPr>
        </p:sp>
      </p:grpSp>
      <p:grpSp>
        <p:nvGrpSpPr>
          <p:cNvPr name="Group 68" id="68"/>
          <p:cNvGrpSpPr/>
          <p:nvPr/>
        </p:nvGrpSpPr>
        <p:grpSpPr>
          <a:xfrm rot="0">
            <a:off x="1234440" y="7392924"/>
            <a:ext cx="1083564" cy="466344"/>
            <a:chOff x="0" y="0"/>
            <a:chExt cx="1444752" cy="621792"/>
          </a:xfrm>
        </p:grpSpPr>
        <p:sp>
          <p:nvSpPr>
            <p:cNvPr name="Freeform 69" id="69"/>
            <p:cNvSpPr/>
            <p:nvPr/>
          </p:nvSpPr>
          <p:spPr>
            <a:xfrm flipH="false" flipV="false" rot="0">
              <a:off x="0" y="0"/>
              <a:ext cx="1444752" cy="621792"/>
            </a:xfrm>
            <a:custGeom>
              <a:avLst/>
              <a:gdLst/>
              <a:ahLst/>
              <a:cxnLst/>
              <a:rect r="r" b="b" t="t" l="l"/>
              <a:pathLst>
                <a:path h="621792" w="1444752">
                  <a:moveTo>
                    <a:pt x="0" y="0"/>
                  </a:moveTo>
                  <a:lnTo>
                    <a:pt x="1444752" y="0"/>
                  </a:lnTo>
                  <a:lnTo>
                    <a:pt x="1444752" y="621792"/>
                  </a:lnTo>
                  <a:lnTo>
                    <a:pt x="0" y="621792"/>
                  </a:lnTo>
                  <a:close/>
                </a:path>
              </a:pathLst>
            </a:custGeom>
            <a:blipFill>
              <a:blip r:embed="rId2">
                <a:alphaModFix amt="0"/>
              </a:blip>
              <a:stretch>
                <a:fillRect l="-5219" t="0" r="-5219" b="0"/>
              </a:stretch>
            </a:blipFill>
          </p:spPr>
        </p:sp>
        <p:sp>
          <p:nvSpPr>
            <p:cNvPr name="TextBox 70" id="70"/>
            <p:cNvSpPr txBox="true"/>
            <p:nvPr/>
          </p:nvSpPr>
          <p:spPr>
            <a:xfrm>
              <a:off x="0" y="-38100"/>
              <a:ext cx="1444752" cy="659892"/>
            </a:xfrm>
            <a:prstGeom prst="rect">
              <a:avLst/>
            </a:prstGeom>
          </p:spPr>
          <p:txBody>
            <a:bodyPr anchor="ctr" rtlCol="false" tIns="0" lIns="0" bIns="0" rIns="0"/>
            <a:lstStyle/>
            <a:p>
              <a:pPr algn="ctr">
                <a:lnSpc>
                  <a:spcPts val="1800"/>
                </a:lnSpc>
              </a:pPr>
              <a:r>
                <a:rPr lang="en-US" sz="1500" b="true">
                  <a:solidFill>
                    <a:srgbClr val="FF4B5C"/>
                  </a:solidFill>
                  <a:latin typeface="Calibri (MS) Bold"/>
                  <a:ea typeface="Calibri (MS) Bold"/>
                  <a:cs typeface="Calibri (MS) Bold"/>
                  <a:sym typeface="Calibri (MS) Bold"/>
                </a:rPr>
                <a:t>Attack</a:t>
              </a:r>
            </a:p>
          </p:txBody>
        </p:sp>
      </p:grpSp>
      <p:grpSp>
        <p:nvGrpSpPr>
          <p:cNvPr name="Group 71" id="71"/>
          <p:cNvGrpSpPr/>
          <p:nvPr/>
        </p:nvGrpSpPr>
        <p:grpSpPr>
          <a:xfrm rot="0">
            <a:off x="3566160" y="7379208"/>
            <a:ext cx="1920240" cy="480060"/>
            <a:chOff x="0" y="0"/>
            <a:chExt cx="2560320" cy="640080"/>
          </a:xfrm>
        </p:grpSpPr>
        <p:sp>
          <p:nvSpPr>
            <p:cNvPr name="Freeform 72" id="72"/>
            <p:cNvSpPr/>
            <p:nvPr/>
          </p:nvSpPr>
          <p:spPr>
            <a:xfrm flipH="false" flipV="false" rot="0">
              <a:off x="0" y="0"/>
              <a:ext cx="2560320" cy="640080"/>
            </a:xfrm>
            <a:custGeom>
              <a:avLst/>
              <a:gdLst/>
              <a:ahLst/>
              <a:cxnLst/>
              <a:rect r="r" b="b" t="t" l="l"/>
              <a:pathLst>
                <a:path h="640080" w="2560320">
                  <a:moveTo>
                    <a:pt x="0" y="0"/>
                  </a:moveTo>
                  <a:lnTo>
                    <a:pt x="2560320" y="0"/>
                  </a:lnTo>
                  <a:lnTo>
                    <a:pt x="2560320" y="640080"/>
                  </a:lnTo>
                  <a:lnTo>
                    <a:pt x="0" y="640080"/>
                  </a:lnTo>
                  <a:close/>
                </a:path>
              </a:pathLst>
            </a:custGeom>
            <a:blipFill>
              <a:blip r:embed="rId2">
                <a:alphaModFix amt="0"/>
              </a:blip>
              <a:stretch>
                <a:fillRect l="0" t="-27940" r="0" b="-27940"/>
              </a:stretch>
            </a:blipFill>
          </p:spPr>
        </p:sp>
        <p:sp>
          <p:nvSpPr>
            <p:cNvPr name="TextBox 73" id="73"/>
            <p:cNvSpPr txBox="true"/>
            <p:nvPr/>
          </p:nvSpPr>
          <p:spPr>
            <a:xfrm>
              <a:off x="0" y="-28575"/>
              <a:ext cx="2560320" cy="668655"/>
            </a:xfrm>
            <a:prstGeom prst="rect">
              <a:avLst/>
            </a:prstGeom>
          </p:spPr>
          <p:txBody>
            <a:bodyPr anchor="ctr" rtlCol="false" tIns="0" lIns="0" bIns="0" rIns="0"/>
            <a:lstStyle/>
            <a:p>
              <a:pPr algn="l">
                <a:lnSpc>
                  <a:spcPts val="1980"/>
                </a:lnSpc>
              </a:pPr>
              <a:r>
                <a:rPr lang="en-US" sz="1650">
                  <a:solidFill>
                    <a:srgbClr val="FFFFFF"/>
                  </a:solidFill>
                  <a:latin typeface="Calibri (MS)"/>
                  <a:ea typeface="Calibri (MS)"/>
                  <a:cs typeface="Calibri (MS)"/>
                  <a:sym typeface="Calibri (MS)"/>
                </a:rPr>
                <a:t>100.0%</a:t>
              </a:r>
            </a:p>
          </p:txBody>
        </p:sp>
      </p:grpSp>
      <p:grpSp>
        <p:nvGrpSpPr>
          <p:cNvPr name="Group 74" id="74"/>
          <p:cNvGrpSpPr/>
          <p:nvPr/>
        </p:nvGrpSpPr>
        <p:grpSpPr>
          <a:xfrm rot="0">
            <a:off x="8229600" y="7379208"/>
            <a:ext cx="2057400" cy="480060"/>
            <a:chOff x="0" y="0"/>
            <a:chExt cx="2743200" cy="640080"/>
          </a:xfrm>
        </p:grpSpPr>
        <p:sp>
          <p:nvSpPr>
            <p:cNvPr name="Freeform 75" id="75"/>
            <p:cNvSpPr/>
            <p:nvPr/>
          </p:nvSpPr>
          <p:spPr>
            <a:xfrm flipH="false" flipV="false" rot="0">
              <a:off x="0" y="0"/>
              <a:ext cx="2743200" cy="640080"/>
            </a:xfrm>
            <a:custGeom>
              <a:avLst/>
              <a:gdLst/>
              <a:ahLst/>
              <a:cxnLst/>
              <a:rect r="r" b="b" t="t" l="l"/>
              <a:pathLst>
                <a:path h="640080" w="2743200">
                  <a:moveTo>
                    <a:pt x="0" y="0"/>
                  </a:moveTo>
                  <a:lnTo>
                    <a:pt x="2743200" y="0"/>
                  </a:lnTo>
                  <a:lnTo>
                    <a:pt x="2743200" y="640080"/>
                  </a:lnTo>
                  <a:lnTo>
                    <a:pt x="0" y="640080"/>
                  </a:lnTo>
                  <a:close/>
                </a:path>
              </a:pathLst>
            </a:custGeom>
            <a:blipFill>
              <a:blip r:embed="rId2">
                <a:alphaModFix amt="0"/>
              </a:blip>
              <a:stretch>
                <a:fillRect l="0" t="-33507" r="0" b="-33507"/>
              </a:stretch>
            </a:blipFill>
          </p:spPr>
        </p:sp>
        <p:sp>
          <p:nvSpPr>
            <p:cNvPr name="TextBox 76" id="76"/>
            <p:cNvSpPr txBox="true"/>
            <p:nvPr/>
          </p:nvSpPr>
          <p:spPr>
            <a:xfrm>
              <a:off x="0" y="-38100"/>
              <a:ext cx="2743200" cy="678180"/>
            </a:xfrm>
            <a:prstGeom prst="rect">
              <a:avLst/>
            </a:prstGeom>
          </p:spPr>
          <p:txBody>
            <a:bodyPr anchor="ctr" rtlCol="false" tIns="0" lIns="0" bIns="0" rIns="0"/>
            <a:lstStyle/>
            <a:p>
              <a:pPr algn="r">
                <a:lnSpc>
                  <a:spcPts val="1800"/>
                </a:lnSpc>
              </a:pPr>
              <a:r>
                <a:rPr lang="en-US" sz="1500">
                  <a:solidFill>
                    <a:srgbClr val="6E84A6"/>
                  </a:solidFill>
                  <a:latin typeface="Calibri (MS)"/>
                  <a:ea typeface="Calibri (MS)"/>
                  <a:cs typeface="Calibri (MS)"/>
                  <a:sym typeface="Calibri (MS)"/>
                </a:rPr>
                <a:t>10s ago</a:t>
              </a:r>
            </a:p>
          </p:txBody>
        </p:sp>
      </p:grpSp>
      <p:grpSp>
        <p:nvGrpSpPr>
          <p:cNvPr name="Group 77" id="77"/>
          <p:cNvGrpSpPr/>
          <p:nvPr/>
        </p:nvGrpSpPr>
        <p:grpSpPr>
          <a:xfrm rot="0">
            <a:off x="10894695" y="3282315"/>
            <a:ext cx="6602730" cy="5436870"/>
            <a:chOff x="0" y="0"/>
            <a:chExt cx="8803640" cy="7249160"/>
          </a:xfrm>
        </p:grpSpPr>
        <p:sp>
          <p:nvSpPr>
            <p:cNvPr name="Freeform 78" id="78"/>
            <p:cNvSpPr/>
            <p:nvPr/>
          </p:nvSpPr>
          <p:spPr>
            <a:xfrm flipH="false" flipV="false" rot="0">
              <a:off x="0" y="0"/>
              <a:ext cx="8803640" cy="7249160"/>
            </a:xfrm>
            <a:custGeom>
              <a:avLst/>
              <a:gdLst/>
              <a:ahLst/>
              <a:cxnLst/>
              <a:rect r="r" b="b" t="t" l="l"/>
              <a:pathLst>
                <a:path h="7249160" w="8803640">
                  <a:moveTo>
                    <a:pt x="0" y="146812"/>
                  </a:moveTo>
                  <a:cubicBezTo>
                    <a:pt x="0" y="65786"/>
                    <a:pt x="65786" y="0"/>
                    <a:pt x="146812" y="0"/>
                  </a:cubicBezTo>
                  <a:lnTo>
                    <a:pt x="8656828" y="0"/>
                  </a:lnTo>
                  <a:cubicBezTo>
                    <a:pt x="8737854" y="0"/>
                    <a:pt x="8803640" y="65786"/>
                    <a:pt x="8803640" y="146812"/>
                  </a:cubicBezTo>
                  <a:lnTo>
                    <a:pt x="8803640" y="7102348"/>
                  </a:lnTo>
                  <a:cubicBezTo>
                    <a:pt x="8803640" y="7183374"/>
                    <a:pt x="8737854" y="7249160"/>
                    <a:pt x="8656828" y="7249160"/>
                  </a:cubicBezTo>
                  <a:lnTo>
                    <a:pt x="146812" y="7249160"/>
                  </a:lnTo>
                  <a:cubicBezTo>
                    <a:pt x="65786" y="7249160"/>
                    <a:pt x="0" y="7183374"/>
                    <a:pt x="0" y="7102348"/>
                  </a:cubicBezTo>
                  <a:close/>
                </a:path>
              </a:pathLst>
            </a:custGeom>
            <a:solidFill>
              <a:srgbClr val="13294A"/>
            </a:solidFill>
            <a:ln w="19050" cap="sq">
              <a:solidFill>
                <a:srgbClr val="1E3358"/>
              </a:solidFill>
              <a:prstDash val="solid"/>
              <a:miter/>
            </a:ln>
          </p:spPr>
        </p:sp>
      </p:grpSp>
      <p:grpSp>
        <p:nvGrpSpPr>
          <p:cNvPr name="Group 79" id="79"/>
          <p:cNvGrpSpPr/>
          <p:nvPr/>
        </p:nvGrpSpPr>
        <p:grpSpPr>
          <a:xfrm rot="0">
            <a:off x="11315700" y="3566160"/>
            <a:ext cx="5760720" cy="411480"/>
            <a:chOff x="0" y="0"/>
            <a:chExt cx="7680960" cy="548640"/>
          </a:xfrm>
        </p:grpSpPr>
        <p:sp>
          <p:nvSpPr>
            <p:cNvPr name="Freeform 80" id="80"/>
            <p:cNvSpPr/>
            <p:nvPr/>
          </p:nvSpPr>
          <p:spPr>
            <a:xfrm flipH="false" flipV="false" rot="0">
              <a:off x="0" y="0"/>
              <a:ext cx="7680960" cy="548640"/>
            </a:xfrm>
            <a:custGeom>
              <a:avLst/>
              <a:gdLst/>
              <a:ahLst/>
              <a:cxnLst/>
              <a:rect r="r" b="b" t="t" l="l"/>
              <a:pathLst>
                <a:path h="548640" w="7680960">
                  <a:moveTo>
                    <a:pt x="0" y="0"/>
                  </a:moveTo>
                  <a:lnTo>
                    <a:pt x="7680960" y="0"/>
                  </a:lnTo>
                  <a:lnTo>
                    <a:pt x="7680960" y="548640"/>
                  </a:lnTo>
                  <a:lnTo>
                    <a:pt x="0" y="548640"/>
                  </a:lnTo>
                  <a:close/>
                </a:path>
              </a:pathLst>
            </a:custGeom>
            <a:blipFill>
              <a:blip r:embed="rId2">
                <a:alphaModFix amt="0"/>
              </a:blip>
              <a:stretch>
                <a:fillRect l="0" t="-222790" r="0" b="-222790"/>
              </a:stretch>
            </a:blipFill>
          </p:spPr>
        </p:sp>
        <p:sp>
          <p:nvSpPr>
            <p:cNvPr name="TextBox 81" id="81"/>
            <p:cNvSpPr txBox="true"/>
            <p:nvPr/>
          </p:nvSpPr>
          <p:spPr>
            <a:xfrm>
              <a:off x="0" y="-19050"/>
              <a:ext cx="7680960" cy="567690"/>
            </a:xfrm>
            <a:prstGeom prst="rect">
              <a:avLst/>
            </a:prstGeom>
          </p:spPr>
          <p:txBody>
            <a:bodyPr anchor="ctr" rtlCol="false" tIns="0" lIns="0" bIns="0" rIns="0"/>
            <a:lstStyle/>
            <a:p>
              <a:pPr algn="l">
                <a:lnSpc>
                  <a:spcPts val="1889"/>
                </a:lnSpc>
              </a:pPr>
              <a:r>
                <a:rPr lang="en-US" b="true" sz="1575" spc="150">
                  <a:solidFill>
                    <a:srgbClr val="00E5C7"/>
                  </a:solidFill>
                  <a:latin typeface="Calibri (MS) Bold"/>
                  <a:ea typeface="Calibri (MS) Bold"/>
                  <a:cs typeface="Calibri (MS) Bold"/>
                  <a:sym typeface="Calibri (MS) Bold"/>
                </a:rPr>
                <a:t>DESIGN FEATURES</a:t>
              </a:r>
            </a:p>
          </p:txBody>
        </p:sp>
      </p:grpSp>
      <p:sp>
        <p:nvSpPr>
          <p:cNvPr name="TextBox 82" id="82"/>
          <p:cNvSpPr txBox="true"/>
          <p:nvPr/>
        </p:nvSpPr>
        <p:spPr>
          <a:xfrm rot="0">
            <a:off x="11315700" y="4048125"/>
            <a:ext cx="5760720" cy="2180082"/>
          </a:xfrm>
          <a:prstGeom prst="rect">
            <a:avLst/>
          </a:prstGeom>
        </p:spPr>
        <p:txBody>
          <a:bodyPr anchor="t" rtlCol="false" tIns="0" lIns="0" bIns="0" rIns="0">
            <a:spAutoFit/>
          </a:bodyPr>
          <a:lstStyle/>
          <a:p>
            <a:pPr algn="l" marL="325755" indent="-162878" lvl="1">
              <a:lnSpc>
                <a:spcPts val="2483"/>
              </a:lnSpc>
              <a:buFont typeface="Arial"/>
              <a:buChar char="•"/>
            </a:pPr>
            <a:r>
              <a:rPr lang="en-US" sz="1800">
                <a:solidFill>
                  <a:srgbClr val="9FB0C9"/>
                </a:solidFill>
                <a:latin typeface="Calibri (MS)"/>
                <a:ea typeface="Calibri (MS)"/>
                <a:cs typeface="Calibri (MS)"/>
                <a:sym typeface="Calibri (MS)"/>
              </a:rPr>
              <a:t>Cod</a:t>
            </a:r>
            <a:r>
              <a:rPr lang="en-US" sz="1800">
                <a:solidFill>
                  <a:srgbClr val="9FB0C9"/>
                </a:solidFill>
                <a:latin typeface="Calibri (MS)"/>
                <a:ea typeface="Calibri (MS)"/>
                <a:cs typeface="Calibri (MS)"/>
                <a:sym typeface="Calibri (MS)"/>
              </a:rPr>
              <a:t>e couleur par niveau de sévérité pour un tri visuel instantané</a:t>
            </a:r>
          </a:p>
          <a:p>
            <a:pPr algn="l" marL="325755" indent="-162878" lvl="1">
              <a:lnSpc>
                <a:spcPts val="2483"/>
              </a:lnSpc>
              <a:buFont typeface="Arial"/>
              <a:buChar char="•"/>
            </a:pPr>
            <a:r>
              <a:rPr lang="en-US" sz="1800">
                <a:solidFill>
                  <a:srgbClr val="9FB0C9"/>
                </a:solidFill>
                <a:latin typeface="Calibri (MS)"/>
                <a:ea typeface="Calibri (MS)"/>
                <a:cs typeface="Calibri (MS)"/>
                <a:sym typeface="Calibri (MS)"/>
              </a:rPr>
              <a:t>Filtrage par type d'attaque sur l'ensemble du flux en direct</a:t>
            </a:r>
          </a:p>
          <a:p>
            <a:pPr algn="l" marL="325755" indent="-162878" lvl="1">
              <a:lnSpc>
                <a:spcPts val="2483"/>
              </a:lnSpc>
              <a:buFont typeface="Arial"/>
              <a:buChar char="•"/>
            </a:pPr>
            <a:r>
              <a:rPr lang="en-US" sz="1800">
                <a:solidFill>
                  <a:srgbClr val="9FB0C9"/>
                </a:solidFill>
                <a:latin typeface="Calibri (MS)"/>
                <a:ea typeface="Calibri (MS)"/>
                <a:cs typeface="Calibri (MS)"/>
                <a:sym typeface="Calibri (MS)"/>
              </a:rPr>
              <a:t>Cartes métriques résumant les menaces actives en un coup d'œil</a:t>
            </a:r>
          </a:p>
          <a:p>
            <a:pPr algn="l" marL="325755" indent="-162878" lvl="1">
              <a:lnSpc>
                <a:spcPts val="2304"/>
              </a:lnSpc>
              <a:buFont typeface="Arial"/>
              <a:buChar char="•"/>
            </a:pPr>
            <a:r>
              <a:rPr lang="en-US" sz="1800">
                <a:solidFill>
                  <a:srgbClr val="9FB0C9"/>
                </a:solidFill>
                <a:latin typeface="Calibri (MS)"/>
                <a:ea typeface="Calibri (MS)"/>
                <a:cs typeface="Calibri (MS)"/>
                <a:sym typeface="Calibri (MS)"/>
              </a:rPr>
              <a:t>Conception optimisée pour les forts volumes d'alertes et une charge cognitive minimale</a:t>
            </a:r>
          </a:p>
        </p:txBody>
      </p:sp>
      <p:grpSp>
        <p:nvGrpSpPr>
          <p:cNvPr name="Group 83" id="83"/>
          <p:cNvGrpSpPr/>
          <p:nvPr/>
        </p:nvGrpSpPr>
        <p:grpSpPr>
          <a:xfrm rot="0">
            <a:off x="685800" y="9710928"/>
            <a:ext cx="10972800" cy="411480"/>
            <a:chOff x="0" y="0"/>
            <a:chExt cx="14630400" cy="548640"/>
          </a:xfrm>
        </p:grpSpPr>
        <p:sp>
          <p:nvSpPr>
            <p:cNvPr name="Freeform 84" id="8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85" id="85"/>
            <p:cNvSpPr txBox="true"/>
            <p:nvPr/>
          </p:nvSpPr>
          <p:spPr>
            <a:xfrm>
              <a:off x="0" y="-28575"/>
              <a:ext cx="14630400" cy="577215"/>
            </a:xfrm>
            <a:prstGeom prst="rect">
              <a:avLst/>
            </a:prstGeom>
          </p:spPr>
          <p:txBody>
            <a:bodyPr anchor="ctr" rtlCol="false" tIns="0" lIns="0" bIns="0" rIns="0"/>
            <a:lstStyle/>
            <a:p>
              <a:pPr algn="l">
                <a:lnSpc>
                  <a:spcPts val="1620"/>
                </a:lnSpc>
              </a:pPr>
              <a:r>
                <a:rPr lang="en-US" sz="1350" spc="149">
                  <a:solidFill>
                    <a:srgbClr val="6E84A6"/>
                  </a:solidFill>
                  <a:latin typeface="Calibri (MS)"/>
                  <a:ea typeface="Calibri (MS)"/>
                  <a:cs typeface="Calibri (MS)"/>
                  <a:sym typeface="Calibri (MS)"/>
                </a:rPr>
                <a:t>MLSECOPS PLATFORM · UI &amp; API INTEGRATION</a:t>
              </a:r>
            </a:p>
          </p:txBody>
        </p:sp>
      </p:grpSp>
      <p:grpSp>
        <p:nvGrpSpPr>
          <p:cNvPr name="Group 86" id="86"/>
          <p:cNvGrpSpPr/>
          <p:nvPr/>
        </p:nvGrpSpPr>
        <p:grpSpPr>
          <a:xfrm rot="0">
            <a:off x="16500348" y="9710928"/>
            <a:ext cx="1097280" cy="411480"/>
            <a:chOff x="0" y="0"/>
            <a:chExt cx="1463040" cy="548640"/>
          </a:xfrm>
        </p:grpSpPr>
        <p:sp>
          <p:nvSpPr>
            <p:cNvPr name="Freeform 87" id="87"/>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88" id="88"/>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27 / 32</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UI &amp; API INTEGRATION</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7</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Abderrahamane Benjoullen — Frontend / Backend</a:t>
              </a:r>
            </a:p>
          </p:txBody>
        </p:sp>
      </p:grpSp>
      <p:grpSp>
        <p:nvGrpSpPr>
          <p:cNvPr name="Group 11" id="11"/>
          <p:cNvGrpSpPr/>
          <p:nvPr/>
        </p:nvGrpSpPr>
        <p:grpSpPr>
          <a:xfrm rot="0">
            <a:off x="822960" y="1069848"/>
            <a:ext cx="16596360" cy="1303020"/>
            <a:chOff x="0" y="0"/>
            <a:chExt cx="22128480" cy="1737360"/>
          </a:xfrm>
        </p:grpSpPr>
        <p:sp>
          <p:nvSpPr>
            <p:cNvPr name="Freeform 12" id="12"/>
            <p:cNvSpPr/>
            <p:nvPr/>
          </p:nvSpPr>
          <p:spPr>
            <a:xfrm flipH="false" flipV="false" rot="0">
              <a:off x="0" y="0"/>
              <a:ext cx="22128480" cy="1737360"/>
            </a:xfrm>
            <a:custGeom>
              <a:avLst/>
              <a:gdLst/>
              <a:ahLst/>
              <a:cxnLst/>
              <a:rect r="r" b="b" t="t" l="l"/>
              <a:pathLst>
                <a:path h="1737360" w="22128480">
                  <a:moveTo>
                    <a:pt x="0" y="0"/>
                  </a:moveTo>
                  <a:lnTo>
                    <a:pt x="22128480" y="0"/>
                  </a:lnTo>
                  <a:lnTo>
                    <a:pt x="22128480" y="1737360"/>
                  </a:lnTo>
                  <a:lnTo>
                    <a:pt x="0" y="1737360"/>
                  </a:lnTo>
                  <a:close/>
                </a:path>
              </a:pathLst>
            </a:custGeom>
            <a:blipFill>
              <a:blip r:embed="rId2">
                <a:alphaModFix amt="0"/>
              </a:blip>
              <a:stretch>
                <a:fillRect l="0" t="-198177" r="0" b="-198177"/>
              </a:stretch>
            </a:blipFill>
          </p:spPr>
        </p:sp>
        <p:sp>
          <p:nvSpPr>
            <p:cNvPr name="TextBox 13" id="13"/>
            <p:cNvSpPr txBox="true"/>
            <p:nvPr/>
          </p:nvSpPr>
          <p:spPr>
            <a:xfrm>
              <a:off x="0" y="-9525"/>
              <a:ext cx="22128480" cy="1746885"/>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Full-Stack Integration &amp; API Communication</a:t>
              </a:r>
            </a:p>
          </p:txBody>
        </p:sp>
      </p:grpSp>
      <p:grpSp>
        <p:nvGrpSpPr>
          <p:cNvPr name="Group 14" id="14"/>
          <p:cNvGrpSpPr/>
          <p:nvPr/>
        </p:nvGrpSpPr>
        <p:grpSpPr>
          <a:xfrm rot="0">
            <a:off x="813435" y="2870835"/>
            <a:ext cx="16615410" cy="1390650"/>
            <a:chOff x="0" y="0"/>
            <a:chExt cx="22153880" cy="1854200"/>
          </a:xfrm>
        </p:grpSpPr>
        <p:sp>
          <p:nvSpPr>
            <p:cNvPr name="Freeform 15" id="15"/>
            <p:cNvSpPr/>
            <p:nvPr/>
          </p:nvSpPr>
          <p:spPr>
            <a:xfrm flipH="false" flipV="false" rot="0">
              <a:off x="0" y="0"/>
              <a:ext cx="22153880" cy="1854200"/>
            </a:xfrm>
            <a:custGeom>
              <a:avLst/>
              <a:gdLst/>
              <a:ahLst/>
              <a:cxnLst/>
              <a:rect r="r" b="b" t="t" l="l"/>
              <a:pathLst>
                <a:path h="1854200" w="22153880">
                  <a:moveTo>
                    <a:pt x="0" y="148336"/>
                  </a:moveTo>
                  <a:cubicBezTo>
                    <a:pt x="0" y="66421"/>
                    <a:pt x="66421" y="0"/>
                    <a:pt x="148336" y="0"/>
                  </a:cubicBezTo>
                  <a:lnTo>
                    <a:pt x="22005544" y="0"/>
                  </a:lnTo>
                  <a:cubicBezTo>
                    <a:pt x="22087458" y="0"/>
                    <a:pt x="22153880" y="66421"/>
                    <a:pt x="22153880" y="148336"/>
                  </a:cubicBezTo>
                  <a:lnTo>
                    <a:pt x="22153880" y="1705864"/>
                  </a:lnTo>
                  <a:cubicBezTo>
                    <a:pt x="22153880" y="1787779"/>
                    <a:pt x="22087458" y="1854200"/>
                    <a:pt x="22005544" y="1854200"/>
                  </a:cubicBezTo>
                  <a:lnTo>
                    <a:pt x="148336" y="1854200"/>
                  </a:lnTo>
                  <a:cubicBezTo>
                    <a:pt x="66421" y="1854200"/>
                    <a:pt x="0" y="1787779"/>
                    <a:pt x="0" y="1705864"/>
                  </a:cubicBezTo>
                  <a:close/>
                </a:path>
              </a:pathLst>
            </a:custGeom>
            <a:solidFill>
              <a:srgbClr val="0F2038"/>
            </a:solidFill>
            <a:ln w="19050" cap="sq">
              <a:solidFill>
                <a:srgbClr val="1E3358"/>
              </a:solidFill>
              <a:prstDash val="solid"/>
              <a:miter/>
            </a:ln>
          </p:spPr>
        </p:sp>
      </p:grpSp>
      <p:grpSp>
        <p:nvGrpSpPr>
          <p:cNvPr name="Group 16" id="16"/>
          <p:cNvGrpSpPr/>
          <p:nvPr/>
        </p:nvGrpSpPr>
        <p:grpSpPr>
          <a:xfrm rot="0">
            <a:off x="1165860" y="3154680"/>
            <a:ext cx="754380" cy="754380"/>
            <a:chOff x="0" y="0"/>
            <a:chExt cx="1005840" cy="1005840"/>
          </a:xfrm>
        </p:grpSpPr>
        <p:sp>
          <p:nvSpPr>
            <p:cNvPr name="Freeform 17" id="17"/>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4C7CFF"/>
            </a:solidFill>
          </p:spPr>
        </p:sp>
      </p:grpSp>
      <p:grpSp>
        <p:nvGrpSpPr>
          <p:cNvPr name="Group 18" id="18"/>
          <p:cNvGrpSpPr/>
          <p:nvPr/>
        </p:nvGrpSpPr>
        <p:grpSpPr>
          <a:xfrm rot="0">
            <a:off x="1165860" y="3140964"/>
            <a:ext cx="754380" cy="754380"/>
            <a:chOff x="0" y="0"/>
            <a:chExt cx="1005840" cy="1005840"/>
          </a:xfrm>
        </p:grpSpPr>
        <p:sp>
          <p:nvSpPr>
            <p:cNvPr name="Freeform 19" id="19"/>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20" id="20"/>
            <p:cNvSpPr txBox="true"/>
            <p:nvPr/>
          </p:nvSpPr>
          <p:spPr>
            <a:xfrm>
              <a:off x="0" y="-38100"/>
              <a:ext cx="1005840" cy="1043940"/>
            </a:xfrm>
            <a:prstGeom prst="rect">
              <a:avLst/>
            </a:prstGeom>
          </p:spPr>
          <p:txBody>
            <a:bodyPr anchor="ctr" rtlCol="false" tIns="0" lIns="0" bIns="0" rIns="0"/>
            <a:lstStyle/>
            <a:p>
              <a:pPr algn="ctr">
                <a:lnSpc>
                  <a:spcPts val="2574"/>
                </a:lnSpc>
              </a:pPr>
              <a:r>
                <a:rPr lang="en-US" sz="2145" b="true">
                  <a:solidFill>
                    <a:srgbClr val="0A1428"/>
                  </a:solidFill>
                  <a:latin typeface="Calibri (MS) Bold"/>
                  <a:ea typeface="Calibri (MS) Bold"/>
                  <a:cs typeface="Calibri (MS) Bold"/>
                  <a:sym typeface="Calibri (MS) Bold"/>
                </a:rPr>
                <a:t>1</a:t>
              </a:r>
            </a:p>
          </p:txBody>
        </p:sp>
      </p:grpSp>
      <p:grpSp>
        <p:nvGrpSpPr>
          <p:cNvPr name="Group 21" id="21"/>
          <p:cNvGrpSpPr/>
          <p:nvPr/>
        </p:nvGrpSpPr>
        <p:grpSpPr>
          <a:xfrm rot="0">
            <a:off x="2263140" y="3044952"/>
            <a:ext cx="4937760" cy="1028700"/>
            <a:chOff x="0" y="0"/>
            <a:chExt cx="6583680" cy="1371600"/>
          </a:xfrm>
        </p:grpSpPr>
        <p:sp>
          <p:nvSpPr>
            <p:cNvPr name="Freeform 22" id="22"/>
            <p:cNvSpPr/>
            <p:nvPr/>
          </p:nvSpPr>
          <p:spPr>
            <a:xfrm flipH="false" flipV="false" rot="0">
              <a:off x="0" y="0"/>
              <a:ext cx="6583680" cy="1371600"/>
            </a:xfrm>
            <a:custGeom>
              <a:avLst/>
              <a:gdLst/>
              <a:ahLst/>
              <a:cxnLst/>
              <a:rect r="r" b="b" t="t" l="l"/>
              <a:pathLst>
                <a:path h="1371600" w="6583680">
                  <a:moveTo>
                    <a:pt x="0" y="0"/>
                  </a:moveTo>
                  <a:lnTo>
                    <a:pt x="6583680" y="0"/>
                  </a:lnTo>
                  <a:lnTo>
                    <a:pt x="6583680" y="1371600"/>
                  </a:lnTo>
                  <a:lnTo>
                    <a:pt x="0" y="1371600"/>
                  </a:lnTo>
                  <a:close/>
                </a:path>
              </a:pathLst>
            </a:custGeom>
            <a:blipFill>
              <a:blip r:embed="rId2">
                <a:alphaModFix amt="0"/>
              </a:blip>
              <a:stretch>
                <a:fillRect l="0" t="-43528" r="0" b="-43528"/>
              </a:stretch>
            </a:blipFill>
          </p:spPr>
        </p:sp>
        <p:sp>
          <p:nvSpPr>
            <p:cNvPr name="TextBox 23" id="23"/>
            <p:cNvSpPr txBox="true"/>
            <p:nvPr/>
          </p:nvSpPr>
          <p:spPr>
            <a:xfrm>
              <a:off x="0" y="-47625"/>
              <a:ext cx="6583680" cy="1419225"/>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CORS Handling</a:t>
              </a:r>
            </a:p>
          </p:txBody>
        </p:sp>
      </p:grpSp>
      <p:grpSp>
        <p:nvGrpSpPr>
          <p:cNvPr name="Group 24" id="24"/>
          <p:cNvGrpSpPr/>
          <p:nvPr/>
        </p:nvGrpSpPr>
        <p:grpSpPr>
          <a:xfrm rot="0">
            <a:off x="7406640" y="3044952"/>
            <a:ext cx="9669780" cy="1028700"/>
            <a:chOff x="0" y="0"/>
            <a:chExt cx="12893040" cy="1371600"/>
          </a:xfrm>
        </p:grpSpPr>
        <p:sp>
          <p:nvSpPr>
            <p:cNvPr name="Freeform 25" id="25"/>
            <p:cNvSpPr/>
            <p:nvPr/>
          </p:nvSpPr>
          <p:spPr>
            <a:xfrm flipH="false" flipV="false" rot="0">
              <a:off x="0" y="0"/>
              <a:ext cx="12893040" cy="1371600"/>
            </a:xfrm>
            <a:custGeom>
              <a:avLst/>
              <a:gdLst/>
              <a:ahLst/>
              <a:cxnLst/>
              <a:rect r="r" b="b" t="t" l="l"/>
              <a:pathLst>
                <a:path h="1371600" w="12893040">
                  <a:moveTo>
                    <a:pt x="0" y="0"/>
                  </a:moveTo>
                  <a:lnTo>
                    <a:pt x="12893040" y="0"/>
                  </a:lnTo>
                  <a:lnTo>
                    <a:pt x="12893040" y="1371600"/>
                  </a:lnTo>
                  <a:lnTo>
                    <a:pt x="0" y="1371600"/>
                  </a:lnTo>
                  <a:close/>
                </a:path>
              </a:pathLst>
            </a:custGeom>
            <a:blipFill>
              <a:blip r:embed="rId2">
                <a:alphaModFix amt="0"/>
              </a:blip>
              <a:stretch>
                <a:fillRect l="0" t="-133159" r="0" b="-133159"/>
              </a:stretch>
            </a:blipFill>
          </p:spPr>
        </p:sp>
        <p:sp>
          <p:nvSpPr>
            <p:cNvPr name="TextBox 26" id="26"/>
            <p:cNvSpPr txBox="true"/>
            <p:nvPr/>
          </p:nvSpPr>
          <p:spPr>
            <a:xfrm>
              <a:off x="0" y="-28575"/>
              <a:ext cx="12893040" cy="140017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R</a:t>
              </a:r>
              <a:r>
                <a:rPr lang="en-US" sz="1650">
                  <a:solidFill>
                    <a:srgbClr val="9FB0C9"/>
                  </a:solidFill>
                  <a:latin typeface="Calibri (MS)"/>
                  <a:ea typeface="Calibri (MS)"/>
                  <a:cs typeface="Calibri (MS)"/>
                  <a:sym typeface="Calibri (MS)"/>
                </a:rPr>
                <a:t>estriction des origines par le backend à localhost:5173 / localhost:3000 — aucun accès inter-origine arbitraire</a:t>
              </a:r>
            </a:p>
          </p:txBody>
        </p:sp>
      </p:grpSp>
      <p:grpSp>
        <p:nvGrpSpPr>
          <p:cNvPr name="Group 27" id="27"/>
          <p:cNvGrpSpPr/>
          <p:nvPr/>
        </p:nvGrpSpPr>
        <p:grpSpPr>
          <a:xfrm rot="0">
            <a:off x="813435" y="4420743"/>
            <a:ext cx="16615410" cy="1390650"/>
            <a:chOff x="0" y="0"/>
            <a:chExt cx="22153880" cy="1854200"/>
          </a:xfrm>
        </p:grpSpPr>
        <p:sp>
          <p:nvSpPr>
            <p:cNvPr name="Freeform 28" id="28"/>
            <p:cNvSpPr/>
            <p:nvPr/>
          </p:nvSpPr>
          <p:spPr>
            <a:xfrm flipH="false" flipV="false" rot="0">
              <a:off x="0" y="0"/>
              <a:ext cx="22153880" cy="1854200"/>
            </a:xfrm>
            <a:custGeom>
              <a:avLst/>
              <a:gdLst/>
              <a:ahLst/>
              <a:cxnLst/>
              <a:rect r="r" b="b" t="t" l="l"/>
              <a:pathLst>
                <a:path h="1854200" w="22153880">
                  <a:moveTo>
                    <a:pt x="0" y="148336"/>
                  </a:moveTo>
                  <a:cubicBezTo>
                    <a:pt x="0" y="66421"/>
                    <a:pt x="66421" y="0"/>
                    <a:pt x="148336" y="0"/>
                  </a:cubicBezTo>
                  <a:lnTo>
                    <a:pt x="22005544" y="0"/>
                  </a:lnTo>
                  <a:cubicBezTo>
                    <a:pt x="22087458" y="0"/>
                    <a:pt x="22153880" y="66421"/>
                    <a:pt x="22153880" y="148336"/>
                  </a:cubicBezTo>
                  <a:lnTo>
                    <a:pt x="22153880" y="1705864"/>
                  </a:lnTo>
                  <a:cubicBezTo>
                    <a:pt x="22153880" y="1787779"/>
                    <a:pt x="22087458" y="1854200"/>
                    <a:pt x="22005544" y="1854200"/>
                  </a:cubicBezTo>
                  <a:lnTo>
                    <a:pt x="148336" y="1854200"/>
                  </a:lnTo>
                  <a:cubicBezTo>
                    <a:pt x="66421" y="1854200"/>
                    <a:pt x="0" y="1787779"/>
                    <a:pt x="0" y="1705864"/>
                  </a:cubicBezTo>
                  <a:close/>
                </a:path>
              </a:pathLst>
            </a:custGeom>
            <a:solidFill>
              <a:srgbClr val="0F2038"/>
            </a:solidFill>
            <a:ln w="19050" cap="sq">
              <a:solidFill>
                <a:srgbClr val="1E3358"/>
              </a:solidFill>
              <a:prstDash val="solid"/>
              <a:miter/>
            </a:ln>
          </p:spPr>
        </p:sp>
      </p:grpSp>
      <p:grpSp>
        <p:nvGrpSpPr>
          <p:cNvPr name="Group 29" id="29"/>
          <p:cNvGrpSpPr/>
          <p:nvPr/>
        </p:nvGrpSpPr>
        <p:grpSpPr>
          <a:xfrm rot="0">
            <a:off x="1165860" y="4704588"/>
            <a:ext cx="754380" cy="754380"/>
            <a:chOff x="0" y="0"/>
            <a:chExt cx="1005840" cy="1005840"/>
          </a:xfrm>
        </p:grpSpPr>
        <p:sp>
          <p:nvSpPr>
            <p:cNvPr name="Freeform 30" id="30"/>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4C7CFF"/>
            </a:solidFill>
          </p:spPr>
        </p:sp>
      </p:grpSp>
      <p:grpSp>
        <p:nvGrpSpPr>
          <p:cNvPr name="Group 31" id="31"/>
          <p:cNvGrpSpPr/>
          <p:nvPr/>
        </p:nvGrpSpPr>
        <p:grpSpPr>
          <a:xfrm rot="0">
            <a:off x="1165860" y="4690872"/>
            <a:ext cx="754380" cy="754380"/>
            <a:chOff x="0" y="0"/>
            <a:chExt cx="1005840" cy="1005840"/>
          </a:xfrm>
        </p:grpSpPr>
        <p:sp>
          <p:nvSpPr>
            <p:cNvPr name="Freeform 32" id="32"/>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33" id="33"/>
            <p:cNvSpPr txBox="true"/>
            <p:nvPr/>
          </p:nvSpPr>
          <p:spPr>
            <a:xfrm>
              <a:off x="0" y="-38100"/>
              <a:ext cx="1005840" cy="1043940"/>
            </a:xfrm>
            <a:prstGeom prst="rect">
              <a:avLst/>
            </a:prstGeom>
          </p:spPr>
          <p:txBody>
            <a:bodyPr anchor="ctr" rtlCol="false" tIns="0" lIns="0" bIns="0" rIns="0"/>
            <a:lstStyle/>
            <a:p>
              <a:pPr algn="ctr">
                <a:lnSpc>
                  <a:spcPts val="2574"/>
                </a:lnSpc>
              </a:pPr>
              <a:r>
                <a:rPr lang="en-US" sz="2145" b="true">
                  <a:solidFill>
                    <a:srgbClr val="0A1428"/>
                  </a:solidFill>
                  <a:latin typeface="Calibri (MS) Bold"/>
                  <a:ea typeface="Calibri (MS) Bold"/>
                  <a:cs typeface="Calibri (MS) Bold"/>
                  <a:sym typeface="Calibri (MS) Bold"/>
                </a:rPr>
                <a:t>2</a:t>
              </a:r>
            </a:p>
          </p:txBody>
        </p:sp>
      </p:grpSp>
      <p:grpSp>
        <p:nvGrpSpPr>
          <p:cNvPr name="Group 34" id="34"/>
          <p:cNvGrpSpPr/>
          <p:nvPr/>
        </p:nvGrpSpPr>
        <p:grpSpPr>
          <a:xfrm rot="0">
            <a:off x="2263140" y="4594860"/>
            <a:ext cx="4937760" cy="1028700"/>
            <a:chOff x="0" y="0"/>
            <a:chExt cx="6583680" cy="1371600"/>
          </a:xfrm>
        </p:grpSpPr>
        <p:sp>
          <p:nvSpPr>
            <p:cNvPr name="Freeform 35" id="35"/>
            <p:cNvSpPr/>
            <p:nvPr/>
          </p:nvSpPr>
          <p:spPr>
            <a:xfrm flipH="false" flipV="false" rot="0">
              <a:off x="0" y="0"/>
              <a:ext cx="6583680" cy="1371600"/>
            </a:xfrm>
            <a:custGeom>
              <a:avLst/>
              <a:gdLst/>
              <a:ahLst/>
              <a:cxnLst/>
              <a:rect r="r" b="b" t="t" l="l"/>
              <a:pathLst>
                <a:path h="1371600" w="6583680">
                  <a:moveTo>
                    <a:pt x="0" y="0"/>
                  </a:moveTo>
                  <a:lnTo>
                    <a:pt x="6583680" y="0"/>
                  </a:lnTo>
                  <a:lnTo>
                    <a:pt x="6583680" y="1371600"/>
                  </a:lnTo>
                  <a:lnTo>
                    <a:pt x="0" y="1371600"/>
                  </a:lnTo>
                  <a:close/>
                </a:path>
              </a:pathLst>
            </a:custGeom>
            <a:blipFill>
              <a:blip r:embed="rId2">
                <a:alphaModFix amt="0"/>
              </a:blip>
              <a:stretch>
                <a:fillRect l="0" t="-43528" r="0" b="-43528"/>
              </a:stretch>
            </a:blipFill>
          </p:spPr>
        </p:sp>
        <p:sp>
          <p:nvSpPr>
            <p:cNvPr name="TextBox 36" id="36"/>
            <p:cNvSpPr txBox="true"/>
            <p:nvPr/>
          </p:nvSpPr>
          <p:spPr>
            <a:xfrm>
              <a:off x="0" y="-47625"/>
              <a:ext cx="6583680" cy="1419225"/>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Request Interceptors</a:t>
              </a:r>
            </a:p>
          </p:txBody>
        </p:sp>
      </p:grpSp>
      <p:grpSp>
        <p:nvGrpSpPr>
          <p:cNvPr name="Group 37" id="37"/>
          <p:cNvGrpSpPr/>
          <p:nvPr/>
        </p:nvGrpSpPr>
        <p:grpSpPr>
          <a:xfrm rot="0">
            <a:off x="7406640" y="4594860"/>
            <a:ext cx="9669780" cy="1028700"/>
            <a:chOff x="0" y="0"/>
            <a:chExt cx="12893040" cy="1371600"/>
          </a:xfrm>
        </p:grpSpPr>
        <p:sp>
          <p:nvSpPr>
            <p:cNvPr name="Freeform 38" id="38"/>
            <p:cNvSpPr/>
            <p:nvPr/>
          </p:nvSpPr>
          <p:spPr>
            <a:xfrm flipH="false" flipV="false" rot="0">
              <a:off x="0" y="0"/>
              <a:ext cx="12893040" cy="1371600"/>
            </a:xfrm>
            <a:custGeom>
              <a:avLst/>
              <a:gdLst/>
              <a:ahLst/>
              <a:cxnLst/>
              <a:rect r="r" b="b" t="t" l="l"/>
              <a:pathLst>
                <a:path h="1371600" w="12893040">
                  <a:moveTo>
                    <a:pt x="0" y="0"/>
                  </a:moveTo>
                  <a:lnTo>
                    <a:pt x="12893040" y="0"/>
                  </a:lnTo>
                  <a:lnTo>
                    <a:pt x="12893040" y="1371600"/>
                  </a:lnTo>
                  <a:lnTo>
                    <a:pt x="0" y="1371600"/>
                  </a:lnTo>
                  <a:close/>
                </a:path>
              </a:pathLst>
            </a:custGeom>
            <a:blipFill>
              <a:blip r:embed="rId2">
                <a:alphaModFix amt="0"/>
              </a:blip>
              <a:stretch>
                <a:fillRect l="0" t="-133159" r="0" b="-133159"/>
              </a:stretch>
            </a:blipFill>
          </p:spPr>
        </p:sp>
        <p:sp>
          <p:nvSpPr>
            <p:cNvPr name="TextBox 39" id="39"/>
            <p:cNvSpPr txBox="true"/>
            <p:nvPr/>
          </p:nvSpPr>
          <p:spPr>
            <a:xfrm>
              <a:off x="0" y="-28575"/>
              <a:ext cx="12893040" cy="140017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Client t</a:t>
              </a:r>
              <a:r>
                <a:rPr lang="en-US" sz="1650">
                  <a:solidFill>
                    <a:srgbClr val="9FB0C9"/>
                  </a:solidFill>
                  <a:latin typeface="Calibri (MS)"/>
                  <a:ea typeface="Calibri (MS)"/>
                  <a:cs typeface="Calibri (MS)"/>
                  <a:sym typeface="Calibri (MS)"/>
                </a:rPr>
                <a:t>ypé apiRequest&lt;T&gt;() centralisant les en-têtes, le parsing JSON et le typage des erreurs</a:t>
              </a:r>
            </a:p>
          </p:txBody>
        </p:sp>
      </p:grpSp>
      <p:grpSp>
        <p:nvGrpSpPr>
          <p:cNvPr name="Group 40" id="40"/>
          <p:cNvGrpSpPr/>
          <p:nvPr/>
        </p:nvGrpSpPr>
        <p:grpSpPr>
          <a:xfrm rot="0">
            <a:off x="813435" y="5970651"/>
            <a:ext cx="16615410" cy="1390650"/>
            <a:chOff x="0" y="0"/>
            <a:chExt cx="22153880" cy="1854200"/>
          </a:xfrm>
        </p:grpSpPr>
        <p:sp>
          <p:nvSpPr>
            <p:cNvPr name="Freeform 41" id="41"/>
            <p:cNvSpPr/>
            <p:nvPr/>
          </p:nvSpPr>
          <p:spPr>
            <a:xfrm flipH="false" flipV="false" rot="0">
              <a:off x="0" y="0"/>
              <a:ext cx="22153880" cy="1854200"/>
            </a:xfrm>
            <a:custGeom>
              <a:avLst/>
              <a:gdLst/>
              <a:ahLst/>
              <a:cxnLst/>
              <a:rect r="r" b="b" t="t" l="l"/>
              <a:pathLst>
                <a:path h="1854200" w="22153880">
                  <a:moveTo>
                    <a:pt x="0" y="148336"/>
                  </a:moveTo>
                  <a:cubicBezTo>
                    <a:pt x="0" y="66421"/>
                    <a:pt x="66421" y="0"/>
                    <a:pt x="148336" y="0"/>
                  </a:cubicBezTo>
                  <a:lnTo>
                    <a:pt x="22005544" y="0"/>
                  </a:lnTo>
                  <a:cubicBezTo>
                    <a:pt x="22087458" y="0"/>
                    <a:pt x="22153880" y="66421"/>
                    <a:pt x="22153880" y="148336"/>
                  </a:cubicBezTo>
                  <a:lnTo>
                    <a:pt x="22153880" y="1705864"/>
                  </a:lnTo>
                  <a:cubicBezTo>
                    <a:pt x="22153880" y="1787779"/>
                    <a:pt x="22087458" y="1854200"/>
                    <a:pt x="22005544" y="1854200"/>
                  </a:cubicBezTo>
                  <a:lnTo>
                    <a:pt x="148336" y="1854200"/>
                  </a:lnTo>
                  <a:cubicBezTo>
                    <a:pt x="66421" y="1854200"/>
                    <a:pt x="0" y="1787779"/>
                    <a:pt x="0" y="1705864"/>
                  </a:cubicBezTo>
                  <a:close/>
                </a:path>
              </a:pathLst>
            </a:custGeom>
            <a:solidFill>
              <a:srgbClr val="0F2038"/>
            </a:solidFill>
            <a:ln w="19050" cap="sq">
              <a:solidFill>
                <a:srgbClr val="1E3358"/>
              </a:solidFill>
              <a:prstDash val="solid"/>
              <a:miter/>
            </a:ln>
          </p:spPr>
        </p:sp>
      </p:grpSp>
      <p:grpSp>
        <p:nvGrpSpPr>
          <p:cNvPr name="Group 42" id="42"/>
          <p:cNvGrpSpPr/>
          <p:nvPr/>
        </p:nvGrpSpPr>
        <p:grpSpPr>
          <a:xfrm rot="0">
            <a:off x="1165860" y="6254496"/>
            <a:ext cx="754380" cy="754380"/>
            <a:chOff x="0" y="0"/>
            <a:chExt cx="1005840" cy="1005840"/>
          </a:xfrm>
        </p:grpSpPr>
        <p:sp>
          <p:nvSpPr>
            <p:cNvPr name="Freeform 43" id="43"/>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4C7CFF"/>
            </a:solidFill>
          </p:spPr>
        </p:sp>
      </p:grpSp>
      <p:grpSp>
        <p:nvGrpSpPr>
          <p:cNvPr name="Group 44" id="44"/>
          <p:cNvGrpSpPr/>
          <p:nvPr/>
        </p:nvGrpSpPr>
        <p:grpSpPr>
          <a:xfrm rot="0">
            <a:off x="1165860" y="6240780"/>
            <a:ext cx="754380" cy="754380"/>
            <a:chOff x="0" y="0"/>
            <a:chExt cx="1005840" cy="1005840"/>
          </a:xfrm>
        </p:grpSpPr>
        <p:sp>
          <p:nvSpPr>
            <p:cNvPr name="Freeform 45" id="45"/>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46" id="46"/>
            <p:cNvSpPr txBox="true"/>
            <p:nvPr/>
          </p:nvSpPr>
          <p:spPr>
            <a:xfrm>
              <a:off x="0" y="-38100"/>
              <a:ext cx="1005840" cy="1043940"/>
            </a:xfrm>
            <a:prstGeom prst="rect">
              <a:avLst/>
            </a:prstGeom>
          </p:spPr>
          <p:txBody>
            <a:bodyPr anchor="ctr" rtlCol="false" tIns="0" lIns="0" bIns="0" rIns="0"/>
            <a:lstStyle/>
            <a:p>
              <a:pPr algn="ctr">
                <a:lnSpc>
                  <a:spcPts val="2574"/>
                </a:lnSpc>
              </a:pPr>
              <a:r>
                <a:rPr lang="en-US" sz="2145" b="true">
                  <a:solidFill>
                    <a:srgbClr val="0A1428"/>
                  </a:solidFill>
                  <a:latin typeface="Calibri (MS) Bold"/>
                  <a:ea typeface="Calibri (MS) Bold"/>
                  <a:cs typeface="Calibri (MS) Bold"/>
                  <a:sym typeface="Calibri (MS) Bold"/>
                </a:rPr>
                <a:t>3</a:t>
              </a:r>
            </a:p>
          </p:txBody>
        </p:sp>
      </p:grpSp>
      <p:grpSp>
        <p:nvGrpSpPr>
          <p:cNvPr name="Group 47" id="47"/>
          <p:cNvGrpSpPr/>
          <p:nvPr/>
        </p:nvGrpSpPr>
        <p:grpSpPr>
          <a:xfrm rot="0">
            <a:off x="2263140" y="6144768"/>
            <a:ext cx="4937760" cy="1028700"/>
            <a:chOff x="0" y="0"/>
            <a:chExt cx="6583680" cy="1371600"/>
          </a:xfrm>
        </p:grpSpPr>
        <p:sp>
          <p:nvSpPr>
            <p:cNvPr name="Freeform 48" id="48"/>
            <p:cNvSpPr/>
            <p:nvPr/>
          </p:nvSpPr>
          <p:spPr>
            <a:xfrm flipH="false" flipV="false" rot="0">
              <a:off x="0" y="0"/>
              <a:ext cx="6583680" cy="1371600"/>
            </a:xfrm>
            <a:custGeom>
              <a:avLst/>
              <a:gdLst/>
              <a:ahLst/>
              <a:cxnLst/>
              <a:rect r="r" b="b" t="t" l="l"/>
              <a:pathLst>
                <a:path h="1371600" w="6583680">
                  <a:moveTo>
                    <a:pt x="0" y="0"/>
                  </a:moveTo>
                  <a:lnTo>
                    <a:pt x="6583680" y="0"/>
                  </a:lnTo>
                  <a:lnTo>
                    <a:pt x="6583680" y="1371600"/>
                  </a:lnTo>
                  <a:lnTo>
                    <a:pt x="0" y="1371600"/>
                  </a:lnTo>
                  <a:close/>
                </a:path>
              </a:pathLst>
            </a:custGeom>
            <a:blipFill>
              <a:blip r:embed="rId2">
                <a:alphaModFix amt="0"/>
              </a:blip>
              <a:stretch>
                <a:fillRect l="0" t="-43528" r="0" b="-43528"/>
              </a:stretch>
            </a:blipFill>
          </p:spPr>
        </p:sp>
        <p:sp>
          <p:nvSpPr>
            <p:cNvPr name="TextBox 49" id="49"/>
            <p:cNvSpPr txBox="true"/>
            <p:nvPr/>
          </p:nvSpPr>
          <p:spPr>
            <a:xfrm>
              <a:off x="0" y="-47625"/>
              <a:ext cx="6583680" cy="1419225"/>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Client-Side Caching</a:t>
              </a:r>
            </a:p>
          </p:txBody>
        </p:sp>
      </p:grpSp>
      <p:grpSp>
        <p:nvGrpSpPr>
          <p:cNvPr name="Group 50" id="50"/>
          <p:cNvGrpSpPr/>
          <p:nvPr/>
        </p:nvGrpSpPr>
        <p:grpSpPr>
          <a:xfrm rot="0">
            <a:off x="7406640" y="6144768"/>
            <a:ext cx="9669780" cy="1028700"/>
            <a:chOff x="0" y="0"/>
            <a:chExt cx="12893040" cy="1371600"/>
          </a:xfrm>
        </p:grpSpPr>
        <p:sp>
          <p:nvSpPr>
            <p:cNvPr name="Freeform 51" id="51"/>
            <p:cNvSpPr/>
            <p:nvPr/>
          </p:nvSpPr>
          <p:spPr>
            <a:xfrm flipH="false" flipV="false" rot="0">
              <a:off x="0" y="0"/>
              <a:ext cx="12893040" cy="1371600"/>
            </a:xfrm>
            <a:custGeom>
              <a:avLst/>
              <a:gdLst/>
              <a:ahLst/>
              <a:cxnLst/>
              <a:rect r="r" b="b" t="t" l="l"/>
              <a:pathLst>
                <a:path h="1371600" w="12893040">
                  <a:moveTo>
                    <a:pt x="0" y="0"/>
                  </a:moveTo>
                  <a:lnTo>
                    <a:pt x="12893040" y="0"/>
                  </a:lnTo>
                  <a:lnTo>
                    <a:pt x="12893040" y="1371600"/>
                  </a:lnTo>
                  <a:lnTo>
                    <a:pt x="0" y="1371600"/>
                  </a:lnTo>
                  <a:close/>
                </a:path>
              </a:pathLst>
            </a:custGeom>
            <a:blipFill>
              <a:blip r:embed="rId2">
                <a:alphaModFix amt="0"/>
              </a:blip>
              <a:stretch>
                <a:fillRect l="0" t="-133159" r="0" b="-133159"/>
              </a:stretch>
            </a:blipFill>
          </p:spPr>
        </p:sp>
        <p:sp>
          <p:nvSpPr>
            <p:cNvPr name="TextBox 52" id="52"/>
            <p:cNvSpPr txBox="true"/>
            <p:nvPr/>
          </p:nvSpPr>
          <p:spPr>
            <a:xfrm>
              <a:off x="0" y="-28575"/>
              <a:ext cx="12893040" cy="140017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URL de base de l'API c</a:t>
              </a:r>
              <a:r>
                <a:rPr lang="en-US" sz="1650">
                  <a:solidFill>
                    <a:srgbClr val="9FB0C9"/>
                  </a:solidFill>
                  <a:latin typeface="Calibri (MS)"/>
                  <a:ea typeface="Calibri (MS)"/>
                  <a:cs typeface="Calibri (MS)"/>
                  <a:sym typeface="Calibri (MS)"/>
                </a:rPr>
                <a:t>onfigurable, stockée côté client et modifiable depuis les Paramètres</a:t>
              </a:r>
            </a:p>
          </p:txBody>
        </p:sp>
      </p:grpSp>
      <p:grpSp>
        <p:nvGrpSpPr>
          <p:cNvPr name="Group 53" id="53"/>
          <p:cNvGrpSpPr/>
          <p:nvPr/>
        </p:nvGrpSpPr>
        <p:grpSpPr>
          <a:xfrm rot="0">
            <a:off x="813435" y="7520559"/>
            <a:ext cx="16615410" cy="1390650"/>
            <a:chOff x="0" y="0"/>
            <a:chExt cx="22153880" cy="1854200"/>
          </a:xfrm>
        </p:grpSpPr>
        <p:sp>
          <p:nvSpPr>
            <p:cNvPr name="Freeform 54" id="54"/>
            <p:cNvSpPr/>
            <p:nvPr/>
          </p:nvSpPr>
          <p:spPr>
            <a:xfrm flipH="false" flipV="false" rot="0">
              <a:off x="0" y="0"/>
              <a:ext cx="22153880" cy="1854200"/>
            </a:xfrm>
            <a:custGeom>
              <a:avLst/>
              <a:gdLst/>
              <a:ahLst/>
              <a:cxnLst/>
              <a:rect r="r" b="b" t="t" l="l"/>
              <a:pathLst>
                <a:path h="1854200" w="22153880">
                  <a:moveTo>
                    <a:pt x="0" y="148336"/>
                  </a:moveTo>
                  <a:cubicBezTo>
                    <a:pt x="0" y="66421"/>
                    <a:pt x="66421" y="0"/>
                    <a:pt x="148336" y="0"/>
                  </a:cubicBezTo>
                  <a:lnTo>
                    <a:pt x="22005544" y="0"/>
                  </a:lnTo>
                  <a:cubicBezTo>
                    <a:pt x="22087458" y="0"/>
                    <a:pt x="22153880" y="66421"/>
                    <a:pt x="22153880" y="148336"/>
                  </a:cubicBezTo>
                  <a:lnTo>
                    <a:pt x="22153880" y="1705864"/>
                  </a:lnTo>
                  <a:cubicBezTo>
                    <a:pt x="22153880" y="1787779"/>
                    <a:pt x="22087458" y="1854200"/>
                    <a:pt x="22005544" y="1854200"/>
                  </a:cubicBezTo>
                  <a:lnTo>
                    <a:pt x="148336" y="1854200"/>
                  </a:lnTo>
                  <a:cubicBezTo>
                    <a:pt x="66421" y="1854200"/>
                    <a:pt x="0" y="1787779"/>
                    <a:pt x="0" y="1705864"/>
                  </a:cubicBezTo>
                  <a:close/>
                </a:path>
              </a:pathLst>
            </a:custGeom>
            <a:solidFill>
              <a:srgbClr val="0F2038"/>
            </a:solidFill>
            <a:ln w="19050" cap="sq">
              <a:solidFill>
                <a:srgbClr val="1E3358"/>
              </a:solidFill>
              <a:prstDash val="solid"/>
              <a:miter/>
            </a:ln>
          </p:spPr>
        </p:sp>
      </p:grpSp>
      <p:grpSp>
        <p:nvGrpSpPr>
          <p:cNvPr name="Group 55" id="55"/>
          <p:cNvGrpSpPr/>
          <p:nvPr/>
        </p:nvGrpSpPr>
        <p:grpSpPr>
          <a:xfrm rot="0">
            <a:off x="1165860" y="7804404"/>
            <a:ext cx="754380" cy="754380"/>
            <a:chOff x="0" y="0"/>
            <a:chExt cx="1005840" cy="1005840"/>
          </a:xfrm>
        </p:grpSpPr>
        <p:sp>
          <p:nvSpPr>
            <p:cNvPr name="Freeform 56" id="56"/>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4C7CFF"/>
            </a:solidFill>
          </p:spPr>
        </p:sp>
      </p:grpSp>
      <p:grpSp>
        <p:nvGrpSpPr>
          <p:cNvPr name="Group 57" id="57"/>
          <p:cNvGrpSpPr/>
          <p:nvPr/>
        </p:nvGrpSpPr>
        <p:grpSpPr>
          <a:xfrm rot="0">
            <a:off x="1165860" y="7790688"/>
            <a:ext cx="754380" cy="754380"/>
            <a:chOff x="0" y="0"/>
            <a:chExt cx="1005840" cy="1005840"/>
          </a:xfrm>
        </p:grpSpPr>
        <p:sp>
          <p:nvSpPr>
            <p:cNvPr name="Freeform 58" id="58"/>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59" id="59"/>
            <p:cNvSpPr txBox="true"/>
            <p:nvPr/>
          </p:nvSpPr>
          <p:spPr>
            <a:xfrm>
              <a:off x="0" y="-38100"/>
              <a:ext cx="1005840" cy="1043940"/>
            </a:xfrm>
            <a:prstGeom prst="rect">
              <a:avLst/>
            </a:prstGeom>
          </p:spPr>
          <p:txBody>
            <a:bodyPr anchor="ctr" rtlCol="false" tIns="0" lIns="0" bIns="0" rIns="0"/>
            <a:lstStyle/>
            <a:p>
              <a:pPr algn="ctr">
                <a:lnSpc>
                  <a:spcPts val="2574"/>
                </a:lnSpc>
              </a:pPr>
              <a:r>
                <a:rPr lang="en-US" sz="2145" b="true">
                  <a:solidFill>
                    <a:srgbClr val="0A1428"/>
                  </a:solidFill>
                  <a:latin typeface="Calibri (MS) Bold"/>
                  <a:ea typeface="Calibri (MS) Bold"/>
                  <a:cs typeface="Calibri (MS) Bold"/>
                  <a:sym typeface="Calibri (MS) Bold"/>
                </a:rPr>
                <a:t>4</a:t>
              </a:r>
            </a:p>
          </p:txBody>
        </p:sp>
      </p:grpSp>
      <p:grpSp>
        <p:nvGrpSpPr>
          <p:cNvPr name="Group 60" id="60"/>
          <p:cNvGrpSpPr/>
          <p:nvPr/>
        </p:nvGrpSpPr>
        <p:grpSpPr>
          <a:xfrm rot="0">
            <a:off x="2263140" y="7694676"/>
            <a:ext cx="4937760" cy="1028700"/>
            <a:chOff x="0" y="0"/>
            <a:chExt cx="6583680" cy="1371600"/>
          </a:xfrm>
        </p:grpSpPr>
        <p:sp>
          <p:nvSpPr>
            <p:cNvPr name="Freeform 61" id="61"/>
            <p:cNvSpPr/>
            <p:nvPr/>
          </p:nvSpPr>
          <p:spPr>
            <a:xfrm flipH="false" flipV="false" rot="0">
              <a:off x="0" y="0"/>
              <a:ext cx="6583680" cy="1371600"/>
            </a:xfrm>
            <a:custGeom>
              <a:avLst/>
              <a:gdLst/>
              <a:ahLst/>
              <a:cxnLst/>
              <a:rect r="r" b="b" t="t" l="l"/>
              <a:pathLst>
                <a:path h="1371600" w="6583680">
                  <a:moveTo>
                    <a:pt x="0" y="0"/>
                  </a:moveTo>
                  <a:lnTo>
                    <a:pt x="6583680" y="0"/>
                  </a:lnTo>
                  <a:lnTo>
                    <a:pt x="6583680" y="1371600"/>
                  </a:lnTo>
                  <a:lnTo>
                    <a:pt x="0" y="1371600"/>
                  </a:lnTo>
                  <a:close/>
                </a:path>
              </a:pathLst>
            </a:custGeom>
            <a:blipFill>
              <a:blip r:embed="rId2">
                <a:alphaModFix amt="0"/>
              </a:blip>
              <a:stretch>
                <a:fillRect l="0" t="-43528" r="0" b="-43528"/>
              </a:stretch>
            </a:blipFill>
          </p:spPr>
        </p:sp>
        <p:sp>
          <p:nvSpPr>
            <p:cNvPr name="TextBox 62" id="62"/>
            <p:cNvSpPr txBox="true"/>
            <p:nvPr/>
          </p:nvSpPr>
          <p:spPr>
            <a:xfrm>
              <a:off x="0" y="-47625"/>
              <a:ext cx="6583680" cy="1419225"/>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Graceful Degradation</a:t>
              </a:r>
            </a:p>
          </p:txBody>
        </p:sp>
      </p:grpSp>
      <p:grpSp>
        <p:nvGrpSpPr>
          <p:cNvPr name="Group 63" id="63"/>
          <p:cNvGrpSpPr/>
          <p:nvPr/>
        </p:nvGrpSpPr>
        <p:grpSpPr>
          <a:xfrm rot="0">
            <a:off x="7406640" y="7694676"/>
            <a:ext cx="9669780" cy="1028700"/>
            <a:chOff x="0" y="0"/>
            <a:chExt cx="12893040" cy="1371600"/>
          </a:xfrm>
        </p:grpSpPr>
        <p:sp>
          <p:nvSpPr>
            <p:cNvPr name="Freeform 64" id="64"/>
            <p:cNvSpPr/>
            <p:nvPr/>
          </p:nvSpPr>
          <p:spPr>
            <a:xfrm flipH="false" flipV="false" rot="0">
              <a:off x="0" y="0"/>
              <a:ext cx="12893040" cy="1371600"/>
            </a:xfrm>
            <a:custGeom>
              <a:avLst/>
              <a:gdLst/>
              <a:ahLst/>
              <a:cxnLst/>
              <a:rect r="r" b="b" t="t" l="l"/>
              <a:pathLst>
                <a:path h="1371600" w="12893040">
                  <a:moveTo>
                    <a:pt x="0" y="0"/>
                  </a:moveTo>
                  <a:lnTo>
                    <a:pt x="12893040" y="0"/>
                  </a:lnTo>
                  <a:lnTo>
                    <a:pt x="12893040" y="1371600"/>
                  </a:lnTo>
                  <a:lnTo>
                    <a:pt x="0" y="1371600"/>
                  </a:lnTo>
                  <a:close/>
                </a:path>
              </a:pathLst>
            </a:custGeom>
            <a:blipFill>
              <a:blip r:embed="rId2">
                <a:alphaModFix amt="0"/>
              </a:blip>
              <a:stretch>
                <a:fillRect l="0" t="-133159" r="0" b="-133159"/>
              </a:stretch>
            </a:blipFill>
          </p:spPr>
        </p:sp>
        <p:sp>
          <p:nvSpPr>
            <p:cNvPr name="TextBox 65" id="65"/>
            <p:cNvSpPr txBox="true"/>
            <p:nvPr/>
          </p:nvSpPr>
          <p:spPr>
            <a:xfrm>
              <a:off x="0" y="-28575"/>
              <a:ext cx="12893040" cy="140017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Support d'</a:t>
              </a:r>
              <a:r>
                <a:rPr lang="en-US" sz="1650">
                  <a:solidFill>
                    <a:srgbClr val="9FB0C9"/>
                  </a:solidFill>
                  <a:latin typeface="Calibri (MS)"/>
                  <a:ea typeface="Calibri (MS)"/>
                  <a:cs typeface="Calibri (MS)"/>
                  <a:sym typeface="Calibri (MS)"/>
                </a:rPr>
                <a:t>AbortController et tolérance aux pannes partielles pour maintenir la réactivité de l'interface en cas de latence du backend</a:t>
              </a:r>
            </a:p>
          </p:txBody>
        </p:sp>
      </p:grpSp>
      <p:grpSp>
        <p:nvGrpSpPr>
          <p:cNvPr name="Group 66" id="66"/>
          <p:cNvGrpSpPr/>
          <p:nvPr/>
        </p:nvGrpSpPr>
        <p:grpSpPr>
          <a:xfrm rot="0">
            <a:off x="685800" y="9710928"/>
            <a:ext cx="10972800" cy="411480"/>
            <a:chOff x="0" y="0"/>
            <a:chExt cx="14630400" cy="548640"/>
          </a:xfrm>
        </p:grpSpPr>
        <p:sp>
          <p:nvSpPr>
            <p:cNvPr name="Freeform 67" id="6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8" id="6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spc="149">
                  <a:solidFill>
                    <a:srgbClr val="6E84A6"/>
                  </a:solidFill>
                  <a:latin typeface="Calibri (MS)"/>
                  <a:ea typeface="Calibri (MS)"/>
                  <a:cs typeface="Calibri (MS)"/>
                  <a:sym typeface="Calibri (MS)"/>
                </a:rPr>
                <a:t>MLSECOPS PLATFORM · UI &amp; API INTEGRATION</a:t>
              </a:r>
            </a:p>
          </p:txBody>
        </p:sp>
      </p:grpSp>
      <p:grpSp>
        <p:nvGrpSpPr>
          <p:cNvPr name="Group 69" id="69"/>
          <p:cNvGrpSpPr/>
          <p:nvPr/>
        </p:nvGrpSpPr>
        <p:grpSpPr>
          <a:xfrm rot="0">
            <a:off x="16500348" y="9710928"/>
            <a:ext cx="1097280" cy="411480"/>
            <a:chOff x="0" y="0"/>
            <a:chExt cx="1463040" cy="548640"/>
          </a:xfrm>
        </p:grpSpPr>
        <p:sp>
          <p:nvSpPr>
            <p:cNvPr name="Freeform 70" id="70"/>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71" id="71"/>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28 / 32</a:t>
              </a: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DEVOPS, SECURITY &amp; DEPLOYMENT</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8</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Marwan Ait-Tamanait — DevOps Engineer</a:t>
              </a:r>
            </a:p>
          </p:txBody>
        </p:sp>
      </p:grpSp>
      <p:grpSp>
        <p:nvGrpSpPr>
          <p:cNvPr name="Group 11" id="11"/>
          <p:cNvGrpSpPr/>
          <p:nvPr/>
        </p:nvGrpSpPr>
        <p:grpSpPr>
          <a:xfrm rot="0">
            <a:off x="822960" y="1069848"/>
            <a:ext cx="16596360" cy="1303020"/>
            <a:chOff x="0" y="0"/>
            <a:chExt cx="22128480" cy="1737360"/>
          </a:xfrm>
        </p:grpSpPr>
        <p:sp>
          <p:nvSpPr>
            <p:cNvPr name="Freeform 12" id="12"/>
            <p:cNvSpPr/>
            <p:nvPr/>
          </p:nvSpPr>
          <p:spPr>
            <a:xfrm flipH="false" flipV="false" rot="0">
              <a:off x="0" y="0"/>
              <a:ext cx="22128480" cy="1737360"/>
            </a:xfrm>
            <a:custGeom>
              <a:avLst/>
              <a:gdLst/>
              <a:ahLst/>
              <a:cxnLst/>
              <a:rect r="r" b="b" t="t" l="l"/>
              <a:pathLst>
                <a:path h="1737360" w="22128480">
                  <a:moveTo>
                    <a:pt x="0" y="0"/>
                  </a:moveTo>
                  <a:lnTo>
                    <a:pt x="22128480" y="0"/>
                  </a:lnTo>
                  <a:lnTo>
                    <a:pt x="22128480" y="1737360"/>
                  </a:lnTo>
                  <a:lnTo>
                    <a:pt x="0" y="1737360"/>
                  </a:lnTo>
                  <a:close/>
                </a:path>
              </a:pathLst>
            </a:custGeom>
            <a:blipFill>
              <a:blip r:embed="rId2">
                <a:alphaModFix amt="0"/>
              </a:blip>
              <a:stretch>
                <a:fillRect l="0" t="-198177" r="0" b="-198177"/>
              </a:stretch>
            </a:blipFill>
          </p:spPr>
        </p:sp>
        <p:sp>
          <p:nvSpPr>
            <p:cNvPr name="TextBox 13" id="13"/>
            <p:cNvSpPr txBox="true"/>
            <p:nvPr/>
          </p:nvSpPr>
          <p:spPr>
            <a:xfrm>
              <a:off x="0" y="-9525"/>
              <a:ext cx="22128480" cy="1746885"/>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Microservice Containerization</a:t>
              </a:r>
            </a:p>
          </p:txBody>
        </p:sp>
      </p:grpSp>
      <p:grpSp>
        <p:nvGrpSpPr>
          <p:cNvPr name="Group 14" id="14"/>
          <p:cNvGrpSpPr/>
          <p:nvPr/>
        </p:nvGrpSpPr>
        <p:grpSpPr>
          <a:xfrm rot="0">
            <a:off x="813435" y="2665095"/>
            <a:ext cx="1966722" cy="1390650"/>
            <a:chOff x="0" y="0"/>
            <a:chExt cx="2622296" cy="1854200"/>
          </a:xfrm>
        </p:grpSpPr>
        <p:sp>
          <p:nvSpPr>
            <p:cNvPr name="Freeform 15" id="15"/>
            <p:cNvSpPr/>
            <p:nvPr/>
          </p:nvSpPr>
          <p:spPr>
            <a:xfrm flipH="false" flipV="false" rot="0">
              <a:off x="0" y="0"/>
              <a:ext cx="2622296" cy="1854200"/>
            </a:xfrm>
            <a:custGeom>
              <a:avLst/>
              <a:gdLst/>
              <a:ahLst/>
              <a:cxnLst/>
              <a:rect r="r" b="b" t="t" l="l"/>
              <a:pathLst>
                <a:path h="1854200" w="2622296">
                  <a:moveTo>
                    <a:pt x="0" y="148336"/>
                  </a:moveTo>
                  <a:cubicBezTo>
                    <a:pt x="0" y="66421"/>
                    <a:pt x="66421" y="0"/>
                    <a:pt x="148336" y="0"/>
                  </a:cubicBezTo>
                  <a:lnTo>
                    <a:pt x="2473960" y="0"/>
                  </a:lnTo>
                  <a:cubicBezTo>
                    <a:pt x="2555875" y="0"/>
                    <a:pt x="2622296" y="66421"/>
                    <a:pt x="2622296" y="148336"/>
                  </a:cubicBezTo>
                  <a:lnTo>
                    <a:pt x="2622296" y="1705864"/>
                  </a:lnTo>
                  <a:cubicBezTo>
                    <a:pt x="2622296" y="1787779"/>
                    <a:pt x="2555875" y="1854200"/>
                    <a:pt x="2473960" y="1854200"/>
                  </a:cubicBezTo>
                  <a:lnTo>
                    <a:pt x="148336" y="1854200"/>
                  </a:lnTo>
                  <a:cubicBezTo>
                    <a:pt x="66421" y="1854200"/>
                    <a:pt x="0" y="1787779"/>
                    <a:pt x="0" y="1705864"/>
                  </a:cubicBezTo>
                  <a:close/>
                </a:path>
              </a:pathLst>
            </a:custGeom>
            <a:solidFill>
              <a:srgbClr val="13294A"/>
            </a:solidFill>
            <a:ln w="19050" cap="sq">
              <a:solidFill>
                <a:srgbClr val="1E3358"/>
              </a:solidFill>
              <a:prstDash val="solid"/>
              <a:miter/>
            </a:ln>
          </p:spPr>
        </p:sp>
      </p:grpSp>
      <p:grpSp>
        <p:nvGrpSpPr>
          <p:cNvPr name="Group 16" id="16"/>
          <p:cNvGrpSpPr/>
          <p:nvPr/>
        </p:nvGrpSpPr>
        <p:grpSpPr>
          <a:xfrm rot="0">
            <a:off x="891540" y="3113532"/>
            <a:ext cx="1810512" cy="685800"/>
            <a:chOff x="0" y="0"/>
            <a:chExt cx="2414016" cy="914400"/>
          </a:xfrm>
        </p:grpSpPr>
        <p:sp>
          <p:nvSpPr>
            <p:cNvPr name="Freeform 17" id="17"/>
            <p:cNvSpPr/>
            <p:nvPr/>
          </p:nvSpPr>
          <p:spPr>
            <a:xfrm flipH="false" flipV="false" rot="0">
              <a:off x="0" y="0"/>
              <a:ext cx="2414016" cy="914400"/>
            </a:xfrm>
            <a:custGeom>
              <a:avLst/>
              <a:gdLst/>
              <a:ahLst/>
              <a:cxnLst/>
              <a:rect r="r" b="b" t="t" l="l"/>
              <a:pathLst>
                <a:path h="914400" w="2414016">
                  <a:moveTo>
                    <a:pt x="0" y="0"/>
                  </a:moveTo>
                  <a:lnTo>
                    <a:pt x="2414016" y="0"/>
                  </a:lnTo>
                  <a:lnTo>
                    <a:pt x="2414016" y="914400"/>
                  </a:lnTo>
                  <a:lnTo>
                    <a:pt x="0" y="914400"/>
                  </a:lnTo>
                  <a:close/>
                </a:path>
              </a:pathLst>
            </a:custGeom>
            <a:blipFill>
              <a:blip r:embed="rId2">
                <a:alphaModFix amt="0"/>
              </a:blip>
              <a:stretch>
                <a:fillRect l="0" t="-1440" r="0" b="-1440"/>
              </a:stretch>
            </a:blipFill>
          </p:spPr>
        </p:sp>
        <p:sp>
          <p:nvSpPr>
            <p:cNvPr name="TextBox 18" id="18"/>
            <p:cNvSpPr txBox="true"/>
            <p:nvPr/>
          </p:nvSpPr>
          <p:spPr>
            <a:xfrm>
              <a:off x="0" y="-28575"/>
              <a:ext cx="2414016" cy="942975"/>
            </a:xfrm>
            <a:prstGeom prst="rect">
              <a:avLst/>
            </a:prstGeom>
          </p:spPr>
          <p:txBody>
            <a:bodyPr anchor="ctr" rtlCol="false" tIns="0" lIns="0" bIns="0" rIns="0"/>
            <a:lstStyle/>
            <a:p>
              <a:pPr algn="ctr">
                <a:lnSpc>
                  <a:spcPts val="1620"/>
                </a:lnSpc>
              </a:pPr>
              <a:r>
                <a:rPr lang="en-US" sz="1350" b="true">
                  <a:solidFill>
                    <a:srgbClr val="00E5C7"/>
                  </a:solidFill>
                  <a:latin typeface="Consolas Bold"/>
                  <a:ea typeface="Consolas Bold"/>
                  <a:cs typeface="Consolas Bold"/>
                  <a:sym typeface="Consolas Bold"/>
                </a:rPr>
                <a:t>dagster</a:t>
              </a:r>
            </a:p>
          </p:txBody>
        </p:sp>
      </p:grpSp>
      <p:grpSp>
        <p:nvGrpSpPr>
          <p:cNvPr name="Group 19" id="19"/>
          <p:cNvGrpSpPr/>
          <p:nvPr/>
        </p:nvGrpSpPr>
        <p:grpSpPr>
          <a:xfrm rot="0">
            <a:off x="2953131" y="2665095"/>
            <a:ext cx="1966722" cy="1390650"/>
            <a:chOff x="0" y="0"/>
            <a:chExt cx="2622296" cy="1854200"/>
          </a:xfrm>
        </p:grpSpPr>
        <p:sp>
          <p:nvSpPr>
            <p:cNvPr name="Freeform 20" id="20"/>
            <p:cNvSpPr/>
            <p:nvPr/>
          </p:nvSpPr>
          <p:spPr>
            <a:xfrm flipH="false" flipV="false" rot="0">
              <a:off x="0" y="0"/>
              <a:ext cx="2622296" cy="1854200"/>
            </a:xfrm>
            <a:custGeom>
              <a:avLst/>
              <a:gdLst/>
              <a:ahLst/>
              <a:cxnLst/>
              <a:rect r="r" b="b" t="t" l="l"/>
              <a:pathLst>
                <a:path h="1854200" w="2622296">
                  <a:moveTo>
                    <a:pt x="0" y="148336"/>
                  </a:moveTo>
                  <a:cubicBezTo>
                    <a:pt x="0" y="66421"/>
                    <a:pt x="66421" y="0"/>
                    <a:pt x="148336" y="0"/>
                  </a:cubicBezTo>
                  <a:lnTo>
                    <a:pt x="2473960" y="0"/>
                  </a:lnTo>
                  <a:cubicBezTo>
                    <a:pt x="2555875" y="0"/>
                    <a:pt x="2622296" y="66421"/>
                    <a:pt x="2622296" y="148336"/>
                  </a:cubicBezTo>
                  <a:lnTo>
                    <a:pt x="2622296" y="1705864"/>
                  </a:lnTo>
                  <a:cubicBezTo>
                    <a:pt x="2622296" y="1787779"/>
                    <a:pt x="2555875" y="1854200"/>
                    <a:pt x="2473960" y="1854200"/>
                  </a:cubicBezTo>
                  <a:lnTo>
                    <a:pt x="148336" y="1854200"/>
                  </a:lnTo>
                  <a:cubicBezTo>
                    <a:pt x="66421" y="1854200"/>
                    <a:pt x="0" y="1787779"/>
                    <a:pt x="0" y="1705864"/>
                  </a:cubicBezTo>
                  <a:close/>
                </a:path>
              </a:pathLst>
            </a:custGeom>
            <a:solidFill>
              <a:srgbClr val="13294A"/>
            </a:solidFill>
            <a:ln w="19050" cap="sq">
              <a:solidFill>
                <a:srgbClr val="1E3358"/>
              </a:solidFill>
              <a:prstDash val="solid"/>
              <a:miter/>
            </a:ln>
          </p:spPr>
        </p:sp>
      </p:grpSp>
      <p:grpSp>
        <p:nvGrpSpPr>
          <p:cNvPr name="Group 21" id="21"/>
          <p:cNvGrpSpPr/>
          <p:nvPr/>
        </p:nvGrpSpPr>
        <p:grpSpPr>
          <a:xfrm rot="0">
            <a:off x="3031236" y="3113532"/>
            <a:ext cx="1810512" cy="685800"/>
            <a:chOff x="0" y="0"/>
            <a:chExt cx="2414016" cy="914400"/>
          </a:xfrm>
        </p:grpSpPr>
        <p:sp>
          <p:nvSpPr>
            <p:cNvPr name="Freeform 22" id="22"/>
            <p:cNvSpPr/>
            <p:nvPr/>
          </p:nvSpPr>
          <p:spPr>
            <a:xfrm flipH="false" flipV="false" rot="0">
              <a:off x="0" y="0"/>
              <a:ext cx="2414016" cy="914400"/>
            </a:xfrm>
            <a:custGeom>
              <a:avLst/>
              <a:gdLst/>
              <a:ahLst/>
              <a:cxnLst/>
              <a:rect r="r" b="b" t="t" l="l"/>
              <a:pathLst>
                <a:path h="914400" w="2414016">
                  <a:moveTo>
                    <a:pt x="0" y="0"/>
                  </a:moveTo>
                  <a:lnTo>
                    <a:pt x="2414016" y="0"/>
                  </a:lnTo>
                  <a:lnTo>
                    <a:pt x="2414016" y="914400"/>
                  </a:lnTo>
                  <a:lnTo>
                    <a:pt x="0" y="914400"/>
                  </a:lnTo>
                  <a:close/>
                </a:path>
              </a:pathLst>
            </a:custGeom>
            <a:blipFill>
              <a:blip r:embed="rId2">
                <a:alphaModFix amt="0"/>
              </a:blip>
              <a:stretch>
                <a:fillRect l="0" t="-1440" r="0" b="-1440"/>
              </a:stretch>
            </a:blipFill>
          </p:spPr>
        </p:sp>
        <p:sp>
          <p:nvSpPr>
            <p:cNvPr name="TextBox 23" id="23"/>
            <p:cNvSpPr txBox="true"/>
            <p:nvPr/>
          </p:nvSpPr>
          <p:spPr>
            <a:xfrm>
              <a:off x="0" y="-28575"/>
              <a:ext cx="2414016" cy="942975"/>
            </a:xfrm>
            <a:prstGeom prst="rect">
              <a:avLst/>
            </a:prstGeom>
          </p:spPr>
          <p:txBody>
            <a:bodyPr anchor="ctr" rtlCol="false" tIns="0" lIns="0" bIns="0" rIns="0"/>
            <a:lstStyle/>
            <a:p>
              <a:pPr algn="ctr">
                <a:lnSpc>
                  <a:spcPts val="1620"/>
                </a:lnSpc>
              </a:pPr>
              <a:r>
                <a:rPr lang="en-US" sz="1350" b="true">
                  <a:solidFill>
                    <a:srgbClr val="00E5C7"/>
                  </a:solidFill>
                  <a:latin typeface="Consolas Bold"/>
                  <a:ea typeface="Consolas Bold"/>
                  <a:cs typeface="Consolas Bold"/>
                  <a:sym typeface="Consolas Bold"/>
                </a:rPr>
                <a:t>dagster-daemon</a:t>
              </a:r>
            </a:p>
          </p:txBody>
        </p:sp>
      </p:grpSp>
      <p:grpSp>
        <p:nvGrpSpPr>
          <p:cNvPr name="Group 24" id="24"/>
          <p:cNvGrpSpPr/>
          <p:nvPr/>
        </p:nvGrpSpPr>
        <p:grpSpPr>
          <a:xfrm rot="0">
            <a:off x="5092827" y="2665095"/>
            <a:ext cx="1966722" cy="1390650"/>
            <a:chOff x="0" y="0"/>
            <a:chExt cx="2622296" cy="1854200"/>
          </a:xfrm>
        </p:grpSpPr>
        <p:sp>
          <p:nvSpPr>
            <p:cNvPr name="Freeform 25" id="25"/>
            <p:cNvSpPr/>
            <p:nvPr/>
          </p:nvSpPr>
          <p:spPr>
            <a:xfrm flipH="false" flipV="false" rot="0">
              <a:off x="0" y="0"/>
              <a:ext cx="2622296" cy="1854200"/>
            </a:xfrm>
            <a:custGeom>
              <a:avLst/>
              <a:gdLst/>
              <a:ahLst/>
              <a:cxnLst/>
              <a:rect r="r" b="b" t="t" l="l"/>
              <a:pathLst>
                <a:path h="1854200" w="2622296">
                  <a:moveTo>
                    <a:pt x="0" y="148336"/>
                  </a:moveTo>
                  <a:cubicBezTo>
                    <a:pt x="0" y="66421"/>
                    <a:pt x="66421" y="0"/>
                    <a:pt x="148336" y="0"/>
                  </a:cubicBezTo>
                  <a:lnTo>
                    <a:pt x="2473960" y="0"/>
                  </a:lnTo>
                  <a:cubicBezTo>
                    <a:pt x="2555875" y="0"/>
                    <a:pt x="2622296" y="66421"/>
                    <a:pt x="2622296" y="148336"/>
                  </a:cubicBezTo>
                  <a:lnTo>
                    <a:pt x="2622296" y="1705864"/>
                  </a:lnTo>
                  <a:cubicBezTo>
                    <a:pt x="2622296" y="1787779"/>
                    <a:pt x="2555875" y="1854200"/>
                    <a:pt x="2473960" y="1854200"/>
                  </a:cubicBezTo>
                  <a:lnTo>
                    <a:pt x="148336" y="1854200"/>
                  </a:lnTo>
                  <a:cubicBezTo>
                    <a:pt x="66421" y="1854200"/>
                    <a:pt x="0" y="1787779"/>
                    <a:pt x="0" y="1705864"/>
                  </a:cubicBezTo>
                  <a:close/>
                </a:path>
              </a:pathLst>
            </a:custGeom>
            <a:solidFill>
              <a:srgbClr val="13294A"/>
            </a:solidFill>
            <a:ln w="19050" cap="sq">
              <a:solidFill>
                <a:srgbClr val="1E3358"/>
              </a:solidFill>
              <a:prstDash val="solid"/>
              <a:miter/>
            </a:ln>
          </p:spPr>
        </p:sp>
      </p:grpSp>
      <p:grpSp>
        <p:nvGrpSpPr>
          <p:cNvPr name="Group 26" id="26"/>
          <p:cNvGrpSpPr/>
          <p:nvPr/>
        </p:nvGrpSpPr>
        <p:grpSpPr>
          <a:xfrm rot="0">
            <a:off x="5170932" y="3113532"/>
            <a:ext cx="1810512" cy="685800"/>
            <a:chOff x="0" y="0"/>
            <a:chExt cx="2414016" cy="914400"/>
          </a:xfrm>
        </p:grpSpPr>
        <p:sp>
          <p:nvSpPr>
            <p:cNvPr name="Freeform 27" id="27"/>
            <p:cNvSpPr/>
            <p:nvPr/>
          </p:nvSpPr>
          <p:spPr>
            <a:xfrm flipH="false" flipV="false" rot="0">
              <a:off x="0" y="0"/>
              <a:ext cx="2414016" cy="914400"/>
            </a:xfrm>
            <a:custGeom>
              <a:avLst/>
              <a:gdLst/>
              <a:ahLst/>
              <a:cxnLst/>
              <a:rect r="r" b="b" t="t" l="l"/>
              <a:pathLst>
                <a:path h="914400" w="2414016">
                  <a:moveTo>
                    <a:pt x="0" y="0"/>
                  </a:moveTo>
                  <a:lnTo>
                    <a:pt x="2414016" y="0"/>
                  </a:lnTo>
                  <a:lnTo>
                    <a:pt x="2414016" y="914400"/>
                  </a:lnTo>
                  <a:lnTo>
                    <a:pt x="0" y="914400"/>
                  </a:lnTo>
                  <a:close/>
                </a:path>
              </a:pathLst>
            </a:custGeom>
            <a:blipFill>
              <a:blip r:embed="rId2">
                <a:alphaModFix amt="0"/>
              </a:blip>
              <a:stretch>
                <a:fillRect l="0" t="-1440" r="0" b="-1440"/>
              </a:stretch>
            </a:blipFill>
          </p:spPr>
        </p:sp>
        <p:sp>
          <p:nvSpPr>
            <p:cNvPr name="TextBox 28" id="28"/>
            <p:cNvSpPr txBox="true"/>
            <p:nvPr/>
          </p:nvSpPr>
          <p:spPr>
            <a:xfrm>
              <a:off x="0" y="-28575"/>
              <a:ext cx="2414016" cy="942975"/>
            </a:xfrm>
            <a:prstGeom prst="rect">
              <a:avLst/>
            </a:prstGeom>
          </p:spPr>
          <p:txBody>
            <a:bodyPr anchor="ctr" rtlCol="false" tIns="0" lIns="0" bIns="0" rIns="0"/>
            <a:lstStyle/>
            <a:p>
              <a:pPr algn="ctr">
                <a:lnSpc>
                  <a:spcPts val="1620"/>
                </a:lnSpc>
              </a:pPr>
              <a:r>
                <a:rPr lang="en-US" sz="1350" b="true">
                  <a:solidFill>
                    <a:srgbClr val="00E5C7"/>
                  </a:solidFill>
                  <a:latin typeface="Consolas Bold"/>
                  <a:ea typeface="Consolas Bold"/>
                  <a:cs typeface="Consolas Bold"/>
                  <a:sym typeface="Consolas Bold"/>
                </a:rPr>
                <a:t>dbt</a:t>
              </a:r>
            </a:p>
          </p:txBody>
        </p:sp>
      </p:grpSp>
      <p:grpSp>
        <p:nvGrpSpPr>
          <p:cNvPr name="Group 29" id="29"/>
          <p:cNvGrpSpPr/>
          <p:nvPr/>
        </p:nvGrpSpPr>
        <p:grpSpPr>
          <a:xfrm rot="0">
            <a:off x="7232523" y="2665095"/>
            <a:ext cx="1966722" cy="1390650"/>
            <a:chOff x="0" y="0"/>
            <a:chExt cx="2622296" cy="1854200"/>
          </a:xfrm>
        </p:grpSpPr>
        <p:sp>
          <p:nvSpPr>
            <p:cNvPr name="Freeform 30" id="30"/>
            <p:cNvSpPr/>
            <p:nvPr/>
          </p:nvSpPr>
          <p:spPr>
            <a:xfrm flipH="false" flipV="false" rot="0">
              <a:off x="0" y="0"/>
              <a:ext cx="2622296" cy="1854200"/>
            </a:xfrm>
            <a:custGeom>
              <a:avLst/>
              <a:gdLst/>
              <a:ahLst/>
              <a:cxnLst/>
              <a:rect r="r" b="b" t="t" l="l"/>
              <a:pathLst>
                <a:path h="1854200" w="2622296">
                  <a:moveTo>
                    <a:pt x="0" y="148336"/>
                  </a:moveTo>
                  <a:cubicBezTo>
                    <a:pt x="0" y="66421"/>
                    <a:pt x="66421" y="0"/>
                    <a:pt x="148336" y="0"/>
                  </a:cubicBezTo>
                  <a:lnTo>
                    <a:pt x="2473960" y="0"/>
                  </a:lnTo>
                  <a:cubicBezTo>
                    <a:pt x="2555875" y="0"/>
                    <a:pt x="2622296" y="66421"/>
                    <a:pt x="2622296" y="148336"/>
                  </a:cubicBezTo>
                  <a:lnTo>
                    <a:pt x="2622296" y="1705864"/>
                  </a:lnTo>
                  <a:cubicBezTo>
                    <a:pt x="2622296" y="1787779"/>
                    <a:pt x="2555875" y="1854200"/>
                    <a:pt x="2473960" y="1854200"/>
                  </a:cubicBezTo>
                  <a:lnTo>
                    <a:pt x="148336" y="1854200"/>
                  </a:lnTo>
                  <a:cubicBezTo>
                    <a:pt x="66421" y="1854200"/>
                    <a:pt x="0" y="1787779"/>
                    <a:pt x="0" y="1705864"/>
                  </a:cubicBezTo>
                  <a:close/>
                </a:path>
              </a:pathLst>
            </a:custGeom>
            <a:solidFill>
              <a:srgbClr val="13294A"/>
            </a:solidFill>
            <a:ln w="19050" cap="sq">
              <a:solidFill>
                <a:srgbClr val="1E3358"/>
              </a:solidFill>
              <a:prstDash val="solid"/>
              <a:miter/>
            </a:ln>
          </p:spPr>
        </p:sp>
      </p:grpSp>
      <p:grpSp>
        <p:nvGrpSpPr>
          <p:cNvPr name="Group 31" id="31"/>
          <p:cNvGrpSpPr/>
          <p:nvPr/>
        </p:nvGrpSpPr>
        <p:grpSpPr>
          <a:xfrm rot="0">
            <a:off x="7310628" y="3113532"/>
            <a:ext cx="1810512" cy="685800"/>
            <a:chOff x="0" y="0"/>
            <a:chExt cx="2414016" cy="914400"/>
          </a:xfrm>
        </p:grpSpPr>
        <p:sp>
          <p:nvSpPr>
            <p:cNvPr name="Freeform 32" id="32"/>
            <p:cNvSpPr/>
            <p:nvPr/>
          </p:nvSpPr>
          <p:spPr>
            <a:xfrm flipH="false" flipV="false" rot="0">
              <a:off x="0" y="0"/>
              <a:ext cx="2414016" cy="914400"/>
            </a:xfrm>
            <a:custGeom>
              <a:avLst/>
              <a:gdLst/>
              <a:ahLst/>
              <a:cxnLst/>
              <a:rect r="r" b="b" t="t" l="l"/>
              <a:pathLst>
                <a:path h="914400" w="2414016">
                  <a:moveTo>
                    <a:pt x="0" y="0"/>
                  </a:moveTo>
                  <a:lnTo>
                    <a:pt x="2414016" y="0"/>
                  </a:lnTo>
                  <a:lnTo>
                    <a:pt x="2414016" y="914400"/>
                  </a:lnTo>
                  <a:lnTo>
                    <a:pt x="0" y="914400"/>
                  </a:lnTo>
                  <a:close/>
                </a:path>
              </a:pathLst>
            </a:custGeom>
            <a:blipFill>
              <a:blip r:embed="rId2">
                <a:alphaModFix amt="0"/>
              </a:blip>
              <a:stretch>
                <a:fillRect l="0" t="-1440" r="0" b="-1440"/>
              </a:stretch>
            </a:blipFill>
          </p:spPr>
        </p:sp>
        <p:sp>
          <p:nvSpPr>
            <p:cNvPr name="TextBox 33" id="33"/>
            <p:cNvSpPr txBox="true"/>
            <p:nvPr/>
          </p:nvSpPr>
          <p:spPr>
            <a:xfrm>
              <a:off x="0" y="-28575"/>
              <a:ext cx="2414016" cy="942975"/>
            </a:xfrm>
            <a:prstGeom prst="rect">
              <a:avLst/>
            </a:prstGeom>
          </p:spPr>
          <p:txBody>
            <a:bodyPr anchor="ctr" rtlCol="false" tIns="0" lIns="0" bIns="0" rIns="0"/>
            <a:lstStyle/>
            <a:p>
              <a:pPr algn="ctr">
                <a:lnSpc>
                  <a:spcPts val="1620"/>
                </a:lnSpc>
              </a:pPr>
              <a:r>
                <a:rPr lang="en-US" sz="1350" b="true">
                  <a:solidFill>
                    <a:srgbClr val="00E5C7"/>
                  </a:solidFill>
                  <a:latin typeface="Consolas Bold"/>
                  <a:ea typeface="Consolas Bold"/>
                  <a:cs typeface="Consolas Bold"/>
                  <a:sym typeface="Consolas Bold"/>
                </a:rPr>
                <a:t>redpanda</a:t>
              </a:r>
            </a:p>
          </p:txBody>
        </p:sp>
      </p:grpSp>
      <p:grpSp>
        <p:nvGrpSpPr>
          <p:cNvPr name="Group 34" id="34"/>
          <p:cNvGrpSpPr/>
          <p:nvPr/>
        </p:nvGrpSpPr>
        <p:grpSpPr>
          <a:xfrm rot="0">
            <a:off x="9372219" y="2665095"/>
            <a:ext cx="1966722" cy="1390650"/>
            <a:chOff x="0" y="0"/>
            <a:chExt cx="2622296" cy="1854200"/>
          </a:xfrm>
        </p:grpSpPr>
        <p:sp>
          <p:nvSpPr>
            <p:cNvPr name="Freeform 35" id="35"/>
            <p:cNvSpPr/>
            <p:nvPr/>
          </p:nvSpPr>
          <p:spPr>
            <a:xfrm flipH="false" flipV="false" rot="0">
              <a:off x="0" y="0"/>
              <a:ext cx="2622296" cy="1854200"/>
            </a:xfrm>
            <a:custGeom>
              <a:avLst/>
              <a:gdLst/>
              <a:ahLst/>
              <a:cxnLst/>
              <a:rect r="r" b="b" t="t" l="l"/>
              <a:pathLst>
                <a:path h="1854200" w="2622296">
                  <a:moveTo>
                    <a:pt x="0" y="148336"/>
                  </a:moveTo>
                  <a:cubicBezTo>
                    <a:pt x="0" y="66421"/>
                    <a:pt x="66421" y="0"/>
                    <a:pt x="148336" y="0"/>
                  </a:cubicBezTo>
                  <a:lnTo>
                    <a:pt x="2473960" y="0"/>
                  </a:lnTo>
                  <a:cubicBezTo>
                    <a:pt x="2555875" y="0"/>
                    <a:pt x="2622296" y="66421"/>
                    <a:pt x="2622296" y="148336"/>
                  </a:cubicBezTo>
                  <a:lnTo>
                    <a:pt x="2622296" y="1705864"/>
                  </a:lnTo>
                  <a:cubicBezTo>
                    <a:pt x="2622296" y="1787779"/>
                    <a:pt x="2555875" y="1854200"/>
                    <a:pt x="2473960" y="1854200"/>
                  </a:cubicBezTo>
                  <a:lnTo>
                    <a:pt x="148336" y="1854200"/>
                  </a:lnTo>
                  <a:cubicBezTo>
                    <a:pt x="66421" y="1854200"/>
                    <a:pt x="0" y="1787779"/>
                    <a:pt x="0" y="1705864"/>
                  </a:cubicBezTo>
                  <a:close/>
                </a:path>
              </a:pathLst>
            </a:custGeom>
            <a:solidFill>
              <a:srgbClr val="13294A"/>
            </a:solidFill>
            <a:ln w="19050" cap="sq">
              <a:solidFill>
                <a:srgbClr val="1E3358"/>
              </a:solidFill>
              <a:prstDash val="solid"/>
              <a:miter/>
            </a:ln>
          </p:spPr>
        </p:sp>
      </p:grpSp>
      <p:grpSp>
        <p:nvGrpSpPr>
          <p:cNvPr name="Group 36" id="36"/>
          <p:cNvGrpSpPr/>
          <p:nvPr/>
        </p:nvGrpSpPr>
        <p:grpSpPr>
          <a:xfrm rot="0">
            <a:off x="9450324" y="3113532"/>
            <a:ext cx="1810512" cy="685800"/>
            <a:chOff x="0" y="0"/>
            <a:chExt cx="2414016" cy="914400"/>
          </a:xfrm>
        </p:grpSpPr>
        <p:sp>
          <p:nvSpPr>
            <p:cNvPr name="Freeform 37" id="37"/>
            <p:cNvSpPr/>
            <p:nvPr/>
          </p:nvSpPr>
          <p:spPr>
            <a:xfrm flipH="false" flipV="false" rot="0">
              <a:off x="0" y="0"/>
              <a:ext cx="2414016" cy="914400"/>
            </a:xfrm>
            <a:custGeom>
              <a:avLst/>
              <a:gdLst/>
              <a:ahLst/>
              <a:cxnLst/>
              <a:rect r="r" b="b" t="t" l="l"/>
              <a:pathLst>
                <a:path h="914400" w="2414016">
                  <a:moveTo>
                    <a:pt x="0" y="0"/>
                  </a:moveTo>
                  <a:lnTo>
                    <a:pt x="2414016" y="0"/>
                  </a:lnTo>
                  <a:lnTo>
                    <a:pt x="2414016" y="914400"/>
                  </a:lnTo>
                  <a:lnTo>
                    <a:pt x="0" y="914400"/>
                  </a:lnTo>
                  <a:close/>
                </a:path>
              </a:pathLst>
            </a:custGeom>
            <a:blipFill>
              <a:blip r:embed="rId2">
                <a:alphaModFix amt="0"/>
              </a:blip>
              <a:stretch>
                <a:fillRect l="0" t="-1440" r="0" b="-1440"/>
              </a:stretch>
            </a:blipFill>
          </p:spPr>
        </p:sp>
        <p:sp>
          <p:nvSpPr>
            <p:cNvPr name="TextBox 38" id="38"/>
            <p:cNvSpPr txBox="true"/>
            <p:nvPr/>
          </p:nvSpPr>
          <p:spPr>
            <a:xfrm>
              <a:off x="0" y="-28575"/>
              <a:ext cx="2414016" cy="942975"/>
            </a:xfrm>
            <a:prstGeom prst="rect">
              <a:avLst/>
            </a:prstGeom>
          </p:spPr>
          <p:txBody>
            <a:bodyPr anchor="ctr" rtlCol="false" tIns="0" lIns="0" bIns="0" rIns="0"/>
            <a:lstStyle/>
            <a:p>
              <a:pPr algn="ctr">
                <a:lnSpc>
                  <a:spcPts val="1620"/>
                </a:lnSpc>
              </a:pPr>
              <a:r>
                <a:rPr lang="en-US" sz="1350" b="true">
                  <a:solidFill>
                    <a:srgbClr val="00E5C7"/>
                  </a:solidFill>
                  <a:latin typeface="Consolas Bold"/>
                  <a:ea typeface="Consolas Bold"/>
                  <a:cs typeface="Consolas Bold"/>
                  <a:sym typeface="Consolas Bold"/>
                </a:rPr>
                <a:t>mlflow</a:t>
              </a:r>
            </a:p>
          </p:txBody>
        </p:sp>
      </p:grpSp>
      <p:grpSp>
        <p:nvGrpSpPr>
          <p:cNvPr name="Group 39" id="39"/>
          <p:cNvGrpSpPr/>
          <p:nvPr/>
        </p:nvGrpSpPr>
        <p:grpSpPr>
          <a:xfrm rot="0">
            <a:off x="11511915" y="2665095"/>
            <a:ext cx="1966722" cy="1390650"/>
            <a:chOff x="0" y="0"/>
            <a:chExt cx="2622296" cy="1854200"/>
          </a:xfrm>
        </p:grpSpPr>
        <p:sp>
          <p:nvSpPr>
            <p:cNvPr name="Freeform 40" id="40"/>
            <p:cNvSpPr/>
            <p:nvPr/>
          </p:nvSpPr>
          <p:spPr>
            <a:xfrm flipH="false" flipV="false" rot="0">
              <a:off x="0" y="0"/>
              <a:ext cx="2622296" cy="1854200"/>
            </a:xfrm>
            <a:custGeom>
              <a:avLst/>
              <a:gdLst/>
              <a:ahLst/>
              <a:cxnLst/>
              <a:rect r="r" b="b" t="t" l="l"/>
              <a:pathLst>
                <a:path h="1854200" w="2622296">
                  <a:moveTo>
                    <a:pt x="0" y="148336"/>
                  </a:moveTo>
                  <a:cubicBezTo>
                    <a:pt x="0" y="66421"/>
                    <a:pt x="66421" y="0"/>
                    <a:pt x="148336" y="0"/>
                  </a:cubicBezTo>
                  <a:lnTo>
                    <a:pt x="2473960" y="0"/>
                  </a:lnTo>
                  <a:cubicBezTo>
                    <a:pt x="2555875" y="0"/>
                    <a:pt x="2622296" y="66421"/>
                    <a:pt x="2622296" y="148336"/>
                  </a:cubicBezTo>
                  <a:lnTo>
                    <a:pt x="2622296" y="1705864"/>
                  </a:lnTo>
                  <a:cubicBezTo>
                    <a:pt x="2622296" y="1787779"/>
                    <a:pt x="2555875" y="1854200"/>
                    <a:pt x="2473960" y="1854200"/>
                  </a:cubicBezTo>
                  <a:lnTo>
                    <a:pt x="148336" y="1854200"/>
                  </a:lnTo>
                  <a:cubicBezTo>
                    <a:pt x="66421" y="1854200"/>
                    <a:pt x="0" y="1787779"/>
                    <a:pt x="0" y="1705864"/>
                  </a:cubicBezTo>
                  <a:close/>
                </a:path>
              </a:pathLst>
            </a:custGeom>
            <a:solidFill>
              <a:srgbClr val="13294A"/>
            </a:solidFill>
            <a:ln w="19050" cap="sq">
              <a:solidFill>
                <a:srgbClr val="1E3358"/>
              </a:solidFill>
              <a:prstDash val="solid"/>
              <a:miter/>
            </a:ln>
          </p:spPr>
        </p:sp>
      </p:grpSp>
      <p:grpSp>
        <p:nvGrpSpPr>
          <p:cNvPr name="Group 41" id="41"/>
          <p:cNvGrpSpPr/>
          <p:nvPr/>
        </p:nvGrpSpPr>
        <p:grpSpPr>
          <a:xfrm rot="0">
            <a:off x="11590020" y="3113532"/>
            <a:ext cx="1810512" cy="685800"/>
            <a:chOff x="0" y="0"/>
            <a:chExt cx="2414016" cy="914400"/>
          </a:xfrm>
        </p:grpSpPr>
        <p:sp>
          <p:nvSpPr>
            <p:cNvPr name="Freeform 42" id="42"/>
            <p:cNvSpPr/>
            <p:nvPr/>
          </p:nvSpPr>
          <p:spPr>
            <a:xfrm flipH="false" flipV="false" rot="0">
              <a:off x="0" y="0"/>
              <a:ext cx="2414016" cy="914400"/>
            </a:xfrm>
            <a:custGeom>
              <a:avLst/>
              <a:gdLst/>
              <a:ahLst/>
              <a:cxnLst/>
              <a:rect r="r" b="b" t="t" l="l"/>
              <a:pathLst>
                <a:path h="914400" w="2414016">
                  <a:moveTo>
                    <a:pt x="0" y="0"/>
                  </a:moveTo>
                  <a:lnTo>
                    <a:pt x="2414016" y="0"/>
                  </a:lnTo>
                  <a:lnTo>
                    <a:pt x="2414016" y="914400"/>
                  </a:lnTo>
                  <a:lnTo>
                    <a:pt x="0" y="914400"/>
                  </a:lnTo>
                  <a:close/>
                </a:path>
              </a:pathLst>
            </a:custGeom>
            <a:blipFill>
              <a:blip r:embed="rId2">
                <a:alphaModFix amt="0"/>
              </a:blip>
              <a:stretch>
                <a:fillRect l="0" t="-1440" r="0" b="-1440"/>
              </a:stretch>
            </a:blipFill>
          </p:spPr>
        </p:sp>
        <p:sp>
          <p:nvSpPr>
            <p:cNvPr name="TextBox 43" id="43"/>
            <p:cNvSpPr txBox="true"/>
            <p:nvPr/>
          </p:nvSpPr>
          <p:spPr>
            <a:xfrm>
              <a:off x="0" y="-28575"/>
              <a:ext cx="2414016" cy="942975"/>
            </a:xfrm>
            <a:prstGeom prst="rect">
              <a:avLst/>
            </a:prstGeom>
          </p:spPr>
          <p:txBody>
            <a:bodyPr anchor="ctr" rtlCol="false" tIns="0" lIns="0" bIns="0" rIns="0"/>
            <a:lstStyle/>
            <a:p>
              <a:pPr algn="ctr">
                <a:lnSpc>
                  <a:spcPts val="1620"/>
                </a:lnSpc>
              </a:pPr>
              <a:r>
                <a:rPr lang="en-US" sz="1350" b="true">
                  <a:solidFill>
                    <a:srgbClr val="00E5C7"/>
                  </a:solidFill>
                  <a:latin typeface="Consolas Bold"/>
                  <a:ea typeface="Consolas Bold"/>
                  <a:cs typeface="Consolas Bold"/>
                  <a:sym typeface="Consolas Bold"/>
                </a:rPr>
                <a:t>fastapi-app</a:t>
              </a:r>
            </a:p>
          </p:txBody>
        </p:sp>
      </p:grpSp>
      <p:grpSp>
        <p:nvGrpSpPr>
          <p:cNvPr name="Group 44" id="44"/>
          <p:cNvGrpSpPr/>
          <p:nvPr/>
        </p:nvGrpSpPr>
        <p:grpSpPr>
          <a:xfrm rot="0">
            <a:off x="13651611" y="2665095"/>
            <a:ext cx="1966722" cy="1390650"/>
            <a:chOff x="0" y="0"/>
            <a:chExt cx="2622296" cy="1854200"/>
          </a:xfrm>
        </p:grpSpPr>
        <p:sp>
          <p:nvSpPr>
            <p:cNvPr name="Freeform 45" id="45"/>
            <p:cNvSpPr/>
            <p:nvPr/>
          </p:nvSpPr>
          <p:spPr>
            <a:xfrm flipH="false" flipV="false" rot="0">
              <a:off x="0" y="0"/>
              <a:ext cx="2622296" cy="1854200"/>
            </a:xfrm>
            <a:custGeom>
              <a:avLst/>
              <a:gdLst/>
              <a:ahLst/>
              <a:cxnLst/>
              <a:rect r="r" b="b" t="t" l="l"/>
              <a:pathLst>
                <a:path h="1854200" w="2622296">
                  <a:moveTo>
                    <a:pt x="0" y="148336"/>
                  </a:moveTo>
                  <a:cubicBezTo>
                    <a:pt x="0" y="66421"/>
                    <a:pt x="66421" y="0"/>
                    <a:pt x="148336" y="0"/>
                  </a:cubicBezTo>
                  <a:lnTo>
                    <a:pt x="2473960" y="0"/>
                  </a:lnTo>
                  <a:cubicBezTo>
                    <a:pt x="2555875" y="0"/>
                    <a:pt x="2622296" y="66421"/>
                    <a:pt x="2622296" y="148336"/>
                  </a:cubicBezTo>
                  <a:lnTo>
                    <a:pt x="2622296" y="1705864"/>
                  </a:lnTo>
                  <a:cubicBezTo>
                    <a:pt x="2622296" y="1787779"/>
                    <a:pt x="2555875" y="1854200"/>
                    <a:pt x="2473960" y="1854200"/>
                  </a:cubicBezTo>
                  <a:lnTo>
                    <a:pt x="148336" y="1854200"/>
                  </a:lnTo>
                  <a:cubicBezTo>
                    <a:pt x="66421" y="1854200"/>
                    <a:pt x="0" y="1787779"/>
                    <a:pt x="0" y="1705864"/>
                  </a:cubicBezTo>
                  <a:close/>
                </a:path>
              </a:pathLst>
            </a:custGeom>
            <a:solidFill>
              <a:srgbClr val="13294A"/>
            </a:solidFill>
            <a:ln w="19050" cap="sq">
              <a:solidFill>
                <a:srgbClr val="1E3358"/>
              </a:solidFill>
              <a:prstDash val="solid"/>
              <a:miter/>
            </a:ln>
          </p:spPr>
        </p:sp>
      </p:grpSp>
      <p:grpSp>
        <p:nvGrpSpPr>
          <p:cNvPr name="Group 46" id="46"/>
          <p:cNvGrpSpPr/>
          <p:nvPr/>
        </p:nvGrpSpPr>
        <p:grpSpPr>
          <a:xfrm rot="0">
            <a:off x="13729716" y="3113532"/>
            <a:ext cx="1810512" cy="685800"/>
            <a:chOff x="0" y="0"/>
            <a:chExt cx="2414016" cy="914400"/>
          </a:xfrm>
        </p:grpSpPr>
        <p:sp>
          <p:nvSpPr>
            <p:cNvPr name="Freeform 47" id="47"/>
            <p:cNvSpPr/>
            <p:nvPr/>
          </p:nvSpPr>
          <p:spPr>
            <a:xfrm flipH="false" flipV="false" rot="0">
              <a:off x="0" y="0"/>
              <a:ext cx="2414016" cy="914400"/>
            </a:xfrm>
            <a:custGeom>
              <a:avLst/>
              <a:gdLst/>
              <a:ahLst/>
              <a:cxnLst/>
              <a:rect r="r" b="b" t="t" l="l"/>
              <a:pathLst>
                <a:path h="914400" w="2414016">
                  <a:moveTo>
                    <a:pt x="0" y="0"/>
                  </a:moveTo>
                  <a:lnTo>
                    <a:pt x="2414016" y="0"/>
                  </a:lnTo>
                  <a:lnTo>
                    <a:pt x="2414016" y="914400"/>
                  </a:lnTo>
                  <a:lnTo>
                    <a:pt x="0" y="914400"/>
                  </a:lnTo>
                  <a:close/>
                </a:path>
              </a:pathLst>
            </a:custGeom>
            <a:blipFill>
              <a:blip r:embed="rId2">
                <a:alphaModFix amt="0"/>
              </a:blip>
              <a:stretch>
                <a:fillRect l="0" t="-1440" r="0" b="-1440"/>
              </a:stretch>
            </a:blipFill>
          </p:spPr>
        </p:sp>
        <p:sp>
          <p:nvSpPr>
            <p:cNvPr name="TextBox 48" id="48"/>
            <p:cNvSpPr txBox="true"/>
            <p:nvPr/>
          </p:nvSpPr>
          <p:spPr>
            <a:xfrm>
              <a:off x="0" y="-28575"/>
              <a:ext cx="2414016" cy="942975"/>
            </a:xfrm>
            <a:prstGeom prst="rect">
              <a:avLst/>
            </a:prstGeom>
          </p:spPr>
          <p:txBody>
            <a:bodyPr anchor="ctr" rtlCol="false" tIns="0" lIns="0" bIns="0" rIns="0"/>
            <a:lstStyle/>
            <a:p>
              <a:pPr algn="ctr">
                <a:lnSpc>
                  <a:spcPts val="1620"/>
                </a:lnSpc>
              </a:pPr>
              <a:r>
                <a:rPr lang="en-US" sz="1350" b="true">
                  <a:solidFill>
                    <a:srgbClr val="00E5C7"/>
                  </a:solidFill>
                  <a:latin typeface="Consolas Bold"/>
                  <a:ea typeface="Consolas Bold"/>
                  <a:cs typeface="Consolas Bold"/>
                  <a:sym typeface="Consolas Bold"/>
                </a:rPr>
                <a:t>prometheus</a:t>
              </a:r>
            </a:p>
          </p:txBody>
        </p:sp>
      </p:grpSp>
      <p:grpSp>
        <p:nvGrpSpPr>
          <p:cNvPr name="Group 49" id="49"/>
          <p:cNvGrpSpPr/>
          <p:nvPr/>
        </p:nvGrpSpPr>
        <p:grpSpPr>
          <a:xfrm rot="0">
            <a:off x="15791307" y="2665095"/>
            <a:ext cx="1966722" cy="1390650"/>
            <a:chOff x="0" y="0"/>
            <a:chExt cx="2622296" cy="1854200"/>
          </a:xfrm>
        </p:grpSpPr>
        <p:sp>
          <p:nvSpPr>
            <p:cNvPr name="Freeform 50" id="50"/>
            <p:cNvSpPr/>
            <p:nvPr/>
          </p:nvSpPr>
          <p:spPr>
            <a:xfrm flipH="false" flipV="false" rot="0">
              <a:off x="0" y="0"/>
              <a:ext cx="2622296" cy="1854200"/>
            </a:xfrm>
            <a:custGeom>
              <a:avLst/>
              <a:gdLst/>
              <a:ahLst/>
              <a:cxnLst/>
              <a:rect r="r" b="b" t="t" l="l"/>
              <a:pathLst>
                <a:path h="1854200" w="2622296">
                  <a:moveTo>
                    <a:pt x="0" y="148336"/>
                  </a:moveTo>
                  <a:cubicBezTo>
                    <a:pt x="0" y="66421"/>
                    <a:pt x="66421" y="0"/>
                    <a:pt x="148336" y="0"/>
                  </a:cubicBezTo>
                  <a:lnTo>
                    <a:pt x="2473960" y="0"/>
                  </a:lnTo>
                  <a:cubicBezTo>
                    <a:pt x="2555875" y="0"/>
                    <a:pt x="2622296" y="66421"/>
                    <a:pt x="2622296" y="148336"/>
                  </a:cubicBezTo>
                  <a:lnTo>
                    <a:pt x="2622296" y="1705864"/>
                  </a:lnTo>
                  <a:cubicBezTo>
                    <a:pt x="2622296" y="1787779"/>
                    <a:pt x="2555875" y="1854200"/>
                    <a:pt x="2473960" y="1854200"/>
                  </a:cubicBezTo>
                  <a:lnTo>
                    <a:pt x="148336" y="1854200"/>
                  </a:lnTo>
                  <a:cubicBezTo>
                    <a:pt x="66421" y="1854200"/>
                    <a:pt x="0" y="1787779"/>
                    <a:pt x="0" y="1705864"/>
                  </a:cubicBezTo>
                  <a:close/>
                </a:path>
              </a:pathLst>
            </a:custGeom>
            <a:solidFill>
              <a:srgbClr val="13294A"/>
            </a:solidFill>
            <a:ln w="19050" cap="sq">
              <a:solidFill>
                <a:srgbClr val="1E3358"/>
              </a:solidFill>
              <a:prstDash val="solid"/>
              <a:miter/>
            </a:ln>
          </p:spPr>
        </p:sp>
      </p:grpSp>
      <p:grpSp>
        <p:nvGrpSpPr>
          <p:cNvPr name="Group 51" id="51"/>
          <p:cNvGrpSpPr/>
          <p:nvPr/>
        </p:nvGrpSpPr>
        <p:grpSpPr>
          <a:xfrm rot="0">
            <a:off x="15869412" y="3113532"/>
            <a:ext cx="1810512" cy="685800"/>
            <a:chOff x="0" y="0"/>
            <a:chExt cx="2414016" cy="914400"/>
          </a:xfrm>
        </p:grpSpPr>
        <p:sp>
          <p:nvSpPr>
            <p:cNvPr name="Freeform 52" id="52"/>
            <p:cNvSpPr/>
            <p:nvPr/>
          </p:nvSpPr>
          <p:spPr>
            <a:xfrm flipH="false" flipV="false" rot="0">
              <a:off x="0" y="0"/>
              <a:ext cx="2414016" cy="914400"/>
            </a:xfrm>
            <a:custGeom>
              <a:avLst/>
              <a:gdLst/>
              <a:ahLst/>
              <a:cxnLst/>
              <a:rect r="r" b="b" t="t" l="l"/>
              <a:pathLst>
                <a:path h="914400" w="2414016">
                  <a:moveTo>
                    <a:pt x="0" y="0"/>
                  </a:moveTo>
                  <a:lnTo>
                    <a:pt x="2414016" y="0"/>
                  </a:lnTo>
                  <a:lnTo>
                    <a:pt x="2414016" y="914400"/>
                  </a:lnTo>
                  <a:lnTo>
                    <a:pt x="0" y="914400"/>
                  </a:lnTo>
                  <a:close/>
                </a:path>
              </a:pathLst>
            </a:custGeom>
            <a:blipFill>
              <a:blip r:embed="rId2">
                <a:alphaModFix amt="0"/>
              </a:blip>
              <a:stretch>
                <a:fillRect l="0" t="-1440" r="0" b="-1440"/>
              </a:stretch>
            </a:blipFill>
          </p:spPr>
        </p:sp>
        <p:sp>
          <p:nvSpPr>
            <p:cNvPr name="TextBox 53" id="53"/>
            <p:cNvSpPr txBox="true"/>
            <p:nvPr/>
          </p:nvSpPr>
          <p:spPr>
            <a:xfrm>
              <a:off x="0" y="-28575"/>
              <a:ext cx="2414016" cy="942975"/>
            </a:xfrm>
            <a:prstGeom prst="rect">
              <a:avLst/>
            </a:prstGeom>
          </p:spPr>
          <p:txBody>
            <a:bodyPr anchor="ctr" rtlCol="false" tIns="0" lIns="0" bIns="0" rIns="0"/>
            <a:lstStyle/>
            <a:p>
              <a:pPr algn="ctr">
                <a:lnSpc>
                  <a:spcPts val="1620"/>
                </a:lnSpc>
              </a:pPr>
              <a:r>
                <a:rPr lang="en-US" sz="1350" b="true">
                  <a:solidFill>
                    <a:srgbClr val="00E5C7"/>
                  </a:solidFill>
                  <a:latin typeface="Consolas Bold"/>
                  <a:ea typeface="Consolas Bold"/>
                  <a:cs typeface="Consolas Bold"/>
                  <a:sym typeface="Consolas Bold"/>
                </a:rPr>
                <a:t>grafana</a:t>
              </a:r>
            </a:p>
          </p:txBody>
        </p:sp>
      </p:grpSp>
      <p:grpSp>
        <p:nvGrpSpPr>
          <p:cNvPr name="Group 54" id="54"/>
          <p:cNvGrpSpPr/>
          <p:nvPr/>
        </p:nvGrpSpPr>
        <p:grpSpPr>
          <a:xfrm rot="0">
            <a:off x="822960" y="4320540"/>
            <a:ext cx="16596360" cy="548640"/>
            <a:chOff x="0" y="0"/>
            <a:chExt cx="22128480" cy="731520"/>
          </a:xfrm>
        </p:grpSpPr>
        <p:sp>
          <p:nvSpPr>
            <p:cNvPr name="Freeform 55" id="55"/>
            <p:cNvSpPr/>
            <p:nvPr/>
          </p:nvSpPr>
          <p:spPr>
            <a:xfrm flipH="false" flipV="false" rot="0">
              <a:off x="0" y="0"/>
              <a:ext cx="22128480" cy="731520"/>
            </a:xfrm>
            <a:custGeom>
              <a:avLst/>
              <a:gdLst/>
              <a:ahLst/>
              <a:cxnLst/>
              <a:rect r="r" b="b" t="t" l="l"/>
              <a:pathLst>
                <a:path h="731520" w="22128480">
                  <a:moveTo>
                    <a:pt x="0" y="0"/>
                  </a:moveTo>
                  <a:lnTo>
                    <a:pt x="22128480" y="0"/>
                  </a:lnTo>
                  <a:lnTo>
                    <a:pt x="22128480" y="731520"/>
                  </a:lnTo>
                  <a:lnTo>
                    <a:pt x="0" y="731520"/>
                  </a:lnTo>
                  <a:close/>
                </a:path>
              </a:pathLst>
            </a:custGeom>
            <a:blipFill>
              <a:blip r:embed="rId2">
                <a:alphaModFix amt="0"/>
              </a:blip>
              <a:stretch>
                <a:fillRect l="0" t="-539422" r="0" b="-539422"/>
              </a:stretch>
            </a:blipFill>
          </p:spPr>
        </p:sp>
        <p:sp>
          <p:nvSpPr>
            <p:cNvPr name="TextBox 56" id="56"/>
            <p:cNvSpPr txBox="true"/>
            <p:nvPr/>
          </p:nvSpPr>
          <p:spPr>
            <a:xfrm>
              <a:off x="0" y="-38100"/>
              <a:ext cx="22128480" cy="769620"/>
            </a:xfrm>
            <a:prstGeom prst="rect">
              <a:avLst/>
            </a:prstGeom>
          </p:spPr>
          <p:txBody>
            <a:bodyPr anchor="ctr" rtlCol="false" tIns="0" lIns="0" bIns="0" rIns="0"/>
            <a:lstStyle/>
            <a:p>
              <a:pPr algn="ctr">
                <a:lnSpc>
                  <a:spcPts val="2070"/>
                </a:lnSpc>
              </a:pPr>
              <a:r>
                <a:rPr lang="en-US" sz="1725" i="true">
                  <a:solidFill>
                    <a:srgbClr val="9FB0C9"/>
                  </a:solidFill>
                  <a:latin typeface="Calibri (MS) Italics"/>
                  <a:ea typeface="Calibri (MS) Italics"/>
                  <a:cs typeface="Calibri (MS) Italics"/>
                  <a:sym typeface="Calibri (MS) Italics"/>
                </a:rPr>
                <a:t>8 isolated services orchestrated by Docker Compose over a single bridge network (mlops_network)</a:t>
              </a:r>
            </a:p>
          </p:txBody>
        </p:sp>
      </p:grpSp>
      <p:grpSp>
        <p:nvGrpSpPr>
          <p:cNvPr name="Group 57" id="57"/>
          <p:cNvGrpSpPr/>
          <p:nvPr/>
        </p:nvGrpSpPr>
        <p:grpSpPr>
          <a:xfrm rot="0">
            <a:off x="813435" y="5271135"/>
            <a:ext cx="5436870" cy="3653790"/>
            <a:chOff x="0" y="0"/>
            <a:chExt cx="7249160" cy="4871720"/>
          </a:xfrm>
        </p:grpSpPr>
        <p:sp>
          <p:nvSpPr>
            <p:cNvPr name="Freeform 58" id="58"/>
            <p:cNvSpPr/>
            <p:nvPr/>
          </p:nvSpPr>
          <p:spPr>
            <a:xfrm flipH="false" flipV="false" rot="0">
              <a:off x="0" y="0"/>
              <a:ext cx="7249160" cy="4871720"/>
            </a:xfrm>
            <a:custGeom>
              <a:avLst/>
              <a:gdLst/>
              <a:ahLst/>
              <a:cxnLst/>
              <a:rect r="r" b="b" t="t" l="l"/>
              <a:pathLst>
                <a:path h="4871720" w="7249160">
                  <a:moveTo>
                    <a:pt x="0" y="147066"/>
                  </a:moveTo>
                  <a:cubicBezTo>
                    <a:pt x="0" y="65786"/>
                    <a:pt x="65786" y="0"/>
                    <a:pt x="147066" y="0"/>
                  </a:cubicBezTo>
                  <a:lnTo>
                    <a:pt x="7102094" y="0"/>
                  </a:lnTo>
                  <a:cubicBezTo>
                    <a:pt x="7183374" y="0"/>
                    <a:pt x="7249160" y="65786"/>
                    <a:pt x="7249160" y="147066"/>
                  </a:cubicBezTo>
                  <a:lnTo>
                    <a:pt x="7249160" y="4724654"/>
                  </a:lnTo>
                  <a:cubicBezTo>
                    <a:pt x="7249160" y="4805934"/>
                    <a:pt x="7183374" y="4871720"/>
                    <a:pt x="7102094" y="4871720"/>
                  </a:cubicBezTo>
                  <a:lnTo>
                    <a:pt x="147066" y="4871720"/>
                  </a:lnTo>
                  <a:cubicBezTo>
                    <a:pt x="65786" y="4871720"/>
                    <a:pt x="0" y="4805934"/>
                    <a:pt x="0" y="4724654"/>
                  </a:cubicBezTo>
                  <a:close/>
                </a:path>
              </a:pathLst>
            </a:custGeom>
            <a:solidFill>
              <a:srgbClr val="0F2038"/>
            </a:solidFill>
            <a:ln w="19050" cap="sq">
              <a:solidFill>
                <a:srgbClr val="1E3358"/>
              </a:solidFill>
              <a:prstDash val="solid"/>
              <a:miter/>
            </a:ln>
          </p:spPr>
        </p:sp>
      </p:grpSp>
      <p:grpSp>
        <p:nvGrpSpPr>
          <p:cNvPr name="Group 59" id="59"/>
          <p:cNvGrpSpPr/>
          <p:nvPr/>
        </p:nvGrpSpPr>
        <p:grpSpPr>
          <a:xfrm rot="0">
            <a:off x="1165860" y="5623560"/>
            <a:ext cx="754380" cy="754380"/>
            <a:chOff x="0" y="0"/>
            <a:chExt cx="1005840" cy="1005840"/>
          </a:xfrm>
        </p:grpSpPr>
        <p:sp>
          <p:nvSpPr>
            <p:cNvPr name="Freeform 60" id="60"/>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FFB020"/>
            </a:solidFill>
          </p:spPr>
        </p:sp>
      </p:grpSp>
      <p:grpSp>
        <p:nvGrpSpPr>
          <p:cNvPr name="Group 61" id="61"/>
          <p:cNvGrpSpPr/>
          <p:nvPr/>
        </p:nvGrpSpPr>
        <p:grpSpPr>
          <a:xfrm rot="0">
            <a:off x="1165860" y="5609844"/>
            <a:ext cx="754380" cy="754380"/>
            <a:chOff x="0" y="0"/>
            <a:chExt cx="1005840" cy="1005840"/>
          </a:xfrm>
        </p:grpSpPr>
        <p:sp>
          <p:nvSpPr>
            <p:cNvPr name="Freeform 62" id="62"/>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63" id="63"/>
            <p:cNvSpPr txBox="true"/>
            <p:nvPr/>
          </p:nvSpPr>
          <p:spPr>
            <a:xfrm>
              <a:off x="0" y="-38100"/>
              <a:ext cx="1005840" cy="1043940"/>
            </a:xfrm>
            <a:prstGeom prst="rect">
              <a:avLst/>
            </a:prstGeom>
          </p:spPr>
          <p:txBody>
            <a:bodyPr anchor="ctr" rtlCol="false" tIns="0" lIns="0" bIns="0" rIns="0"/>
            <a:lstStyle/>
            <a:p>
              <a:pPr algn="ctr">
                <a:lnSpc>
                  <a:spcPts val="2574"/>
                </a:lnSpc>
              </a:pPr>
              <a:r>
                <a:rPr lang="en-US" sz="2145" b="true">
                  <a:solidFill>
                    <a:srgbClr val="0A1428"/>
                  </a:solidFill>
                  <a:latin typeface="Calibri (MS) Bold"/>
                  <a:ea typeface="Calibri (MS) Bold"/>
                  <a:cs typeface="Calibri (MS) Bold"/>
                  <a:sym typeface="Calibri (MS) Bold"/>
                </a:rPr>
                <a:t>◒</a:t>
              </a:r>
            </a:p>
          </p:txBody>
        </p:sp>
      </p:grpSp>
      <p:grpSp>
        <p:nvGrpSpPr>
          <p:cNvPr name="Group 64" id="64"/>
          <p:cNvGrpSpPr/>
          <p:nvPr/>
        </p:nvGrpSpPr>
        <p:grpSpPr>
          <a:xfrm rot="0">
            <a:off x="1165860" y="6583680"/>
            <a:ext cx="4800600" cy="685800"/>
            <a:chOff x="0" y="0"/>
            <a:chExt cx="6400800" cy="914400"/>
          </a:xfrm>
        </p:grpSpPr>
        <p:sp>
          <p:nvSpPr>
            <p:cNvPr name="Freeform 65" id="65"/>
            <p:cNvSpPr/>
            <p:nvPr/>
          </p:nvSpPr>
          <p:spPr>
            <a:xfrm flipH="false" flipV="false" rot="0">
              <a:off x="0" y="0"/>
              <a:ext cx="6400800" cy="914400"/>
            </a:xfrm>
            <a:custGeom>
              <a:avLst/>
              <a:gdLst/>
              <a:ahLst/>
              <a:cxnLst/>
              <a:rect r="r" b="b" t="t" l="l"/>
              <a:pathLst>
                <a:path h="914400" w="6400800">
                  <a:moveTo>
                    <a:pt x="0" y="0"/>
                  </a:moveTo>
                  <a:lnTo>
                    <a:pt x="6400800" y="0"/>
                  </a:lnTo>
                  <a:lnTo>
                    <a:pt x="6400800" y="914400"/>
                  </a:lnTo>
                  <a:lnTo>
                    <a:pt x="0" y="914400"/>
                  </a:lnTo>
                  <a:close/>
                </a:path>
              </a:pathLst>
            </a:custGeom>
            <a:blipFill>
              <a:blip r:embed="rId2">
                <a:alphaModFix amt="0"/>
              </a:blip>
              <a:stretch>
                <a:fillRect l="0" t="-86395" r="0" b="-86395"/>
              </a:stretch>
            </a:blipFill>
          </p:spPr>
        </p:sp>
        <p:sp>
          <p:nvSpPr>
            <p:cNvPr name="TextBox 66" id="66"/>
            <p:cNvSpPr txBox="true"/>
            <p:nvPr/>
          </p:nvSpPr>
          <p:spPr>
            <a:xfrm>
              <a:off x="0" y="-47625"/>
              <a:ext cx="6400800" cy="962025"/>
            </a:xfrm>
            <a:prstGeom prst="rect">
              <a:avLst/>
            </a:prstGeom>
          </p:spPr>
          <p:txBody>
            <a:bodyPr anchor="ctr" rtlCol="false" tIns="0" lIns="0" bIns="0" rIns="0"/>
            <a:lstStyle/>
            <a:p>
              <a:pPr algn="l">
                <a:lnSpc>
                  <a:spcPts val="2340"/>
                </a:lnSpc>
              </a:pPr>
              <a:r>
                <a:rPr lang="en-US" sz="1950" b="true">
                  <a:solidFill>
                    <a:srgbClr val="FFFFFF"/>
                  </a:solidFill>
                  <a:latin typeface="Calibri (MS) Bold"/>
                  <a:ea typeface="Calibri (MS) Bold"/>
                  <a:cs typeface="Calibri (MS) Bold"/>
                  <a:sym typeface="Calibri (MS) Bold"/>
                </a:rPr>
                <a:t>python:3.10-slim base</a:t>
              </a:r>
            </a:p>
          </p:txBody>
        </p:sp>
      </p:grpSp>
      <p:grpSp>
        <p:nvGrpSpPr>
          <p:cNvPr name="Group 67" id="67"/>
          <p:cNvGrpSpPr/>
          <p:nvPr/>
        </p:nvGrpSpPr>
        <p:grpSpPr>
          <a:xfrm rot="0">
            <a:off x="1165860" y="7242048"/>
            <a:ext cx="4800600" cy="1508760"/>
            <a:chOff x="0" y="0"/>
            <a:chExt cx="6400800" cy="2011680"/>
          </a:xfrm>
        </p:grpSpPr>
        <p:sp>
          <p:nvSpPr>
            <p:cNvPr name="Freeform 68" id="68"/>
            <p:cNvSpPr/>
            <p:nvPr/>
          </p:nvSpPr>
          <p:spPr>
            <a:xfrm flipH="false" flipV="false" rot="0">
              <a:off x="0" y="0"/>
              <a:ext cx="6400800" cy="2011680"/>
            </a:xfrm>
            <a:custGeom>
              <a:avLst/>
              <a:gdLst/>
              <a:ahLst/>
              <a:cxnLst/>
              <a:rect r="r" b="b" t="t" l="l"/>
              <a:pathLst>
                <a:path h="2011680" w="6400800">
                  <a:moveTo>
                    <a:pt x="0" y="0"/>
                  </a:moveTo>
                  <a:lnTo>
                    <a:pt x="6400800" y="0"/>
                  </a:lnTo>
                  <a:lnTo>
                    <a:pt x="6400800" y="2011680"/>
                  </a:lnTo>
                  <a:lnTo>
                    <a:pt x="0" y="2011680"/>
                  </a:lnTo>
                  <a:close/>
                </a:path>
              </a:pathLst>
            </a:custGeom>
            <a:blipFill>
              <a:blip r:embed="rId2">
                <a:alphaModFix amt="0"/>
              </a:blip>
              <a:stretch>
                <a:fillRect l="0" t="-11997" r="0" b="-11997"/>
              </a:stretch>
            </a:blipFill>
          </p:spPr>
        </p:sp>
        <p:sp>
          <p:nvSpPr>
            <p:cNvPr name="TextBox 69" id="69"/>
            <p:cNvSpPr txBox="true"/>
            <p:nvPr/>
          </p:nvSpPr>
          <p:spPr>
            <a:xfrm>
              <a:off x="0" y="-19050"/>
              <a:ext cx="6400800" cy="2030730"/>
            </a:xfrm>
            <a:prstGeom prst="rect">
              <a:avLst/>
            </a:prstGeom>
          </p:spPr>
          <p:txBody>
            <a:bodyPr anchor="ctr" rtlCol="false" tIns="0" lIns="0" bIns="0" rIns="0"/>
            <a:lstStyle/>
            <a:p>
              <a:pPr algn="l">
                <a:lnSpc>
                  <a:spcPts val="1889"/>
                </a:lnSpc>
              </a:pPr>
              <a:r>
                <a:rPr lang="en-US" sz="1575">
                  <a:solidFill>
                    <a:srgbClr val="9FB0C9"/>
                  </a:solidFill>
                  <a:latin typeface="Calibri (MS)"/>
                  <a:ea typeface="Calibri (MS)"/>
                  <a:cs typeface="Calibri (MS)"/>
                  <a:sym typeface="Calibri (MS)"/>
                </a:rPr>
                <a:t>Minimizes attack surface by excluding unneeded system packages.</a:t>
              </a:r>
            </a:p>
          </p:txBody>
        </p:sp>
      </p:grpSp>
      <p:grpSp>
        <p:nvGrpSpPr>
          <p:cNvPr name="Group 70" id="70"/>
          <p:cNvGrpSpPr/>
          <p:nvPr/>
        </p:nvGrpSpPr>
        <p:grpSpPr>
          <a:xfrm rot="0">
            <a:off x="6505575" y="5271135"/>
            <a:ext cx="5436870" cy="3653790"/>
            <a:chOff x="0" y="0"/>
            <a:chExt cx="7249160" cy="4871720"/>
          </a:xfrm>
        </p:grpSpPr>
        <p:sp>
          <p:nvSpPr>
            <p:cNvPr name="Freeform 71" id="71"/>
            <p:cNvSpPr/>
            <p:nvPr/>
          </p:nvSpPr>
          <p:spPr>
            <a:xfrm flipH="false" flipV="false" rot="0">
              <a:off x="0" y="0"/>
              <a:ext cx="7249160" cy="4871720"/>
            </a:xfrm>
            <a:custGeom>
              <a:avLst/>
              <a:gdLst/>
              <a:ahLst/>
              <a:cxnLst/>
              <a:rect r="r" b="b" t="t" l="l"/>
              <a:pathLst>
                <a:path h="4871720" w="7249160">
                  <a:moveTo>
                    <a:pt x="0" y="147066"/>
                  </a:moveTo>
                  <a:cubicBezTo>
                    <a:pt x="0" y="65786"/>
                    <a:pt x="65786" y="0"/>
                    <a:pt x="147066" y="0"/>
                  </a:cubicBezTo>
                  <a:lnTo>
                    <a:pt x="7102094" y="0"/>
                  </a:lnTo>
                  <a:cubicBezTo>
                    <a:pt x="7183374" y="0"/>
                    <a:pt x="7249160" y="65786"/>
                    <a:pt x="7249160" y="147066"/>
                  </a:cubicBezTo>
                  <a:lnTo>
                    <a:pt x="7249160" y="4724654"/>
                  </a:lnTo>
                  <a:cubicBezTo>
                    <a:pt x="7249160" y="4805934"/>
                    <a:pt x="7183374" y="4871720"/>
                    <a:pt x="7102094" y="4871720"/>
                  </a:cubicBezTo>
                  <a:lnTo>
                    <a:pt x="147066" y="4871720"/>
                  </a:lnTo>
                  <a:cubicBezTo>
                    <a:pt x="65786" y="4871720"/>
                    <a:pt x="0" y="4805934"/>
                    <a:pt x="0" y="4724654"/>
                  </a:cubicBezTo>
                  <a:close/>
                </a:path>
              </a:pathLst>
            </a:custGeom>
            <a:solidFill>
              <a:srgbClr val="0F2038"/>
            </a:solidFill>
            <a:ln w="19050" cap="sq">
              <a:solidFill>
                <a:srgbClr val="1E3358"/>
              </a:solidFill>
              <a:prstDash val="solid"/>
              <a:miter/>
            </a:ln>
          </p:spPr>
        </p:sp>
      </p:grpSp>
      <p:grpSp>
        <p:nvGrpSpPr>
          <p:cNvPr name="Group 72" id="72"/>
          <p:cNvGrpSpPr/>
          <p:nvPr/>
        </p:nvGrpSpPr>
        <p:grpSpPr>
          <a:xfrm rot="0">
            <a:off x="6858000" y="5623560"/>
            <a:ext cx="754380" cy="754380"/>
            <a:chOff x="0" y="0"/>
            <a:chExt cx="1005840" cy="1005840"/>
          </a:xfrm>
        </p:grpSpPr>
        <p:sp>
          <p:nvSpPr>
            <p:cNvPr name="Freeform 73" id="73"/>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FFB020"/>
            </a:solidFill>
          </p:spPr>
        </p:sp>
      </p:grpSp>
      <p:grpSp>
        <p:nvGrpSpPr>
          <p:cNvPr name="Group 74" id="74"/>
          <p:cNvGrpSpPr/>
          <p:nvPr/>
        </p:nvGrpSpPr>
        <p:grpSpPr>
          <a:xfrm rot="0">
            <a:off x="6858000" y="5609844"/>
            <a:ext cx="754380" cy="754380"/>
            <a:chOff x="0" y="0"/>
            <a:chExt cx="1005840" cy="1005840"/>
          </a:xfrm>
        </p:grpSpPr>
        <p:sp>
          <p:nvSpPr>
            <p:cNvPr name="Freeform 75" id="75"/>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76" id="76"/>
            <p:cNvSpPr txBox="true"/>
            <p:nvPr/>
          </p:nvSpPr>
          <p:spPr>
            <a:xfrm>
              <a:off x="0" y="-38100"/>
              <a:ext cx="1005840" cy="1043940"/>
            </a:xfrm>
            <a:prstGeom prst="rect">
              <a:avLst/>
            </a:prstGeom>
          </p:spPr>
          <p:txBody>
            <a:bodyPr anchor="ctr" rtlCol="false" tIns="0" lIns="0" bIns="0" rIns="0"/>
            <a:lstStyle/>
            <a:p>
              <a:pPr algn="ctr">
                <a:lnSpc>
                  <a:spcPts val="2574"/>
                </a:lnSpc>
              </a:pPr>
              <a:r>
                <a:rPr lang="en-US" sz="2145" b="true">
                  <a:solidFill>
                    <a:srgbClr val="0A1428"/>
                  </a:solidFill>
                  <a:latin typeface="Calibri (MS) Bold"/>
                  <a:ea typeface="Calibri (MS) Bold"/>
                  <a:cs typeface="Calibri (MS) Bold"/>
                  <a:sym typeface="Calibri (MS) Bold"/>
                </a:rPr>
                <a:t>⌗</a:t>
              </a:r>
            </a:p>
          </p:txBody>
        </p:sp>
      </p:grpSp>
      <p:grpSp>
        <p:nvGrpSpPr>
          <p:cNvPr name="Group 77" id="77"/>
          <p:cNvGrpSpPr/>
          <p:nvPr/>
        </p:nvGrpSpPr>
        <p:grpSpPr>
          <a:xfrm rot="0">
            <a:off x="6858000" y="6583680"/>
            <a:ext cx="4800600" cy="685800"/>
            <a:chOff x="0" y="0"/>
            <a:chExt cx="6400800" cy="914400"/>
          </a:xfrm>
        </p:grpSpPr>
        <p:sp>
          <p:nvSpPr>
            <p:cNvPr name="Freeform 78" id="78"/>
            <p:cNvSpPr/>
            <p:nvPr/>
          </p:nvSpPr>
          <p:spPr>
            <a:xfrm flipH="false" flipV="false" rot="0">
              <a:off x="0" y="0"/>
              <a:ext cx="6400800" cy="914400"/>
            </a:xfrm>
            <a:custGeom>
              <a:avLst/>
              <a:gdLst/>
              <a:ahLst/>
              <a:cxnLst/>
              <a:rect r="r" b="b" t="t" l="l"/>
              <a:pathLst>
                <a:path h="914400" w="6400800">
                  <a:moveTo>
                    <a:pt x="0" y="0"/>
                  </a:moveTo>
                  <a:lnTo>
                    <a:pt x="6400800" y="0"/>
                  </a:lnTo>
                  <a:lnTo>
                    <a:pt x="6400800" y="914400"/>
                  </a:lnTo>
                  <a:lnTo>
                    <a:pt x="0" y="914400"/>
                  </a:lnTo>
                  <a:close/>
                </a:path>
              </a:pathLst>
            </a:custGeom>
            <a:blipFill>
              <a:blip r:embed="rId2">
                <a:alphaModFix amt="0"/>
              </a:blip>
              <a:stretch>
                <a:fillRect l="0" t="-86395" r="0" b="-86395"/>
              </a:stretch>
            </a:blipFill>
          </p:spPr>
        </p:sp>
        <p:sp>
          <p:nvSpPr>
            <p:cNvPr name="TextBox 79" id="79"/>
            <p:cNvSpPr txBox="true"/>
            <p:nvPr/>
          </p:nvSpPr>
          <p:spPr>
            <a:xfrm>
              <a:off x="0" y="-47625"/>
              <a:ext cx="6400800" cy="962025"/>
            </a:xfrm>
            <a:prstGeom prst="rect">
              <a:avLst/>
            </a:prstGeom>
          </p:spPr>
          <p:txBody>
            <a:bodyPr anchor="ctr" rtlCol="false" tIns="0" lIns="0" bIns="0" rIns="0"/>
            <a:lstStyle/>
            <a:p>
              <a:pPr algn="l">
                <a:lnSpc>
                  <a:spcPts val="2340"/>
                </a:lnSpc>
              </a:pPr>
              <a:r>
                <a:rPr lang="en-US" sz="1950" b="true">
                  <a:solidFill>
                    <a:srgbClr val="FFFFFF"/>
                  </a:solidFill>
                  <a:latin typeface="Calibri (MS) Bold"/>
                  <a:ea typeface="Calibri (MS) Bold"/>
                  <a:cs typeface="Calibri (MS) Bold"/>
                  <a:sym typeface="Calibri (MS) Bold"/>
                </a:rPr>
                <a:t>Unbuffered logs</a:t>
              </a:r>
            </a:p>
          </p:txBody>
        </p:sp>
      </p:grpSp>
      <p:grpSp>
        <p:nvGrpSpPr>
          <p:cNvPr name="Group 80" id="80"/>
          <p:cNvGrpSpPr/>
          <p:nvPr/>
        </p:nvGrpSpPr>
        <p:grpSpPr>
          <a:xfrm rot="0">
            <a:off x="6858000" y="7242048"/>
            <a:ext cx="4800600" cy="1508760"/>
            <a:chOff x="0" y="0"/>
            <a:chExt cx="6400800" cy="2011680"/>
          </a:xfrm>
        </p:grpSpPr>
        <p:sp>
          <p:nvSpPr>
            <p:cNvPr name="Freeform 81" id="81"/>
            <p:cNvSpPr/>
            <p:nvPr/>
          </p:nvSpPr>
          <p:spPr>
            <a:xfrm flipH="false" flipV="false" rot="0">
              <a:off x="0" y="0"/>
              <a:ext cx="6400800" cy="2011680"/>
            </a:xfrm>
            <a:custGeom>
              <a:avLst/>
              <a:gdLst/>
              <a:ahLst/>
              <a:cxnLst/>
              <a:rect r="r" b="b" t="t" l="l"/>
              <a:pathLst>
                <a:path h="2011680" w="6400800">
                  <a:moveTo>
                    <a:pt x="0" y="0"/>
                  </a:moveTo>
                  <a:lnTo>
                    <a:pt x="6400800" y="0"/>
                  </a:lnTo>
                  <a:lnTo>
                    <a:pt x="6400800" y="2011680"/>
                  </a:lnTo>
                  <a:lnTo>
                    <a:pt x="0" y="2011680"/>
                  </a:lnTo>
                  <a:close/>
                </a:path>
              </a:pathLst>
            </a:custGeom>
            <a:blipFill>
              <a:blip r:embed="rId2">
                <a:alphaModFix amt="0"/>
              </a:blip>
              <a:stretch>
                <a:fillRect l="0" t="-11997" r="0" b="-11997"/>
              </a:stretch>
            </a:blipFill>
          </p:spPr>
        </p:sp>
        <p:sp>
          <p:nvSpPr>
            <p:cNvPr name="TextBox 82" id="82"/>
            <p:cNvSpPr txBox="true"/>
            <p:nvPr/>
          </p:nvSpPr>
          <p:spPr>
            <a:xfrm>
              <a:off x="0" y="-19050"/>
              <a:ext cx="6400800" cy="2030730"/>
            </a:xfrm>
            <a:prstGeom prst="rect">
              <a:avLst/>
            </a:prstGeom>
          </p:spPr>
          <p:txBody>
            <a:bodyPr anchor="ctr" rtlCol="false" tIns="0" lIns="0" bIns="0" rIns="0"/>
            <a:lstStyle/>
            <a:p>
              <a:pPr algn="l">
                <a:lnSpc>
                  <a:spcPts val="1889"/>
                </a:lnSpc>
              </a:pPr>
              <a:r>
                <a:rPr lang="en-US" sz="1575">
                  <a:solidFill>
                    <a:srgbClr val="9FB0C9"/>
                  </a:solidFill>
                  <a:latin typeface="Calibri (MS)"/>
                  <a:ea typeface="Calibri (MS)"/>
                  <a:cs typeface="Calibri (MS)"/>
                  <a:sym typeface="Calibri (MS)"/>
                </a:rPr>
                <a:t>PYTHONUNBUFFERED=1 ensures logs are immediately available for monitoring.</a:t>
              </a:r>
            </a:p>
          </p:txBody>
        </p:sp>
      </p:grpSp>
      <p:grpSp>
        <p:nvGrpSpPr>
          <p:cNvPr name="Group 83" id="83"/>
          <p:cNvGrpSpPr/>
          <p:nvPr/>
        </p:nvGrpSpPr>
        <p:grpSpPr>
          <a:xfrm rot="0">
            <a:off x="12197715" y="5271135"/>
            <a:ext cx="5436870" cy="3653790"/>
            <a:chOff x="0" y="0"/>
            <a:chExt cx="7249160" cy="4871720"/>
          </a:xfrm>
        </p:grpSpPr>
        <p:sp>
          <p:nvSpPr>
            <p:cNvPr name="Freeform 84" id="84"/>
            <p:cNvSpPr/>
            <p:nvPr/>
          </p:nvSpPr>
          <p:spPr>
            <a:xfrm flipH="false" flipV="false" rot="0">
              <a:off x="0" y="0"/>
              <a:ext cx="7249160" cy="4871720"/>
            </a:xfrm>
            <a:custGeom>
              <a:avLst/>
              <a:gdLst/>
              <a:ahLst/>
              <a:cxnLst/>
              <a:rect r="r" b="b" t="t" l="l"/>
              <a:pathLst>
                <a:path h="4871720" w="7249160">
                  <a:moveTo>
                    <a:pt x="0" y="147066"/>
                  </a:moveTo>
                  <a:cubicBezTo>
                    <a:pt x="0" y="65786"/>
                    <a:pt x="65786" y="0"/>
                    <a:pt x="147066" y="0"/>
                  </a:cubicBezTo>
                  <a:lnTo>
                    <a:pt x="7102094" y="0"/>
                  </a:lnTo>
                  <a:cubicBezTo>
                    <a:pt x="7183374" y="0"/>
                    <a:pt x="7249160" y="65786"/>
                    <a:pt x="7249160" y="147066"/>
                  </a:cubicBezTo>
                  <a:lnTo>
                    <a:pt x="7249160" y="4724654"/>
                  </a:lnTo>
                  <a:cubicBezTo>
                    <a:pt x="7249160" y="4805934"/>
                    <a:pt x="7183374" y="4871720"/>
                    <a:pt x="7102094" y="4871720"/>
                  </a:cubicBezTo>
                  <a:lnTo>
                    <a:pt x="147066" y="4871720"/>
                  </a:lnTo>
                  <a:cubicBezTo>
                    <a:pt x="65786" y="4871720"/>
                    <a:pt x="0" y="4805934"/>
                    <a:pt x="0" y="4724654"/>
                  </a:cubicBezTo>
                  <a:close/>
                </a:path>
              </a:pathLst>
            </a:custGeom>
            <a:solidFill>
              <a:srgbClr val="0F2038"/>
            </a:solidFill>
            <a:ln w="19050" cap="sq">
              <a:solidFill>
                <a:srgbClr val="1E3358"/>
              </a:solidFill>
              <a:prstDash val="solid"/>
              <a:miter/>
            </a:ln>
          </p:spPr>
        </p:sp>
      </p:grpSp>
      <p:grpSp>
        <p:nvGrpSpPr>
          <p:cNvPr name="Group 85" id="85"/>
          <p:cNvGrpSpPr/>
          <p:nvPr/>
        </p:nvGrpSpPr>
        <p:grpSpPr>
          <a:xfrm rot="0">
            <a:off x="12550140" y="5623560"/>
            <a:ext cx="754380" cy="754380"/>
            <a:chOff x="0" y="0"/>
            <a:chExt cx="1005840" cy="1005840"/>
          </a:xfrm>
        </p:grpSpPr>
        <p:sp>
          <p:nvSpPr>
            <p:cNvPr name="Freeform 86" id="86"/>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FFB020"/>
            </a:solidFill>
          </p:spPr>
        </p:sp>
      </p:grpSp>
      <p:grpSp>
        <p:nvGrpSpPr>
          <p:cNvPr name="Group 87" id="87"/>
          <p:cNvGrpSpPr/>
          <p:nvPr/>
        </p:nvGrpSpPr>
        <p:grpSpPr>
          <a:xfrm rot="0">
            <a:off x="12550140" y="5609844"/>
            <a:ext cx="754380" cy="754380"/>
            <a:chOff x="0" y="0"/>
            <a:chExt cx="1005840" cy="1005840"/>
          </a:xfrm>
        </p:grpSpPr>
        <p:sp>
          <p:nvSpPr>
            <p:cNvPr name="Freeform 88" id="88"/>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89" id="89"/>
            <p:cNvSpPr txBox="true"/>
            <p:nvPr/>
          </p:nvSpPr>
          <p:spPr>
            <a:xfrm>
              <a:off x="0" y="-38100"/>
              <a:ext cx="1005840" cy="1043940"/>
            </a:xfrm>
            <a:prstGeom prst="rect">
              <a:avLst/>
            </a:prstGeom>
          </p:spPr>
          <p:txBody>
            <a:bodyPr anchor="ctr" rtlCol="false" tIns="0" lIns="0" bIns="0" rIns="0"/>
            <a:lstStyle/>
            <a:p>
              <a:pPr algn="ctr">
                <a:lnSpc>
                  <a:spcPts val="2574"/>
                </a:lnSpc>
              </a:pPr>
              <a:r>
                <a:rPr lang="en-US" sz="2145" b="true">
                  <a:solidFill>
                    <a:srgbClr val="0A1428"/>
                  </a:solidFill>
                  <a:latin typeface="Calibri (MS) Bold"/>
                  <a:ea typeface="Calibri (MS) Bold"/>
                  <a:cs typeface="Calibri (MS) Bold"/>
                  <a:sym typeface="Calibri (MS) Bold"/>
                </a:rPr>
                <a:t>◫</a:t>
              </a:r>
            </a:p>
          </p:txBody>
        </p:sp>
      </p:grpSp>
      <p:grpSp>
        <p:nvGrpSpPr>
          <p:cNvPr name="Group 90" id="90"/>
          <p:cNvGrpSpPr/>
          <p:nvPr/>
        </p:nvGrpSpPr>
        <p:grpSpPr>
          <a:xfrm rot="0">
            <a:off x="12550140" y="6583680"/>
            <a:ext cx="4800600" cy="685800"/>
            <a:chOff x="0" y="0"/>
            <a:chExt cx="6400800" cy="914400"/>
          </a:xfrm>
        </p:grpSpPr>
        <p:sp>
          <p:nvSpPr>
            <p:cNvPr name="Freeform 91" id="91"/>
            <p:cNvSpPr/>
            <p:nvPr/>
          </p:nvSpPr>
          <p:spPr>
            <a:xfrm flipH="false" flipV="false" rot="0">
              <a:off x="0" y="0"/>
              <a:ext cx="6400800" cy="914400"/>
            </a:xfrm>
            <a:custGeom>
              <a:avLst/>
              <a:gdLst/>
              <a:ahLst/>
              <a:cxnLst/>
              <a:rect r="r" b="b" t="t" l="l"/>
              <a:pathLst>
                <a:path h="914400" w="6400800">
                  <a:moveTo>
                    <a:pt x="0" y="0"/>
                  </a:moveTo>
                  <a:lnTo>
                    <a:pt x="6400800" y="0"/>
                  </a:lnTo>
                  <a:lnTo>
                    <a:pt x="6400800" y="914400"/>
                  </a:lnTo>
                  <a:lnTo>
                    <a:pt x="0" y="914400"/>
                  </a:lnTo>
                  <a:close/>
                </a:path>
              </a:pathLst>
            </a:custGeom>
            <a:blipFill>
              <a:blip r:embed="rId2">
                <a:alphaModFix amt="0"/>
              </a:blip>
              <a:stretch>
                <a:fillRect l="0" t="-86395" r="0" b="-86395"/>
              </a:stretch>
            </a:blipFill>
          </p:spPr>
        </p:sp>
        <p:sp>
          <p:nvSpPr>
            <p:cNvPr name="TextBox 92" id="92"/>
            <p:cNvSpPr txBox="true"/>
            <p:nvPr/>
          </p:nvSpPr>
          <p:spPr>
            <a:xfrm>
              <a:off x="0" y="-47625"/>
              <a:ext cx="6400800" cy="962025"/>
            </a:xfrm>
            <a:prstGeom prst="rect">
              <a:avLst/>
            </a:prstGeom>
          </p:spPr>
          <p:txBody>
            <a:bodyPr anchor="ctr" rtlCol="false" tIns="0" lIns="0" bIns="0" rIns="0"/>
            <a:lstStyle/>
            <a:p>
              <a:pPr algn="l">
                <a:lnSpc>
                  <a:spcPts val="2340"/>
                </a:lnSpc>
              </a:pPr>
              <a:r>
                <a:rPr lang="en-US" sz="1950" b="true">
                  <a:solidFill>
                    <a:srgbClr val="FFFFFF"/>
                  </a:solidFill>
                  <a:latin typeface="Calibri (MS) Bold"/>
                  <a:ea typeface="Calibri (MS) Bold"/>
                  <a:cs typeface="Calibri (MS) Bold"/>
                  <a:sym typeface="Calibri (MS) Bold"/>
                </a:rPr>
                <a:t>Non-root execution</a:t>
              </a:r>
            </a:p>
          </p:txBody>
        </p:sp>
      </p:grpSp>
      <p:grpSp>
        <p:nvGrpSpPr>
          <p:cNvPr name="Group 93" id="93"/>
          <p:cNvGrpSpPr/>
          <p:nvPr/>
        </p:nvGrpSpPr>
        <p:grpSpPr>
          <a:xfrm rot="0">
            <a:off x="12550140" y="7242048"/>
            <a:ext cx="4800600" cy="1508760"/>
            <a:chOff x="0" y="0"/>
            <a:chExt cx="6400800" cy="2011680"/>
          </a:xfrm>
        </p:grpSpPr>
        <p:sp>
          <p:nvSpPr>
            <p:cNvPr name="Freeform 94" id="94"/>
            <p:cNvSpPr/>
            <p:nvPr/>
          </p:nvSpPr>
          <p:spPr>
            <a:xfrm flipH="false" flipV="false" rot="0">
              <a:off x="0" y="0"/>
              <a:ext cx="6400800" cy="2011680"/>
            </a:xfrm>
            <a:custGeom>
              <a:avLst/>
              <a:gdLst/>
              <a:ahLst/>
              <a:cxnLst/>
              <a:rect r="r" b="b" t="t" l="l"/>
              <a:pathLst>
                <a:path h="2011680" w="6400800">
                  <a:moveTo>
                    <a:pt x="0" y="0"/>
                  </a:moveTo>
                  <a:lnTo>
                    <a:pt x="6400800" y="0"/>
                  </a:lnTo>
                  <a:lnTo>
                    <a:pt x="6400800" y="2011680"/>
                  </a:lnTo>
                  <a:lnTo>
                    <a:pt x="0" y="2011680"/>
                  </a:lnTo>
                  <a:close/>
                </a:path>
              </a:pathLst>
            </a:custGeom>
            <a:blipFill>
              <a:blip r:embed="rId2">
                <a:alphaModFix amt="0"/>
              </a:blip>
              <a:stretch>
                <a:fillRect l="0" t="-11997" r="0" b="-11997"/>
              </a:stretch>
            </a:blipFill>
          </p:spPr>
        </p:sp>
        <p:sp>
          <p:nvSpPr>
            <p:cNvPr name="TextBox 95" id="95"/>
            <p:cNvSpPr txBox="true"/>
            <p:nvPr/>
          </p:nvSpPr>
          <p:spPr>
            <a:xfrm>
              <a:off x="0" y="-19050"/>
              <a:ext cx="6400800" cy="2030730"/>
            </a:xfrm>
            <a:prstGeom prst="rect">
              <a:avLst/>
            </a:prstGeom>
          </p:spPr>
          <p:txBody>
            <a:bodyPr anchor="ctr" rtlCol="false" tIns="0" lIns="0" bIns="0" rIns="0"/>
            <a:lstStyle/>
            <a:p>
              <a:pPr algn="l">
                <a:lnSpc>
                  <a:spcPts val="1889"/>
                </a:lnSpc>
              </a:pPr>
              <a:r>
                <a:rPr lang="en-US" sz="1575">
                  <a:solidFill>
                    <a:srgbClr val="9FB0C9"/>
                  </a:solidFill>
                  <a:latin typeface="Calibri (MS)"/>
                  <a:ea typeface="Calibri (MS)"/>
                  <a:cs typeface="Calibri (MS)"/>
                  <a:sym typeface="Calibri (MS)"/>
                </a:rPr>
                <a:t>Containers run as a dedicated appuser — limits blast radius of any container escape.</a:t>
              </a:r>
            </a:p>
          </p:txBody>
        </p:sp>
      </p:grpSp>
      <p:grpSp>
        <p:nvGrpSpPr>
          <p:cNvPr name="Group 96" id="96"/>
          <p:cNvGrpSpPr/>
          <p:nvPr/>
        </p:nvGrpSpPr>
        <p:grpSpPr>
          <a:xfrm rot="0">
            <a:off x="685800" y="9710928"/>
            <a:ext cx="10972800" cy="411480"/>
            <a:chOff x="0" y="0"/>
            <a:chExt cx="14630400" cy="548640"/>
          </a:xfrm>
        </p:grpSpPr>
        <p:sp>
          <p:nvSpPr>
            <p:cNvPr name="Freeform 97" id="9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98" id="9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spc="149">
                  <a:solidFill>
                    <a:srgbClr val="6E84A6"/>
                  </a:solidFill>
                  <a:latin typeface="Calibri (MS)"/>
                  <a:ea typeface="Calibri (MS)"/>
                  <a:cs typeface="Calibri (MS)"/>
                  <a:sym typeface="Calibri (MS)"/>
                </a:rPr>
                <a:t>MLSECOPS PLATFORM · DEVOPS, SECURITY &amp; DEPLOYMENT</a:t>
              </a:r>
            </a:p>
          </p:txBody>
        </p:sp>
      </p:grpSp>
      <p:grpSp>
        <p:nvGrpSpPr>
          <p:cNvPr name="Group 99" id="99"/>
          <p:cNvGrpSpPr/>
          <p:nvPr/>
        </p:nvGrpSpPr>
        <p:grpSpPr>
          <a:xfrm rot="0">
            <a:off x="16500348" y="9710928"/>
            <a:ext cx="1097280" cy="411480"/>
            <a:chOff x="0" y="0"/>
            <a:chExt cx="1463040" cy="548640"/>
          </a:xfrm>
        </p:grpSpPr>
        <p:sp>
          <p:nvSpPr>
            <p:cNvPr name="Freeform 100" id="100"/>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101" id="101"/>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29 / 32</a:t>
              </a:r>
            </a:p>
          </p:txBody>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DEVOPS, SECURITY &amp; DEPLOYMENT</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8</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Marwan Ait-Tamanait — DevOps Engineer</a:t>
              </a:r>
            </a:p>
          </p:txBody>
        </p:sp>
      </p:grpSp>
      <p:grpSp>
        <p:nvGrpSpPr>
          <p:cNvPr name="Group 11" id="11"/>
          <p:cNvGrpSpPr/>
          <p:nvPr/>
        </p:nvGrpSpPr>
        <p:grpSpPr>
          <a:xfrm rot="0">
            <a:off x="822960" y="1069848"/>
            <a:ext cx="16596360" cy="1303020"/>
            <a:chOff x="0" y="0"/>
            <a:chExt cx="22128480" cy="1737360"/>
          </a:xfrm>
        </p:grpSpPr>
        <p:sp>
          <p:nvSpPr>
            <p:cNvPr name="Freeform 12" id="12"/>
            <p:cNvSpPr/>
            <p:nvPr/>
          </p:nvSpPr>
          <p:spPr>
            <a:xfrm flipH="false" flipV="false" rot="0">
              <a:off x="0" y="0"/>
              <a:ext cx="22128480" cy="1737360"/>
            </a:xfrm>
            <a:custGeom>
              <a:avLst/>
              <a:gdLst/>
              <a:ahLst/>
              <a:cxnLst/>
              <a:rect r="r" b="b" t="t" l="l"/>
              <a:pathLst>
                <a:path h="1737360" w="22128480">
                  <a:moveTo>
                    <a:pt x="0" y="0"/>
                  </a:moveTo>
                  <a:lnTo>
                    <a:pt x="22128480" y="0"/>
                  </a:lnTo>
                  <a:lnTo>
                    <a:pt x="22128480" y="1737360"/>
                  </a:lnTo>
                  <a:lnTo>
                    <a:pt x="0" y="1737360"/>
                  </a:lnTo>
                  <a:close/>
                </a:path>
              </a:pathLst>
            </a:custGeom>
            <a:blipFill>
              <a:blip r:embed="rId2">
                <a:alphaModFix amt="0"/>
              </a:blip>
              <a:stretch>
                <a:fillRect l="0" t="-198177" r="0" b="-198177"/>
              </a:stretch>
            </a:blipFill>
          </p:spPr>
        </p:sp>
        <p:sp>
          <p:nvSpPr>
            <p:cNvPr name="TextBox 13" id="13"/>
            <p:cNvSpPr txBox="true"/>
            <p:nvPr/>
          </p:nvSpPr>
          <p:spPr>
            <a:xfrm>
              <a:off x="0" y="-9525"/>
              <a:ext cx="22128480" cy="1746885"/>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CI/CD Pipeline &amp; Code Quality</a:t>
              </a:r>
            </a:p>
          </p:txBody>
        </p:sp>
      </p:grpSp>
      <p:grpSp>
        <p:nvGrpSpPr>
          <p:cNvPr name="Group 14" id="14"/>
          <p:cNvGrpSpPr/>
          <p:nvPr/>
        </p:nvGrpSpPr>
        <p:grpSpPr>
          <a:xfrm rot="0">
            <a:off x="813435" y="2870835"/>
            <a:ext cx="3928110" cy="3448050"/>
            <a:chOff x="0" y="0"/>
            <a:chExt cx="5237480" cy="4597400"/>
          </a:xfrm>
        </p:grpSpPr>
        <p:sp>
          <p:nvSpPr>
            <p:cNvPr name="Freeform 15" id="15"/>
            <p:cNvSpPr/>
            <p:nvPr/>
          </p:nvSpPr>
          <p:spPr>
            <a:xfrm flipH="false" flipV="false" rot="0">
              <a:off x="0" y="0"/>
              <a:ext cx="5237480" cy="4597400"/>
            </a:xfrm>
            <a:custGeom>
              <a:avLst/>
              <a:gdLst/>
              <a:ahLst/>
              <a:cxnLst/>
              <a:rect r="r" b="b" t="t" l="l"/>
              <a:pathLst>
                <a:path h="4597400" w="5237480">
                  <a:moveTo>
                    <a:pt x="0" y="147066"/>
                  </a:moveTo>
                  <a:cubicBezTo>
                    <a:pt x="0" y="65913"/>
                    <a:pt x="65913" y="0"/>
                    <a:pt x="147066" y="0"/>
                  </a:cubicBezTo>
                  <a:lnTo>
                    <a:pt x="5090414" y="0"/>
                  </a:lnTo>
                  <a:cubicBezTo>
                    <a:pt x="5171694" y="0"/>
                    <a:pt x="5237480" y="65913"/>
                    <a:pt x="5237480" y="147066"/>
                  </a:cubicBezTo>
                  <a:lnTo>
                    <a:pt x="5237480" y="4450334"/>
                  </a:lnTo>
                  <a:cubicBezTo>
                    <a:pt x="5237480" y="4531614"/>
                    <a:pt x="5171567" y="4597400"/>
                    <a:pt x="5090414" y="4597400"/>
                  </a:cubicBezTo>
                  <a:lnTo>
                    <a:pt x="147066" y="4597400"/>
                  </a:lnTo>
                  <a:cubicBezTo>
                    <a:pt x="65913" y="4597400"/>
                    <a:pt x="0" y="4531487"/>
                    <a:pt x="0" y="4450334"/>
                  </a:cubicBezTo>
                  <a:close/>
                </a:path>
              </a:pathLst>
            </a:custGeom>
            <a:solidFill>
              <a:srgbClr val="0F2038"/>
            </a:solidFill>
            <a:ln w="19050" cap="sq">
              <a:solidFill>
                <a:srgbClr val="1E3358"/>
              </a:solidFill>
              <a:prstDash val="solid"/>
              <a:miter/>
            </a:ln>
          </p:spPr>
        </p:sp>
      </p:grpSp>
      <p:grpSp>
        <p:nvGrpSpPr>
          <p:cNvPr name="Group 16" id="16"/>
          <p:cNvGrpSpPr/>
          <p:nvPr/>
        </p:nvGrpSpPr>
        <p:grpSpPr>
          <a:xfrm rot="0">
            <a:off x="1165860" y="3223260"/>
            <a:ext cx="685800" cy="685800"/>
            <a:chOff x="0" y="0"/>
            <a:chExt cx="914400" cy="914400"/>
          </a:xfrm>
        </p:grpSpPr>
        <p:sp>
          <p:nvSpPr>
            <p:cNvPr name="Freeform 17" id="17"/>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E5C7"/>
            </a:solidFill>
          </p:spPr>
        </p:sp>
      </p:grpSp>
      <p:grpSp>
        <p:nvGrpSpPr>
          <p:cNvPr name="Group 18" id="18"/>
          <p:cNvGrpSpPr/>
          <p:nvPr/>
        </p:nvGrpSpPr>
        <p:grpSpPr>
          <a:xfrm rot="0">
            <a:off x="1165860" y="3209544"/>
            <a:ext cx="685800" cy="685800"/>
            <a:chOff x="0" y="0"/>
            <a:chExt cx="914400" cy="914400"/>
          </a:xfrm>
        </p:grpSpPr>
        <p:sp>
          <p:nvSpPr>
            <p:cNvPr name="Freeform 19" id="19"/>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03" t="0" r="-78303" b="0"/>
              </a:stretch>
            </a:blipFill>
          </p:spPr>
        </p:sp>
        <p:sp>
          <p:nvSpPr>
            <p:cNvPr name="TextBox 20" id="20"/>
            <p:cNvSpPr txBox="true"/>
            <p:nvPr/>
          </p:nvSpPr>
          <p:spPr>
            <a:xfrm>
              <a:off x="0" y="-47625"/>
              <a:ext cx="914400" cy="962025"/>
            </a:xfrm>
            <a:prstGeom prst="rect">
              <a:avLst/>
            </a:prstGeom>
          </p:spPr>
          <p:txBody>
            <a:bodyPr anchor="ctr" rtlCol="false" tIns="0" lIns="0" bIns="0" rIns="0"/>
            <a:lstStyle/>
            <a:p>
              <a:pPr algn="ctr">
                <a:lnSpc>
                  <a:spcPts val="2340"/>
                </a:lnSpc>
              </a:pPr>
              <a:r>
                <a:rPr lang="en-US" sz="1950" b="true">
                  <a:solidFill>
                    <a:srgbClr val="0A1428"/>
                  </a:solidFill>
                  <a:latin typeface="Calibri (MS) Bold"/>
                  <a:ea typeface="Calibri (MS) Bold"/>
                  <a:cs typeface="Calibri (MS) Bold"/>
                  <a:sym typeface="Calibri (MS) Bold"/>
                </a:rPr>
                <a:t>1</a:t>
              </a:r>
            </a:p>
          </p:txBody>
        </p:sp>
      </p:grpSp>
      <p:grpSp>
        <p:nvGrpSpPr>
          <p:cNvPr name="Group 21" id="21"/>
          <p:cNvGrpSpPr/>
          <p:nvPr/>
        </p:nvGrpSpPr>
        <p:grpSpPr>
          <a:xfrm rot="0">
            <a:off x="1097280" y="4183380"/>
            <a:ext cx="3360420" cy="548640"/>
            <a:chOff x="0" y="0"/>
            <a:chExt cx="4480560" cy="731520"/>
          </a:xfrm>
        </p:grpSpPr>
        <p:sp>
          <p:nvSpPr>
            <p:cNvPr name="Freeform 22" id="22"/>
            <p:cNvSpPr/>
            <p:nvPr/>
          </p:nvSpPr>
          <p:spPr>
            <a:xfrm flipH="false" flipV="false" rot="0">
              <a:off x="0" y="0"/>
              <a:ext cx="4480560" cy="731520"/>
            </a:xfrm>
            <a:custGeom>
              <a:avLst/>
              <a:gdLst/>
              <a:ahLst/>
              <a:cxnLst/>
              <a:rect r="r" b="b" t="t" l="l"/>
              <a:pathLst>
                <a:path h="731520" w="4480560">
                  <a:moveTo>
                    <a:pt x="0" y="0"/>
                  </a:moveTo>
                  <a:lnTo>
                    <a:pt x="4480560" y="0"/>
                  </a:lnTo>
                  <a:lnTo>
                    <a:pt x="4480560" y="731520"/>
                  </a:lnTo>
                  <a:lnTo>
                    <a:pt x="0" y="731520"/>
                  </a:lnTo>
                  <a:close/>
                </a:path>
              </a:pathLst>
            </a:custGeom>
            <a:blipFill>
              <a:blip r:embed="rId2">
                <a:alphaModFix amt="0"/>
              </a:blip>
              <a:stretch>
                <a:fillRect l="0" t="-69345" r="0" b="-69345"/>
              </a:stretch>
            </a:blipFill>
          </p:spPr>
        </p:sp>
        <p:sp>
          <p:nvSpPr>
            <p:cNvPr name="TextBox 23" id="23"/>
            <p:cNvSpPr txBox="true"/>
            <p:nvPr/>
          </p:nvSpPr>
          <p:spPr>
            <a:xfrm>
              <a:off x="0" y="-38100"/>
              <a:ext cx="4480560" cy="769620"/>
            </a:xfrm>
            <a:prstGeom prst="rect">
              <a:avLst/>
            </a:prstGeom>
          </p:spPr>
          <p:txBody>
            <a:bodyPr anchor="ctr" rtlCol="false" tIns="0" lIns="0" bIns="0" rIns="0"/>
            <a:lstStyle/>
            <a:p>
              <a:pPr algn="l">
                <a:lnSpc>
                  <a:spcPts val="2430"/>
                </a:lnSpc>
              </a:pPr>
              <a:r>
                <a:rPr lang="en-US" sz="2025" b="true">
                  <a:solidFill>
                    <a:srgbClr val="FFFFFF"/>
                  </a:solidFill>
                  <a:latin typeface="Calibri (MS) Bold"/>
                  <a:ea typeface="Calibri (MS) Bold"/>
                  <a:cs typeface="Calibri (MS) Bold"/>
                  <a:sym typeface="Calibri (MS) Bold"/>
                </a:rPr>
                <a:t>Pre-commit</a:t>
              </a:r>
            </a:p>
          </p:txBody>
        </p:sp>
      </p:grpSp>
      <p:grpSp>
        <p:nvGrpSpPr>
          <p:cNvPr name="Group 24" id="24"/>
          <p:cNvGrpSpPr/>
          <p:nvPr/>
        </p:nvGrpSpPr>
        <p:grpSpPr>
          <a:xfrm rot="0">
            <a:off x="1097280" y="4732020"/>
            <a:ext cx="3360420" cy="1371600"/>
            <a:chOff x="0" y="0"/>
            <a:chExt cx="4480560" cy="1828800"/>
          </a:xfrm>
        </p:grpSpPr>
        <p:sp>
          <p:nvSpPr>
            <p:cNvPr name="Freeform 25" id="25"/>
            <p:cNvSpPr/>
            <p:nvPr/>
          </p:nvSpPr>
          <p:spPr>
            <a:xfrm flipH="false" flipV="false" rot="0">
              <a:off x="0" y="0"/>
              <a:ext cx="4480560" cy="1828800"/>
            </a:xfrm>
            <a:custGeom>
              <a:avLst/>
              <a:gdLst/>
              <a:ahLst/>
              <a:cxnLst/>
              <a:rect r="r" b="b" t="t" l="l"/>
              <a:pathLst>
                <a:path h="1828800" w="4480560">
                  <a:moveTo>
                    <a:pt x="0" y="0"/>
                  </a:moveTo>
                  <a:lnTo>
                    <a:pt x="4480560" y="0"/>
                  </a:lnTo>
                  <a:lnTo>
                    <a:pt x="4480560" y="1828800"/>
                  </a:lnTo>
                  <a:lnTo>
                    <a:pt x="0" y="1828800"/>
                  </a:lnTo>
                  <a:close/>
                </a:path>
              </a:pathLst>
            </a:custGeom>
            <a:blipFill>
              <a:blip r:embed="rId2">
                <a:alphaModFix amt="0"/>
              </a:blip>
              <a:stretch>
                <a:fillRect l="-2368" t="0" r="-2368" b="0"/>
              </a:stretch>
            </a:blipFill>
          </p:spPr>
        </p:sp>
        <p:sp>
          <p:nvSpPr>
            <p:cNvPr name="TextBox 26" id="26"/>
            <p:cNvSpPr txBox="true"/>
            <p:nvPr/>
          </p:nvSpPr>
          <p:spPr>
            <a:xfrm>
              <a:off x="0" y="-38100"/>
              <a:ext cx="4480560" cy="186690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Black formatting, YAML checks, large-file guard</a:t>
              </a:r>
            </a:p>
          </p:txBody>
        </p:sp>
      </p:grpSp>
      <p:sp>
        <p:nvSpPr>
          <p:cNvPr name="AutoShape 27" id="27"/>
          <p:cNvSpPr/>
          <p:nvPr/>
        </p:nvSpPr>
        <p:spPr>
          <a:xfrm rot="355320">
            <a:off x="4744422" y="4585335"/>
            <a:ext cx="276939" cy="0"/>
          </a:xfrm>
          <a:prstGeom prst="line">
            <a:avLst/>
          </a:prstGeom>
          <a:ln cap="rnd" w="19050">
            <a:solidFill>
              <a:srgbClr val="6E84A6"/>
            </a:solidFill>
            <a:prstDash val="solid"/>
            <a:headEnd type="none" len="sm" w="sm"/>
            <a:tailEnd type="triangle" len="med" w="lg"/>
          </a:ln>
        </p:spPr>
      </p:sp>
      <p:grpSp>
        <p:nvGrpSpPr>
          <p:cNvPr name="Group 28" id="28"/>
          <p:cNvGrpSpPr/>
          <p:nvPr/>
        </p:nvGrpSpPr>
        <p:grpSpPr>
          <a:xfrm rot="0">
            <a:off x="5024247" y="2870835"/>
            <a:ext cx="3928110" cy="3448050"/>
            <a:chOff x="0" y="0"/>
            <a:chExt cx="5237480" cy="4597400"/>
          </a:xfrm>
        </p:grpSpPr>
        <p:sp>
          <p:nvSpPr>
            <p:cNvPr name="Freeform 29" id="29"/>
            <p:cNvSpPr/>
            <p:nvPr/>
          </p:nvSpPr>
          <p:spPr>
            <a:xfrm flipH="false" flipV="false" rot="0">
              <a:off x="0" y="0"/>
              <a:ext cx="5237480" cy="4597400"/>
            </a:xfrm>
            <a:custGeom>
              <a:avLst/>
              <a:gdLst/>
              <a:ahLst/>
              <a:cxnLst/>
              <a:rect r="r" b="b" t="t" l="l"/>
              <a:pathLst>
                <a:path h="4597400" w="5237480">
                  <a:moveTo>
                    <a:pt x="0" y="147066"/>
                  </a:moveTo>
                  <a:cubicBezTo>
                    <a:pt x="0" y="65913"/>
                    <a:pt x="65913" y="0"/>
                    <a:pt x="147066" y="0"/>
                  </a:cubicBezTo>
                  <a:lnTo>
                    <a:pt x="5090414" y="0"/>
                  </a:lnTo>
                  <a:cubicBezTo>
                    <a:pt x="5171694" y="0"/>
                    <a:pt x="5237480" y="65913"/>
                    <a:pt x="5237480" y="147066"/>
                  </a:cubicBezTo>
                  <a:lnTo>
                    <a:pt x="5237480" y="4450334"/>
                  </a:lnTo>
                  <a:cubicBezTo>
                    <a:pt x="5237480" y="4531614"/>
                    <a:pt x="5171567" y="4597400"/>
                    <a:pt x="5090414" y="4597400"/>
                  </a:cubicBezTo>
                  <a:lnTo>
                    <a:pt x="147066" y="4597400"/>
                  </a:lnTo>
                  <a:cubicBezTo>
                    <a:pt x="65913" y="4597400"/>
                    <a:pt x="0" y="4531487"/>
                    <a:pt x="0" y="4450334"/>
                  </a:cubicBezTo>
                  <a:close/>
                </a:path>
              </a:pathLst>
            </a:custGeom>
            <a:solidFill>
              <a:srgbClr val="0F2038"/>
            </a:solidFill>
            <a:ln w="19050" cap="sq">
              <a:solidFill>
                <a:srgbClr val="1E3358"/>
              </a:solidFill>
              <a:prstDash val="solid"/>
              <a:miter/>
            </a:ln>
          </p:spPr>
        </p:sp>
      </p:grpSp>
      <p:grpSp>
        <p:nvGrpSpPr>
          <p:cNvPr name="Group 30" id="30"/>
          <p:cNvGrpSpPr/>
          <p:nvPr/>
        </p:nvGrpSpPr>
        <p:grpSpPr>
          <a:xfrm rot="0">
            <a:off x="5376672" y="3223260"/>
            <a:ext cx="685800" cy="685800"/>
            <a:chOff x="0" y="0"/>
            <a:chExt cx="914400" cy="914400"/>
          </a:xfrm>
        </p:grpSpPr>
        <p:sp>
          <p:nvSpPr>
            <p:cNvPr name="Freeform 31" id="31"/>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E5C7"/>
            </a:solidFill>
          </p:spPr>
        </p:sp>
      </p:grpSp>
      <p:grpSp>
        <p:nvGrpSpPr>
          <p:cNvPr name="Group 32" id="32"/>
          <p:cNvGrpSpPr/>
          <p:nvPr/>
        </p:nvGrpSpPr>
        <p:grpSpPr>
          <a:xfrm rot="0">
            <a:off x="5376672" y="3209544"/>
            <a:ext cx="685800" cy="685800"/>
            <a:chOff x="0" y="0"/>
            <a:chExt cx="914400" cy="914400"/>
          </a:xfrm>
        </p:grpSpPr>
        <p:sp>
          <p:nvSpPr>
            <p:cNvPr name="Freeform 33" id="33"/>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03" t="0" r="-78303" b="0"/>
              </a:stretch>
            </a:blipFill>
          </p:spPr>
        </p:sp>
        <p:sp>
          <p:nvSpPr>
            <p:cNvPr name="TextBox 34" id="34"/>
            <p:cNvSpPr txBox="true"/>
            <p:nvPr/>
          </p:nvSpPr>
          <p:spPr>
            <a:xfrm>
              <a:off x="0" y="-47625"/>
              <a:ext cx="914400" cy="962025"/>
            </a:xfrm>
            <a:prstGeom prst="rect">
              <a:avLst/>
            </a:prstGeom>
          </p:spPr>
          <p:txBody>
            <a:bodyPr anchor="ctr" rtlCol="false" tIns="0" lIns="0" bIns="0" rIns="0"/>
            <a:lstStyle/>
            <a:p>
              <a:pPr algn="ctr">
                <a:lnSpc>
                  <a:spcPts val="2340"/>
                </a:lnSpc>
              </a:pPr>
              <a:r>
                <a:rPr lang="en-US" sz="1950" b="true">
                  <a:solidFill>
                    <a:srgbClr val="0A1428"/>
                  </a:solidFill>
                  <a:latin typeface="Calibri (MS) Bold"/>
                  <a:ea typeface="Calibri (MS) Bold"/>
                  <a:cs typeface="Calibri (MS) Bold"/>
                  <a:sym typeface="Calibri (MS) Bold"/>
                </a:rPr>
                <a:t>2</a:t>
              </a:r>
            </a:p>
          </p:txBody>
        </p:sp>
      </p:grpSp>
      <p:grpSp>
        <p:nvGrpSpPr>
          <p:cNvPr name="Group 35" id="35"/>
          <p:cNvGrpSpPr/>
          <p:nvPr/>
        </p:nvGrpSpPr>
        <p:grpSpPr>
          <a:xfrm rot="0">
            <a:off x="5308092" y="4183380"/>
            <a:ext cx="3360420" cy="548640"/>
            <a:chOff x="0" y="0"/>
            <a:chExt cx="4480560" cy="731520"/>
          </a:xfrm>
        </p:grpSpPr>
        <p:sp>
          <p:nvSpPr>
            <p:cNvPr name="Freeform 36" id="36"/>
            <p:cNvSpPr/>
            <p:nvPr/>
          </p:nvSpPr>
          <p:spPr>
            <a:xfrm flipH="false" flipV="false" rot="0">
              <a:off x="0" y="0"/>
              <a:ext cx="4480560" cy="731520"/>
            </a:xfrm>
            <a:custGeom>
              <a:avLst/>
              <a:gdLst/>
              <a:ahLst/>
              <a:cxnLst/>
              <a:rect r="r" b="b" t="t" l="l"/>
              <a:pathLst>
                <a:path h="731520" w="4480560">
                  <a:moveTo>
                    <a:pt x="0" y="0"/>
                  </a:moveTo>
                  <a:lnTo>
                    <a:pt x="4480560" y="0"/>
                  </a:lnTo>
                  <a:lnTo>
                    <a:pt x="4480560" y="731520"/>
                  </a:lnTo>
                  <a:lnTo>
                    <a:pt x="0" y="731520"/>
                  </a:lnTo>
                  <a:close/>
                </a:path>
              </a:pathLst>
            </a:custGeom>
            <a:blipFill>
              <a:blip r:embed="rId2">
                <a:alphaModFix amt="0"/>
              </a:blip>
              <a:stretch>
                <a:fillRect l="0" t="-69345" r="0" b="-69345"/>
              </a:stretch>
            </a:blipFill>
          </p:spPr>
        </p:sp>
        <p:sp>
          <p:nvSpPr>
            <p:cNvPr name="TextBox 37" id="37"/>
            <p:cNvSpPr txBox="true"/>
            <p:nvPr/>
          </p:nvSpPr>
          <p:spPr>
            <a:xfrm>
              <a:off x="0" y="-38100"/>
              <a:ext cx="4480560" cy="769620"/>
            </a:xfrm>
            <a:prstGeom prst="rect">
              <a:avLst/>
            </a:prstGeom>
          </p:spPr>
          <p:txBody>
            <a:bodyPr anchor="ctr" rtlCol="false" tIns="0" lIns="0" bIns="0" rIns="0"/>
            <a:lstStyle/>
            <a:p>
              <a:pPr algn="l">
                <a:lnSpc>
                  <a:spcPts val="2430"/>
                </a:lnSpc>
              </a:pPr>
              <a:r>
                <a:rPr lang="en-US" sz="2025" b="true">
                  <a:solidFill>
                    <a:srgbClr val="FFFFFF"/>
                  </a:solidFill>
                  <a:latin typeface="Calibri (MS) Bold"/>
                  <a:ea typeface="Calibri (MS) Bold"/>
                  <a:cs typeface="Calibri (MS) Bold"/>
                  <a:sym typeface="Calibri (MS) Bold"/>
                </a:rPr>
                <a:t>Flake8</a:t>
              </a:r>
            </a:p>
          </p:txBody>
        </p:sp>
      </p:grpSp>
      <p:grpSp>
        <p:nvGrpSpPr>
          <p:cNvPr name="Group 38" id="38"/>
          <p:cNvGrpSpPr/>
          <p:nvPr/>
        </p:nvGrpSpPr>
        <p:grpSpPr>
          <a:xfrm rot="0">
            <a:off x="5308092" y="4732020"/>
            <a:ext cx="3360420" cy="1371600"/>
            <a:chOff x="0" y="0"/>
            <a:chExt cx="4480560" cy="1828800"/>
          </a:xfrm>
        </p:grpSpPr>
        <p:sp>
          <p:nvSpPr>
            <p:cNvPr name="Freeform 39" id="39"/>
            <p:cNvSpPr/>
            <p:nvPr/>
          </p:nvSpPr>
          <p:spPr>
            <a:xfrm flipH="false" flipV="false" rot="0">
              <a:off x="0" y="0"/>
              <a:ext cx="4480560" cy="1828800"/>
            </a:xfrm>
            <a:custGeom>
              <a:avLst/>
              <a:gdLst/>
              <a:ahLst/>
              <a:cxnLst/>
              <a:rect r="r" b="b" t="t" l="l"/>
              <a:pathLst>
                <a:path h="1828800" w="4480560">
                  <a:moveTo>
                    <a:pt x="0" y="0"/>
                  </a:moveTo>
                  <a:lnTo>
                    <a:pt x="4480560" y="0"/>
                  </a:lnTo>
                  <a:lnTo>
                    <a:pt x="4480560" y="1828800"/>
                  </a:lnTo>
                  <a:lnTo>
                    <a:pt x="0" y="1828800"/>
                  </a:lnTo>
                  <a:close/>
                </a:path>
              </a:pathLst>
            </a:custGeom>
            <a:blipFill>
              <a:blip r:embed="rId2">
                <a:alphaModFix amt="0"/>
              </a:blip>
              <a:stretch>
                <a:fillRect l="-2368" t="0" r="-2368" b="0"/>
              </a:stretch>
            </a:blipFill>
          </p:spPr>
        </p:sp>
        <p:sp>
          <p:nvSpPr>
            <p:cNvPr name="TextBox 40" id="40"/>
            <p:cNvSpPr txBox="true"/>
            <p:nvPr/>
          </p:nvSpPr>
          <p:spPr>
            <a:xfrm>
              <a:off x="0" y="-38100"/>
              <a:ext cx="4480560" cy="186690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Static analysis, complexity ≤ 10</a:t>
              </a:r>
            </a:p>
          </p:txBody>
        </p:sp>
      </p:grpSp>
      <p:sp>
        <p:nvSpPr>
          <p:cNvPr name="AutoShape 41" id="41"/>
          <p:cNvSpPr/>
          <p:nvPr/>
        </p:nvSpPr>
        <p:spPr>
          <a:xfrm rot="355320">
            <a:off x="8955234" y="4585335"/>
            <a:ext cx="276939" cy="0"/>
          </a:xfrm>
          <a:prstGeom prst="line">
            <a:avLst/>
          </a:prstGeom>
          <a:ln cap="rnd" w="19050">
            <a:solidFill>
              <a:srgbClr val="6E84A6"/>
            </a:solidFill>
            <a:prstDash val="solid"/>
            <a:headEnd type="none" len="sm" w="sm"/>
            <a:tailEnd type="triangle" len="med" w="lg"/>
          </a:ln>
        </p:spPr>
      </p:sp>
      <p:grpSp>
        <p:nvGrpSpPr>
          <p:cNvPr name="Group 42" id="42"/>
          <p:cNvGrpSpPr/>
          <p:nvPr/>
        </p:nvGrpSpPr>
        <p:grpSpPr>
          <a:xfrm rot="0">
            <a:off x="9235059" y="2870835"/>
            <a:ext cx="3928110" cy="3448050"/>
            <a:chOff x="0" y="0"/>
            <a:chExt cx="5237480" cy="4597400"/>
          </a:xfrm>
        </p:grpSpPr>
        <p:sp>
          <p:nvSpPr>
            <p:cNvPr name="Freeform 43" id="43"/>
            <p:cNvSpPr/>
            <p:nvPr/>
          </p:nvSpPr>
          <p:spPr>
            <a:xfrm flipH="false" flipV="false" rot="0">
              <a:off x="0" y="0"/>
              <a:ext cx="5237480" cy="4597400"/>
            </a:xfrm>
            <a:custGeom>
              <a:avLst/>
              <a:gdLst/>
              <a:ahLst/>
              <a:cxnLst/>
              <a:rect r="r" b="b" t="t" l="l"/>
              <a:pathLst>
                <a:path h="4597400" w="5237480">
                  <a:moveTo>
                    <a:pt x="0" y="147066"/>
                  </a:moveTo>
                  <a:cubicBezTo>
                    <a:pt x="0" y="65913"/>
                    <a:pt x="65913" y="0"/>
                    <a:pt x="147066" y="0"/>
                  </a:cubicBezTo>
                  <a:lnTo>
                    <a:pt x="5090414" y="0"/>
                  </a:lnTo>
                  <a:cubicBezTo>
                    <a:pt x="5171694" y="0"/>
                    <a:pt x="5237480" y="65913"/>
                    <a:pt x="5237480" y="147066"/>
                  </a:cubicBezTo>
                  <a:lnTo>
                    <a:pt x="5237480" y="4450334"/>
                  </a:lnTo>
                  <a:cubicBezTo>
                    <a:pt x="5237480" y="4531614"/>
                    <a:pt x="5171567" y="4597400"/>
                    <a:pt x="5090414" y="4597400"/>
                  </a:cubicBezTo>
                  <a:lnTo>
                    <a:pt x="147066" y="4597400"/>
                  </a:lnTo>
                  <a:cubicBezTo>
                    <a:pt x="65913" y="4597400"/>
                    <a:pt x="0" y="4531487"/>
                    <a:pt x="0" y="4450334"/>
                  </a:cubicBezTo>
                  <a:close/>
                </a:path>
              </a:pathLst>
            </a:custGeom>
            <a:solidFill>
              <a:srgbClr val="0F2038"/>
            </a:solidFill>
            <a:ln w="19050" cap="sq">
              <a:solidFill>
                <a:srgbClr val="1E3358"/>
              </a:solidFill>
              <a:prstDash val="solid"/>
              <a:miter/>
            </a:ln>
          </p:spPr>
        </p:sp>
      </p:grpSp>
      <p:grpSp>
        <p:nvGrpSpPr>
          <p:cNvPr name="Group 44" id="44"/>
          <p:cNvGrpSpPr/>
          <p:nvPr/>
        </p:nvGrpSpPr>
        <p:grpSpPr>
          <a:xfrm rot="0">
            <a:off x="9587484" y="3223260"/>
            <a:ext cx="685800" cy="685800"/>
            <a:chOff x="0" y="0"/>
            <a:chExt cx="914400" cy="914400"/>
          </a:xfrm>
        </p:grpSpPr>
        <p:sp>
          <p:nvSpPr>
            <p:cNvPr name="Freeform 45" id="45"/>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E5C7"/>
            </a:solidFill>
          </p:spPr>
        </p:sp>
      </p:grpSp>
      <p:grpSp>
        <p:nvGrpSpPr>
          <p:cNvPr name="Group 46" id="46"/>
          <p:cNvGrpSpPr/>
          <p:nvPr/>
        </p:nvGrpSpPr>
        <p:grpSpPr>
          <a:xfrm rot="0">
            <a:off x="9587484" y="3209544"/>
            <a:ext cx="685800" cy="685800"/>
            <a:chOff x="0" y="0"/>
            <a:chExt cx="914400" cy="914400"/>
          </a:xfrm>
        </p:grpSpPr>
        <p:sp>
          <p:nvSpPr>
            <p:cNvPr name="Freeform 47" id="47"/>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03" t="0" r="-78303" b="0"/>
              </a:stretch>
            </a:blipFill>
          </p:spPr>
        </p:sp>
        <p:sp>
          <p:nvSpPr>
            <p:cNvPr name="TextBox 48" id="48"/>
            <p:cNvSpPr txBox="true"/>
            <p:nvPr/>
          </p:nvSpPr>
          <p:spPr>
            <a:xfrm>
              <a:off x="0" y="-47625"/>
              <a:ext cx="914400" cy="962025"/>
            </a:xfrm>
            <a:prstGeom prst="rect">
              <a:avLst/>
            </a:prstGeom>
          </p:spPr>
          <p:txBody>
            <a:bodyPr anchor="ctr" rtlCol="false" tIns="0" lIns="0" bIns="0" rIns="0"/>
            <a:lstStyle/>
            <a:p>
              <a:pPr algn="ctr">
                <a:lnSpc>
                  <a:spcPts val="2340"/>
                </a:lnSpc>
              </a:pPr>
              <a:r>
                <a:rPr lang="en-US" sz="1950" b="true">
                  <a:solidFill>
                    <a:srgbClr val="0A1428"/>
                  </a:solidFill>
                  <a:latin typeface="Calibri (MS) Bold"/>
                  <a:ea typeface="Calibri (MS) Bold"/>
                  <a:cs typeface="Calibri (MS) Bold"/>
                  <a:sym typeface="Calibri (MS) Bold"/>
                </a:rPr>
                <a:t>3</a:t>
              </a:r>
            </a:p>
          </p:txBody>
        </p:sp>
      </p:grpSp>
      <p:grpSp>
        <p:nvGrpSpPr>
          <p:cNvPr name="Group 49" id="49"/>
          <p:cNvGrpSpPr/>
          <p:nvPr/>
        </p:nvGrpSpPr>
        <p:grpSpPr>
          <a:xfrm rot="0">
            <a:off x="9518904" y="4183380"/>
            <a:ext cx="3360420" cy="548640"/>
            <a:chOff x="0" y="0"/>
            <a:chExt cx="4480560" cy="731520"/>
          </a:xfrm>
        </p:grpSpPr>
        <p:sp>
          <p:nvSpPr>
            <p:cNvPr name="Freeform 50" id="50"/>
            <p:cNvSpPr/>
            <p:nvPr/>
          </p:nvSpPr>
          <p:spPr>
            <a:xfrm flipH="false" flipV="false" rot="0">
              <a:off x="0" y="0"/>
              <a:ext cx="4480560" cy="731520"/>
            </a:xfrm>
            <a:custGeom>
              <a:avLst/>
              <a:gdLst/>
              <a:ahLst/>
              <a:cxnLst/>
              <a:rect r="r" b="b" t="t" l="l"/>
              <a:pathLst>
                <a:path h="731520" w="4480560">
                  <a:moveTo>
                    <a:pt x="0" y="0"/>
                  </a:moveTo>
                  <a:lnTo>
                    <a:pt x="4480560" y="0"/>
                  </a:lnTo>
                  <a:lnTo>
                    <a:pt x="4480560" y="731520"/>
                  </a:lnTo>
                  <a:lnTo>
                    <a:pt x="0" y="731520"/>
                  </a:lnTo>
                  <a:close/>
                </a:path>
              </a:pathLst>
            </a:custGeom>
            <a:blipFill>
              <a:blip r:embed="rId2">
                <a:alphaModFix amt="0"/>
              </a:blip>
              <a:stretch>
                <a:fillRect l="0" t="-69345" r="0" b="-69345"/>
              </a:stretch>
            </a:blipFill>
          </p:spPr>
        </p:sp>
        <p:sp>
          <p:nvSpPr>
            <p:cNvPr name="TextBox 51" id="51"/>
            <p:cNvSpPr txBox="true"/>
            <p:nvPr/>
          </p:nvSpPr>
          <p:spPr>
            <a:xfrm>
              <a:off x="0" y="-38100"/>
              <a:ext cx="4480560" cy="769620"/>
            </a:xfrm>
            <a:prstGeom prst="rect">
              <a:avLst/>
            </a:prstGeom>
          </p:spPr>
          <p:txBody>
            <a:bodyPr anchor="ctr" rtlCol="false" tIns="0" lIns="0" bIns="0" rIns="0"/>
            <a:lstStyle/>
            <a:p>
              <a:pPr algn="l">
                <a:lnSpc>
                  <a:spcPts val="2430"/>
                </a:lnSpc>
              </a:pPr>
              <a:r>
                <a:rPr lang="en-US" sz="2025" b="true">
                  <a:solidFill>
                    <a:srgbClr val="FFFFFF"/>
                  </a:solidFill>
                  <a:latin typeface="Calibri (MS) Bold"/>
                  <a:ea typeface="Calibri (MS) Bold"/>
                  <a:cs typeface="Calibri (MS) Bold"/>
                  <a:sym typeface="Calibri (MS) Bold"/>
                </a:rPr>
                <a:t>Pytest</a:t>
              </a:r>
            </a:p>
          </p:txBody>
        </p:sp>
      </p:grpSp>
      <p:grpSp>
        <p:nvGrpSpPr>
          <p:cNvPr name="Group 52" id="52"/>
          <p:cNvGrpSpPr/>
          <p:nvPr/>
        </p:nvGrpSpPr>
        <p:grpSpPr>
          <a:xfrm rot="0">
            <a:off x="9518904" y="4732020"/>
            <a:ext cx="3360420" cy="1371600"/>
            <a:chOff x="0" y="0"/>
            <a:chExt cx="4480560" cy="1828800"/>
          </a:xfrm>
        </p:grpSpPr>
        <p:sp>
          <p:nvSpPr>
            <p:cNvPr name="Freeform 53" id="53"/>
            <p:cNvSpPr/>
            <p:nvPr/>
          </p:nvSpPr>
          <p:spPr>
            <a:xfrm flipH="false" flipV="false" rot="0">
              <a:off x="0" y="0"/>
              <a:ext cx="4480560" cy="1828800"/>
            </a:xfrm>
            <a:custGeom>
              <a:avLst/>
              <a:gdLst/>
              <a:ahLst/>
              <a:cxnLst/>
              <a:rect r="r" b="b" t="t" l="l"/>
              <a:pathLst>
                <a:path h="1828800" w="4480560">
                  <a:moveTo>
                    <a:pt x="0" y="0"/>
                  </a:moveTo>
                  <a:lnTo>
                    <a:pt x="4480560" y="0"/>
                  </a:lnTo>
                  <a:lnTo>
                    <a:pt x="4480560" y="1828800"/>
                  </a:lnTo>
                  <a:lnTo>
                    <a:pt x="0" y="1828800"/>
                  </a:lnTo>
                  <a:close/>
                </a:path>
              </a:pathLst>
            </a:custGeom>
            <a:blipFill>
              <a:blip r:embed="rId2">
                <a:alphaModFix amt="0"/>
              </a:blip>
              <a:stretch>
                <a:fillRect l="-2368" t="0" r="-2368" b="0"/>
              </a:stretch>
            </a:blipFill>
          </p:spPr>
        </p:sp>
        <p:sp>
          <p:nvSpPr>
            <p:cNvPr name="TextBox 54" id="54"/>
            <p:cNvSpPr txBox="true"/>
            <p:nvPr/>
          </p:nvSpPr>
          <p:spPr>
            <a:xfrm>
              <a:off x="0" y="-38100"/>
              <a:ext cx="4480560" cy="186690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Automated test suite execution</a:t>
              </a:r>
            </a:p>
          </p:txBody>
        </p:sp>
      </p:grpSp>
      <p:sp>
        <p:nvSpPr>
          <p:cNvPr name="AutoShape 55" id="55"/>
          <p:cNvSpPr/>
          <p:nvPr/>
        </p:nvSpPr>
        <p:spPr>
          <a:xfrm rot="355320">
            <a:off x="13166046" y="4585335"/>
            <a:ext cx="276939" cy="0"/>
          </a:xfrm>
          <a:prstGeom prst="line">
            <a:avLst/>
          </a:prstGeom>
          <a:ln cap="rnd" w="19050">
            <a:solidFill>
              <a:srgbClr val="6E84A6"/>
            </a:solidFill>
            <a:prstDash val="solid"/>
            <a:headEnd type="none" len="sm" w="sm"/>
            <a:tailEnd type="triangle" len="med" w="lg"/>
          </a:ln>
        </p:spPr>
      </p:sp>
      <p:grpSp>
        <p:nvGrpSpPr>
          <p:cNvPr name="Group 56" id="56"/>
          <p:cNvGrpSpPr/>
          <p:nvPr/>
        </p:nvGrpSpPr>
        <p:grpSpPr>
          <a:xfrm rot="0">
            <a:off x="13445871" y="2870835"/>
            <a:ext cx="3928110" cy="3448050"/>
            <a:chOff x="0" y="0"/>
            <a:chExt cx="5237480" cy="4597400"/>
          </a:xfrm>
        </p:grpSpPr>
        <p:sp>
          <p:nvSpPr>
            <p:cNvPr name="Freeform 57" id="57"/>
            <p:cNvSpPr/>
            <p:nvPr/>
          </p:nvSpPr>
          <p:spPr>
            <a:xfrm flipH="false" flipV="false" rot="0">
              <a:off x="0" y="0"/>
              <a:ext cx="5237480" cy="4597400"/>
            </a:xfrm>
            <a:custGeom>
              <a:avLst/>
              <a:gdLst/>
              <a:ahLst/>
              <a:cxnLst/>
              <a:rect r="r" b="b" t="t" l="l"/>
              <a:pathLst>
                <a:path h="4597400" w="5237480">
                  <a:moveTo>
                    <a:pt x="0" y="147066"/>
                  </a:moveTo>
                  <a:cubicBezTo>
                    <a:pt x="0" y="65913"/>
                    <a:pt x="65913" y="0"/>
                    <a:pt x="147066" y="0"/>
                  </a:cubicBezTo>
                  <a:lnTo>
                    <a:pt x="5090414" y="0"/>
                  </a:lnTo>
                  <a:cubicBezTo>
                    <a:pt x="5171694" y="0"/>
                    <a:pt x="5237480" y="65913"/>
                    <a:pt x="5237480" y="147066"/>
                  </a:cubicBezTo>
                  <a:lnTo>
                    <a:pt x="5237480" y="4450334"/>
                  </a:lnTo>
                  <a:cubicBezTo>
                    <a:pt x="5237480" y="4531614"/>
                    <a:pt x="5171567" y="4597400"/>
                    <a:pt x="5090414" y="4597400"/>
                  </a:cubicBezTo>
                  <a:lnTo>
                    <a:pt x="147066" y="4597400"/>
                  </a:lnTo>
                  <a:cubicBezTo>
                    <a:pt x="65913" y="4597400"/>
                    <a:pt x="0" y="4531487"/>
                    <a:pt x="0" y="4450334"/>
                  </a:cubicBezTo>
                  <a:close/>
                </a:path>
              </a:pathLst>
            </a:custGeom>
            <a:solidFill>
              <a:srgbClr val="12324A"/>
            </a:solidFill>
            <a:ln w="19050" cap="sq">
              <a:solidFill>
                <a:srgbClr val="00E5C7"/>
              </a:solidFill>
              <a:prstDash val="solid"/>
              <a:miter/>
            </a:ln>
          </p:spPr>
        </p:sp>
      </p:grpSp>
      <p:grpSp>
        <p:nvGrpSpPr>
          <p:cNvPr name="Group 58" id="58"/>
          <p:cNvGrpSpPr/>
          <p:nvPr/>
        </p:nvGrpSpPr>
        <p:grpSpPr>
          <a:xfrm rot="0">
            <a:off x="13798296" y="3223260"/>
            <a:ext cx="685800" cy="685800"/>
            <a:chOff x="0" y="0"/>
            <a:chExt cx="914400" cy="914400"/>
          </a:xfrm>
        </p:grpSpPr>
        <p:sp>
          <p:nvSpPr>
            <p:cNvPr name="Freeform 59" id="59"/>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E5C7"/>
            </a:solidFill>
          </p:spPr>
        </p:sp>
      </p:grpSp>
      <p:grpSp>
        <p:nvGrpSpPr>
          <p:cNvPr name="Group 60" id="60"/>
          <p:cNvGrpSpPr/>
          <p:nvPr/>
        </p:nvGrpSpPr>
        <p:grpSpPr>
          <a:xfrm rot="0">
            <a:off x="13798296" y="3209544"/>
            <a:ext cx="685800" cy="685800"/>
            <a:chOff x="0" y="0"/>
            <a:chExt cx="914400" cy="914400"/>
          </a:xfrm>
        </p:grpSpPr>
        <p:sp>
          <p:nvSpPr>
            <p:cNvPr name="Freeform 61" id="61"/>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03" t="0" r="-78303" b="0"/>
              </a:stretch>
            </a:blipFill>
          </p:spPr>
        </p:sp>
        <p:sp>
          <p:nvSpPr>
            <p:cNvPr name="TextBox 62" id="62"/>
            <p:cNvSpPr txBox="true"/>
            <p:nvPr/>
          </p:nvSpPr>
          <p:spPr>
            <a:xfrm>
              <a:off x="0" y="-47625"/>
              <a:ext cx="914400" cy="962025"/>
            </a:xfrm>
            <a:prstGeom prst="rect">
              <a:avLst/>
            </a:prstGeom>
          </p:spPr>
          <p:txBody>
            <a:bodyPr anchor="ctr" rtlCol="false" tIns="0" lIns="0" bIns="0" rIns="0"/>
            <a:lstStyle/>
            <a:p>
              <a:pPr algn="ctr">
                <a:lnSpc>
                  <a:spcPts val="2340"/>
                </a:lnSpc>
              </a:pPr>
              <a:r>
                <a:rPr lang="en-US" sz="1950" b="true">
                  <a:solidFill>
                    <a:srgbClr val="0A1428"/>
                  </a:solidFill>
                  <a:latin typeface="Calibri (MS) Bold"/>
                  <a:ea typeface="Calibri (MS) Bold"/>
                  <a:cs typeface="Calibri (MS) Bold"/>
                  <a:sym typeface="Calibri (MS) Bold"/>
                </a:rPr>
                <a:t>4</a:t>
              </a:r>
            </a:p>
          </p:txBody>
        </p:sp>
      </p:grpSp>
      <p:grpSp>
        <p:nvGrpSpPr>
          <p:cNvPr name="Group 63" id="63"/>
          <p:cNvGrpSpPr/>
          <p:nvPr/>
        </p:nvGrpSpPr>
        <p:grpSpPr>
          <a:xfrm rot="0">
            <a:off x="13729716" y="4183380"/>
            <a:ext cx="3360420" cy="548640"/>
            <a:chOff x="0" y="0"/>
            <a:chExt cx="4480560" cy="731520"/>
          </a:xfrm>
        </p:grpSpPr>
        <p:sp>
          <p:nvSpPr>
            <p:cNvPr name="Freeform 64" id="64"/>
            <p:cNvSpPr/>
            <p:nvPr/>
          </p:nvSpPr>
          <p:spPr>
            <a:xfrm flipH="false" flipV="false" rot="0">
              <a:off x="0" y="0"/>
              <a:ext cx="4480560" cy="731520"/>
            </a:xfrm>
            <a:custGeom>
              <a:avLst/>
              <a:gdLst/>
              <a:ahLst/>
              <a:cxnLst/>
              <a:rect r="r" b="b" t="t" l="l"/>
              <a:pathLst>
                <a:path h="731520" w="4480560">
                  <a:moveTo>
                    <a:pt x="0" y="0"/>
                  </a:moveTo>
                  <a:lnTo>
                    <a:pt x="4480560" y="0"/>
                  </a:lnTo>
                  <a:lnTo>
                    <a:pt x="4480560" y="731520"/>
                  </a:lnTo>
                  <a:lnTo>
                    <a:pt x="0" y="731520"/>
                  </a:lnTo>
                  <a:close/>
                </a:path>
              </a:pathLst>
            </a:custGeom>
            <a:blipFill>
              <a:blip r:embed="rId2">
                <a:alphaModFix amt="0"/>
              </a:blip>
              <a:stretch>
                <a:fillRect l="0" t="-69345" r="0" b="-69345"/>
              </a:stretch>
            </a:blipFill>
          </p:spPr>
        </p:sp>
        <p:sp>
          <p:nvSpPr>
            <p:cNvPr name="TextBox 65" id="65"/>
            <p:cNvSpPr txBox="true"/>
            <p:nvPr/>
          </p:nvSpPr>
          <p:spPr>
            <a:xfrm>
              <a:off x="0" y="-38100"/>
              <a:ext cx="4480560" cy="769620"/>
            </a:xfrm>
            <a:prstGeom prst="rect">
              <a:avLst/>
            </a:prstGeom>
          </p:spPr>
          <p:txBody>
            <a:bodyPr anchor="ctr" rtlCol="false" tIns="0" lIns="0" bIns="0" rIns="0"/>
            <a:lstStyle/>
            <a:p>
              <a:pPr algn="l">
                <a:lnSpc>
                  <a:spcPts val="2430"/>
                </a:lnSpc>
              </a:pPr>
              <a:r>
                <a:rPr lang="en-US" sz="2025" b="true">
                  <a:solidFill>
                    <a:srgbClr val="FFFFFF"/>
                  </a:solidFill>
                  <a:latin typeface="Calibri (MS) Bold"/>
                  <a:ea typeface="Calibri (MS) Bold"/>
                  <a:cs typeface="Calibri (MS) Bold"/>
                  <a:sym typeface="Calibri (MS) Bold"/>
                </a:rPr>
                <a:t>Docker Build</a:t>
              </a:r>
            </a:p>
          </p:txBody>
        </p:sp>
      </p:grpSp>
      <p:grpSp>
        <p:nvGrpSpPr>
          <p:cNvPr name="Group 66" id="66"/>
          <p:cNvGrpSpPr/>
          <p:nvPr/>
        </p:nvGrpSpPr>
        <p:grpSpPr>
          <a:xfrm rot="0">
            <a:off x="13729716" y="4732020"/>
            <a:ext cx="3360420" cy="1371600"/>
            <a:chOff x="0" y="0"/>
            <a:chExt cx="4480560" cy="1828800"/>
          </a:xfrm>
        </p:grpSpPr>
        <p:sp>
          <p:nvSpPr>
            <p:cNvPr name="Freeform 67" id="67"/>
            <p:cNvSpPr/>
            <p:nvPr/>
          </p:nvSpPr>
          <p:spPr>
            <a:xfrm flipH="false" flipV="false" rot="0">
              <a:off x="0" y="0"/>
              <a:ext cx="4480560" cy="1828800"/>
            </a:xfrm>
            <a:custGeom>
              <a:avLst/>
              <a:gdLst/>
              <a:ahLst/>
              <a:cxnLst/>
              <a:rect r="r" b="b" t="t" l="l"/>
              <a:pathLst>
                <a:path h="1828800" w="4480560">
                  <a:moveTo>
                    <a:pt x="0" y="0"/>
                  </a:moveTo>
                  <a:lnTo>
                    <a:pt x="4480560" y="0"/>
                  </a:lnTo>
                  <a:lnTo>
                    <a:pt x="4480560" y="1828800"/>
                  </a:lnTo>
                  <a:lnTo>
                    <a:pt x="0" y="1828800"/>
                  </a:lnTo>
                  <a:close/>
                </a:path>
              </a:pathLst>
            </a:custGeom>
            <a:blipFill>
              <a:blip r:embed="rId2">
                <a:alphaModFix amt="0"/>
              </a:blip>
              <a:stretch>
                <a:fillRect l="-2368" t="0" r="-2368" b="0"/>
              </a:stretch>
            </a:blipFill>
          </p:spPr>
        </p:sp>
        <p:sp>
          <p:nvSpPr>
            <p:cNvPr name="TextBox 68" id="68"/>
            <p:cNvSpPr txBox="true"/>
            <p:nvPr/>
          </p:nvSpPr>
          <p:spPr>
            <a:xfrm>
              <a:off x="0" y="-38100"/>
              <a:ext cx="4480560" cy="1866900"/>
            </a:xfrm>
            <a:prstGeom prst="rect">
              <a:avLst/>
            </a:prstGeom>
          </p:spPr>
          <p:txBody>
            <a:bodyPr anchor="ctr" rtlCol="false" tIns="0" lIns="0" bIns="0" rIns="0"/>
            <a:lstStyle/>
            <a:p>
              <a:pPr algn="l">
                <a:lnSpc>
                  <a:spcPts val="1800"/>
                </a:lnSpc>
              </a:pPr>
              <a:r>
                <a:rPr lang="en-US" sz="1500">
                  <a:solidFill>
                    <a:srgbClr val="9FB0C9"/>
                  </a:solidFill>
                  <a:latin typeface="Calibri (MS)"/>
                  <a:ea typeface="Calibri (MS)"/>
                  <a:cs typeface="Calibri (MS)"/>
                  <a:sym typeface="Calibri (MS)"/>
                </a:rPr>
                <a:t>Image build verification, tagged by Git SHA</a:t>
              </a:r>
            </a:p>
          </p:txBody>
        </p:sp>
      </p:grpSp>
      <p:grpSp>
        <p:nvGrpSpPr>
          <p:cNvPr name="Group 69" id="69"/>
          <p:cNvGrpSpPr/>
          <p:nvPr/>
        </p:nvGrpSpPr>
        <p:grpSpPr>
          <a:xfrm rot="0">
            <a:off x="813435" y="6711315"/>
            <a:ext cx="16615410" cy="2419350"/>
            <a:chOff x="0" y="0"/>
            <a:chExt cx="22153880" cy="3225800"/>
          </a:xfrm>
        </p:grpSpPr>
        <p:sp>
          <p:nvSpPr>
            <p:cNvPr name="Freeform 70" id="70"/>
            <p:cNvSpPr/>
            <p:nvPr/>
          </p:nvSpPr>
          <p:spPr>
            <a:xfrm flipH="false" flipV="false" rot="0">
              <a:off x="0" y="0"/>
              <a:ext cx="22153880" cy="3225800"/>
            </a:xfrm>
            <a:custGeom>
              <a:avLst/>
              <a:gdLst/>
              <a:ahLst/>
              <a:cxnLst/>
              <a:rect r="r" b="b" t="t" l="l"/>
              <a:pathLst>
                <a:path h="3225800" w="22153880">
                  <a:moveTo>
                    <a:pt x="0" y="147447"/>
                  </a:moveTo>
                  <a:cubicBezTo>
                    <a:pt x="0" y="66040"/>
                    <a:pt x="66040" y="0"/>
                    <a:pt x="147447" y="0"/>
                  </a:cubicBezTo>
                  <a:lnTo>
                    <a:pt x="22006433" y="0"/>
                  </a:lnTo>
                  <a:cubicBezTo>
                    <a:pt x="22087841" y="0"/>
                    <a:pt x="22153880" y="66040"/>
                    <a:pt x="22153880" y="147447"/>
                  </a:cubicBezTo>
                  <a:lnTo>
                    <a:pt x="22153880" y="3078353"/>
                  </a:lnTo>
                  <a:cubicBezTo>
                    <a:pt x="22153880" y="3159760"/>
                    <a:pt x="22087841" y="3225800"/>
                    <a:pt x="22006433" y="3225800"/>
                  </a:cubicBezTo>
                  <a:lnTo>
                    <a:pt x="147447" y="3225800"/>
                  </a:lnTo>
                  <a:cubicBezTo>
                    <a:pt x="66040" y="3225800"/>
                    <a:pt x="0" y="3159760"/>
                    <a:pt x="0" y="3078353"/>
                  </a:cubicBezTo>
                  <a:close/>
                </a:path>
              </a:pathLst>
            </a:custGeom>
            <a:solidFill>
              <a:srgbClr val="13294A"/>
            </a:solidFill>
            <a:ln w="19050" cap="sq">
              <a:solidFill>
                <a:srgbClr val="1E3358"/>
              </a:solidFill>
              <a:prstDash val="solid"/>
              <a:miter/>
            </a:ln>
          </p:spPr>
        </p:sp>
      </p:grpSp>
      <p:grpSp>
        <p:nvGrpSpPr>
          <p:cNvPr name="Group 71" id="71"/>
          <p:cNvGrpSpPr/>
          <p:nvPr/>
        </p:nvGrpSpPr>
        <p:grpSpPr>
          <a:xfrm rot="0">
            <a:off x="1234440" y="6967728"/>
            <a:ext cx="10972800" cy="411480"/>
            <a:chOff x="0" y="0"/>
            <a:chExt cx="14630400" cy="548640"/>
          </a:xfrm>
        </p:grpSpPr>
        <p:sp>
          <p:nvSpPr>
            <p:cNvPr name="Freeform 72" id="72"/>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73" id="73"/>
            <p:cNvSpPr txBox="true"/>
            <p:nvPr/>
          </p:nvSpPr>
          <p:spPr>
            <a:xfrm>
              <a:off x="0" y="-19050"/>
              <a:ext cx="14630400" cy="567690"/>
            </a:xfrm>
            <a:prstGeom prst="rect">
              <a:avLst/>
            </a:prstGeom>
          </p:spPr>
          <p:txBody>
            <a:bodyPr anchor="ctr" rtlCol="false" tIns="0" lIns="0" bIns="0" rIns="0"/>
            <a:lstStyle/>
            <a:p>
              <a:pPr algn="l">
                <a:lnSpc>
                  <a:spcPts val="1889"/>
                </a:lnSpc>
              </a:pPr>
              <a:r>
                <a:rPr lang="en-US" b="true" sz="1575" spc="150">
                  <a:solidFill>
                    <a:srgbClr val="00E5C7"/>
                  </a:solidFill>
                  <a:latin typeface="Calibri (MS) Bold"/>
                  <a:ea typeface="Calibri (MS) Bold"/>
                  <a:cs typeface="Calibri (MS) Bold"/>
                  <a:sym typeface="Calibri (MS) Bold"/>
                </a:rPr>
                <a:t>PIPELINE TRIGGER &amp; TRACEABILITY</a:t>
              </a:r>
            </a:p>
          </p:txBody>
        </p:sp>
      </p:grpSp>
      <p:sp>
        <p:nvSpPr>
          <p:cNvPr name="TextBox 74" id="74"/>
          <p:cNvSpPr txBox="true"/>
          <p:nvPr/>
        </p:nvSpPr>
        <p:spPr>
          <a:xfrm rot="0">
            <a:off x="1234440" y="7339965"/>
            <a:ext cx="15636240" cy="1712595"/>
          </a:xfrm>
          <a:prstGeom prst="rect">
            <a:avLst/>
          </a:prstGeom>
        </p:spPr>
        <p:txBody>
          <a:bodyPr anchor="t" rtlCol="false" tIns="0" lIns="0" bIns="0" rIns="0">
            <a:spAutoFit/>
          </a:bodyPr>
          <a:lstStyle/>
          <a:p>
            <a:pPr algn="l" marL="312182" indent="-156091" lvl="1">
              <a:lnSpc>
                <a:spcPts val="2380"/>
              </a:lnSpc>
              <a:buFont typeface="Arial"/>
              <a:buChar char="•"/>
            </a:pPr>
            <a:r>
              <a:rPr lang="en-US" sz="1725">
                <a:solidFill>
                  <a:srgbClr val="9FB0C9"/>
                </a:solidFill>
                <a:latin typeface="Calibri (MS)"/>
                <a:ea typeface="Calibri (MS)"/>
                <a:cs typeface="Calibri (MS)"/>
                <a:sym typeface="Calibri (MS)"/>
              </a:rPr>
              <a:t>GitHub Actions runs on every push and pull request to main / develop</a:t>
            </a:r>
          </a:p>
          <a:p>
            <a:pPr algn="l" marL="312182" indent="-156091" lvl="1">
              <a:lnSpc>
                <a:spcPts val="2380"/>
              </a:lnSpc>
              <a:buFont typeface="Arial"/>
              <a:buChar char="•"/>
            </a:pPr>
            <a:r>
              <a:rPr lang="en-US" sz="1725">
                <a:solidFill>
                  <a:srgbClr val="9FB0C9"/>
                </a:solidFill>
                <a:latin typeface="Calibri (MS)"/>
                <a:ea typeface="Calibri (MS)"/>
                <a:cs typeface="Calibri (MS)"/>
                <a:sym typeface="Calibri (MS)"/>
              </a:rPr>
              <a:t>Docker images tagged with the Git SHA — immutable, auditable builds after deployment</a:t>
            </a:r>
          </a:p>
          <a:p>
            <a:pPr algn="l" marL="312182" indent="-156091" lvl="1">
              <a:lnSpc>
                <a:spcPts val="2380"/>
              </a:lnSpc>
              <a:buFont typeface="Arial"/>
              <a:buChar char="•"/>
            </a:pPr>
            <a:r>
              <a:rPr lang="en-US" sz="1725">
                <a:solidFill>
                  <a:srgbClr val="9FB0C9"/>
                </a:solidFill>
                <a:latin typeface="Calibri (MS)"/>
                <a:ea typeface="Calibri (MS)"/>
                <a:cs typeface="Calibri (MS)"/>
                <a:sym typeface="Calibri (MS)"/>
              </a:rPr>
              <a:t>Frontend job separately validates TypeScript compilation and Vite bundling</a:t>
            </a:r>
          </a:p>
        </p:txBody>
      </p:sp>
      <p:grpSp>
        <p:nvGrpSpPr>
          <p:cNvPr name="Group 75" id="75"/>
          <p:cNvGrpSpPr/>
          <p:nvPr/>
        </p:nvGrpSpPr>
        <p:grpSpPr>
          <a:xfrm rot="0">
            <a:off x="685800" y="9710928"/>
            <a:ext cx="10972800" cy="411480"/>
            <a:chOff x="0" y="0"/>
            <a:chExt cx="14630400" cy="548640"/>
          </a:xfrm>
        </p:grpSpPr>
        <p:sp>
          <p:nvSpPr>
            <p:cNvPr name="Freeform 76" id="7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77" id="77"/>
            <p:cNvSpPr txBox="true"/>
            <p:nvPr/>
          </p:nvSpPr>
          <p:spPr>
            <a:xfrm>
              <a:off x="0" y="-28575"/>
              <a:ext cx="14630400" cy="577215"/>
            </a:xfrm>
            <a:prstGeom prst="rect">
              <a:avLst/>
            </a:prstGeom>
          </p:spPr>
          <p:txBody>
            <a:bodyPr anchor="ctr" rtlCol="false" tIns="0" lIns="0" bIns="0" rIns="0"/>
            <a:lstStyle/>
            <a:p>
              <a:pPr algn="l">
                <a:lnSpc>
                  <a:spcPts val="1620"/>
                </a:lnSpc>
              </a:pPr>
              <a:r>
                <a:rPr lang="en-US" sz="1350" spc="149">
                  <a:solidFill>
                    <a:srgbClr val="6E84A6"/>
                  </a:solidFill>
                  <a:latin typeface="Calibri (MS)"/>
                  <a:ea typeface="Calibri (MS)"/>
                  <a:cs typeface="Calibri (MS)"/>
                  <a:sym typeface="Calibri (MS)"/>
                </a:rPr>
                <a:t>MLSECOPS PLATFORM · DEVOPS, SECURITY &amp; DEPLOYMENT</a:t>
              </a:r>
            </a:p>
          </p:txBody>
        </p:sp>
      </p:grpSp>
      <p:grpSp>
        <p:nvGrpSpPr>
          <p:cNvPr name="Group 78" id="78"/>
          <p:cNvGrpSpPr/>
          <p:nvPr/>
        </p:nvGrpSpPr>
        <p:grpSpPr>
          <a:xfrm rot="0">
            <a:off x="16500348" y="9710928"/>
            <a:ext cx="1097280" cy="411480"/>
            <a:chOff x="0" y="0"/>
            <a:chExt cx="1463040" cy="548640"/>
          </a:xfrm>
        </p:grpSpPr>
        <p:sp>
          <p:nvSpPr>
            <p:cNvPr name="Freeform 79" id="79"/>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80" id="80"/>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30 / 32</a:t>
              </a:r>
            </a:p>
          </p:txBody>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DEVOPS, SECURITY &amp; DEPLOYMENT</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8</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Marwan Ait-Tamanait — DevOps Engineer</a:t>
              </a:r>
            </a:p>
          </p:txBody>
        </p:sp>
      </p:grpSp>
      <p:grpSp>
        <p:nvGrpSpPr>
          <p:cNvPr name="Group 11" id="11"/>
          <p:cNvGrpSpPr/>
          <p:nvPr/>
        </p:nvGrpSpPr>
        <p:grpSpPr>
          <a:xfrm rot="0">
            <a:off x="822960" y="1069848"/>
            <a:ext cx="16596360" cy="1303020"/>
            <a:chOff x="0" y="0"/>
            <a:chExt cx="22128480" cy="1737360"/>
          </a:xfrm>
        </p:grpSpPr>
        <p:sp>
          <p:nvSpPr>
            <p:cNvPr name="Freeform 12" id="12"/>
            <p:cNvSpPr/>
            <p:nvPr/>
          </p:nvSpPr>
          <p:spPr>
            <a:xfrm flipH="false" flipV="false" rot="0">
              <a:off x="0" y="0"/>
              <a:ext cx="22128480" cy="1737360"/>
            </a:xfrm>
            <a:custGeom>
              <a:avLst/>
              <a:gdLst/>
              <a:ahLst/>
              <a:cxnLst/>
              <a:rect r="r" b="b" t="t" l="l"/>
              <a:pathLst>
                <a:path h="1737360" w="22128480">
                  <a:moveTo>
                    <a:pt x="0" y="0"/>
                  </a:moveTo>
                  <a:lnTo>
                    <a:pt x="22128480" y="0"/>
                  </a:lnTo>
                  <a:lnTo>
                    <a:pt x="22128480" y="1737360"/>
                  </a:lnTo>
                  <a:lnTo>
                    <a:pt x="0" y="1737360"/>
                  </a:lnTo>
                  <a:close/>
                </a:path>
              </a:pathLst>
            </a:custGeom>
            <a:blipFill>
              <a:blip r:embed="rId2">
                <a:alphaModFix amt="0"/>
              </a:blip>
              <a:stretch>
                <a:fillRect l="0" t="-198177" r="0" b="-198177"/>
              </a:stretch>
            </a:blipFill>
          </p:spPr>
        </p:sp>
        <p:sp>
          <p:nvSpPr>
            <p:cNvPr name="TextBox 13" id="13"/>
            <p:cNvSpPr txBox="true"/>
            <p:nvPr/>
          </p:nvSpPr>
          <p:spPr>
            <a:xfrm>
              <a:off x="0" y="-9525"/>
              <a:ext cx="22128480" cy="1746885"/>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Production Deployment via Komodo</a:t>
              </a:r>
            </a:p>
          </p:txBody>
        </p:sp>
      </p:grpSp>
      <p:grpSp>
        <p:nvGrpSpPr>
          <p:cNvPr name="Group 14" id="14"/>
          <p:cNvGrpSpPr/>
          <p:nvPr/>
        </p:nvGrpSpPr>
        <p:grpSpPr>
          <a:xfrm rot="0">
            <a:off x="813435" y="2733675"/>
            <a:ext cx="8180070" cy="2830830"/>
            <a:chOff x="0" y="0"/>
            <a:chExt cx="10906760" cy="3774440"/>
          </a:xfrm>
        </p:grpSpPr>
        <p:sp>
          <p:nvSpPr>
            <p:cNvPr name="Freeform 15" id="15"/>
            <p:cNvSpPr/>
            <p:nvPr/>
          </p:nvSpPr>
          <p:spPr>
            <a:xfrm flipH="false" flipV="false" rot="0">
              <a:off x="0" y="0"/>
              <a:ext cx="10906760" cy="3774440"/>
            </a:xfrm>
            <a:custGeom>
              <a:avLst/>
              <a:gdLst/>
              <a:ahLst/>
              <a:cxnLst/>
              <a:rect r="r" b="b" t="t" l="l"/>
              <a:pathLst>
                <a:path h="3774440" w="10906760">
                  <a:moveTo>
                    <a:pt x="0" y="147320"/>
                  </a:moveTo>
                  <a:cubicBezTo>
                    <a:pt x="0" y="65913"/>
                    <a:pt x="65913" y="0"/>
                    <a:pt x="147320" y="0"/>
                  </a:cubicBezTo>
                  <a:lnTo>
                    <a:pt x="10759440" y="0"/>
                  </a:lnTo>
                  <a:cubicBezTo>
                    <a:pt x="10840720" y="0"/>
                    <a:pt x="10906760" y="65913"/>
                    <a:pt x="10906760" y="147320"/>
                  </a:cubicBezTo>
                  <a:lnTo>
                    <a:pt x="10906760" y="3627120"/>
                  </a:lnTo>
                  <a:cubicBezTo>
                    <a:pt x="10906760" y="3708400"/>
                    <a:pt x="10840847" y="3774440"/>
                    <a:pt x="10759440" y="3774440"/>
                  </a:cubicBezTo>
                  <a:lnTo>
                    <a:pt x="147320" y="3774440"/>
                  </a:lnTo>
                  <a:cubicBezTo>
                    <a:pt x="66040" y="3774440"/>
                    <a:pt x="0" y="3708527"/>
                    <a:pt x="0" y="3627120"/>
                  </a:cubicBezTo>
                  <a:close/>
                </a:path>
              </a:pathLst>
            </a:custGeom>
            <a:solidFill>
              <a:srgbClr val="0F2038"/>
            </a:solidFill>
            <a:ln w="19050" cap="sq">
              <a:solidFill>
                <a:srgbClr val="1E3358"/>
              </a:solidFill>
              <a:prstDash val="solid"/>
              <a:miter/>
            </a:ln>
          </p:spPr>
        </p:sp>
      </p:grpSp>
      <p:grpSp>
        <p:nvGrpSpPr>
          <p:cNvPr name="Group 16" id="16"/>
          <p:cNvGrpSpPr/>
          <p:nvPr/>
        </p:nvGrpSpPr>
        <p:grpSpPr>
          <a:xfrm rot="0">
            <a:off x="1165860" y="3017520"/>
            <a:ext cx="7406640" cy="548640"/>
            <a:chOff x="0" y="0"/>
            <a:chExt cx="9875520" cy="731520"/>
          </a:xfrm>
        </p:grpSpPr>
        <p:sp>
          <p:nvSpPr>
            <p:cNvPr name="Freeform 17" id="17"/>
            <p:cNvSpPr/>
            <p:nvPr/>
          </p:nvSpPr>
          <p:spPr>
            <a:xfrm flipH="false" flipV="false" rot="0">
              <a:off x="0" y="0"/>
              <a:ext cx="9875520" cy="731520"/>
            </a:xfrm>
            <a:custGeom>
              <a:avLst/>
              <a:gdLst/>
              <a:ahLst/>
              <a:cxnLst/>
              <a:rect r="r" b="b" t="t" l="l"/>
              <a:pathLst>
                <a:path h="731520" w="9875520">
                  <a:moveTo>
                    <a:pt x="0" y="0"/>
                  </a:moveTo>
                  <a:lnTo>
                    <a:pt x="9875520" y="0"/>
                  </a:lnTo>
                  <a:lnTo>
                    <a:pt x="9875520" y="731520"/>
                  </a:lnTo>
                  <a:lnTo>
                    <a:pt x="0" y="731520"/>
                  </a:lnTo>
                  <a:close/>
                </a:path>
              </a:pathLst>
            </a:custGeom>
            <a:blipFill>
              <a:blip r:embed="rId2">
                <a:alphaModFix amt="0"/>
              </a:blip>
              <a:stretch>
                <a:fillRect l="0" t="-213048" r="0" b="-213048"/>
              </a:stretch>
            </a:blipFill>
          </p:spPr>
        </p:sp>
        <p:sp>
          <p:nvSpPr>
            <p:cNvPr name="TextBox 18" id="18"/>
            <p:cNvSpPr txBox="true"/>
            <p:nvPr/>
          </p:nvSpPr>
          <p:spPr>
            <a:xfrm>
              <a:off x="0" y="-57150"/>
              <a:ext cx="9875520" cy="788670"/>
            </a:xfrm>
            <a:prstGeom prst="rect">
              <a:avLst/>
            </a:prstGeom>
          </p:spPr>
          <p:txBody>
            <a:bodyPr anchor="ctr" rtlCol="false" tIns="0" lIns="0" bIns="0" rIns="0"/>
            <a:lstStyle/>
            <a:p>
              <a:pPr algn="l">
                <a:lnSpc>
                  <a:spcPts val="2700"/>
                </a:lnSpc>
              </a:pPr>
              <a:r>
                <a:rPr lang="en-US" sz="2250" b="true">
                  <a:solidFill>
                    <a:srgbClr val="00E5C7"/>
                  </a:solidFill>
                  <a:latin typeface="Calibri (MS) Bold"/>
                  <a:ea typeface="Calibri (MS) Bold"/>
                  <a:cs typeface="Calibri (MS) Bold"/>
                  <a:sym typeface="Calibri (MS) Bold"/>
                </a:rPr>
                <a:t>Orchestration</a:t>
              </a:r>
            </a:p>
          </p:txBody>
        </p:sp>
      </p:grpSp>
      <p:grpSp>
        <p:nvGrpSpPr>
          <p:cNvPr name="Group 19" id="19"/>
          <p:cNvGrpSpPr/>
          <p:nvPr/>
        </p:nvGrpSpPr>
        <p:grpSpPr>
          <a:xfrm rot="0">
            <a:off x="1165860" y="3634740"/>
            <a:ext cx="7406640" cy="1714500"/>
            <a:chOff x="0" y="0"/>
            <a:chExt cx="9875520" cy="2286000"/>
          </a:xfrm>
        </p:grpSpPr>
        <p:sp>
          <p:nvSpPr>
            <p:cNvPr name="Freeform 20" id="20"/>
            <p:cNvSpPr/>
            <p:nvPr/>
          </p:nvSpPr>
          <p:spPr>
            <a:xfrm flipH="false" flipV="false" rot="0">
              <a:off x="0" y="0"/>
              <a:ext cx="9875520" cy="2286000"/>
            </a:xfrm>
            <a:custGeom>
              <a:avLst/>
              <a:gdLst/>
              <a:ahLst/>
              <a:cxnLst/>
              <a:rect r="r" b="b" t="t" l="l"/>
              <a:pathLst>
                <a:path h="2286000" w="9875520">
                  <a:moveTo>
                    <a:pt x="0" y="0"/>
                  </a:moveTo>
                  <a:lnTo>
                    <a:pt x="9875520" y="0"/>
                  </a:lnTo>
                  <a:lnTo>
                    <a:pt x="9875520" y="2286000"/>
                  </a:lnTo>
                  <a:lnTo>
                    <a:pt x="0" y="2286000"/>
                  </a:lnTo>
                  <a:close/>
                </a:path>
              </a:pathLst>
            </a:custGeom>
            <a:blipFill>
              <a:blip r:embed="rId2">
                <a:alphaModFix amt="0"/>
              </a:blip>
              <a:stretch>
                <a:fillRect l="0" t="-34175" r="0" b="-34175"/>
              </a:stretch>
            </a:blipFill>
          </p:spPr>
        </p:sp>
        <p:sp>
          <p:nvSpPr>
            <p:cNvPr name="TextBox 21" id="21"/>
            <p:cNvSpPr txBox="true"/>
            <p:nvPr/>
          </p:nvSpPr>
          <p:spPr>
            <a:xfrm>
              <a:off x="0" y="-28575"/>
              <a:ext cx="9875520" cy="231457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Production deployment orchestrated on shared Komodo infrastructure, replacing ad-hoc manual deploys.</a:t>
              </a:r>
            </a:p>
          </p:txBody>
        </p:sp>
      </p:grpSp>
      <p:grpSp>
        <p:nvGrpSpPr>
          <p:cNvPr name="Group 22" id="22"/>
          <p:cNvGrpSpPr/>
          <p:nvPr/>
        </p:nvGrpSpPr>
        <p:grpSpPr>
          <a:xfrm rot="0">
            <a:off x="9248775" y="2733675"/>
            <a:ext cx="8180070" cy="2830830"/>
            <a:chOff x="0" y="0"/>
            <a:chExt cx="10906760" cy="3774440"/>
          </a:xfrm>
        </p:grpSpPr>
        <p:sp>
          <p:nvSpPr>
            <p:cNvPr name="Freeform 23" id="23"/>
            <p:cNvSpPr/>
            <p:nvPr/>
          </p:nvSpPr>
          <p:spPr>
            <a:xfrm flipH="false" flipV="false" rot="0">
              <a:off x="0" y="0"/>
              <a:ext cx="10906760" cy="3774440"/>
            </a:xfrm>
            <a:custGeom>
              <a:avLst/>
              <a:gdLst/>
              <a:ahLst/>
              <a:cxnLst/>
              <a:rect r="r" b="b" t="t" l="l"/>
              <a:pathLst>
                <a:path h="3774440" w="10906760">
                  <a:moveTo>
                    <a:pt x="0" y="147320"/>
                  </a:moveTo>
                  <a:cubicBezTo>
                    <a:pt x="0" y="65913"/>
                    <a:pt x="65913" y="0"/>
                    <a:pt x="147320" y="0"/>
                  </a:cubicBezTo>
                  <a:lnTo>
                    <a:pt x="10759440" y="0"/>
                  </a:lnTo>
                  <a:cubicBezTo>
                    <a:pt x="10840720" y="0"/>
                    <a:pt x="10906760" y="65913"/>
                    <a:pt x="10906760" y="147320"/>
                  </a:cubicBezTo>
                  <a:lnTo>
                    <a:pt x="10906760" y="3627120"/>
                  </a:lnTo>
                  <a:cubicBezTo>
                    <a:pt x="10906760" y="3708400"/>
                    <a:pt x="10840847" y="3774440"/>
                    <a:pt x="10759440" y="3774440"/>
                  </a:cubicBezTo>
                  <a:lnTo>
                    <a:pt x="147320" y="3774440"/>
                  </a:lnTo>
                  <a:cubicBezTo>
                    <a:pt x="66040" y="3774440"/>
                    <a:pt x="0" y="3708527"/>
                    <a:pt x="0" y="3627120"/>
                  </a:cubicBezTo>
                  <a:close/>
                </a:path>
              </a:pathLst>
            </a:custGeom>
            <a:solidFill>
              <a:srgbClr val="0F2038"/>
            </a:solidFill>
            <a:ln w="19050" cap="sq">
              <a:solidFill>
                <a:srgbClr val="1E3358"/>
              </a:solidFill>
              <a:prstDash val="solid"/>
              <a:miter/>
            </a:ln>
          </p:spPr>
        </p:sp>
      </p:grpSp>
      <p:grpSp>
        <p:nvGrpSpPr>
          <p:cNvPr name="Group 24" id="24"/>
          <p:cNvGrpSpPr/>
          <p:nvPr/>
        </p:nvGrpSpPr>
        <p:grpSpPr>
          <a:xfrm rot="0">
            <a:off x="9601200" y="3017520"/>
            <a:ext cx="7406640" cy="548640"/>
            <a:chOff x="0" y="0"/>
            <a:chExt cx="9875520" cy="731520"/>
          </a:xfrm>
        </p:grpSpPr>
        <p:sp>
          <p:nvSpPr>
            <p:cNvPr name="Freeform 25" id="25"/>
            <p:cNvSpPr/>
            <p:nvPr/>
          </p:nvSpPr>
          <p:spPr>
            <a:xfrm flipH="false" flipV="false" rot="0">
              <a:off x="0" y="0"/>
              <a:ext cx="9875520" cy="731520"/>
            </a:xfrm>
            <a:custGeom>
              <a:avLst/>
              <a:gdLst/>
              <a:ahLst/>
              <a:cxnLst/>
              <a:rect r="r" b="b" t="t" l="l"/>
              <a:pathLst>
                <a:path h="731520" w="9875520">
                  <a:moveTo>
                    <a:pt x="0" y="0"/>
                  </a:moveTo>
                  <a:lnTo>
                    <a:pt x="9875520" y="0"/>
                  </a:lnTo>
                  <a:lnTo>
                    <a:pt x="9875520" y="731520"/>
                  </a:lnTo>
                  <a:lnTo>
                    <a:pt x="0" y="731520"/>
                  </a:lnTo>
                  <a:close/>
                </a:path>
              </a:pathLst>
            </a:custGeom>
            <a:blipFill>
              <a:blip r:embed="rId2">
                <a:alphaModFix amt="0"/>
              </a:blip>
              <a:stretch>
                <a:fillRect l="0" t="-213048" r="0" b="-213048"/>
              </a:stretch>
            </a:blipFill>
          </p:spPr>
        </p:sp>
        <p:sp>
          <p:nvSpPr>
            <p:cNvPr name="TextBox 26" id="26"/>
            <p:cNvSpPr txBox="true"/>
            <p:nvPr/>
          </p:nvSpPr>
          <p:spPr>
            <a:xfrm>
              <a:off x="0" y="-57150"/>
              <a:ext cx="9875520" cy="788670"/>
            </a:xfrm>
            <a:prstGeom prst="rect">
              <a:avLst/>
            </a:prstGeom>
          </p:spPr>
          <p:txBody>
            <a:bodyPr anchor="ctr" rtlCol="false" tIns="0" lIns="0" bIns="0" rIns="0"/>
            <a:lstStyle/>
            <a:p>
              <a:pPr algn="l">
                <a:lnSpc>
                  <a:spcPts val="2700"/>
                </a:lnSpc>
              </a:pPr>
              <a:r>
                <a:rPr lang="en-US" sz="2250" b="true">
                  <a:solidFill>
                    <a:srgbClr val="00E5C7"/>
                  </a:solidFill>
                  <a:latin typeface="Calibri (MS) Bold"/>
                  <a:ea typeface="Calibri (MS) Bold"/>
                  <a:cs typeface="Calibri (MS) Bold"/>
                  <a:sym typeface="Calibri (MS) Bold"/>
                </a:rPr>
                <a:t>Resource Isolation</a:t>
              </a:r>
            </a:p>
          </p:txBody>
        </p:sp>
      </p:grpSp>
      <p:grpSp>
        <p:nvGrpSpPr>
          <p:cNvPr name="Group 27" id="27"/>
          <p:cNvGrpSpPr/>
          <p:nvPr/>
        </p:nvGrpSpPr>
        <p:grpSpPr>
          <a:xfrm rot="0">
            <a:off x="9601200" y="3634740"/>
            <a:ext cx="7406640" cy="1714500"/>
            <a:chOff x="0" y="0"/>
            <a:chExt cx="9875520" cy="2286000"/>
          </a:xfrm>
        </p:grpSpPr>
        <p:sp>
          <p:nvSpPr>
            <p:cNvPr name="Freeform 28" id="28"/>
            <p:cNvSpPr/>
            <p:nvPr/>
          </p:nvSpPr>
          <p:spPr>
            <a:xfrm flipH="false" flipV="false" rot="0">
              <a:off x="0" y="0"/>
              <a:ext cx="9875520" cy="2286000"/>
            </a:xfrm>
            <a:custGeom>
              <a:avLst/>
              <a:gdLst/>
              <a:ahLst/>
              <a:cxnLst/>
              <a:rect r="r" b="b" t="t" l="l"/>
              <a:pathLst>
                <a:path h="2286000" w="9875520">
                  <a:moveTo>
                    <a:pt x="0" y="0"/>
                  </a:moveTo>
                  <a:lnTo>
                    <a:pt x="9875520" y="0"/>
                  </a:lnTo>
                  <a:lnTo>
                    <a:pt x="9875520" y="2286000"/>
                  </a:lnTo>
                  <a:lnTo>
                    <a:pt x="0" y="2286000"/>
                  </a:lnTo>
                  <a:close/>
                </a:path>
              </a:pathLst>
            </a:custGeom>
            <a:blipFill>
              <a:blip r:embed="rId2">
                <a:alphaModFix amt="0"/>
              </a:blip>
              <a:stretch>
                <a:fillRect l="0" t="-34175" r="0" b="-34175"/>
              </a:stretch>
            </a:blipFill>
          </p:spPr>
        </p:sp>
        <p:sp>
          <p:nvSpPr>
            <p:cNvPr name="TextBox 29" id="29"/>
            <p:cNvSpPr txBox="true"/>
            <p:nvPr/>
          </p:nvSpPr>
          <p:spPr>
            <a:xfrm>
              <a:off x="0" y="-28575"/>
              <a:ext cx="9875520" cy="231457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Each service runs within defined resource boundaries, protecting neighbors from noisy workloads.</a:t>
              </a:r>
            </a:p>
          </p:txBody>
        </p:sp>
      </p:grpSp>
      <p:grpSp>
        <p:nvGrpSpPr>
          <p:cNvPr name="Group 30" id="30"/>
          <p:cNvGrpSpPr/>
          <p:nvPr/>
        </p:nvGrpSpPr>
        <p:grpSpPr>
          <a:xfrm rot="0">
            <a:off x="813435" y="5888355"/>
            <a:ext cx="8180070" cy="2830830"/>
            <a:chOff x="0" y="0"/>
            <a:chExt cx="10906760" cy="3774440"/>
          </a:xfrm>
        </p:grpSpPr>
        <p:sp>
          <p:nvSpPr>
            <p:cNvPr name="Freeform 31" id="31"/>
            <p:cNvSpPr/>
            <p:nvPr/>
          </p:nvSpPr>
          <p:spPr>
            <a:xfrm flipH="false" flipV="false" rot="0">
              <a:off x="0" y="0"/>
              <a:ext cx="10906760" cy="3774440"/>
            </a:xfrm>
            <a:custGeom>
              <a:avLst/>
              <a:gdLst/>
              <a:ahLst/>
              <a:cxnLst/>
              <a:rect r="r" b="b" t="t" l="l"/>
              <a:pathLst>
                <a:path h="3774440" w="10906760">
                  <a:moveTo>
                    <a:pt x="0" y="147320"/>
                  </a:moveTo>
                  <a:cubicBezTo>
                    <a:pt x="0" y="65913"/>
                    <a:pt x="65913" y="0"/>
                    <a:pt x="147320" y="0"/>
                  </a:cubicBezTo>
                  <a:lnTo>
                    <a:pt x="10759440" y="0"/>
                  </a:lnTo>
                  <a:cubicBezTo>
                    <a:pt x="10840720" y="0"/>
                    <a:pt x="10906760" y="65913"/>
                    <a:pt x="10906760" y="147320"/>
                  </a:cubicBezTo>
                  <a:lnTo>
                    <a:pt x="10906760" y="3627120"/>
                  </a:lnTo>
                  <a:cubicBezTo>
                    <a:pt x="10906760" y="3708400"/>
                    <a:pt x="10840847" y="3774440"/>
                    <a:pt x="10759440" y="3774440"/>
                  </a:cubicBezTo>
                  <a:lnTo>
                    <a:pt x="147320" y="3774440"/>
                  </a:lnTo>
                  <a:cubicBezTo>
                    <a:pt x="66040" y="3774440"/>
                    <a:pt x="0" y="3708527"/>
                    <a:pt x="0" y="3627120"/>
                  </a:cubicBezTo>
                  <a:close/>
                </a:path>
              </a:pathLst>
            </a:custGeom>
            <a:solidFill>
              <a:srgbClr val="0F2038"/>
            </a:solidFill>
            <a:ln w="19050" cap="sq">
              <a:solidFill>
                <a:srgbClr val="1E3358"/>
              </a:solidFill>
              <a:prstDash val="solid"/>
              <a:miter/>
            </a:ln>
          </p:spPr>
        </p:sp>
      </p:grpSp>
      <p:grpSp>
        <p:nvGrpSpPr>
          <p:cNvPr name="Group 32" id="32"/>
          <p:cNvGrpSpPr/>
          <p:nvPr/>
        </p:nvGrpSpPr>
        <p:grpSpPr>
          <a:xfrm rot="0">
            <a:off x="1165860" y="6172200"/>
            <a:ext cx="7406640" cy="548640"/>
            <a:chOff x="0" y="0"/>
            <a:chExt cx="9875520" cy="731520"/>
          </a:xfrm>
        </p:grpSpPr>
        <p:sp>
          <p:nvSpPr>
            <p:cNvPr name="Freeform 33" id="33"/>
            <p:cNvSpPr/>
            <p:nvPr/>
          </p:nvSpPr>
          <p:spPr>
            <a:xfrm flipH="false" flipV="false" rot="0">
              <a:off x="0" y="0"/>
              <a:ext cx="9875520" cy="731520"/>
            </a:xfrm>
            <a:custGeom>
              <a:avLst/>
              <a:gdLst/>
              <a:ahLst/>
              <a:cxnLst/>
              <a:rect r="r" b="b" t="t" l="l"/>
              <a:pathLst>
                <a:path h="731520" w="9875520">
                  <a:moveTo>
                    <a:pt x="0" y="0"/>
                  </a:moveTo>
                  <a:lnTo>
                    <a:pt x="9875520" y="0"/>
                  </a:lnTo>
                  <a:lnTo>
                    <a:pt x="9875520" y="731520"/>
                  </a:lnTo>
                  <a:lnTo>
                    <a:pt x="0" y="731520"/>
                  </a:lnTo>
                  <a:close/>
                </a:path>
              </a:pathLst>
            </a:custGeom>
            <a:blipFill>
              <a:blip r:embed="rId2">
                <a:alphaModFix amt="0"/>
              </a:blip>
              <a:stretch>
                <a:fillRect l="0" t="-213048" r="0" b="-213048"/>
              </a:stretch>
            </a:blipFill>
          </p:spPr>
        </p:sp>
        <p:sp>
          <p:nvSpPr>
            <p:cNvPr name="TextBox 34" id="34"/>
            <p:cNvSpPr txBox="true"/>
            <p:nvPr/>
          </p:nvSpPr>
          <p:spPr>
            <a:xfrm>
              <a:off x="0" y="-57150"/>
              <a:ext cx="9875520" cy="788670"/>
            </a:xfrm>
            <a:prstGeom prst="rect">
              <a:avLst/>
            </a:prstGeom>
          </p:spPr>
          <p:txBody>
            <a:bodyPr anchor="ctr" rtlCol="false" tIns="0" lIns="0" bIns="0" rIns="0"/>
            <a:lstStyle/>
            <a:p>
              <a:pPr algn="l">
                <a:lnSpc>
                  <a:spcPts val="2700"/>
                </a:lnSpc>
              </a:pPr>
              <a:r>
                <a:rPr lang="en-US" sz="2250" b="true">
                  <a:solidFill>
                    <a:srgbClr val="00E5C7"/>
                  </a:solidFill>
                  <a:latin typeface="Calibri (MS) Bold"/>
                  <a:ea typeface="Calibri (MS) Bold"/>
                  <a:cs typeface="Calibri (MS) Bold"/>
                  <a:sym typeface="Calibri (MS) Bold"/>
                </a:rPr>
                <a:t>Persistent Volumes</a:t>
              </a:r>
            </a:p>
          </p:txBody>
        </p:sp>
      </p:grpSp>
      <p:grpSp>
        <p:nvGrpSpPr>
          <p:cNvPr name="Group 35" id="35"/>
          <p:cNvGrpSpPr/>
          <p:nvPr/>
        </p:nvGrpSpPr>
        <p:grpSpPr>
          <a:xfrm rot="0">
            <a:off x="1165860" y="6789420"/>
            <a:ext cx="7406640" cy="1714500"/>
            <a:chOff x="0" y="0"/>
            <a:chExt cx="9875520" cy="2286000"/>
          </a:xfrm>
        </p:grpSpPr>
        <p:sp>
          <p:nvSpPr>
            <p:cNvPr name="Freeform 36" id="36"/>
            <p:cNvSpPr/>
            <p:nvPr/>
          </p:nvSpPr>
          <p:spPr>
            <a:xfrm flipH="false" flipV="false" rot="0">
              <a:off x="0" y="0"/>
              <a:ext cx="9875520" cy="2286000"/>
            </a:xfrm>
            <a:custGeom>
              <a:avLst/>
              <a:gdLst/>
              <a:ahLst/>
              <a:cxnLst/>
              <a:rect r="r" b="b" t="t" l="l"/>
              <a:pathLst>
                <a:path h="2286000" w="9875520">
                  <a:moveTo>
                    <a:pt x="0" y="0"/>
                  </a:moveTo>
                  <a:lnTo>
                    <a:pt x="9875520" y="0"/>
                  </a:lnTo>
                  <a:lnTo>
                    <a:pt x="9875520" y="2286000"/>
                  </a:lnTo>
                  <a:lnTo>
                    <a:pt x="0" y="2286000"/>
                  </a:lnTo>
                  <a:close/>
                </a:path>
              </a:pathLst>
            </a:custGeom>
            <a:blipFill>
              <a:blip r:embed="rId2">
                <a:alphaModFix amt="0"/>
              </a:blip>
              <a:stretch>
                <a:fillRect l="0" t="-34175" r="0" b="-34175"/>
              </a:stretch>
            </a:blipFill>
          </p:spPr>
        </p:sp>
        <p:sp>
          <p:nvSpPr>
            <p:cNvPr name="TextBox 37" id="37"/>
            <p:cNvSpPr txBox="true"/>
            <p:nvPr/>
          </p:nvSpPr>
          <p:spPr>
            <a:xfrm>
              <a:off x="0" y="-28575"/>
              <a:ext cx="9875520" cy="231457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5 named Docker volumes preserve Kafka offsets, Dagster history, MLflow artifacts, and dashboards.</a:t>
              </a:r>
            </a:p>
          </p:txBody>
        </p:sp>
      </p:grpSp>
      <p:grpSp>
        <p:nvGrpSpPr>
          <p:cNvPr name="Group 38" id="38"/>
          <p:cNvGrpSpPr/>
          <p:nvPr/>
        </p:nvGrpSpPr>
        <p:grpSpPr>
          <a:xfrm rot="0">
            <a:off x="9248775" y="5888355"/>
            <a:ext cx="8180070" cy="2830830"/>
            <a:chOff x="0" y="0"/>
            <a:chExt cx="10906760" cy="3774440"/>
          </a:xfrm>
        </p:grpSpPr>
        <p:sp>
          <p:nvSpPr>
            <p:cNvPr name="Freeform 39" id="39"/>
            <p:cNvSpPr/>
            <p:nvPr/>
          </p:nvSpPr>
          <p:spPr>
            <a:xfrm flipH="false" flipV="false" rot="0">
              <a:off x="0" y="0"/>
              <a:ext cx="10906760" cy="3774440"/>
            </a:xfrm>
            <a:custGeom>
              <a:avLst/>
              <a:gdLst/>
              <a:ahLst/>
              <a:cxnLst/>
              <a:rect r="r" b="b" t="t" l="l"/>
              <a:pathLst>
                <a:path h="3774440" w="10906760">
                  <a:moveTo>
                    <a:pt x="0" y="147320"/>
                  </a:moveTo>
                  <a:cubicBezTo>
                    <a:pt x="0" y="65913"/>
                    <a:pt x="65913" y="0"/>
                    <a:pt x="147320" y="0"/>
                  </a:cubicBezTo>
                  <a:lnTo>
                    <a:pt x="10759440" y="0"/>
                  </a:lnTo>
                  <a:cubicBezTo>
                    <a:pt x="10840720" y="0"/>
                    <a:pt x="10906760" y="65913"/>
                    <a:pt x="10906760" y="147320"/>
                  </a:cubicBezTo>
                  <a:lnTo>
                    <a:pt x="10906760" y="3627120"/>
                  </a:lnTo>
                  <a:cubicBezTo>
                    <a:pt x="10906760" y="3708400"/>
                    <a:pt x="10840847" y="3774440"/>
                    <a:pt x="10759440" y="3774440"/>
                  </a:cubicBezTo>
                  <a:lnTo>
                    <a:pt x="147320" y="3774440"/>
                  </a:lnTo>
                  <a:cubicBezTo>
                    <a:pt x="66040" y="3774440"/>
                    <a:pt x="0" y="3708527"/>
                    <a:pt x="0" y="3627120"/>
                  </a:cubicBezTo>
                  <a:close/>
                </a:path>
              </a:pathLst>
            </a:custGeom>
            <a:solidFill>
              <a:srgbClr val="0F2038"/>
            </a:solidFill>
            <a:ln w="19050" cap="sq">
              <a:solidFill>
                <a:srgbClr val="1E3358"/>
              </a:solidFill>
              <a:prstDash val="solid"/>
              <a:miter/>
            </a:ln>
          </p:spPr>
        </p:sp>
      </p:grpSp>
      <p:grpSp>
        <p:nvGrpSpPr>
          <p:cNvPr name="Group 40" id="40"/>
          <p:cNvGrpSpPr/>
          <p:nvPr/>
        </p:nvGrpSpPr>
        <p:grpSpPr>
          <a:xfrm rot="0">
            <a:off x="9601200" y="6172200"/>
            <a:ext cx="7406640" cy="548640"/>
            <a:chOff x="0" y="0"/>
            <a:chExt cx="9875520" cy="731520"/>
          </a:xfrm>
        </p:grpSpPr>
        <p:sp>
          <p:nvSpPr>
            <p:cNvPr name="Freeform 41" id="41"/>
            <p:cNvSpPr/>
            <p:nvPr/>
          </p:nvSpPr>
          <p:spPr>
            <a:xfrm flipH="false" flipV="false" rot="0">
              <a:off x="0" y="0"/>
              <a:ext cx="9875520" cy="731520"/>
            </a:xfrm>
            <a:custGeom>
              <a:avLst/>
              <a:gdLst/>
              <a:ahLst/>
              <a:cxnLst/>
              <a:rect r="r" b="b" t="t" l="l"/>
              <a:pathLst>
                <a:path h="731520" w="9875520">
                  <a:moveTo>
                    <a:pt x="0" y="0"/>
                  </a:moveTo>
                  <a:lnTo>
                    <a:pt x="9875520" y="0"/>
                  </a:lnTo>
                  <a:lnTo>
                    <a:pt x="9875520" y="731520"/>
                  </a:lnTo>
                  <a:lnTo>
                    <a:pt x="0" y="731520"/>
                  </a:lnTo>
                  <a:close/>
                </a:path>
              </a:pathLst>
            </a:custGeom>
            <a:blipFill>
              <a:blip r:embed="rId2">
                <a:alphaModFix amt="0"/>
              </a:blip>
              <a:stretch>
                <a:fillRect l="0" t="-213048" r="0" b="-213048"/>
              </a:stretch>
            </a:blipFill>
          </p:spPr>
        </p:sp>
        <p:sp>
          <p:nvSpPr>
            <p:cNvPr name="TextBox 42" id="42"/>
            <p:cNvSpPr txBox="true"/>
            <p:nvPr/>
          </p:nvSpPr>
          <p:spPr>
            <a:xfrm>
              <a:off x="0" y="-57150"/>
              <a:ext cx="9875520" cy="788670"/>
            </a:xfrm>
            <a:prstGeom prst="rect">
              <a:avLst/>
            </a:prstGeom>
          </p:spPr>
          <p:txBody>
            <a:bodyPr anchor="ctr" rtlCol="false" tIns="0" lIns="0" bIns="0" rIns="0"/>
            <a:lstStyle/>
            <a:p>
              <a:pPr algn="l">
                <a:lnSpc>
                  <a:spcPts val="2700"/>
                </a:lnSpc>
              </a:pPr>
              <a:r>
                <a:rPr lang="en-US" sz="2250" b="true">
                  <a:solidFill>
                    <a:srgbClr val="00E5C7"/>
                  </a:solidFill>
                  <a:latin typeface="Calibri (MS) Bold"/>
                  <a:ea typeface="Calibri (MS) Bold"/>
                  <a:cs typeface="Calibri (MS) Bold"/>
                  <a:sym typeface="Calibri (MS) Bold"/>
                </a:rPr>
                <a:t>Environment Security</a:t>
              </a:r>
            </a:p>
          </p:txBody>
        </p:sp>
      </p:grpSp>
      <p:grpSp>
        <p:nvGrpSpPr>
          <p:cNvPr name="Group 43" id="43"/>
          <p:cNvGrpSpPr/>
          <p:nvPr/>
        </p:nvGrpSpPr>
        <p:grpSpPr>
          <a:xfrm rot="0">
            <a:off x="9601200" y="6789420"/>
            <a:ext cx="7406640" cy="1714500"/>
            <a:chOff x="0" y="0"/>
            <a:chExt cx="9875520" cy="2286000"/>
          </a:xfrm>
        </p:grpSpPr>
        <p:sp>
          <p:nvSpPr>
            <p:cNvPr name="Freeform 44" id="44"/>
            <p:cNvSpPr/>
            <p:nvPr/>
          </p:nvSpPr>
          <p:spPr>
            <a:xfrm flipH="false" flipV="false" rot="0">
              <a:off x="0" y="0"/>
              <a:ext cx="9875520" cy="2286000"/>
            </a:xfrm>
            <a:custGeom>
              <a:avLst/>
              <a:gdLst/>
              <a:ahLst/>
              <a:cxnLst/>
              <a:rect r="r" b="b" t="t" l="l"/>
              <a:pathLst>
                <a:path h="2286000" w="9875520">
                  <a:moveTo>
                    <a:pt x="0" y="0"/>
                  </a:moveTo>
                  <a:lnTo>
                    <a:pt x="9875520" y="0"/>
                  </a:lnTo>
                  <a:lnTo>
                    <a:pt x="9875520" y="2286000"/>
                  </a:lnTo>
                  <a:lnTo>
                    <a:pt x="0" y="2286000"/>
                  </a:lnTo>
                  <a:close/>
                </a:path>
              </a:pathLst>
            </a:custGeom>
            <a:blipFill>
              <a:blip r:embed="rId2">
                <a:alphaModFix amt="0"/>
              </a:blip>
              <a:stretch>
                <a:fillRect l="0" t="-34175" r="0" b="-34175"/>
              </a:stretch>
            </a:blipFill>
          </p:spPr>
        </p:sp>
        <p:sp>
          <p:nvSpPr>
            <p:cNvPr name="TextBox 45" id="45"/>
            <p:cNvSpPr txBox="true"/>
            <p:nvPr/>
          </p:nvSpPr>
          <p:spPr>
            <a:xfrm>
              <a:off x="0" y="-28575"/>
              <a:ext cx="9875520" cy="2314575"/>
            </a:xfrm>
            <a:prstGeom prst="rect">
              <a:avLst/>
            </a:prstGeom>
          </p:spPr>
          <p:txBody>
            <a:bodyPr anchor="ctr" rtlCol="false" tIns="0" lIns="0" bIns="0" rIns="0"/>
            <a:lstStyle/>
            <a:p>
              <a:pPr algn="l">
                <a:lnSpc>
                  <a:spcPts val="1980"/>
                </a:lnSpc>
              </a:pPr>
              <a:r>
                <a:rPr lang="en-US" sz="1650">
                  <a:solidFill>
                    <a:srgbClr val="9FB0C9"/>
                  </a:solidFill>
                  <a:latin typeface="Calibri (MS)"/>
                  <a:ea typeface="Calibri (MS)"/>
                  <a:cs typeface="Calibri (MS)"/>
                  <a:sym typeface="Calibri (MS)"/>
                </a:rPr>
                <a:t>Secrets and environment variables managed outside version control, injected at deploy time.</a:t>
              </a:r>
            </a:p>
          </p:txBody>
        </p:sp>
      </p:grpSp>
      <p:grpSp>
        <p:nvGrpSpPr>
          <p:cNvPr name="Group 46" id="46"/>
          <p:cNvGrpSpPr/>
          <p:nvPr/>
        </p:nvGrpSpPr>
        <p:grpSpPr>
          <a:xfrm rot="0">
            <a:off x="685800" y="9710928"/>
            <a:ext cx="10972800" cy="411480"/>
            <a:chOff x="0" y="0"/>
            <a:chExt cx="14630400" cy="548640"/>
          </a:xfrm>
        </p:grpSpPr>
        <p:sp>
          <p:nvSpPr>
            <p:cNvPr name="Freeform 47" id="4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48" id="4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spc="149">
                  <a:solidFill>
                    <a:srgbClr val="6E84A6"/>
                  </a:solidFill>
                  <a:latin typeface="Calibri (MS)"/>
                  <a:ea typeface="Calibri (MS)"/>
                  <a:cs typeface="Calibri (MS)"/>
                  <a:sym typeface="Calibri (MS)"/>
                </a:rPr>
                <a:t>MLSECOPS PLATFORM · DEVOPS, SECURITY &amp; DEPLOYMENT</a:t>
              </a:r>
            </a:p>
          </p:txBody>
        </p:sp>
      </p:grpSp>
      <p:grpSp>
        <p:nvGrpSpPr>
          <p:cNvPr name="Group 49" id="49"/>
          <p:cNvGrpSpPr/>
          <p:nvPr/>
        </p:nvGrpSpPr>
        <p:grpSpPr>
          <a:xfrm rot="0">
            <a:off x="16500348" y="9710928"/>
            <a:ext cx="1097280" cy="411480"/>
            <a:chOff x="0" y="0"/>
            <a:chExt cx="1463040" cy="548640"/>
          </a:xfrm>
        </p:grpSpPr>
        <p:sp>
          <p:nvSpPr>
            <p:cNvPr name="Freeform 50" id="50"/>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51" id="51"/>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31 / 32</a:t>
              </a: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A1428"/>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4" id="4"/>
            <p:cNvSpPr txBox="true"/>
            <p:nvPr/>
          </p:nvSpPr>
          <p:spPr>
            <a:xfrm>
              <a:off x="0" y="-38100"/>
              <a:ext cx="18288000" cy="678180"/>
            </a:xfrm>
            <a:prstGeom prst="rect">
              <a:avLst/>
            </a:prstGeom>
          </p:spPr>
          <p:txBody>
            <a:bodyPr anchor="ctr" rtlCol="false" tIns="0" lIns="0" bIns="0" rIns="0"/>
            <a:lstStyle/>
            <a:p>
              <a:pPr algn="l">
                <a:lnSpc>
                  <a:spcPts val="2250"/>
                </a:lnSpc>
              </a:pPr>
              <a:r>
                <a:rPr lang="en-US" b="true" sz="1875" spc="300">
                  <a:solidFill>
                    <a:srgbClr val="00E5C7"/>
                  </a:solidFill>
                  <a:latin typeface="Calibri (MS) Bold"/>
                  <a:ea typeface="Calibri (MS) Bold"/>
                  <a:cs typeface="Calibri (MS) Bold"/>
                  <a:sym typeface="Calibri (MS) Bold"/>
                </a:rPr>
                <a:t>DEVOPS, SECURITY &amp; DEPLOYMENT</a:t>
              </a:r>
            </a:p>
          </p:txBody>
        </p:sp>
      </p:grpSp>
      <p:grpSp>
        <p:nvGrpSpPr>
          <p:cNvPr name="Group 5" id="5"/>
          <p:cNvGrpSpPr/>
          <p:nvPr/>
        </p:nvGrpSpPr>
        <p:grpSpPr>
          <a:xfrm rot="0">
            <a:off x="12385548" y="630936"/>
            <a:ext cx="5074920" cy="384048"/>
            <a:chOff x="0" y="0"/>
            <a:chExt cx="6766560" cy="512064"/>
          </a:xfrm>
        </p:grpSpPr>
        <p:sp>
          <p:nvSpPr>
            <p:cNvPr name="Freeform 6" id="6"/>
            <p:cNvSpPr/>
            <p:nvPr/>
          </p:nvSpPr>
          <p:spPr>
            <a:xfrm flipH="false" flipV="false" rot="0">
              <a:off x="0" y="0"/>
              <a:ext cx="6766560" cy="512064"/>
            </a:xfrm>
            <a:custGeom>
              <a:avLst/>
              <a:gdLst/>
              <a:ahLst/>
              <a:cxnLst/>
              <a:rect r="r" b="b" t="t" l="l"/>
              <a:pathLst>
                <a:path h="512064" w="6766560">
                  <a:moveTo>
                    <a:pt x="0" y="0"/>
                  </a:moveTo>
                  <a:lnTo>
                    <a:pt x="6766560" y="0"/>
                  </a:lnTo>
                  <a:lnTo>
                    <a:pt x="6766560" y="512064"/>
                  </a:lnTo>
                  <a:lnTo>
                    <a:pt x="0" y="512064"/>
                  </a:lnTo>
                  <a:close/>
                </a:path>
              </a:pathLst>
            </a:custGeom>
            <a:blipFill>
              <a:blip r:embed="rId2">
                <a:alphaModFix amt="0"/>
              </a:blip>
              <a:stretch>
                <a:fillRect l="0" t="-207480" r="0" b="-207480"/>
              </a:stretch>
            </a:blipFill>
          </p:spPr>
        </p:sp>
        <p:sp>
          <p:nvSpPr>
            <p:cNvPr name="TextBox 7" id="7"/>
            <p:cNvSpPr txBox="true"/>
            <p:nvPr/>
          </p:nvSpPr>
          <p:spPr>
            <a:xfrm>
              <a:off x="0" y="-38100"/>
              <a:ext cx="6766560" cy="550164"/>
            </a:xfrm>
            <a:prstGeom prst="rect">
              <a:avLst/>
            </a:prstGeom>
          </p:spPr>
          <p:txBody>
            <a:bodyPr anchor="ctr" rtlCol="false" tIns="0" lIns="0" bIns="0" rIns="0"/>
            <a:lstStyle/>
            <a:p>
              <a:pPr algn="r">
                <a:lnSpc>
                  <a:spcPts val="1800"/>
                </a:lnSpc>
              </a:pPr>
              <a:r>
                <a:rPr lang="en-US" b="true" sz="1500" spc="225">
                  <a:solidFill>
                    <a:srgbClr val="00E5C7"/>
                  </a:solidFill>
                  <a:latin typeface="Calibri (MS) Bold"/>
                  <a:ea typeface="Calibri (MS) Bold"/>
                  <a:cs typeface="Calibri (MS) Bold"/>
                  <a:sym typeface="Calibri (MS) Bold"/>
                </a:rPr>
                <a:t>SPEAKER 8</a:t>
              </a:r>
            </a:p>
          </p:txBody>
        </p:sp>
      </p:grpSp>
      <p:grpSp>
        <p:nvGrpSpPr>
          <p:cNvPr name="Group 8" id="8"/>
          <p:cNvGrpSpPr/>
          <p:nvPr/>
        </p:nvGrpSpPr>
        <p:grpSpPr>
          <a:xfrm rot="0">
            <a:off x="12385548" y="1014984"/>
            <a:ext cx="5074920" cy="411480"/>
            <a:chOff x="0" y="0"/>
            <a:chExt cx="6766560" cy="548640"/>
          </a:xfrm>
        </p:grpSpPr>
        <p:sp>
          <p:nvSpPr>
            <p:cNvPr name="Freeform 9" id="9"/>
            <p:cNvSpPr/>
            <p:nvPr/>
          </p:nvSpPr>
          <p:spPr>
            <a:xfrm flipH="false" flipV="false" rot="0">
              <a:off x="0" y="0"/>
              <a:ext cx="6766560" cy="548640"/>
            </a:xfrm>
            <a:custGeom>
              <a:avLst/>
              <a:gdLst/>
              <a:ahLst/>
              <a:cxnLst/>
              <a:rect r="r" b="b" t="t" l="l"/>
              <a:pathLst>
                <a:path h="548640" w="6766560">
                  <a:moveTo>
                    <a:pt x="0" y="0"/>
                  </a:moveTo>
                  <a:lnTo>
                    <a:pt x="6766560" y="0"/>
                  </a:lnTo>
                  <a:lnTo>
                    <a:pt x="6766560" y="548640"/>
                  </a:lnTo>
                  <a:lnTo>
                    <a:pt x="0" y="548640"/>
                  </a:lnTo>
                  <a:close/>
                </a:path>
              </a:pathLst>
            </a:custGeom>
            <a:blipFill>
              <a:blip r:embed="rId2">
                <a:alphaModFix amt="0"/>
              </a:blip>
              <a:stretch>
                <a:fillRect l="0" t="-190315" r="0" b="-190315"/>
              </a:stretch>
            </a:blipFill>
          </p:spPr>
        </p:sp>
        <p:sp>
          <p:nvSpPr>
            <p:cNvPr name="TextBox 10" id="10"/>
            <p:cNvSpPr txBox="true"/>
            <p:nvPr/>
          </p:nvSpPr>
          <p:spPr>
            <a:xfrm>
              <a:off x="0" y="-19050"/>
              <a:ext cx="6766560" cy="567690"/>
            </a:xfrm>
            <a:prstGeom prst="rect">
              <a:avLst/>
            </a:prstGeom>
          </p:spPr>
          <p:txBody>
            <a:bodyPr anchor="ctr" rtlCol="false" tIns="0" lIns="0" bIns="0" rIns="0"/>
            <a:lstStyle/>
            <a:p>
              <a:pPr algn="r">
                <a:lnSpc>
                  <a:spcPts val="1889"/>
                </a:lnSpc>
              </a:pPr>
              <a:r>
                <a:rPr lang="en-US" sz="1575">
                  <a:solidFill>
                    <a:srgbClr val="9FB0C9"/>
                  </a:solidFill>
                  <a:latin typeface="Calibri (MS)"/>
                  <a:ea typeface="Calibri (MS)"/>
                  <a:cs typeface="Calibri (MS)"/>
                  <a:sym typeface="Calibri (MS)"/>
                </a:rPr>
                <a:t>Marwan Ait-Tamanait — DevOps Engineer</a:t>
              </a:r>
            </a:p>
          </p:txBody>
        </p:sp>
      </p:grpSp>
      <p:grpSp>
        <p:nvGrpSpPr>
          <p:cNvPr name="Group 11" id="11"/>
          <p:cNvGrpSpPr/>
          <p:nvPr/>
        </p:nvGrpSpPr>
        <p:grpSpPr>
          <a:xfrm rot="0">
            <a:off x="822960" y="1069848"/>
            <a:ext cx="16596360" cy="1303020"/>
            <a:chOff x="0" y="0"/>
            <a:chExt cx="22128480" cy="1737360"/>
          </a:xfrm>
        </p:grpSpPr>
        <p:sp>
          <p:nvSpPr>
            <p:cNvPr name="Freeform 12" id="12"/>
            <p:cNvSpPr/>
            <p:nvPr/>
          </p:nvSpPr>
          <p:spPr>
            <a:xfrm flipH="false" flipV="false" rot="0">
              <a:off x="0" y="0"/>
              <a:ext cx="22128480" cy="1737360"/>
            </a:xfrm>
            <a:custGeom>
              <a:avLst/>
              <a:gdLst/>
              <a:ahLst/>
              <a:cxnLst/>
              <a:rect r="r" b="b" t="t" l="l"/>
              <a:pathLst>
                <a:path h="1737360" w="22128480">
                  <a:moveTo>
                    <a:pt x="0" y="0"/>
                  </a:moveTo>
                  <a:lnTo>
                    <a:pt x="22128480" y="0"/>
                  </a:lnTo>
                  <a:lnTo>
                    <a:pt x="22128480" y="1737360"/>
                  </a:lnTo>
                  <a:lnTo>
                    <a:pt x="0" y="1737360"/>
                  </a:lnTo>
                  <a:close/>
                </a:path>
              </a:pathLst>
            </a:custGeom>
            <a:blipFill>
              <a:blip r:embed="rId2">
                <a:alphaModFix amt="0"/>
              </a:blip>
              <a:stretch>
                <a:fillRect l="0" t="-198177" r="0" b="-198177"/>
              </a:stretch>
            </a:blipFill>
          </p:spPr>
        </p:sp>
        <p:sp>
          <p:nvSpPr>
            <p:cNvPr name="TextBox 13" id="13"/>
            <p:cNvSpPr txBox="true"/>
            <p:nvPr/>
          </p:nvSpPr>
          <p:spPr>
            <a:xfrm>
              <a:off x="0" y="-9525"/>
              <a:ext cx="22128480" cy="1746885"/>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Conclusion, Limits &amp; Future Outlook</a:t>
              </a:r>
            </a:p>
          </p:txBody>
        </p:sp>
      </p:grpSp>
      <p:grpSp>
        <p:nvGrpSpPr>
          <p:cNvPr name="Group 14" id="14"/>
          <p:cNvGrpSpPr/>
          <p:nvPr/>
        </p:nvGrpSpPr>
        <p:grpSpPr>
          <a:xfrm rot="0">
            <a:off x="813435" y="2596515"/>
            <a:ext cx="8111490" cy="6054090"/>
            <a:chOff x="0" y="0"/>
            <a:chExt cx="10815320" cy="8072120"/>
          </a:xfrm>
        </p:grpSpPr>
        <p:sp>
          <p:nvSpPr>
            <p:cNvPr name="Freeform 15" id="15"/>
            <p:cNvSpPr/>
            <p:nvPr/>
          </p:nvSpPr>
          <p:spPr>
            <a:xfrm flipH="false" flipV="false" rot="0">
              <a:off x="0" y="0"/>
              <a:ext cx="10815320" cy="8072120"/>
            </a:xfrm>
            <a:custGeom>
              <a:avLst/>
              <a:gdLst/>
              <a:ahLst/>
              <a:cxnLst/>
              <a:rect r="r" b="b" t="t" l="l"/>
              <a:pathLst>
                <a:path h="8072120" w="10815320">
                  <a:moveTo>
                    <a:pt x="0" y="146812"/>
                  </a:moveTo>
                  <a:cubicBezTo>
                    <a:pt x="0" y="65659"/>
                    <a:pt x="65659" y="0"/>
                    <a:pt x="146812" y="0"/>
                  </a:cubicBezTo>
                  <a:lnTo>
                    <a:pt x="10668508" y="0"/>
                  </a:lnTo>
                  <a:cubicBezTo>
                    <a:pt x="10749534" y="0"/>
                    <a:pt x="10815320" y="65659"/>
                    <a:pt x="10815320" y="146812"/>
                  </a:cubicBezTo>
                  <a:lnTo>
                    <a:pt x="10815320" y="7925308"/>
                  </a:lnTo>
                  <a:cubicBezTo>
                    <a:pt x="10815320" y="8006334"/>
                    <a:pt x="10749661" y="8072120"/>
                    <a:pt x="10668508" y="8072120"/>
                  </a:cubicBezTo>
                  <a:lnTo>
                    <a:pt x="146812" y="8072120"/>
                  </a:lnTo>
                  <a:cubicBezTo>
                    <a:pt x="65659" y="8072120"/>
                    <a:pt x="0" y="8006461"/>
                    <a:pt x="0" y="7925308"/>
                  </a:cubicBezTo>
                  <a:close/>
                </a:path>
              </a:pathLst>
            </a:custGeom>
            <a:solidFill>
              <a:srgbClr val="0F2038"/>
            </a:solidFill>
            <a:ln w="19050" cap="sq">
              <a:solidFill>
                <a:srgbClr val="1E3358"/>
              </a:solidFill>
              <a:prstDash val="solid"/>
              <a:miter/>
            </a:ln>
          </p:spPr>
        </p:sp>
      </p:grpSp>
      <p:grpSp>
        <p:nvGrpSpPr>
          <p:cNvPr name="Group 16" id="16"/>
          <p:cNvGrpSpPr/>
          <p:nvPr/>
        </p:nvGrpSpPr>
        <p:grpSpPr>
          <a:xfrm rot="0">
            <a:off x="1234440" y="2880360"/>
            <a:ext cx="7132320" cy="411480"/>
            <a:chOff x="0" y="0"/>
            <a:chExt cx="9509760" cy="548640"/>
          </a:xfrm>
        </p:grpSpPr>
        <p:sp>
          <p:nvSpPr>
            <p:cNvPr name="Freeform 17" id="17"/>
            <p:cNvSpPr/>
            <p:nvPr/>
          </p:nvSpPr>
          <p:spPr>
            <a:xfrm flipH="false" flipV="false" rot="0">
              <a:off x="0" y="0"/>
              <a:ext cx="9509760" cy="548640"/>
            </a:xfrm>
            <a:custGeom>
              <a:avLst/>
              <a:gdLst/>
              <a:ahLst/>
              <a:cxnLst/>
              <a:rect r="r" b="b" t="t" l="l"/>
              <a:pathLst>
                <a:path h="548640" w="9509760">
                  <a:moveTo>
                    <a:pt x="0" y="0"/>
                  </a:moveTo>
                  <a:lnTo>
                    <a:pt x="9509760" y="0"/>
                  </a:lnTo>
                  <a:lnTo>
                    <a:pt x="9509760" y="548640"/>
                  </a:lnTo>
                  <a:lnTo>
                    <a:pt x="0" y="548640"/>
                  </a:lnTo>
                  <a:close/>
                </a:path>
              </a:pathLst>
            </a:custGeom>
            <a:blipFill>
              <a:blip r:embed="rId2">
                <a:alphaModFix amt="0"/>
              </a:blip>
              <a:stretch>
                <a:fillRect l="0" t="-287740" r="0" b="-287740"/>
              </a:stretch>
            </a:blipFill>
          </p:spPr>
        </p:sp>
        <p:sp>
          <p:nvSpPr>
            <p:cNvPr name="TextBox 18" id="18"/>
            <p:cNvSpPr txBox="true"/>
            <p:nvPr/>
          </p:nvSpPr>
          <p:spPr>
            <a:xfrm>
              <a:off x="0" y="-19050"/>
              <a:ext cx="9509760" cy="567690"/>
            </a:xfrm>
            <a:prstGeom prst="rect">
              <a:avLst/>
            </a:prstGeom>
          </p:spPr>
          <p:txBody>
            <a:bodyPr anchor="ctr" rtlCol="false" tIns="0" lIns="0" bIns="0" rIns="0"/>
            <a:lstStyle/>
            <a:p>
              <a:pPr algn="l">
                <a:lnSpc>
                  <a:spcPts val="1889"/>
                </a:lnSpc>
              </a:pPr>
              <a:r>
                <a:rPr lang="en-US" b="true" sz="1575" spc="150">
                  <a:solidFill>
                    <a:srgbClr val="00E5C7"/>
                  </a:solidFill>
                  <a:latin typeface="Calibri (MS) Bold"/>
                  <a:ea typeface="Calibri (MS) Bold"/>
                  <a:cs typeface="Calibri (MS) Bold"/>
                  <a:sym typeface="Calibri (MS) Bold"/>
                </a:rPr>
                <a:t>ACHIEVED</a:t>
              </a:r>
            </a:p>
          </p:txBody>
        </p:sp>
      </p:grpSp>
      <p:sp>
        <p:nvSpPr>
          <p:cNvPr name="TextBox 19" id="19"/>
          <p:cNvSpPr txBox="true"/>
          <p:nvPr/>
        </p:nvSpPr>
        <p:spPr>
          <a:xfrm rot="0">
            <a:off x="1234440" y="3362325"/>
            <a:ext cx="7269480" cy="5141595"/>
          </a:xfrm>
          <a:prstGeom prst="rect">
            <a:avLst/>
          </a:prstGeom>
        </p:spPr>
        <p:txBody>
          <a:bodyPr anchor="t" rtlCol="false" tIns="0" lIns="0" bIns="0" rIns="0">
            <a:spAutoFit/>
          </a:bodyPr>
          <a:lstStyle/>
          <a:p>
            <a:pPr algn="l" marL="325755" indent="-162878" lvl="1">
              <a:lnSpc>
                <a:spcPts val="2483"/>
              </a:lnSpc>
              <a:buFont typeface="Arial"/>
              <a:buChar char="•"/>
            </a:pPr>
            <a:r>
              <a:rPr lang="en-US" sz="1800">
                <a:solidFill>
                  <a:srgbClr val="9FB0C9"/>
                </a:solidFill>
                <a:latin typeface="Calibri (MS)"/>
                <a:ea typeface="Calibri (MS)"/>
                <a:cs typeface="Calibri (MS)"/>
                <a:sym typeface="Calibri (MS)"/>
              </a:rPr>
              <a:t>Fully functional, end-to-end containerized MLSecOps pipeline</a:t>
            </a:r>
          </a:p>
          <a:p>
            <a:pPr algn="l" marL="325755" indent="-162878" lvl="1">
              <a:lnSpc>
                <a:spcPts val="2483"/>
              </a:lnSpc>
              <a:buFont typeface="Arial"/>
              <a:buChar char="•"/>
            </a:pPr>
            <a:r>
              <a:rPr lang="en-US" sz="1800">
                <a:solidFill>
                  <a:srgbClr val="9FB0C9"/>
                </a:solidFill>
                <a:latin typeface="Calibri (MS)"/>
                <a:ea typeface="Calibri (MS)"/>
                <a:cs typeface="Calibri (MS)"/>
                <a:sym typeface="Calibri (MS)"/>
              </a:rPr>
              <a:t>831-line, 23-rule data quality framework with pipeline-halting gates</a:t>
            </a:r>
          </a:p>
          <a:p>
            <a:pPr algn="l" marL="325755" indent="-162878" lvl="1">
              <a:lnSpc>
                <a:spcPts val="2483"/>
              </a:lnSpc>
              <a:buFont typeface="Arial"/>
              <a:buChar char="•"/>
            </a:pPr>
            <a:r>
              <a:rPr lang="en-US" sz="1800">
                <a:solidFill>
                  <a:srgbClr val="9FB0C9"/>
                </a:solidFill>
                <a:latin typeface="Calibri (MS)"/>
                <a:ea typeface="Calibri (MS)"/>
                <a:cs typeface="Calibri (MS)"/>
                <a:sym typeface="Calibri (MS)"/>
              </a:rPr>
              <a:t>XGBoost detector with leakage prevention &amp; MLflow tracking</a:t>
            </a:r>
          </a:p>
          <a:p>
            <a:pPr algn="l" marL="325755" indent="-162878" lvl="1">
              <a:lnSpc>
                <a:spcPts val="2483"/>
              </a:lnSpc>
              <a:buFont typeface="Arial"/>
              <a:buChar char="•"/>
            </a:pPr>
            <a:r>
              <a:rPr lang="en-US" sz="1800">
                <a:solidFill>
                  <a:srgbClr val="9FB0C9"/>
                </a:solidFill>
                <a:latin typeface="Calibri (MS)"/>
                <a:ea typeface="Calibri (MS)"/>
                <a:cs typeface="Calibri (MS)"/>
                <a:sym typeface="Calibri (MS)"/>
              </a:rPr>
              <a:t>Secure-by-design: non-root containers, CI/CD, CORS, input validation</a:t>
            </a:r>
          </a:p>
          <a:p>
            <a:pPr algn="l" marL="325755" indent="-162878" lvl="1">
              <a:lnSpc>
                <a:spcPts val="2483"/>
              </a:lnSpc>
              <a:buFont typeface="Arial"/>
              <a:buChar char="•"/>
            </a:pPr>
            <a:r>
              <a:rPr lang="en-US" sz="1800">
                <a:solidFill>
                  <a:srgbClr val="9FB0C9"/>
                </a:solidFill>
                <a:latin typeface="Calibri (MS)"/>
                <a:ea typeface="Calibri (MS)"/>
                <a:cs typeface="Calibri (MS)"/>
                <a:sym typeface="Calibri (MS)"/>
              </a:rPr>
              <a:t>Live observability via Prometheus/Grafana and a 6-page React UI</a:t>
            </a:r>
          </a:p>
        </p:txBody>
      </p:sp>
      <p:grpSp>
        <p:nvGrpSpPr>
          <p:cNvPr name="Group 20" id="20"/>
          <p:cNvGrpSpPr/>
          <p:nvPr/>
        </p:nvGrpSpPr>
        <p:grpSpPr>
          <a:xfrm rot="0">
            <a:off x="9180195" y="2596515"/>
            <a:ext cx="8180070" cy="2899410"/>
            <a:chOff x="0" y="0"/>
            <a:chExt cx="10906760" cy="3865880"/>
          </a:xfrm>
        </p:grpSpPr>
        <p:sp>
          <p:nvSpPr>
            <p:cNvPr name="Freeform 21" id="21"/>
            <p:cNvSpPr/>
            <p:nvPr/>
          </p:nvSpPr>
          <p:spPr>
            <a:xfrm flipH="false" flipV="false" rot="0">
              <a:off x="0" y="0"/>
              <a:ext cx="10906760" cy="3865880"/>
            </a:xfrm>
            <a:custGeom>
              <a:avLst/>
              <a:gdLst/>
              <a:ahLst/>
              <a:cxnLst/>
              <a:rect r="r" b="b" t="t" l="l"/>
              <a:pathLst>
                <a:path h="3865880" w="10906760">
                  <a:moveTo>
                    <a:pt x="0" y="147320"/>
                  </a:moveTo>
                  <a:cubicBezTo>
                    <a:pt x="0" y="65913"/>
                    <a:pt x="65913" y="0"/>
                    <a:pt x="147320" y="0"/>
                  </a:cubicBezTo>
                  <a:lnTo>
                    <a:pt x="10759440" y="0"/>
                  </a:lnTo>
                  <a:cubicBezTo>
                    <a:pt x="10840847" y="0"/>
                    <a:pt x="10906760" y="65913"/>
                    <a:pt x="10906760" y="147320"/>
                  </a:cubicBezTo>
                  <a:lnTo>
                    <a:pt x="10906760" y="3718560"/>
                  </a:lnTo>
                  <a:cubicBezTo>
                    <a:pt x="10906760" y="3799967"/>
                    <a:pt x="10840847" y="3865880"/>
                    <a:pt x="10759440" y="3865880"/>
                  </a:cubicBezTo>
                  <a:lnTo>
                    <a:pt x="147320" y="3865880"/>
                  </a:lnTo>
                  <a:cubicBezTo>
                    <a:pt x="65913" y="3865880"/>
                    <a:pt x="0" y="3799967"/>
                    <a:pt x="0" y="3718560"/>
                  </a:cubicBezTo>
                  <a:close/>
                </a:path>
              </a:pathLst>
            </a:custGeom>
            <a:solidFill>
              <a:srgbClr val="13294A"/>
            </a:solidFill>
            <a:ln w="19050" cap="sq">
              <a:solidFill>
                <a:srgbClr val="1E3358"/>
              </a:solidFill>
              <a:prstDash val="solid"/>
              <a:miter/>
            </a:ln>
          </p:spPr>
        </p:sp>
      </p:grpSp>
      <p:grpSp>
        <p:nvGrpSpPr>
          <p:cNvPr name="Group 22" id="22"/>
          <p:cNvGrpSpPr/>
          <p:nvPr/>
        </p:nvGrpSpPr>
        <p:grpSpPr>
          <a:xfrm rot="0">
            <a:off x="9601200" y="2880360"/>
            <a:ext cx="7269480" cy="411480"/>
            <a:chOff x="0" y="0"/>
            <a:chExt cx="9692640" cy="548640"/>
          </a:xfrm>
        </p:grpSpPr>
        <p:sp>
          <p:nvSpPr>
            <p:cNvPr name="Freeform 23" id="23"/>
            <p:cNvSpPr/>
            <p:nvPr/>
          </p:nvSpPr>
          <p:spPr>
            <a:xfrm flipH="false" flipV="false" rot="0">
              <a:off x="0" y="0"/>
              <a:ext cx="9692640" cy="548640"/>
            </a:xfrm>
            <a:custGeom>
              <a:avLst/>
              <a:gdLst/>
              <a:ahLst/>
              <a:cxnLst/>
              <a:rect r="r" b="b" t="t" l="l"/>
              <a:pathLst>
                <a:path h="548640" w="9692640">
                  <a:moveTo>
                    <a:pt x="0" y="0"/>
                  </a:moveTo>
                  <a:lnTo>
                    <a:pt x="9692640" y="0"/>
                  </a:lnTo>
                  <a:lnTo>
                    <a:pt x="9692640" y="548640"/>
                  </a:lnTo>
                  <a:lnTo>
                    <a:pt x="0" y="548640"/>
                  </a:lnTo>
                  <a:close/>
                </a:path>
              </a:pathLst>
            </a:custGeom>
            <a:blipFill>
              <a:blip r:embed="rId2">
                <a:alphaModFix amt="0"/>
              </a:blip>
              <a:stretch>
                <a:fillRect l="0" t="-294235" r="0" b="-294235"/>
              </a:stretch>
            </a:blipFill>
          </p:spPr>
        </p:sp>
        <p:sp>
          <p:nvSpPr>
            <p:cNvPr name="TextBox 24" id="24"/>
            <p:cNvSpPr txBox="true"/>
            <p:nvPr/>
          </p:nvSpPr>
          <p:spPr>
            <a:xfrm>
              <a:off x="0" y="-19050"/>
              <a:ext cx="9692640" cy="567690"/>
            </a:xfrm>
            <a:prstGeom prst="rect">
              <a:avLst/>
            </a:prstGeom>
          </p:spPr>
          <p:txBody>
            <a:bodyPr anchor="ctr" rtlCol="false" tIns="0" lIns="0" bIns="0" rIns="0"/>
            <a:lstStyle/>
            <a:p>
              <a:pPr algn="l">
                <a:lnSpc>
                  <a:spcPts val="1889"/>
                </a:lnSpc>
              </a:pPr>
              <a:r>
                <a:rPr lang="en-US" b="true" sz="1575" spc="150">
                  <a:solidFill>
                    <a:srgbClr val="FF4B5C"/>
                  </a:solidFill>
                  <a:latin typeface="Calibri (MS) Bold"/>
                  <a:ea typeface="Calibri (MS) Bold"/>
                  <a:cs typeface="Calibri (MS) Bold"/>
                  <a:sym typeface="Calibri (MS) Bold"/>
                </a:rPr>
                <a:t>KEY LIMITS</a:t>
              </a:r>
            </a:p>
          </p:txBody>
        </p:sp>
      </p:grpSp>
      <p:sp>
        <p:nvSpPr>
          <p:cNvPr name="TextBox 25" id="25"/>
          <p:cNvSpPr txBox="true"/>
          <p:nvPr/>
        </p:nvSpPr>
        <p:spPr>
          <a:xfrm rot="0">
            <a:off x="9601200" y="3303270"/>
            <a:ext cx="7269480" cy="2114550"/>
          </a:xfrm>
          <a:prstGeom prst="rect">
            <a:avLst/>
          </a:prstGeom>
        </p:spPr>
        <p:txBody>
          <a:bodyPr anchor="t" rtlCol="false" tIns="0" lIns="0" bIns="0" rIns="0">
            <a:spAutoFit/>
          </a:bodyPr>
          <a:lstStyle/>
          <a:p>
            <a:pPr algn="l" marL="298609" indent="-149304" lvl="1">
              <a:lnSpc>
                <a:spcPts val="2277"/>
              </a:lnSpc>
              <a:buFont typeface="Arial"/>
              <a:buChar char="•"/>
            </a:pPr>
            <a:r>
              <a:rPr lang="en-US" sz="1650">
                <a:solidFill>
                  <a:srgbClr val="9FB0C9"/>
                </a:solidFill>
                <a:latin typeface="Calibri (MS)"/>
                <a:ea typeface="Calibri (MS)"/>
                <a:cs typeface="Calibri (MS)"/>
                <a:sym typeface="Calibri (MS)"/>
              </a:rPr>
              <a:t>Single-node deployment — no horizontal scaling yet</a:t>
            </a:r>
          </a:p>
          <a:p>
            <a:pPr algn="l" marL="298609" indent="-149304" lvl="1">
              <a:lnSpc>
                <a:spcPts val="2277"/>
              </a:lnSpc>
              <a:buFont typeface="Arial"/>
              <a:buChar char="•"/>
            </a:pPr>
            <a:r>
              <a:rPr lang="en-US" sz="1650">
                <a:solidFill>
                  <a:srgbClr val="9FB0C9"/>
                </a:solidFill>
                <a:latin typeface="Calibri (MS)"/>
                <a:ea typeface="Calibri (MS)"/>
                <a:cs typeface="Calibri (MS)"/>
                <a:sym typeface="Calibri (MS)"/>
              </a:rPr>
              <a:t>No live data-drift detection between train and serve</a:t>
            </a:r>
          </a:p>
          <a:p>
            <a:pPr algn="l" marL="298609" indent="-149304" lvl="1">
              <a:lnSpc>
                <a:spcPts val="2277"/>
              </a:lnSpc>
              <a:buFont typeface="Arial"/>
              <a:buChar char="•"/>
            </a:pPr>
            <a:r>
              <a:rPr lang="en-US" sz="1650">
                <a:solidFill>
                  <a:srgbClr val="9FB0C9"/>
                </a:solidFill>
                <a:latin typeface="Calibri (MS)"/>
                <a:ea typeface="Calibri (MS)"/>
                <a:cs typeface="Calibri (MS)"/>
                <a:sym typeface="Calibri (MS)"/>
              </a:rPr>
              <a:t>Adversarial robustness not yet evaluated</a:t>
            </a:r>
          </a:p>
        </p:txBody>
      </p:sp>
      <p:grpSp>
        <p:nvGrpSpPr>
          <p:cNvPr name="Group 26" id="26"/>
          <p:cNvGrpSpPr/>
          <p:nvPr/>
        </p:nvGrpSpPr>
        <p:grpSpPr>
          <a:xfrm rot="0">
            <a:off x="9180195" y="5682615"/>
            <a:ext cx="8180070" cy="2967990"/>
            <a:chOff x="0" y="0"/>
            <a:chExt cx="10906760" cy="3957320"/>
          </a:xfrm>
        </p:grpSpPr>
        <p:sp>
          <p:nvSpPr>
            <p:cNvPr name="Freeform 27" id="27"/>
            <p:cNvSpPr/>
            <p:nvPr/>
          </p:nvSpPr>
          <p:spPr>
            <a:xfrm flipH="false" flipV="false" rot="0">
              <a:off x="0" y="0"/>
              <a:ext cx="10906761" cy="3957320"/>
            </a:xfrm>
            <a:custGeom>
              <a:avLst/>
              <a:gdLst/>
              <a:ahLst/>
              <a:cxnLst/>
              <a:rect r="r" b="b" t="t" l="l"/>
              <a:pathLst>
                <a:path h="3957320" w="10906761">
                  <a:moveTo>
                    <a:pt x="0" y="147193"/>
                  </a:moveTo>
                  <a:cubicBezTo>
                    <a:pt x="0" y="65913"/>
                    <a:pt x="65913" y="0"/>
                    <a:pt x="147193" y="0"/>
                  </a:cubicBezTo>
                  <a:lnTo>
                    <a:pt x="10759567" y="0"/>
                  </a:lnTo>
                  <a:cubicBezTo>
                    <a:pt x="10840848" y="0"/>
                    <a:pt x="10906761" y="65913"/>
                    <a:pt x="10906761" y="147193"/>
                  </a:cubicBezTo>
                  <a:lnTo>
                    <a:pt x="10906761" y="3810127"/>
                  </a:lnTo>
                  <a:cubicBezTo>
                    <a:pt x="10906761" y="3891407"/>
                    <a:pt x="10840848" y="3957320"/>
                    <a:pt x="10759567" y="3957320"/>
                  </a:cubicBezTo>
                  <a:lnTo>
                    <a:pt x="147193" y="3957320"/>
                  </a:lnTo>
                  <a:cubicBezTo>
                    <a:pt x="65913" y="3957320"/>
                    <a:pt x="0" y="3891407"/>
                    <a:pt x="0" y="3810127"/>
                  </a:cubicBezTo>
                  <a:close/>
                </a:path>
              </a:pathLst>
            </a:custGeom>
            <a:solidFill>
              <a:srgbClr val="0D2135"/>
            </a:solidFill>
            <a:ln w="19050" cap="sq">
              <a:solidFill>
                <a:srgbClr val="1E3358"/>
              </a:solidFill>
              <a:prstDash val="solid"/>
              <a:miter/>
            </a:ln>
          </p:spPr>
        </p:sp>
      </p:grpSp>
      <p:grpSp>
        <p:nvGrpSpPr>
          <p:cNvPr name="Group 28" id="28"/>
          <p:cNvGrpSpPr/>
          <p:nvPr/>
        </p:nvGrpSpPr>
        <p:grpSpPr>
          <a:xfrm rot="0">
            <a:off x="9601200" y="5966460"/>
            <a:ext cx="7269480" cy="411480"/>
            <a:chOff x="0" y="0"/>
            <a:chExt cx="9692640" cy="548640"/>
          </a:xfrm>
        </p:grpSpPr>
        <p:sp>
          <p:nvSpPr>
            <p:cNvPr name="Freeform 29" id="29"/>
            <p:cNvSpPr/>
            <p:nvPr/>
          </p:nvSpPr>
          <p:spPr>
            <a:xfrm flipH="false" flipV="false" rot="0">
              <a:off x="0" y="0"/>
              <a:ext cx="9692640" cy="548640"/>
            </a:xfrm>
            <a:custGeom>
              <a:avLst/>
              <a:gdLst/>
              <a:ahLst/>
              <a:cxnLst/>
              <a:rect r="r" b="b" t="t" l="l"/>
              <a:pathLst>
                <a:path h="548640" w="9692640">
                  <a:moveTo>
                    <a:pt x="0" y="0"/>
                  </a:moveTo>
                  <a:lnTo>
                    <a:pt x="9692640" y="0"/>
                  </a:lnTo>
                  <a:lnTo>
                    <a:pt x="9692640" y="548640"/>
                  </a:lnTo>
                  <a:lnTo>
                    <a:pt x="0" y="548640"/>
                  </a:lnTo>
                  <a:close/>
                </a:path>
              </a:pathLst>
            </a:custGeom>
            <a:blipFill>
              <a:blip r:embed="rId2">
                <a:alphaModFix amt="0"/>
              </a:blip>
              <a:stretch>
                <a:fillRect l="0" t="-294235" r="0" b="-294235"/>
              </a:stretch>
            </a:blipFill>
          </p:spPr>
        </p:sp>
        <p:sp>
          <p:nvSpPr>
            <p:cNvPr name="TextBox 30" id="30"/>
            <p:cNvSpPr txBox="true"/>
            <p:nvPr/>
          </p:nvSpPr>
          <p:spPr>
            <a:xfrm>
              <a:off x="0" y="-19050"/>
              <a:ext cx="9692640" cy="567690"/>
            </a:xfrm>
            <a:prstGeom prst="rect">
              <a:avLst/>
            </a:prstGeom>
          </p:spPr>
          <p:txBody>
            <a:bodyPr anchor="ctr" rtlCol="false" tIns="0" lIns="0" bIns="0" rIns="0"/>
            <a:lstStyle/>
            <a:p>
              <a:pPr algn="l">
                <a:lnSpc>
                  <a:spcPts val="1889"/>
                </a:lnSpc>
              </a:pPr>
              <a:r>
                <a:rPr lang="en-US" b="true" sz="1575" spc="150">
                  <a:solidFill>
                    <a:srgbClr val="00E5C7"/>
                  </a:solidFill>
                  <a:latin typeface="Calibri (MS) Bold"/>
                  <a:ea typeface="Calibri (MS) Bold"/>
                  <a:cs typeface="Calibri (MS) Bold"/>
                  <a:sym typeface="Calibri (MS) Bold"/>
                </a:rPr>
                <a:t>NEXT: KUBERNETES AT SCALE</a:t>
              </a:r>
            </a:p>
          </p:txBody>
        </p:sp>
      </p:grpSp>
      <p:sp>
        <p:nvSpPr>
          <p:cNvPr name="TextBox 31" id="31"/>
          <p:cNvSpPr txBox="true"/>
          <p:nvPr/>
        </p:nvSpPr>
        <p:spPr>
          <a:xfrm rot="0">
            <a:off x="9601200" y="6389370"/>
            <a:ext cx="7269480" cy="2183130"/>
          </a:xfrm>
          <a:prstGeom prst="rect">
            <a:avLst/>
          </a:prstGeom>
        </p:spPr>
        <p:txBody>
          <a:bodyPr anchor="t" rtlCol="false" tIns="0" lIns="0" bIns="0" rIns="0">
            <a:spAutoFit/>
          </a:bodyPr>
          <a:lstStyle/>
          <a:p>
            <a:pPr algn="l" marL="298609" indent="-149304" lvl="1">
              <a:lnSpc>
                <a:spcPts val="2277"/>
              </a:lnSpc>
              <a:buFont typeface="Arial"/>
              <a:buChar char="•"/>
            </a:pPr>
            <a:r>
              <a:rPr lang="en-US" sz="1650">
                <a:solidFill>
                  <a:srgbClr val="9FB0C9"/>
                </a:solidFill>
                <a:latin typeface="Calibri (MS)"/>
                <a:ea typeface="Calibri (MS)"/>
                <a:cs typeface="Calibri (MS)"/>
                <a:sym typeface="Calibri (MS)"/>
              </a:rPr>
              <a:t>Migrate Docker Compose → Kubernetes for cloud-scale elasticity</a:t>
            </a:r>
          </a:p>
          <a:p>
            <a:pPr algn="l" marL="298609" indent="-149304" lvl="1">
              <a:lnSpc>
                <a:spcPts val="2277"/>
              </a:lnSpc>
              <a:buFont typeface="Arial"/>
              <a:buChar char="•"/>
            </a:pPr>
            <a:r>
              <a:rPr lang="en-US" sz="1650">
                <a:solidFill>
                  <a:srgbClr val="9FB0C9"/>
                </a:solidFill>
                <a:latin typeface="Calibri (MS)"/>
                <a:ea typeface="Calibri (MS)"/>
                <a:cs typeface="Calibri (MS)"/>
                <a:sym typeface="Calibri (MS)"/>
              </a:rPr>
              <a:t>Add drift detection, adversarial testing, and hyperparameter search</a:t>
            </a:r>
          </a:p>
          <a:p>
            <a:pPr algn="l" marL="298609" indent="-149304" lvl="1">
              <a:lnSpc>
                <a:spcPts val="2277"/>
              </a:lnSpc>
              <a:buFont typeface="Arial"/>
              <a:buChar char="•"/>
            </a:pPr>
            <a:r>
              <a:rPr lang="en-US" sz="1650">
                <a:solidFill>
                  <a:srgbClr val="9FB0C9"/>
                </a:solidFill>
                <a:latin typeface="Calibri (MS)"/>
                <a:ea typeface="Calibri (MS)"/>
                <a:cs typeface="Calibri (MS)"/>
                <a:sym typeface="Calibri (MS)"/>
              </a:rPr>
              <a:t>Federated learning across distributed network sensors</a:t>
            </a:r>
          </a:p>
        </p:txBody>
      </p:sp>
      <p:grpSp>
        <p:nvGrpSpPr>
          <p:cNvPr name="Group 32" id="32"/>
          <p:cNvGrpSpPr/>
          <p:nvPr/>
        </p:nvGrpSpPr>
        <p:grpSpPr>
          <a:xfrm rot="0">
            <a:off x="822960" y="8846820"/>
            <a:ext cx="16596360" cy="685800"/>
            <a:chOff x="0" y="0"/>
            <a:chExt cx="22128480" cy="914400"/>
          </a:xfrm>
        </p:grpSpPr>
        <p:sp>
          <p:nvSpPr>
            <p:cNvPr name="Freeform 33" id="33"/>
            <p:cNvSpPr/>
            <p:nvPr/>
          </p:nvSpPr>
          <p:spPr>
            <a:xfrm flipH="false" flipV="false" rot="0">
              <a:off x="0" y="0"/>
              <a:ext cx="22128480" cy="914400"/>
            </a:xfrm>
            <a:custGeom>
              <a:avLst/>
              <a:gdLst/>
              <a:ahLst/>
              <a:cxnLst/>
              <a:rect r="r" b="b" t="t" l="l"/>
              <a:pathLst>
                <a:path h="914400" w="22128480">
                  <a:moveTo>
                    <a:pt x="0" y="0"/>
                  </a:moveTo>
                  <a:lnTo>
                    <a:pt x="22128480" y="0"/>
                  </a:lnTo>
                  <a:lnTo>
                    <a:pt x="22128480" y="914400"/>
                  </a:lnTo>
                  <a:lnTo>
                    <a:pt x="0" y="914400"/>
                  </a:lnTo>
                  <a:close/>
                </a:path>
              </a:pathLst>
            </a:custGeom>
            <a:blipFill>
              <a:blip r:embed="rId2">
                <a:alphaModFix amt="0"/>
              </a:blip>
              <a:stretch>
                <a:fillRect l="0" t="-421537" r="0" b="-421537"/>
              </a:stretch>
            </a:blipFill>
          </p:spPr>
        </p:sp>
        <p:sp>
          <p:nvSpPr>
            <p:cNvPr name="TextBox 34" id="34"/>
            <p:cNvSpPr txBox="true"/>
            <p:nvPr/>
          </p:nvSpPr>
          <p:spPr>
            <a:xfrm>
              <a:off x="0" y="-38100"/>
              <a:ext cx="22128480" cy="952500"/>
            </a:xfrm>
            <a:prstGeom prst="rect">
              <a:avLst/>
            </a:prstGeom>
          </p:spPr>
          <p:txBody>
            <a:bodyPr anchor="ctr" rtlCol="false" tIns="0" lIns="0" bIns="0" rIns="0"/>
            <a:lstStyle/>
            <a:p>
              <a:pPr algn="ctr">
                <a:lnSpc>
                  <a:spcPts val="2250"/>
                </a:lnSpc>
              </a:pPr>
              <a:r>
                <a:rPr lang="en-US" sz="1875" i="true">
                  <a:solidFill>
                    <a:srgbClr val="00E5C7"/>
                  </a:solidFill>
                  <a:latin typeface="Calibri (MS) Italics"/>
                  <a:ea typeface="Calibri (MS) Italics"/>
                  <a:cs typeface="Calibri (MS) Italics"/>
                  <a:sym typeface="Calibri (MS) Italics"/>
                </a:rPr>
                <a:t>Security, operational excellence, and ML can coexist in one unified architecture. Thank you — questions welcome.</a:t>
              </a:r>
            </a:p>
          </p:txBody>
        </p:sp>
      </p:grpSp>
      <p:grpSp>
        <p:nvGrpSpPr>
          <p:cNvPr name="Group 35" id="35"/>
          <p:cNvGrpSpPr/>
          <p:nvPr/>
        </p:nvGrpSpPr>
        <p:grpSpPr>
          <a:xfrm rot="0">
            <a:off x="685800" y="9710928"/>
            <a:ext cx="10972800" cy="411480"/>
            <a:chOff x="0" y="0"/>
            <a:chExt cx="14630400" cy="548640"/>
          </a:xfrm>
        </p:grpSpPr>
        <p:sp>
          <p:nvSpPr>
            <p:cNvPr name="Freeform 36" id="3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37" id="37"/>
            <p:cNvSpPr txBox="true"/>
            <p:nvPr/>
          </p:nvSpPr>
          <p:spPr>
            <a:xfrm>
              <a:off x="0" y="-28575"/>
              <a:ext cx="14630400" cy="577215"/>
            </a:xfrm>
            <a:prstGeom prst="rect">
              <a:avLst/>
            </a:prstGeom>
          </p:spPr>
          <p:txBody>
            <a:bodyPr anchor="ctr" rtlCol="false" tIns="0" lIns="0" bIns="0" rIns="0"/>
            <a:lstStyle/>
            <a:p>
              <a:pPr algn="l">
                <a:lnSpc>
                  <a:spcPts val="1620"/>
                </a:lnSpc>
              </a:pPr>
              <a:r>
                <a:rPr lang="en-US" sz="1350" spc="149">
                  <a:solidFill>
                    <a:srgbClr val="6E84A6"/>
                  </a:solidFill>
                  <a:latin typeface="Calibri (MS)"/>
                  <a:ea typeface="Calibri (MS)"/>
                  <a:cs typeface="Calibri (MS)"/>
                  <a:sym typeface="Calibri (MS)"/>
                </a:rPr>
                <a:t>MLSECOPS PLATFORM · CONCLUSION &amp; Q&amp;A</a:t>
              </a:r>
            </a:p>
          </p:txBody>
        </p:sp>
      </p:grpSp>
      <p:grpSp>
        <p:nvGrpSpPr>
          <p:cNvPr name="Group 38" id="38"/>
          <p:cNvGrpSpPr/>
          <p:nvPr/>
        </p:nvGrpSpPr>
        <p:grpSpPr>
          <a:xfrm rot="0">
            <a:off x="16500348" y="9710928"/>
            <a:ext cx="1097280" cy="411480"/>
            <a:chOff x="0" y="0"/>
            <a:chExt cx="1463040" cy="548640"/>
          </a:xfrm>
        </p:grpSpPr>
        <p:sp>
          <p:nvSpPr>
            <p:cNvPr name="Freeform 39" id="39"/>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2">
                <a:alphaModFix amt="0"/>
              </a:blip>
              <a:stretch>
                <a:fillRect l="0" t="-1960" r="0" b="-1960"/>
              </a:stretch>
            </a:blipFill>
          </p:spPr>
        </p:sp>
        <p:sp>
          <p:nvSpPr>
            <p:cNvPr name="TextBox 40" id="40"/>
            <p:cNvSpPr txBox="true"/>
            <p:nvPr/>
          </p:nvSpPr>
          <p:spPr>
            <a:xfrm>
              <a:off x="0" y="-28575"/>
              <a:ext cx="1463040" cy="577215"/>
            </a:xfrm>
            <a:prstGeom prst="rect">
              <a:avLst/>
            </a:prstGeom>
          </p:spPr>
          <p:txBody>
            <a:bodyPr anchor="ctr" rtlCol="false" tIns="0" lIns="0" bIns="0" rIns="0"/>
            <a:lstStyle/>
            <a:p>
              <a:pPr algn="r">
                <a:lnSpc>
                  <a:spcPts val="1620"/>
                </a:lnSpc>
              </a:pPr>
              <a:r>
                <a:rPr lang="en-US" sz="1350">
                  <a:solidFill>
                    <a:srgbClr val="6E84A6"/>
                  </a:solidFill>
                  <a:latin typeface="Calibri (MS)"/>
                  <a:ea typeface="Calibri (MS)"/>
                  <a:cs typeface="Calibri (MS)"/>
                  <a:sym typeface="Calibri (MS)"/>
                </a:rPr>
                <a:t>32 / 32</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DAHV7aA98Nc</dc:identifier>
  <dcterms:modified xsi:type="dcterms:W3CDTF">2011-08-01T06:04:30Z</dcterms:modified>
  <cp:revision>1</cp:revision>
  <dc:title>Votre texte de paragraphe</dc:title>
</cp:coreProperties>
</file>